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  <p:sldMasterId id="2147483653" r:id="rId7"/>
    <p:sldMasterId id="2147483655" r:id="rId8"/>
    <p:sldMasterId id="2147483658" r:id="rId9"/>
    <p:sldMasterId id="2147483660" r:id="rId10"/>
    <p:sldMasterId id="2147483662" r:id="rId11"/>
    <p:sldMasterId id="2147483664" r:id="rId12"/>
    <p:sldMasterId id="2147483666" r:id="rId13"/>
    <p:sldMasterId id="2147483668" r:id="rId14"/>
    <p:sldMasterId id="2147483670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  <p:sldId id="313" r:id="rId74"/>
    <p:sldId id="314" r:id="rId75"/>
    <p:sldId id="315" r:id="rId76"/>
    <p:sldId id="316" r:id="rId77"/>
    <p:sldId id="317" r:id="rId78"/>
    <p:sldId id="318" r:id="rId79"/>
  </p:sldIdLst>
  <p:sldSz cy="6858000" cx="9144000"/>
  <p:notesSz cx="7099300" cy="10234600"/>
  <p:embeddedFontLst>
    <p:embeddedFont>
      <p:font typeface="Noto Sans Symbols"/>
      <p:regular r:id="rId80"/>
      <p:bold r:id="rId81"/>
    </p:embeddedFont>
    <p:embeddedFont>
      <p:font typeface="Gill Sans"/>
      <p:regular r:id="rId82"/>
      <p:bold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84" roundtripDataSignature="AMtx7mguv1jv0K3uRsnGMyrNc6Ec+LUn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2076CD-3786-423D-9B04-364E05EA5FC1}">
  <a:tblStyle styleId="{DB2076CD-3786-423D-9B04-364E05EA5FC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95AB369-B081-4944-9EFD-BB2957504AA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4.xml"/><Relationship Id="rId84" Type="http://customschemas.google.com/relationships/presentationmetadata" Target="metadata"/><Relationship Id="rId83" Type="http://schemas.openxmlformats.org/officeDocument/2006/relationships/font" Target="fonts/GillSans-bold.fntdata"/><Relationship Id="rId42" Type="http://schemas.openxmlformats.org/officeDocument/2006/relationships/slide" Target="slides/slide26.xml"/><Relationship Id="rId41" Type="http://schemas.openxmlformats.org/officeDocument/2006/relationships/slide" Target="slides/slide25.xml"/><Relationship Id="rId44" Type="http://schemas.openxmlformats.org/officeDocument/2006/relationships/slide" Target="slides/slide28.xml"/><Relationship Id="rId43" Type="http://schemas.openxmlformats.org/officeDocument/2006/relationships/slide" Target="slides/slide27.xml"/><Relationship Id="rId46" Type="http://schemas.openxmlformats.org/officeDocument/2006/relationships/slide" Target="slides/slide30.xml"/><Relationship Id="rId45" Type="http://schemas.openxmlformats.org/officeDocument/2006/relationships/slide" Target="slides/slide29.xml"/><Relationship Id="rId80" Type="http://schemas.openxmlformats.org/officeDocument/2006/relationships/font" Target="fonts/NotoSansSymbols-regular.fntdata"/><Relationship Id="rId82" Type="http://schemas.openxmlformats.org/officeDocument/2006/relationships/font" Target="fonts/GillSans-regular.fntdata"/><Relationship Id="rId81" Type="http://schemas.openxmlformats.org/officeDocument/2006/relationships/font" Target="fonts/NotoSansSymbols-bold.fntdata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32.xml"/><Relationship Id="rId47" Type="http://schemas.openxmlformats.org/officeDocument/2006/relationships/slide" Target="slides/slide31.xml"/><Relationship Id="rId49" Type="http://schemas.openxmlformats.org/officeDocument/2006/relationships/slide" Target="slides/slide33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slide" Target="slides/slide57.xml"/><Relationship Id="rId72" Type="http://schemas.openxmlformats.org/officeDocument/2006/relationships/slide" Target="slides/slide56.xml"/><Relationship Id="rId31" Type="http://schemas.openxmlformats.org/officeDocument/2006/relationships/slide" Target="slides/slide15.xml"/><Relationship Id="rId75" Type="http://schemas.openxmlformats.org/officeDocument/2006/relationships/slide" Target="slides/slide59.xml"/><Relationship Id="rId30" Type="http://schemas.openxmlformats.org/officeDocument/2006/relationships/slide" Target="slides/slide14.xml"/><Relationship Id="rId74" Type="http://schemas.openxmlformats.org/officeDocument/2006/relationships/slide" Target="slides/slide58.xml"/><Relationship Id="rId33" Type="http://schemas.openxmlformats.org/officeDocument/2006/relationships/slide" Target="slides/slide17.xml"/><Relationship Id="rId77" Type="http://schemas.openxmlformats.org/officeDocument/2006/relationships/slide" Target="slides/slide61.xml"/><Relationship Id="rId32" Type="http://schemas.openxmlformats.org/officeDocument/2006/relationships/slide" Target="slides/slide16.xml"/><Relationship Id="rId76" Type="http://schemas.openxmlformats.org/officeDocument/2006/relationships/slide" Target="slides/slide60.xml"/><Relationship Id="rId35" Type="http://schemas.openxmlformats.org/officeDocument/2006/relationships/slide" Target="slides/slide19.xml"/><Relationship Id="rId79" Type="http://schemas.openxmlformats.org/officeDocument/2006/relationships/slide" Target="slides/slide63.xml"/><Relationship Id="rId34" Type="http://schemas.openxmlformats.org/officeDocument/2006/relationships/slide" Target="slides/slide18.xml"/><Relationship Id="rId78" Type="http://schemas.openxmlformats.org/officeDocument/2006/relationships/slide" Target="slides/slide62.xml"/><Relationship Id="rId71" Type="http://schemas.openxmlformats.org/officeDocument/2006/relationships/slide" Target="slides/slide55.xml"/><Relationship Id="rId70" Type="http://schemas.openxmlformats.org/officeDocument/2006/relationships/slide" Target="slides/slide54.xml"/><Relationship Id="rId37" Type="http://schemas.openxmlformats.org/officeDocument/2006/relationships/slide" Target="slides/slide21.xml"/><Relationship Id="rId36" Type="http://schemas.openxmlformats.org/officeDocument/2006/relationships/slide" Target="slides/slide20.xml"/><Relationship Id="rId39" Type="http://schemas.openxmlformats.org/officeDocument/2006/relationships/slide" Target="slides/slide23.xml"/><Relationship Id="rId38" Type="http://schemas.openxmlformats.org/officeDocument/2006/relationships/slide" Target="slides/slide22.xml"/><Relationship Id="rId62" Type="http://schemas.openxmlformats.org/officeDocument/2006/relationships/slide" Target="slides/slide46.xml"/><Relationship Id="rId61" Type="http://schemas.openxmlformats.org/officeDocument/2006/relationships/slide" Target="slides/slide45.xml"/><Relationship Id="rId20" Type="http://schemas.openxmlformats.org/officeDocument/2006/relationships/slide" Target="slides/slide4.xml"/><Relationship Id="rId64" Type="http://schemas.openxmlformats.org/officeDocument/2006/relationships/slide" Target="slides/slide48.xml"/><Relationship Id="rId63" Type="http://schemas.openxmlformats.org/officeDocument/2006/relationships/slide" Target="slides/slide47.xml"/><Relationship Id="rId22" Type="http://schemas.openxmlformats.org/officeDocument/2006/relationships/slide" Target="slides/slide6.xml"/><Relationship Id="rId66" Type="http://schemas.openxmlformats.org/officeDocument/2006/relationships/slide" Target="slides/slide50.xml"/><Relationship Id="rId21" Type="http://schemas.openxmlformats.org/officeDocument/2006/relationships/slide" Target="slides/slide5.xml"/><Relationship Id="rId65" Type="http://schemas.openxmlformats.org/officeDocument/2006/relationships/slide" Target="slides/slide49.xml"/><Relationship Id="rId24" Type="http://schemas.openxmlformats.org/officeDocument/2006/relationships/slide" Target="slides/slide8.xml"/><Relationship Id="rId68" Type="http://schemas.openxmlformats.org/officeDocument/2006/relationships/slide" Target="slides/slide52.xml"/><Relationship Id="rId23" Type="http://schemas.openxmlformats.org/officeDocument/2006/relationships/slide" Target="slides/slide7.xml"/><Relationship Id="rId67" Type="http://schemas.openxmlformats.org/officeDocument/2006/relationships/slide" Target="slides/slide51.xml"/><Relationship Id="rId60" Type="http://schemas.openxmlformats.org/officeDocument/2006/relationships/slide" Target="slides/slide44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69" Type="http://schemas.openxmlformats.org/officeDocument/2006/relationships/slide" Target="slides/slide5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9" Type="http://schemas.openxmlformats.org/officeDocument/2006/relationships/slide" Target="slides/slide13.xml"/><Relationship Id="rId51" Type="http://schemas.openxmlformats.org/officeDocument/2006/relationships/slide" Target="slides/slide35.xml"/><Relationship Id="rId50" Type="http://schemas.openxmlformats.org/officeDocument/2006/relationships/slide" Target="slides/slide34.xml"/><Relationship Id="rId53" Type="http://schemas.openxmlformats.org/officeDocument/2006/relationships/slide" Target="slides/slide37.xml"/><Relationship Id="rId52" Type="http://schemas.openxmlformats.org/officeDocument/2006/relationships/slide" Target="slides/slide36.xml"/><Relationship Id="rId11" Type="http://schemas.openxmlformats.org/officeDocument/2006/relationships/slideMaster" Target="slideMasters/slideMaster7.xml"/><Relationship Id="rId55" Type="http://schemas.openxmlformats.org/officeDocument/2006/relationships/slide" Target="slides/slide39.xml"/><Relationship Id="rId10" Type="http://schemas.openxmlformats.org/officeDocument/2006/relationships/slideMaster" Target="slideMasters/slideMaster6.xml"/><Relationship Id="rId54" Type="http://schemas.openxmlformats.org/officeDocument/2006/relationships/slide" Target="slides/slide38.xml"/><Relationship Id="rId13" Type="http://schemas.openxmlformats.org/officeDocument/2006/relationships/slideMaster" Target="slideMasters/slideMaster9.xml"/><Relationship Id="rId57" Type="http://schemas.openxmlformats.org/officeDocument/2006/relationships/slide" Target="slides/slide41.xml"/><Relationship Id="rId12" Type="http://schemas.openxmlformats.org/officeDocument/2006/relationships/slideMaster" Target="slideMasters/slideMaster8.xml"/><Relationship Id="rId56" Type="http://schemas.openxmlformats.org/officeDocument/2006/relationships/slide" Target="slides/slide40.xml"/><Relationship Id="rId15" Type="http://schemas.openxmlformats.org/officeDocument/2006/relationships/slideMaster" Target="slideMasters/slideMaster11.xml"/><Relationship Id="rId59" Type="http://schemas.openxmlformats.org/officeDocument/2006/relationships/slide" Target="slides/slide43.xml"/><Relationship Id="rId14" Type="http://schemas.openxmlformats.org/officeDocument/2006/relationships/slideMaster" Target="slideMasters/slideMaster10.xml"/><Relationship Id="rId58" Type="http://schemas.openxmlformats.org/officeDocument/2006/relationships/slide" Target="slides/slide42.xml"/><Relationship Id="rId17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9" Type="http://schemas.openxmlformats.org/officeDocument/2006/relationships/slide" Target="slides/slide3.xml"/><Relationship Id="rId1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8" name="Google Shape;198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DH is not for encrypting or signing, but instead it allows users to establish a shared symmetric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We have g, and g^k. what is k?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 by LOG.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share symm key?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0" name="Google Shape;270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d8702162e_0_0:notes"/>
          <p:cNvSpPr/>
          <p:nvPr>
            <p:ph idx="2" type="sldImg"/>
          </p:nvPr>
        </p:nvSpPr>
        <p:spPr>
          <a:xfrm>
            <a:off x="992187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4d8702162e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4d8702162e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4" name="Google Shape;304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e674a6f98_0_0:notes"/>
          <p:cNvSpPr/>
          <p:nvPr>
            <p:ph idx="2" type="sldImg"/>
          </p:nvPr>
        </p:nvSpPr>
        <p:spPr>
          <a:xfrm>
            <a:off x="992187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de674a6f98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de674a6f98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e674a6f98_0_10:notes"/>
          <p:cNvSpPr txBox="1"/>
          <p:nvPr>
            <p:ph idx="1" type="body"/>
          </p:nvPr>
        </p:nvSpPr>
        <p:spPr>
          <a:xfrm>
            <a:off x="710352" y="4925939"/>
            <a:ext cx="5678700" cy="4029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de674a6f98_0_10:notes"/>
          <p:cNvSpPr/>
          <p:nvPr>
            <p:ph idx="2" type="sldImg"/>
          </p:nvPr>
        </p:nvSpPr>
        <p:spPr>
          <a:xfrm>
            <a:off x="2420588" y="1279326"/>
            <a:ext cx="2258100" cy="345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e674a6f98_0_17:notes"/>
          <p:cNvSpPr txBox="1"/>
          <p:nvPr>
            <p:ph idx="1" type="body"/>
          </p:nvPr>
        </p:nvSpPr>
        <p:spPr>
          <a:xfrm>
            <a:off x="710352" y="4925939"/>
            <a:ext cx="5678700" cy="4029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de674a6f98_0_17:notes"/>
          <p:cNvSpPr/>
          <p:nvPr>
            <p:ph idx="2" type="sldImg"/>
          </p:nvPr>
        </p:nvSpPr>
        <p:spPr>
          <a:xfrm>
            <a:off x="2420588" y="1279326"/>
            <a:ext cx="2258100" cy="345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e674a6f98_0_25:notes"/>
          <p:cNvSpPr txBox="1"/>
          <p:nvPr>
            <p:ph idx="1" type="body"/>
          </p:nvPr>
        </p:nvSpPr>
        <p:spPr>
          <a:xfrm>
            <a:off x="710352" y="4925939"/>
            <a:ext cx="5678700" cy="4029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de674a6f98_0_25:notes"/>
          <p:cNvSpPr/>
          <p:nvPr>
            <p:ph idx="2" type="sldImg"/>
          </p:nvPr>
        </p:nvSpPr>
        <p:spPr>
          <a:xfrm>
            <a:off x="2420588" y="1279326"/>
            <a:ext cx="2258100" cy="345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e674a6f98_0_69:notes"/>
          <p:cNvSpPr txBox="1"/>
          <p:nvPr>
            <p:ph idx="1" type="body"/>
          </p:nvPr>
        </p:nvSpPr>
        <p:spPr>
          <a:xfrm>
            <a:off x="710352" y="4925939"/>
            <a:ext cx="5678700" cy="4029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de674a6f98_0_69:notes"/>
          <p:cNvSpPr/>
          <p:nvPr>
            <p:ph idx="2" type="sldImg"/>
          </p:nvPr>
        </p:nvSpPr>
        <p:spPr>
          <a:xfrm>
            <a:off x="2420588" y="1279326"/>
            <a:ext cx="2258100" cy="345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3" name="Google Shape;503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None/>
            </a:pPr>
            <a:r>
              <a:rPr b="1" lang="en-US" sz="1200">
                <a:solidFill>
                  <a:srgbClr val="0000FF"/>
                </a:solidFill>
              </a:rPr>
              <a:t>non-repudiation..cant say didn’t do this</a:t>
            </a:r>
            <a:endParaRPr sz="1200"/>
          </a:p>
        </p:txBody>
      </p:sp>
      <p:sp>
        <p:nvSpPr>
          <p:cNvPr id="504" name="Google Shape;504;p1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13" name="Google Shape;513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Alice and bob share symmetric key because MAC is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23" name="Google Shape;523;p2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Only alice can sign so it can be proved</a:t>
            </a:r>
            <a:endParaRPr/>
          </a:p>
        </p:txBody>
      </p:sp>
      <p:sp>
        <p:nvSpPr>
          <p:cNvPr id="524" name="Google Shape;524;p2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4923cb686_0_0:notes"/>
          <p:cNvSpPr/>
          <p:nvPr>
            <p:ph idx="2" type="sldImg"/>
          </p:nvPr>
        </p:nvSpPr>
        <p:spPr>
          <a:xfrm>
            <a:off x="992187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74923cb686_0_0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74923cb686_0_0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4d8702162e_0_9:notes"/>
          <p:cNvSpPr/>
          <p:nvPr>
            <p:ph idx="2" type="sldImg"/>
          </p:nvPr>
        </p:nvSpPr>
        <p:spPr>
          <a:xfrm>
            <a:off x="992187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4d8702162e_0_9:notes"/>
          <p:cNvSpPr txBox="1"/>
          <p:nvPr>
            <p:ph idx="1" type="body"/>
          </p:nvPr>
        </p:nvSpPr>
        <p:spPr>
          <a:xfrm>
            <a:off x="709612" y="4860925"/>
            <a:ext cx="5680200" cy="46053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4d8702162e_0_9:notes"/>
          <p:cNvSpPr txBox="1"/>
          <p:nvPr>
            <p:ph idx="12" type="sldNum"/>
          </p:nvPr>
        </p:nvSpPr>
        <p:spPr>
          <a:xfrm>
            <a:off x="4021137" y="9721850"/>
            <a:ext cx="3076500" cy="511200"/>
          </a:xfrm>
          <a:prstGeom prst="rect">
            <a:avLst/>
          </a:prstGeom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4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44" name="Google Shape;744;p4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53" name="Google Shape;753;p4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Compression — For any size input </a:t>
            </a:r>
            <a:r>
              <a:rPr i="1" lang="en-US"/>
              <a:t>x, </a:t>
            </a:r>
            <a:r>
              <a:rPr lang="en-US"/>
              <a:t>the output length of </a:t>
            </a:r>
            <a:r>
              <a:rPr i="1" lang="en-US"/>
              <a:t>y </a:t>
            </a:r>
            <a:r>
              <a:rPr lang="en-US"/>
              <a:t>= </a:t>
            </a:r>
            <a:r>
              <a:rPr i="1" lang="en-US"/>
              <a:t>h(x) </a:t>
            </a:r>
            <a:r>
              <a:rPr lang="en-US"/>
              <a:t>is small. In practice, the output is a fixed size (e.g., 160 bits), regardless of the length of the input.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Efficiency — It must be easy to compute </a:t>
            </a:r>
            <a:r>
              <a:rPr i="1" lang="en-US"/>
              <a:t>h(x) </a:t>
            </a:r>
            <a:r>
              <a:rPr lang="en-US"/>
              <a:t>for any input </a:t>
            </a:r>
            <a:r>
              <a:rPr i="1" lang="en-US"/>
              <a:t>x. </a:t>
            </a:r>
            <a:r>
              <a:rPr lang="en-US"/>
              <a:t>The computational effort required to compute </a:t>
            </a:r>
            <a:r>
              <a:rPr i="1" lang="en-US"/>
              <a:t>h{x) </a:t>
            </a:r>
            <a:r>
              <a:rPr lang="en-US"/>
              <a:t>will, of course, grow with the length of </a:t>
            </a:r>
            <a:r>
              <a:rPr i="1" lang="en-US"/>
              <a:t>x, </a:t>
            </a:r>
            <a:r>
              <a:rPr lang="en-US"/>
              <a:t>but it cannot grow too fast.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One-way — Given any value </a:t>
            </a:r>
            <a:r>
              <a:rPr i="1" lang="en-US"/>
              <a:t>y, </a:t>
            </a:r>
            <a:r>
              <a:rPr lang="en-US"/>
              <a:t>it's computationally infeasible to find a value a; such that </a:t>
            </a:r>
            <a:r>
              <a:rPr i="1" lang="en-US"/>
              <a:t>h{x) = y. </a:t>
            </a:r>
            <a:r>
              <a:rPr lang="en-US"/>
              <a:t>Another way to say this is that there is no feasible way to invert the hash.</a:t>
            </a:r>
            <a:endParaRPr/>
          </a:p>
        </p:txBody>
      </p:sp>
      <p:sp>
        <p:nvSpPr>
          <p:cNvPr id="754" name="Google Shape;754;p4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62" name="Google Shape;762;p4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Weak collision resistance — Given </a:t>
            </a:r>
            <a:r>
              <a:rPr i="1" lang="en-US"/>
              <a:t>x </a:t>
            </a:r>
            <a:r>
              <a:rPr lang="en-US"/>
              <a:t>and </a:t>
            </a:r>
            <a:r>
              <a:rPr i="1" lang="en-US"/>
              <a:t>h(x), </a:t>
            </a:r>
            <a:r>
              <a:rPr lang="en-US"/>
              <a:t>it's infeasible to find any </a:t>
            </a:r>
            <a:r>
              <a:rPr i="1" lang="en-US"/>
              <a:t>y, </a:t>
            </a:r>
            <a:r>
              <a:rPr lang="en-US"/>
              <a:t>with </a:t>
            </a:r>
            <a:r>
              <a:rPr i="1" lang="en-US"/>
              <a:t>y ö x, </a:t>
            </a:r>
            <a:r>
              <a:rPr lang="en-US"/>
              <a:t>such that </a:t>
            </a:r>
            <a:r>
              <a:rPr i="1" lang="en-US"/>
              <a:t>h(y) = h(x). </a:t>
            </a:r>
            <a:r>
              <a:rPr lang="en-US"/>
              <a:t>Another way to state this requirement is that it is not feasible to modify a message without changing its hash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• Strong collision resistance — It's infeasible to find any </a:t>
            </a:r>
            <a:r>
              <a:rPr i="1" lang="en-US"/>
              <a:t>x </a:t>
            </a:r>
            <a:r>
              <a:rPr lang="en-US"/>
              <a:t>and </a:t>
            </a:r>
            <a:r>
              <a:rPr i="1" lang="en-US"/>
              <a:t>y, </a:t>
            </a:r>
            <a:r>
              <a:rPr lang="en-US"/>
              <a:t>such that </a:t>
            </a:r>
            <a:r>
              <a:rPr i="1" lang="en-US"/>
              <a:t>x ö y </a:t>
            </a:r>
            <a:r>
              <a:rPr lang="en-US"/>
              <a:t>and </a:t>
            </a:r>
            <a:r>
              <a:rPr i="1" lang="en-US"/>
              <a:t>h(x) = h(y). </a:t>
            </a:r>
            <a:r>
              <a:rPr lang="en-US"/>
              <a:t>That is, we cannot find any two inputs that hash to the same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Alice has a cryptographic hash function </a:t>
            </a:r>
            <a:r>
              <a:rPr i="1" lang="en-US"/>
              <a:t>h. </a:t>
            </a:r>
            <a:r>
              <a:rPr lang="en-US"/>
              <a:t>Then </a:t>
            </a:r>
            <a:r>
              <a:rPr i="1" lang="en-US"/>
              <a:t>h(M) </a:t>
            </a:r>
            <a:r>
              <a:rPr lang="en-US"/>
              <a:t>can be viewed as a "fingerprint" of the file </a:t>
            </a:r>
            <a:r>
              <a:rPr i="1" lang="en-US"/>
              <a:t>M, </a:t>
            </a:r>
            <a:r>
              <a:rPr lang="en-US"/>
              <a:t>that is, </a:t>
            </a:r>
            <a:r>
              <a:rPr i="1" lang="en-US"/>
              <a:t>h(M) </a:t>
            </a:r>
            <a:r>
              <a:rPr lang="en-US"/>
              <a:t>is much smaller than </a:t>
            </a:r>
            <a:r>
              <a:rPr i="1" lang="en-US"/>
              <a:t>M </a:t>
            </a:r>
            <a:r>
              <a:rPr lang="en-US"/>
              <a:t>but it identifies </a:t>
            </a:r>
            <a:r>
              <a:rPr i="1" lang="en-US"/>
              <a:t>M. </a:t>
            </a:r>
            <a:r>
              <a:rPr lang="en-US"/>
              <a:t>If </a:t>
            </a:r>
            <a:r>
              <a:rPr i="1" lang="en-US"/>
              <a:t>M' </a:t>
            </a:r>
            <a:r>
              <a:rPr lang="en-US"/>
              <a:t>differs from M, even by just a single bit, then the hashes will almost certainly differ.1 Furthermore, the collision resistance properties imply that it is not feasible to replace </a:t>
            </a:r>
            <a:r>
              <a:rPr i="1" lang="en-US"/>
              <a:t>M </a:t>
            </a:r>
            <a:r>
              <a:rPr lang="en-US"/>
              <a:t>with any different message </a:t>
            </a:r>
            <a:r>
              <a:rPr i="1" lang="en-US"/>
              <a:t>M' </a:t>
            </a:r>
            <a:r>
              <a:rPr lang="en-US"/>
              <a:t>such that </a:t>
            </a:r>
            <a:r>
              <a:rPr i="1" lang="en-US"/>
              <a:t>h(M) = h(M’). </a:t>
            </a:r>
            <a:endParaRPr/>
          </a:p>
        </p:txBody>
      </p:sp>
      <p:sp>
        <p:nvSpPr>
          <p:cNvPr id="763" name="Google Shape;763;p4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4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44" name="Google Shape;844;p5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addition modulo = (A + B) mod C = (A mod C + B mod C) mod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45" name="Google Shape;845;p5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5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5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7"/>
          <p:cNvSpPr txBox="1"/>
          <p:nvPr>
            <p:ph type="ctrTitle"/>
          </p:nvPr>
        </p:nvSpPr>
        <p:spPr>
          <a:xfrm>
            <a:off x="581192" y="990600"/>
            <a:ext cx="7989752" cy="1504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7"/>
          <p:cNvSpPr txBox="1"/>
          <p:nvPr>
            <p:ph idx="1" type="subTitle"/>
          </p:nvPr>
        </p:nvSpPr>
        <p:spPr>
          <a:xfrm>
            <a:off x="581192" y="2495444"/>
            <a:ext cx="7989752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7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60B2D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9"/>
          <p:cNvSpPr txBox="1"/>
          <p:nvPr>
            <p:ph type="title"/>
          </p:nvPr>
        </p:nvSpPr>
        <p:spPr>
          <a:xfrm>
            <a:off x="581025" y="687389"/>
            <a:ext cx="7989888" cy="725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9"/>
          <p:cNvSpPr txBox="1"/>
          <p:nvPr>
            <p:ph idx="1" type="body"/>
          </p:nvPr>
        </p:nvSpPr>
        <p:spPr>
          <a:xfrm>
            <a:off x="581192" y="2228003"/>
            <a:ext cx="7989752" cy="3630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98704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10" type="dt"/>
          </p:nvPr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9"/>
          <p:cNvSpPr txBox="1"/>
          <p:nvPr>
            <p:ph idx="11" type="ftr"/>
          </p:nvPr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2" type="sldNum"/>
          </p:nvPr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e674a6f98_0_111"/>
          <p:cNvSpPr txBox="1"/>
          <p:nvPr>
            <p:ph idx="11" type="ftr"/>
          </p:nvPr>
        </p:nvSpPr>
        <p:spPr>
          <a:xfrm>
            <a:off x="2714000" y="6248448"/>
            <a:ext cx="35079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de674a6f98_0_111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de674a6f98_0_111"/>
          <p:cNvSpPr txBox="1"/>
          <p:nvPr>
            <p:ph idx="12" type="sldNum"/>
          </p:nvPr>
        </p:nvSpPr>
        <p:spPr>
          <a:xfrm>
            <a:off x="886497" y="6299959"/>
            <a:ext cx="28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44447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 sz="900">
              <a:solidFill>
                <a:schemeClr val="accent2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/>
          <p:nvPr>
            <p:ph idx="1" type="body"/>
          </p:nvPr>
        </p:nvSpPr>
        <p:spPr>
          <a:xfrm>
            <a:off x="500034" y="1071546"/>
            <a:ext cx="8215370" cy="1677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Font typeface="Noto Sans Symbols"/>
              <a:buChar char="▪"/>
              <a:defRPr sz="1800"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Font typeface="Noto Sans Symbols"/>
              <a:buChar char="−"/>
              <a:defRPr/>
            </a:lvl3pPr>
            <a:lvl4pPr indent="-298704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 sz="1200"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 sz="1200"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7" name="Google Shape;57;p61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1"/>
          <p:cNvSpPr txBox="1"/>
          <p:nvPr>
            <p:ph idx="12" type="sldNum"/>
          </p:nvPr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/20</a:t>
            </a:r>
            <a:endParaRPr/>
          </a:p>
        </p:txBody>
      </p:sp>
      <p:sp>
        <p:nvSpPr>
          <p:cNvPr id="59" name="Google Shape;59;p61"/>
          <p:cNvSpPr txBox="1"/>
          <p:nvPr>
            <p:ph idx="11" type="ftr"/>
          </p:nvPr>
        </p:nvSpPr>
        <p:spPr>
          <a:xfrm>
            <a:off x="2411412" y="6572250"/>
            <a:ext cx="4321175" cy="26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3"/>
          <p:cNvSpPr txBox="1"/>
          <p:nvPr>
            <p:ph type="title"/>
          </p:nvPr>
        </p:nvSpPr>
        <p:spPr>
          <a:xfrm>
            <a:off x="581192" y="4693389"/>
            <a:ext cx="798975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/>
          <p:nvPr>
            <p:ph idx="2" type="pic"/>
          </p:nvPr>
        </p:nvSpPr>
        <p:spPr>
          <a:xfrm>
            <a:off x="448093" y="599725"/>
            <a:ext cx="8238706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63"/>
          <p:cNvSpPr txBox="1"/>
          <p:nvPr>
            <p:ph idx="1" type="body"/>
          </p:nvPr>
        </p:nvSpPr>
        <p:spPr>
          <a:xfrm>
            <a:off x="581192" y="5260126"/>
            <a:ext cx="7989752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3" name="Google Shape;73;p63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3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3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4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4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4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6"/>
          <p:cNvSpPr txBox="1"/>
          <p:nvPr>
            <p:ph type="title"/>
          </p:nvPr>
        </p:nvSpPr>
        <p:spPr>
          <a:xfrm>
            <a:off x="581193" y="3036573"/>
            <a:ext cx="7989751" cy="1504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6"/>
          <p:cNvSpPr txBox="1"/>
          <p:nvPr>
            <p:ph idx="1" type="body"/>
          </p:nvPr>
        </p:nvSpPr>
        <p:spPr>
          <a:xfrm>
            <a:off x="581193" y="4541417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66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6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60B2D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6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8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8"/>
          <p:cNvSpPr txBox="1"/>
          <p:nvPr>
            <p:ph idx="1" type="body"/>
          </p:nvPr>
        </p:nvSpPr>
        <p:spPr>
          <a:xfrm>
            <a:off x="581192" y="2228002"/>
            <a:ext cx="389952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09" name="Google Shape;109;p68"/>
          <p:cNvSpPr txBox="1"/>
          <p:nvPr>
            <p:ph idx="2" type="body"/>
          </p:nvPr>
        </p:nvSpPr>
        <p:spPr>
          <a:xfrm>
            <a:off x="4663282" y="2228003"/>
            <a:ext cx="390766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10" name="Google Shape;110;p68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8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8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0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0"/>
          <p:cNvSpPr txBox="1"/>
          <p:nvPr>
            <p:ph idx="1" type="body"/>
          </p:nvPr>
        </p:nvSpPr>
        <p:spPr>
          <a:xfrm>
            <a:off x="887219" y="2228003"/>
            <a:ext cx="35935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126" name="Google Shape;126;p70"/>
          <p:cNvSpPr txBox="1"/>
          <p:nvPr>
            <p:ph idx="2" type="body"/>
          </p:nvPr>
        </p:nvSpPr>
        <p:spPr>
          <a:xfrm>
            <a:off x="581192" y="2926051"/>
            <a:ext cx="3899527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27" name="Google Shape;127;p70"/>
          <p:cNvSpPr txBox="1"/>
          <p:nvPr>
            <p:ph idx="3" type="body"/>
          </p:nvPr>
        </p:nvSpPr>
        <p:spPr>
          <a:xfrm>
            <a:off x="4969308" y="2228003"/>
            <a:ext cx="360163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128" name="Google Shape;128;p70"/>
          <p:cNvSpPr txBox="1"/>
          <p:nvPr>
            <p:ph idx="4" type="body"/>
          </p:nvPr>
        </p:nvSpPr>
        <p:spPr>
          <a:xfrm>
            <a:off x="4663282" y="2926051"/>
            <a:ext cx="3907662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29" name="Google Shape;129;p70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70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0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2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2"/>
          <p:cNvSpPr txBox="1"/>
          <p:nvPr>
            <p:ph idx="10" type="dt"/>
          </p:nvPr>
        </p:nvSpPr>
        <p:spPr>
          <a:xfrm>
            <a:off x="5559425" y="63039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2"/>
          <p:cNvSpPr txBox="1"/>
          <p:nvPr>
            <p:ph idx="11" type="ftr"/>
          </p:nvPr>
        </p:nvSpPr>
        <p:spPr>
          <a:xfrm>
            <a:off x="581025" y="6299200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2"/>
          <p:cNvSpPr txBox="1"/>
          <p:nvPr>
            <p:ph idx="12" type="sldNum"/>
          </p:nvPr>
        </p:nvSpPr>
        <p:spPr>
          <a:xfrm>
            <a:off x="7800975" y="6303962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4"/>
          <p:cNvSpPr txBox="1"/>
          <p:nvPr>
            <p:ph type="title"/>
          </p:nvPr>
        </p:nvSpPr>
        <p:spPr>
          <a:xfrm>
            <a:off x="581352" y="5262296"/>
            <a:ext cx="353662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000">
                <a:solidFill>
                  <a:srgbClr val="5DB2D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74"/>
          <p:cNvSpPr txBox="1"/>
          <p:nvPr>
            <p:ph idx="1" type="body"/>
          </p:nvPr>
        </p:nvSpPr>
        <p:spPr>
          <a:xfrm>
            <a:off x="446399" y="601200"/>
            <a:ext cx="824040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74"/>
          <p:cNvSpPr txBox="1"/>
          <p:nvPr>
            <p:ph idx="2" type="body"/>
          </p:nvPr>
        </p:nvSpPr>
        <p:spPr>
          <a:xfrm>
            <a:off x="4305617" y="5262295"/>
            <a:ext cx="426532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161" name="Google Shape;161;p74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74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60B2D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74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6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76"/>
          <p:cNvSpPr txBox="1"/>
          <p:nvPr>
            <p:ph idx="1" type="body"/>
          </p:nvPr>
        </p:nvSpPr>
        <p:spPr>
          <a:xfrm rot="5400000">
            <a:off x="2759868" y="48418"/>
            <a:ext cx="3632200" cy="798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77" name="Google Shape;177;p76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76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76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8"/>
          <p:cNvSpPr txBox="1"/>
          <p:nvPr>
            <p:ph type="title"/>
          </p:nvPr>
        </p:nvSpPr>
        <p:spPr>
          <a:xfrm rot="5400000">
            <a:off x="4789425" y="2515700"/>
            <a:ext cx="5183073" cy="15031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78"/>
          <p:cNvSpPr txBox="1"/>
          <p:nvPr>
            <p:ph idx="1" type="body"/>
          </p:nvPr>
        </p:nvSpPr>
        <p:spPr>
          <a:xfrm rot="5400000">
            <a:off x="950760" y="306157"/>
            <a:ext cx="5183073" cy="5922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93" name="Google Shape;193;p78"/>
          <p:cNvSpPr txBox="1"/>
          <p:nvPr>
            <p:ph idx="10" type="dt"/>
          </p:nvPr>
        </p:nvSpPr>
        <p:spPr>
          <a:xfrm>
            <a:off x="6745287" y="5956300"/>
            <a:ext cx="947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78"/>
          <p:cNvSpPr txBox="1"/>
          <p:nvPr>
            <p:ph idx="11" type="ftr"/>
          </p:nvPr>
        </p:nvSpPr>
        <p:spPr>
          <a:xfrm>
            <a:off x="581025" y="5951537"/>
            <a:ext cx="5922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78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2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3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9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" name="Google Shape;11;p56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2" name="Google Shape;12;p56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" name="Google Shape;13;p56"/>
          <p:cNvSpPr/>
          <p:nvPr/>
        </p:nvSpPr>
        <p:spPr>
          <a:xfrm>
            <a:off x="447675" y="3086100"/>
            <a:ext cx="8240712" cy="330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" name="Google Shape;14;p56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56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56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7" name="Google Shape;17;p56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" name="Google Shape;18;p56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7" name="Google Shape;27;p58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8" name="Google Shape;28;p58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9" name="Google Shape;29;p58"/>
          <p:cNvSpPr/>
          <p:nvPr/>
        </p:nvSpPr>
        <p:spPr>
          <a:xfrm>
            <a:off x="454025" y="598487"/>
            <a:ext cx="8239125" cy="12461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id="30" name="Google Shape;30;p5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8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58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" name="Google Shape;34;p58"/>
          <p:cNvSpPr txBox="1"/>
          <p:nvPr>
            <p:ph idx="10" type="dt"/>
          </p:nvPr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5" name="Google Shape;35;p58"/>
          <p:cNvSpPr txBox="1"/>
          <p:nvPr>
            <p:ph idx="11" type="ftr"/>
          </p:nvPr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6" name="Google Shape;36;p58"/>
          <p:cNvSpPr txBox="1"/>
          <p:nvPr>
            <p:ph idx="12" type="sldNum"/>
          </p:nvPr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0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9" name="Google Shape;49;p60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0" name="Google Shape;50;p60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51" name="Google Shape;51;p60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" name="Google Shape;52;p60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/20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0"/>
          <p:cNvSpPr txBox="1"/>
          <p:nvPr>
            <p:ph idx="11" type="ftr"/>
          </p:nvPr>
        </p:nvSpPr>
        <p:spPr>
          <a:xfrm>
            <a:off x="2411412" y="6572250"/>
            <a:ext cx="4321175" cy="26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2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Google Shape;62;p62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3" name="Google Shape;63;p62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4" name="Google Shape;64;p62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5" name="Google Shape;65;p62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2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67" name="Google Shape;67;p62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68" name="Google Shape;68;p62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5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82" name="Google Shape;82;p65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83" name="Google Shape;83;p65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84" name="Google Shape;84;p65"/>
          <p:cNvSpPr/>
          <p:nvPr/>
        </p:nvSpPr>
        <p:spPr>
          <a:xfrm>
            <a:off x="452437" y="5141912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85" name="Google Shape;85;p65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6" name="Google Shape;86;p65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7" name="Google Shape;87;p65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8" name="Google Shape;88;p65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9" name="Google Shape;89;p65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7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8" name="Google Shape;98;p67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99" name="Google Shape;99;p67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00" name="Google Shape;100;p67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01" name="Google Shape;101;p67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67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3" name="Google Shape;103;p67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4" name="Google Shape;104;p67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5" name="Google Shape;105;p67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9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5" name="Google Shape;115;p69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6" name="Google Shape;116;p69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7" name="Google Shape;117;p69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18" name="Google Shape;118;p69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" name="Google Shape;119;p69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0" name="Google Shape;120;p69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21" name="Google Shape;121;p69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22" name="Google Shape;122;p69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1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4" name="Google Shape;134;p71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5" name="Google Shape;135;p71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6" name="Google Shape;136;p71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7" name="Google Shape;137;p71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9" name="Google Shape;139;p71"/>
          <p:cNvSpPr txBox="1"/>
          <p:nvPr>
            <p:ph idx="10" type="dt"/>
          </p:nvPr>
        </p:nvSpPr>
        <p:spPr>
          <a:xfrm>
            <a:off x="5559425" y="63039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0" name="Google Shape;140;p71"/>
          <p:cNvSpPr txBox="1"/>
          <p:nvPr>
            <p:ph idx="11" type="ftr"/>
          </p:nvPr>
        </p:nvSpPr>
        <p:spPr>
          <a:xfrm>
            <a:off x="581025" y="6299200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1" name="Google Shape;141;p71"/>
          <p:cNvSpPr txBox="1"/>
          <p:nvPr>
            <p:ph idx="12" type="sldNum"/>
          </p:nvPr>
        </p:nvSpPr>
        <p:spPr>
          <a:xfrm>
            <a:off x="7800975" y="6303962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3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9" name="Google Shape;149;p73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0" name="Google Shape;150;p73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1" name="Google Shape;151;p73"/>
          <p:cNvSpPr/>
          <p:nvPr/>
        </p:nvSpPr>
        <p:spPr>
          <a:xfrm>
            <a:off x="452437" y="5141912"/>
            <a:ext cx="8239125" cy="12747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52" name="Google Shape;152;p73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73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4" name="Google Shape;154;p73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5" name="Google Shape;155;p73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6" name="Google Shape;156;p73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5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6" name="Google Shape;166;p75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7" name="Google Shape;167;p75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8" name="Google Shape;168;p75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69" name="Google Shape;169;p75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75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1" name="Google Shape;171;p75"/>
          <p:cNvSpPr txBox="1"/>
          <p:nvPr>
            <p:ph idx="10" type="dt"/>
          </p:nvPr>
        </p:nvSpPr>
        <p:spPr>
          <a:xfrm>
            <a:off x="5559425" y="59563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72" name="Google Shape;172;p75"/>
          <p:cNvSpPr txBox="1"/>
          <p:nvPr>
            <p:ph idx="11" type="ftr"/>
          </p:nvPr>
        </p:nvSpPr>
        <p:spPr>
          <a:xfrm>
            <a:off x="581025" y="595153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73" name="Google Shape;173;p75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7"/>
          <p:cNvSpPr/>
          <p:nvPr/>
        </p:nvSpPr>
        <p:spPr>
          <a:xfrm>
            <a:off x="447675" y="441325"/>
            <a:ext cx="2720975" cy="107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2" name="Google Shape;182;p77"/>
          <p:cNvSpPr/>
          <p:nvPr/>
        </p:nvSpPr>
        <p:spPr>
          <a:xfrm>
            <a:off x="5975350" y="441325"/>
            <a:ext cx="2711450" cy="107950"/>
          </a:xfrm>
          <a:prstGeom prst="rect">
            <a:avLst/>
          </a:prstGeom>
          <a:solidFill>
            <a:srgbClr val="7A8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3" name="Google Shape;183;p77"/>
          <p:cNvSpPr/>
          <p:nvPr/>
        </p:nvSpPr>
        <p:spPr>
          <a:xfrm>
            <a:off x="3216275" y="441325"/>
            <a:ext cx="2711450" cy="107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4" name="Google Shape;184;p77"/>
          <p:cNvSpPr/>
          <p:nvPr/>
        </p:nvSpPr>
        <p:spPr>
          <a:xfrm>
            <a:off x="6629400" y="600075"/>
            <a:ext cx="2057400" cy="581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85" name="Google Shape;185;p77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77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7" name="Google Shape;187;p77"/>
          <p:cNvSpPr txBox="1"/>
          <p:nvPr>
            <p:ph idx="10" type="dt"/>
          </p:nvPr>
        </p:nvSpPr>
        <p:spPr>
          <a:xfrm>
            <a:off x="6745287" y="5956300"/>
            <a:ext cx="947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8" name="Google Shape;188;p77"/>
          <p:cNvSpPr txBox="1"/>
          <p:nvPr>
            <p:ph idx="11" type="ftr"/>
          </p:nvPr>
        </p:nvSpPr>
        <p:spPr>
          <a:xfrm>
            <a:off x="581025" y="5951537"/>
            <a:ext cx="5922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9" name="Google Shape;189;p77"/>
          <p:cNvSpPr txBox="1"/>
          <p:nvPr>
            <p:ph idx="12" type="sldNum"/>
          </p:nvPr>
        </p:nvSpPr>
        <p:spPr>
          <a:xfrm>
            <a:off x="7800975" y="5956300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B2D2"/>
              </a:buClr>
              <a:buSzPts val="900"/>
              <a:buFont typeface="Gulim"/>
              <a:buNone/>
              <a:defRPr b="0" i="0" sz="900" u="none">
                <a:solidFill>
                  <a:srgbClr val="60B2D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22.png"/><Relationship Id="rId21" Type="http://schemas.openxmlformats.org/officeDocument/2006/relationships/image" Target="../media/image30.png"/><Relationship Id="rId24" Type="http://schemas.openxmlformats.org/officeDocument/2006/relationships/image" Target="../media/image19.png"/><Relationship Id="rId23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Relationship Id="rId4" Type="http://schemas.openxmlformats.org/officeDocument/2006/relationships/image" Target="../media/image37.png"/><Relationship Id="rId9" Type="http://schemas.openxmlformats.org/officeDocument/2006/relationships/image" Target="../media/image7.png"/><Relationship Id="rId26" Type="http://schemas.openxmlformats.org/officeDocument/2006/relationships/image" Target="../media/image32.png"/><Relationship Id="rId25" Type="http://schemas.openxmlformats.org/officeDocument/2006/relationships/image" Target="../media/image38.png"/><Relationship Id="rId28" Type="http://schemas.openxmlformats.org/officeDocument/2006/relationships/image" Target="../media/image26.png"/><Relationship Id="rId27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29" Type="http://schemas.openxmlformats.org/officeDocument/2006/relationships/image" Target="../media/image2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30" Type="http://schemas.openxmlformats.org/officeDocument/2006/relationships/image" Target="../media/image28.png"/><Relationship Id="rId11" Type="http://schemas.openxmlformats.org/officeDocument/2006/relationships/image" Target="../media/image53.png"/><Relationship Id="rId10" Type="http://schemas.openxmlformats.org/officeDocument/2006/relationships/image" Target="../media/image29.png"/><Relationship Id="rId13" Type="http://schemas.openxmlformats.org/officeDocument/2006/relationships/image" Target="../media/image31.png"/><Relationship Id="rId12" Type="http://schemas.openxmlformats.org/officeDocument/2006/relationships/image" Target="../media/image12.png"/><Relationship Id="rId15" Type="http://schemas.openxmlformats.org/officeDocument/2006/relationships/image" Target="../media/image40.png"/><Relationship Id="rId14" Type="http://schemas.openxmlformats.org/officeDocument/2006/relationships/image" Target="../media/image55.png"/><Relationship Id="rId17" Type="http://schemas.openxmlformats.org/officeDocument/2006/relationships/image" Target="../media/image48.png"/><Relationship Id="rId16" Type="http://schemas.openxmlformats.org/officeDocument/2006/relationships/image" Target="../media/image17.png"/><Relationship Id="rId19" Type="http://schemas.openxmlformats.org/officeDocument/2006/relationships/image" Target="../media/image16.png"/><Relationship Id="rId18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jpg"/><Relationship Id="rId4" Type="http://schemas.openxmlformats.org/officeDocument/2006/relationships/image" Target="../media/image4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2.jpg"/><Relationship Id="rId4" Type="http://schemas.openxmlformats.org/officeDocument/2006/relationships/image" Target="../media/image4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4.jpg"/><Relationship Id="rId4" Type="http://schemas.openxmlformats.org/officeDocument/2006/relationships/image" Target="../media/image43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/>
          <p:nvPr>
            <p:ph type="ctrTitle"/>
          </p:nvPr>
        </p:nvSpPr>
        <p:spPr>
          <a:xfrm>
            <a:off x="315912" y="466725"/>
            <a:ext cx="8255000" cy="2319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CHAPTER 4</a:t>
            </a:r>
            <a:b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PUBLIC KEY CRYPTO</a:t>
            </a:r>
            <a:endParaRPr/>
          </a:p>
        </p:txBody>
      </p:sp>
      <p:sp>
        <p:nvSpPr>
          <p:cNvPr id="202" name="Google Shape;202;p1"/>
          <p:cNvSpPr txBox="1"/>
          <p:nvPr>
            <p:ph idx="1" type="subTitle"/>
          </p:nvPr>
        </p:nvSpPr>
        <p:spPr>
          <a:xfrm>
            <a:off x="581025" y="3284537"/>
            <a:ext cx="7989887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PREPARED BY: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DR. MUHAMMAD IQBAL HOSSAIN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ASSOCIATE PROFESSOR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DEPARTMENT OF CSE, BRAC UNIVERSITY</a:t>
            </a:r>
            <a:endParaRPr/>
          </a:p>
        </p:txBody>
      </p:sp>
      <p:pic>
        <p:nvPicPr>
          <p:cNvPr id="203" name="Google Shape;2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ctrTitle"/>
          </p:nvPr>
        </p:nvSpPr>
        <p:spPr>
          <a:xfrm>
            <a:off x="315912" y="466725"/>
            <a:ext cx="6899275" cy="22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APPENDIX</a:t>
            </a:r>
            <a:endParaRPr/>
          </a:p>
        </p:txBody>
      </p:sp>
      <p:sp>
        <p:nvSpPr>
          <p:cNvPr id="209" name="Google Shape;209;p2"/>
          <p:cNvSpPr txBox="1"/>
          <p:nvPr>
            <p:ph idx="1" type="subTitle"/>
          </p:nvPr>
        </p:nvSpPr>
        <p:spPr>
          <a:xfrm>
            <a:off x="827087" y="3357562"/>
            <a:ext cx="7058025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 KEY EXCHANGE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ELLIPTIC CURVE CRYPTOGRAPHY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USES FOR PUBLIC KEY CRYPTO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</a:t>
            </a:r>
            <a:endParaRPr/>
          </a:p>
        </p:txBody>
      </p:sp>
      <p:pic>
        <p:nvPicPr>
          <p:cNvPr id="210" name="Google Shape;2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6" name="Google Shape;216;p3"/>
          <p:cNvSpPr txBox="1"/>
          <p:nvPr>
            <p:ph idx="1" type="body"/>
          </p:nvPr>
        </p:nvSpPr>
        <p:spPr>
          <a:xfrm>
            <a:off x="581025" y="2227262"/>
            <a:ext cx="7989887" cy="32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16"/>
              <a:buFont typeface="Noto Sans Symbols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Diffie-Hellman Key exchange</a:t>
            </a:r>
            <a:endParaRPr/>
          </a:p>
        </p:txBody>
      </p:sp>
      <p:sp>
        <p:nvSpPr>
          <p:cNvPr id="217" name="Google Shape;217;p3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218" name="Google Shape;218;p3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19" name="Google Shape;219;p3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26" name="Google Shape;226;p4"/>
          <p:cNvSpPr txBox="1"/>
          <p:nvPr>
            <p:ph idx="1" type="body"/>
          </p:nvPr>
        </p:nvSpPr>
        <p:spPr>
          <a:xfrm>
            <a:off x="581025" y="1919287"/>
            <a:ext cx="7972425" cy="221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Invented by Williamson (GCHQ) and, independently, by D and H (Stanford)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“key exchange” algorithm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establish a shared symmetric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for encrypting or signing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723900" y="4319587"/>
            <a:ext cx="7829550" cy="1854200"/>
          </a:xfrm>
          <a:prstGeom prst="rect">
            <a:avLst/>
          </a:prstGeom>
          <a:solidFill>
            <a:srgbClr val="7FC1DB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b="0" i="0" lang="en-US" sz="3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Security rests on difficulty of </a:t>
            </a:r>
            <a:r>
              <a:rPr b="1" i="0" lang="en-US" sz="300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discrete log</a:t>
            </a:r>
            <a:r>
              <a:rPr b="0" i="0" lang="en-US" sz="300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problem: </a:t>
            </a:r>
            <a:r>
              <a:rPr b="0" i="0" lang="en-US" sz="24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30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(Not known: NP-complete)</a:t>
            </a:r>
            <a:endParaRPr b="0" i="0" sz="3000" u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Gill Sans"/>
              <a:buNone/>
            </a:pPr>
            <a:r>
              <a:rPr b="0" i="0" lang="en-US" sz="30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	   </a:t>
            </a:r>
            <a:r>
              <a:rPr b="0" i="0" lang="en-US" sz="32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given 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g, p, </a:t>
            </a:r>
            <a:r>
              <a:rPr b="0" i="0" lang="en-US" sz="32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and 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k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 →</a:t>
            </a:r>
            <a:r>
              <a:rPr b="0" i="0" lang="en-US" sz="3200" u="non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find </a:t>
            </a:r>
            <a:r>
              <a:rPr b="0" i="0" lang="en-US" sz="32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k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37" name="Google Shape;237;p5"/>
          <p:cNvSpPr txBox="1"/>
          <p:nvPr>
            <p:ph idx="1" type="body"/>
          </p:nvPr>
        </p:nvSpPr>
        <p:spPr>
          <a:xfrm>
            <a:off x="581025" y="1958975"/>
            <a:ext cx="7929562" cy="4313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prime, let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(p,g are public)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any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{1,2,…,p-1}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is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s.t.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x = g</a:t>
            </a:r>
            <a:r>
              <a:rPr b="0" baseline="3000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n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selects secret value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selects secret value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Bob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sends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Alice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compute shared secret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(g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g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g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 b="0" i="0" sz="2000" u="none" cap="none" strike="noStrike">
              <a:solidFill>
                <a:srgbClr val="0000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secret can be used as symmetric key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46" name="Google Shape;246;p6"/>
          <p:cNvSpPr txBox="1"/>
          <p:nvPr>
            <p:ph idx="1" type="body"/>
          </p:nvPr>
        </p:nvSpPr>
        <p:spPr>
          <a:xfrm>
            <a:off x="785812" y="1719262"/>
            <a:ext cx="790098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that Bob and Alice use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symmetric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Trudy can see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a+b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mod p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≠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g</a:t>
            </a:r>
            <a:r>
              <a:rPr b="0" baseline="3000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Trudy can find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system is broken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Trudy can solve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log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problem, then she can find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/>
          <p:nvPr>
            <p:ph type="title"/>
          </p:nvPr>
        </p:nvSpPr>
        <p:spPr>
          <a:xfrm>
            <a:off x="785812" y="457200"/>
            <a:ext cx="71437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255" name="Google Shape;255;p7"/>
          <p:cNvSpPr txBox="1"/>
          <p:nvPr>
            <p:ph idx="1" type="body"/>
          </p:nvPr>
        </p:nvSpPr>
        <p:spPr>
          <a:xfrm>
            <a:off x="785812" y="1759589"/>
            <a:ext cx="79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1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Secret: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Alice’s exponent 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Bob’s exponent 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cxnSp>
        <p:nvCxnSpPr>
          <p:cNvPr id="258" name="Google Shape;258;p7"/>
          <p:cNvCxnSpPr/>
          <p:nvPr/>
        </p:nvCxnSpPr>
        <p:spPr>
          <a:xfrm>
            <a:off x="1981200" y="3417887"/>
            <a:ext cx="46482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59" name="Google Shape;259;p7"/>
          <p:cNvCxnSpPr/>
          <p:nvPr/>
        </p:nvCxnSpPr>
        <p:spPr>
          <a:xfrm flipH="1">
            <a:off x="1905000" y="3960812"/>
            <a:ext cx="4648200" cy="14287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0" name="Google Shape;260;p7"/>
          <p:cNvSpPr txBox="1"/>
          <p:nvPr/>
        </p:nvSpPr>
        <p:spPr>
          <a:xfrm>
            <a:off x="800100" y="4233862"/>
            <a:ext cx="12573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Alice, </a:t>
            </a:r>
            <a:r>
              <a:rPr b="0" i="0" lang="en-US" sz="24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6781800" y="4233862"/>
            <a:ext cx="10747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Bob, </a:t>
            </a:r>
            <a:r>
              <a:rPr b="0" i="0" lang="en-US" sz="24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3402012" y="2921000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3402012" y="3503612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785812" y="4857750"/>
            <a:ext cx="7929562" cy="1452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 computes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Bob computes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Could use </a:t>
            </a:r>
            <a:r>
              <a:rPr b="0" i="0" lang="en-US" sz="2600" u="none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K = g</a:t>
            </a:r>
            <a:r>
              <a:rPr b="0" baseline="30000" i="0" lang="en-US" sz="2600" u="none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ab</a:t>
            </a:r>
            <a:r>
              <a:rPr b="0" i="0" lang="en-US" sz="2600" u="none">
                <a:solidFill>
                  <a:srgbClr val="00B05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symmetric key </a:t>
            </a:r>
            <a:endParaRPr/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650" y="2826135"/>
            <a:ext cx="896900" cy="153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1050" y="2741600"/>
            <a:ext cx="1027075" cy="15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idx="1" type="body"/>
          </p:nvPr>
        </p:nvSpPr>
        <p:spPr>
          <a:xfrm>
            <a:off x="285750" y="944562"/>
            <a:ext cx="42862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Alice</a:t>
            </a:r>
            <a:endParaRPr/>
          </a:p>
        </p:txBody>
      </p:sp>
      <p:sp>
        <p:nvSpPr>
          <p:cNvPr id="274" name="Google Shape;274;p9"/>
          <p:cNvSpPr txBox="1"/>
          <p:nvPr>
            <p:ph type="title"/>
          </p:nvPr>
        </p:nvSpPr>
        <p:spPr>
          <a:xfrm>
            <a:off x="581025" y="687387"/>
            <a:ext cx="7989887" cy="1082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DIFFIE–HELLMAN KEY EXCHANGE</a:t>
            </a:r>
            <a:endParaRPr/>
          </a:p>
        </p:txBody>
      </p:sp>
      <p:sp>
        <p:nvSpPr>
          <p:cNvPr id="275" name="Google Shape;275;p9"/>
          <p:cNvSpPr txBox="1"/>
          <p:nvPr>
            <p:ph idx="1" type="body"/>
          </p:nvPr>
        </p:nvSpPr>
        <p:spPr>
          <a:xfrm>
            <a:off x="4714875" y="928687"/>
            <a:ext cx="4429125" cy="328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b="0" i="0" lang="en-US" sz="24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Bob</a:t>
            </a:r>
            <a:endParaRPr/>
          </a:p>
        </p:txBody>
      </p:sp>
      <p:cxnSp>
        <p:nvCxnSpPr>
          <p:cNvPr id="276" name="Google Shape;276;p9"/>
          <p:cNvCxnSpPr/>
          <p:nvPr/>
        </p:nvCxnSpPr>
        <p:spPr>
          <a:xfrm>
            <a:off x="3352800" y="287655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7" name="Google Shape;277;p9"/>
          <p:cNvCxnSpPr/>
          <p:nvPr/>
        </p:nvCxnSpPr>
        <p:spPr>
          <a:xfrm rot="10800000">
            <a:off x="3352800" y="348615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8" name="Google Shape;278;p9"/>
          <p:cNvCxnSpPr/>
          <p:nvPr/>
        </p:nvCxnSpPr>
        <p:spPr>
          <a:xfrm flipH="1" rot="10800000">
            <a:off x="285750" y="4857750"/>
            <a:ext cx="8429625" cy="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9" name="Google Shape;279;p9"/>
          <p:cNvCxnSpPr/>
          <p:nvPr/>
        </p:nvCxnSpPr>
        <p:spPr>
          <a:xfrm>
            <a:off x="3429000" y="60452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80" name="Google Shape;280;p9"/>
          <p:cNvSpPr txBox="1"/>
          <p:nvPr/>
        </p:nvSpPr>
        <p:spPr>
          <a:xfrm>
            <a:off x="250825" y="150495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∈{1,2,…,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-1}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5651500" y="150495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∈ {1,2,…,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-1}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250825" y="2439987"/>
            <a:ext cx="3249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corresponding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α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5651500" y="3016250"/>
            <a:ext cx="30257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α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250825" y="3881437"/>
            <a:ext cx="3240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B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5651500" y="3881437"/>
            <a:ext cx="3240087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A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4211637" y="251301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87" name="Google Shape;287;p9"/>
          <p:cNvSpPr txBox="1"/>
          <p:nvPr/>
        </p:nvSpPr>
        <p:spPr>
          <a:xfrm>
            <a:off x="4211637" y="316071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4284662" y="5695950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1042987" y="5838825"/>
            <a:ext cx="16557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AES</a:t>
            </a:r>
            <a:r>
              <a:rPr b="0" baseline="-25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kAB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6516687" y="5838825"/>
            <a:ext cx="227012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AES</a:t>
            </a:r>
            <a:r>
              <a:rPr b="0" baseline="30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-25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kAB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(y)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4073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214312" y="5240337"/>
            <a:ext cx="3240087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now use the joint key k</a:t>
            </a:r>
            <a:r>
              <a:rPr b="0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encryption, e.g., with AES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d8702162e_0_0"/>
          <p:cNvSpPr txBox="1"/>
          <p:nvPr>
            <p:ph idx="1" type="body"/>
          </p:nvPr>
        </p:nvSpPr>
        <p:spPr>
          <a:xfrm>
            <a:off x="500034" y="1071546"/>
            <a:ext cx="8215500" cy="167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4d8702162e_0_0"/>
          <p:cNvSpPr txBox="1"/>
          <p:nvPr>
            <p:ph type="title"/>
          </p:nvPr>
        </p:nvSpPr>
        <p:spPr>
          <a:xfrm>
            <a:off x="581025" y="687387"/>
            <a:ext cx="79899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4d8702162e_0_0"/>
          <p:cNvSpPr txBox="1"/>
          <p:nvPr>
            <p:ph idx="12" type="sldNum"/>
          </p:nvPr>
        </p:nvSpPr>
        <p:spPr>
          <a:xfrm>
            <a:off x="179387" y="6570662"/>
            <a:ext cx="504900" cy="216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/20</a:t>
            </a:r>
            <a:endParaRPr/>
          </a:p>
        </p:txBody>
      </p:sp>
      <p:pic>
        <p:nvPicPr>
          <p:cNvPr id="301" name="Google Shape;301;g34d8702162e_0_0" title="Diffie-Hellman Key Exchange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14473"/>
            <a:ext cx="9143999" cy="520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 txBox="1"/>
          <p:nvPr>
            <p:ph idx="1" type="body"/>
          </p:nvPr>
        </p:nvSpPr>
        <p:spPr>
          <a:xfrm>
            <a:off x="285750" y="1230312"/>
            <a:ext cx="2701925" cy="642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Alice</a:t>
            </a:r>
            <a:endParaRPr/>
          </a:p>
        </p:txBody>
      </p:sp>
      <p:sp>
        <p:nvSpPr>
          <p:cNvPr id="308" name="Google Shape;308;p8"/>
          <p:cNvSpPr txBox="1"/>
          <p:nvPr>
            <p:ph type="title"/>
          </p:nvPr>
        </p:nvSpPr>
        <p:spPr>
          <a:xfrm>
            <a:off x="468312" y="55562"/>
            <a:ext cx="79898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83C6"/>
              </a:buClr>
              <a:buSzPts val="2500"/>
              <a:buFont typeface="Gill Sans"/>
              <a:buNone/>
            </a:pPr>
            <a:r>
              <a:rPr b="0" i="0" lang="en-US" sz="2500" u="none">
                <a:solidFill>
                  <a:srgbClr val="2683C6"/>
                </a:solidFill>
                <a:latin typeface="Gill Sans"/>
                <a:ea typeface="Gill Sans"/>
                <a:cs typeface="Gill Sans"/>
                <a:sym typeface="Gill Sans"/>
              </a:rPr>
              <a:t>DIFFIE–HELLMAN KEY EXCHANGE: EXAMPLE</a:t>
            </a:r>
            <a:endParaRPr/>
          </a:p>
        </p:txBody>
      </p:sp>
      <p:sp>
        <p:nvSpPr>
          <p:cNvPr id="309" name="Google Shape;309;p8"/>
          <p:cNvSpPr txBox="1"/>
          <p:nvPr>
            <p:ph idx="1" type="body"/>
          </p:nvPr>
        </p:nvSpPr>
        <p:spPr>
          <a:xfrm>
            <a:off x="4714875" y="1214437"/>
            <a:ext cx="4429125" cy="328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8"/>
              <a:buNone/>
            </a:pPr>
            <a:r>
              <a:rPr b="0" i="0" lang="en-US" sz="24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Bob</a:t>
            </a:r>
            <a:endParaRPr/>
          </a:p>
        </p:txBody>
      </p:sp>
      <p:cxnSp>
        <p:nvCxnSpPr>
          <p:cNvPr id="310" name="Google Shape;310;p8"/>
          <p:cNvCxnSpPr/>
          <p:nvPr/>
        </p:nvCxnSpPr>
        <p:spPr>
          <a:xfrm>
            <a:off x="3352800" y="31623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1" name="Google Shape;311;p8"/>
          <p:cNvCxnSpPr/>
          <p:nvPr/>
        </p:nvCxnSpPr>
        <p:spPr>
          <a:xfrm rot="10800000">
            <a:off x="3352800" y="3771900"/>
            <a:ext cx="21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2" name="Google Shape;312;p8"/>
          <p:cNvSpPr txBox="1"/>
          <p:nvPr/>
        </p:nvSpPr>
        <p:spPr>
          <a:xfrm>
            <a:off x="250825" y="179070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5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5651500" y="1790700"/>
            <a:ext cx="331311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random private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250825" y="2725737"/>
            <a:ext cx="3249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corresponding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 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5651500" y="3302000"/>
            <a:ext cx="30257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correspondig public key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7 mod 29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250825" y="4167187"/>
            <a:ext cx="3240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B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7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16 mod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5651500" y="4167187"/>
            <a:ext cx="3240087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common secret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r>
              <a:rPr b="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g</a:t>
            </a:r>
            <a:r>
              <a:rPr b="0" baseline="30000" i="0" lang="en-US" sz="1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ab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baseline="30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16 mod 29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4211637" y="279876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4211637" y="3446462"/>
            <a:ext cx="36036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285750" y="811212"/>
            <a:ext cx="842962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parameters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=29,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=2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179387" y="6570662"/>
            <a:ext cx="5048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4073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en-US" sz="900" u="none">
                <a:solidFill>
                  <a:srgbClr val="394073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/>
          </a:p>
        </p:txBody>
      </p:sp>
      <p:sp>
        <p:nvSpPr>
          <p:cNvPr id="322" name="Google Shape;322;p8"/>
          <p:cNvSpPr txBox="1"/>
          <p:nvPr/>
        </p:nvSpPr>
        <p:spPr>
          <a:xfrm>
            <a:off x="2286000" y="5072062"/>
            <a:ext cx="435768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 of correctness: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 computes: B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 p</a:t>
            </a:r>
            <a:b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 computes:  A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mod p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i.e., Alice and Bob compute the same key k</a:t>
            </a:r>
            <a:r>
              <a:rPr b="0" baseline="-2500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r>
              <a:rPr b="0" baseline="-2500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328" name="Google Shape;328;p10"/>
          <p:cNvSpPr txBox="1"/>
          <p:nvPr>
            <p:ph idx="1" type="body"/>
          </p:nvPr>
        </p:nvSpPr>
        <p:spPr>
          <a:xfrm>
            <a:off x="785812" y="1714500"/>
            <a:ext cx="7518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 </a:t>
            </a: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man-in-the-middle (MiM)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cxnSp>
        <p:nvCxnSpPr>
          <p:cNvPr id="331" name="Google Shape;331;p10"/>
          <p:cNvCxnSpPr/>
          <p:nvPr/>
        </p:nvCxnSpPr>
        <p:spPr>
          <a:xfrm rot="-120000">
            <a:off x="1447800" y="3200400"/>
            <a:ext cx="2133600" cy="36512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2" name="Google Shape;332;p10"/>
          <p:cNvCxnSpPr/>
          <p:nvPr/>
        </p:nvCxnSpPr>
        <p:spPr>
          <a:xfrm rot="10800000">
            <a:off x="5181600" y="3810000"/>
            <a:ext cx="24384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33" name="Google Shape;333;p10"/>
          <p:cNvSpPr txBox="1"/>
          <p:nvPr/>
        </p:nvSpPr>
        <p:spPr>
          <a:xfrm>
            <a:off x="304800" y="4054475"/>
            <a:ext cx="12446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Alice, 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7696200" y="4038600"/>
            <a:ext cx="106203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Bob, 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1801812" y="2743200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5791200" y="3276600"/>
            <a:ext cx="1398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3741737" y="4038600"/>
            <a:ext cx="12874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Trudy,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</a:t>
            </a:r>
            <a:endParaRPr/>
          </a:p>
        </p:txBody>
      </p:sp>
      <p:cxnSp>
        <p:nvCxnSpPr>
          <p:cNvPr id="338" name="Google Shape;338;p10"/>
          <p:cNvCxnSpPr/>
          <p:nvPr/>
        </p:nvCxnSpPr>
        <p:spPr>
          <a:xfrm>
            <a:off x="5257800" y="3200400"/>
            <a:ext cx="23622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39" name="Google Shape;339;p10"/>
          <p:cNvCxnSpPr/>
          <p:nvPr/>
        </p:nvCxnSpPr>
        <p:spPr>
          <a:xfrm rot="10800000">
            <a:off x="1371600" y="3810000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40" name="Google Shape;340;p10"/>
          <p:cNvSpPr txBox="1"/>
          <p:nvPr/>
        </p:nvSpPr>
        <p:spPr>
          <a:xfrm>
            <a:off x="1781175" y="3276600"/>
            <a:ext cx="1343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5791200" y="2743200"/>
            <a:ext cx="1343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785812" y="4724400"/>
            <a:ext cx="7900987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Trudy shares secret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with Alice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Trudy shares secret 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</a:t>
            </a:r>
            <a:r>
              <a:rPr b="0" baseline="3000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bt</a:t>
            </a:r>
            <a:r>
              <a:rPr b="0" i="0" lang="en-US" sz="26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mod p</a:t>
            </a:r>
            <a:r>
              <a:rPr b="0" i="0" lang="en-US" sz="2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with Bob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Alice and Bob don’t know Trudy exists!</a:t>
            </a:r>
            <a:endParaRPr/>
          </a:p>
        </p:txBody>
      </p:sp>
      <p:pic>
        <p:nvPicPr>
          <p:cNvPr id="343" name="Google Shape;3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50" y="2566987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200" y="2438400"/>
            <a:ext cx="1076325" cy="166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2743200"/>
            <a:ext cx="1039812" cy="1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DIFFIE-HELLMAN</a:t>
            </a:r>
            <a:endParaRPr/>
          </a:p>
        </p:txBody>
      </p:sp>
      <p:sp>
        <p:nvSpPr>
          <p:cNvPr id="352" name="Google Shape;352;p11"/>
          <p:cNvSpPr txBox="1"/>
          <p:nvPr>
            <p:ph idx="1" type="body"/>
          </p:nvPr>
        </p:nvSpPr>
        <p:spPr>
          <a:xfrm>
            <a:off x="484187" y="2065337"/>
            <a:ext cx="7747000" cy="423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prevent MiM attack? 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DH exchange with symmetric key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DH exchange with public key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DH values with private key</a:t>
            </a:r>
            <a:endParaRPr/>
          </a:p>
          <a:p>
            <a:pPr indent="-514350" lvl="1" marL="8572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mic Sans MS"/>
              <a:buAutoNum type="arabicPeriod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MUST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aware of MiM attack on Diffie-Hellman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54" name="Google Shape;354;p11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"/>
          <p:cNvSpPr txBox="1"/>
          <p:nvPr>
            <p:ph type="title"/>
          </p:nvPr>
        </p:nvSpPr>
        <p:spPr>
          <a:xfrm>
            <a:off x="428625" y="2071669"/>
            <a:ext cx="8215200" cy="35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ECC:</a:t>
            </a:r>
            <a:br>
              <a:rPr b="0" i="0" lang="en-US" sz="4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ELLIPTIC CURVE CRYPTOGRAPHY</a:t>
            </a:r>
            <a:endParaRPr b="0" i="0" sz="40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1" lang="en-US" sz="4000">
                <a:solidFill>
                  <a:srgbClr val="FF0000"/>
                </a:solidFill>
              </a:rPr>
              <a:t>Follow class lecture</a:t>
            </a:r>
            <a:endParaRPr b="1" sz="4000">
              <a:solidFill>
                <a:srgbClr val="FF0000"/>
              </a:solidFill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3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ELLIPTIC CURVE CRYPTO (ECC)</a:t>
            </a:r>
            <a:endParaRPr/>
          </a:p>
        </p:txBody>
      </p:sp>
      <p:sp>
        <p:nvSpPr>
          <p:cNvPr id="369" name="Google Shape;369;p13"/>
          <p:cNvSpPr txBox="1"/>
          <p:nvPr>
            <p:ph idx="1" type="body"/>
          </p:nvPr>
        </p:nvSpPr>
        <p:spPr>
          <a:xfrm>
            <a:off x="785812" y="1719262"/>
            <a:ext cx="7900987" cy="4138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“Elliptic curve” is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cryptosystem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Elliptic curves are a different way to do the math in public key system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Elliptic curve versions of DH, RSA, etc.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Elliptic curves may be more efficient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bits needed for same security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the operations are more complex</a:t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71" name="Google Shape;371;p13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72" name="Google Shape;372;p13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WHAT IS AN ELLIPTIC CURVE?</a:t>
            </a:r>
            <a:endParaRPr/>
          </a:p>
        </p:txBody>
      </p:sp>
      <p:sp>
        <p:nvSpPr>
          <p:cNvPr id="378" name="Google Shape;378;p14"/>
          <p:cNvSpPr txBox="1"/>
          <p:nvPr>
            <p:ph idx="1" type="body"/>
          </p:nvPr>
        </p:nvSpPr>
        <p:spPr>
          <a:xfrm>
            <a:off x="785812" y="1719262"/>
            <a:ext cx="7497762" cy="432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elliptic curve E is the graph of an equation of the form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x</a:t>
            </a:r>
            <a:r>
              <a:rPr b="1" baseline="3000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ax + 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includes a “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at infinity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 :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elliptic curves look like?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the next slide!</a:t>
            </a:r>
            <a:endParaRPr/>
          </a:p>
        </p:txBody>
      </p:sp>
      <p:sp>
        <p:nvSpPr>
          <p:cNvPr id="379" name="Google Shape;379;p14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80" name="Google Shape;380;p1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381" name="Google Shape;381;p14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" y="2547937"/>
            <a:ext cx="28956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5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ELLIPTIC CURVE PICTURE</a:t>
            </a:r>
            <a:endParaRPr/>
          </a:p>
        </p:txBody>
      </p:sp>
      <p:sp>
        <p:nvSpPr>
          <p:cNvPr id="388" name="Google Shape;388;p15"/>
          <p:cNvSpPr txBox="1"/>
          <p:nvPr>
            <p:ph idx="1" type="body"/>
          </p:nvPr>
        </p:nvSpPr>
        <p:spPr>
          <a:xfrm>
            <a:off x="4286250" y="1714500"/>
            <a:ext cx="4246562" cy="445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elliptic curve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accent2"/>
              </a:buClr>
              <a:buSzPts val="2024"/>
              <a:buFont typeface="Noto Sans Symbols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E:  y</a:t>
            </a:r>
            <a:r>
              <a:rPr b="0" baseline="3000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x</a:t>
            </a:r>
            <a:r>
              <a:rPr b="0" baseline="3000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x + 1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</a:t>
            </a:r>
            <a:r>
              <a:rPr b="0" baseline="-2500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on E, we can define 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</a:t>
            </a:r>
            <a:r>
              <a:rPr b="0" baseline="-2500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P</a:t>
            </a:r>
            <a:r>
              <a:rPr b="0" baseline="-2500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as shown in picture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is all we need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discrete points, we add “mod p” to the EC</a:t>
            </a:r>
            <a:endParaRPr/>
          </a:p>
        </p:txBody>
      </p:sp>
      <p:sp>
        <p:nvSpPr>
          <p:cNvPr id="389" name="Google Shape;389;p1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390" name="Google Shape;390;p1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cxnSp>
        <p:nvCxnSpPr>
          <p:cNvPr id="391" name="Google Shape;391;p15"/>
          <p:cNvCxnSpPr/>
          <p:nvPr/>
        </p:nvCxnSpPr>
        <p:spPr>
          <a:xfrm flipH="1" rot="10800000">
            <a:off x="828675" y="3081337"/>
            <a:ext cx="29718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2" name="Google Shape;392;p15"/>
          <p:cNvSpPr/>
          <p:nvPr/>
        </p:nvSpPr>
        <p:spPr>
          <a:xfrm>
            <a:off x="919162" y="3478212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2198687" y="3276600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3005137" y="3157537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cxnSp>
        <p:nvCxnSpPr>
          <p:cNvPr id="395" name="Google Shape;395;p15"/>
          <p:cNvCxnSpPr/>
          <p:nvPr/>
        </p:nvCxnSpPr>
        <p:spPr>
          <a:xfrm>
            <a:off x="3057525" y="2166937"/>
            <a:ext cx="0" cy="320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6" name="Google Shape;396;p15"/>
          <p:cNvSpPr/>
          <p:nvPr/>
        </p:nvSpPr>
        <p:spPr>
          <a:xfrm>
            <a:off x="3005137" y="4376737"/>
            <a:ext cx="109537" cy="109537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600075" y="3081337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baseline="-2500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/>
          </a:p>
        </p:txBody>
      </p:sp>
      <p:sp>
        <p:nvSpPr>
          <p:cNvPr id="398" name="Google Shape;398;p15"/>
          <p:cNvSpPr txBox="1"/>
          <p:nvPr/>
        </p:nvSpPr>
        <p:spPr>
          <a:xfrm>
            <a:off x="2124075" y="2852737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baseline="-2500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3038475" y="4071937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baseline="-2500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3</a:t>
            </a:r>
            <a:endParaRPr/>
          </a:p>
        </p:txBody>
      </p:sp>
      <p:cxnSp>
        <p:nvCxnSpPr>
          <p:cNvPr id="400" name="Google Shape;400;p15"/>
          <p:cNvCxnSpPr/>
          <p:nvPr/>
        </p:nvCxnSpPr>
        <p:spPr>
          <a:xfrm flipH="1" rot="10800000">
            <a:off x="676275" y="3789362"/>
            <a:ext cx="3352800" cy="44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1" name="Google Shape;401;p15"/>
          <p:cNvCxnSpPr/>
          <p:nvPr/>
        </p:nvCxnSpPr>
        <p:spPr>
          <a:xfrm>
            <a:off x="1514475" y="2166937"/>
            <a:ext cx="0" cy="320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2" name="Google Shape;402;p15"/>
          <p:cNvSpPr txBox="1"/>
          <p:nvPr/>
        </p:nvSpPr>
        <p:spPr>
          <a:xfrm>
            <a:off x="3397250" y="3746500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x</a:t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1362075" y="1785937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"/>
              <a:buNone/>
            </a:pPr>
            <a:r>
              <a:rPr b="0" i="0" lang="en-US" sz="20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</a:t>
            </a:r>
            <a:endParaRPr/>
          </a:p>
        </p:txBody>
      </p:sp>
      <p:sp>
        <p:nvSpPr>
          <p:cNvPr id="404" name="Google Shape;404;p15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410" name="Google Shape;410;p16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graphicFrame>
        <p:nvGraphicFramePr>
          <p:cNvPr id="412" name="Google Shape;412;p16"/>
          <p:cNvGraphicFramePr/>
          <p:nvPr/>
        </p:nvGraphicFramePr>
        <p:xfrm>
          <a:off x="725487" y="1989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{DB2076CD-3786-423D-9B04-364E05EA5FC1}</a:tableStyleId>
              </a:tblPr>
              <a:tblGrid>
                <a:gridCol w="1589075"/>
                <a:gridCol w="1179500"/>
                <a:gridCol w="1411275"/>
                <a:gridCol w="3513125"/>
              </a:tblGrid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Symmetric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ECC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RSA, DL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1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Remark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Bit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 700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short term security </a:t>
                      </a:r>
                      <a:b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 few hours or days)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  <a:tr h="162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Bit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160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 1024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 security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(except attacks from big governmental institutions etc.)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Bit</a:t>
                      </a:r>
                      <a:endParaRPr/>
                    </a:p>
                  </a:txBody>
                  <a:tcPr marT="47200" marB="47200" marR="91425" marL="91425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≈  3072 Bit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 term security</a:t>
                      </a:r>
                      <a:b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(without quantum computers)</a:t>
                      </a:r>
                      <a:endParaRPr/>
                    </a:p>
                  </a:txBody>
                  <a:tcPr marT="47200" marB="47200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0E1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16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KEY SIZE COMPARISON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e674a6f98_0_0"/>
          <p:cNvSpPr txBox="1"/>
          <p:nvPr>
            <p:ph type="title"/>
          </p:nvPr>
        </p:nvSpPr>
        <p:spPr>
          <a:xfrm>
            <a:off x="581025" y="687389"/>
            <a:ext cx="7989900" cy="72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e674a6f98_0_0"/>
          <p:cNvSpPr txBox="1"/>
          <p:nvPr>
            <p:ph idx="1" type="body"/>
          </p:nvPr>
        </p:nvSpPr>
        <p:spPr>
          <a:xfrm>
            <a:off x="581192" y="2228003"/>
            <a:ext cx="7989900" cy="363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e674a6f98_0_0"/>
          <p:cNvSpPr txBox="1"/>
          <p:nvPr>
            <p:ph idx="12" type="sldNum"/>
          </p:nvPr>
        </p:nvSpPr>
        <p:spPr>
          <a:xfrm>
            <a:off x="7823200" y="6307137"/>
            <a:ext cx="769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e674a6f98_0_10"/>
          <p:cNvSpPr txBox="1"/>
          <p:nvPr>
            <p:ph idx="11" type="ftr"/>
          </p:nvPr>
        </p:nvSpPr>
        <p:spPr>
          <a:xfrm>
            <a:off x="496838" y="5737092"/>
            <a:ext cx="4164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of Understanding Cryptography by Christof Paar and Jan Pelzl</a:t>
            </a:r>
            <a:endParaRPr/>
          </a:p>
        </p:txBody>
      </p:sp>
      <p:sp>
        <p:nvSpPr>
          <p:cNvPr id="427" name="Google Shape;427;g3de674a6f98_0_10"/>
          <p:cNvSpPr txBox="1"/>
          <p:nvPr>
            <p:ph idx="12" type="sldNum"/>
          </p:nvPr>
        </p:nvSpPr>
        <p:spPr>
          <a:xfrm>
            <a:off x="6689672" y="5724124"/>
            <a:ext cx="6582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g3de674a6f98_0_10"/>
          <p:cNvSpPr txBox="1"/>
          <p:nvPr>
            <p:ph type="title"/>
          </p:nvPr>
        </p:nvSpPr>
        <p:spPr>
          <a:xfrm>
            <a:off x="1056349" y="588751"/>
            <a:ext cx="34008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 of this Chapter</a:t>
            </a:r>
            <a:endParaRPr/>
          </a:p>
        </p:txBody>
      </p:sp>
      <p:sp>
        <p:nvSpPr>
          <p:cNvPr id="429" name="Google Shape;429;g3de674a6f98_0_10"/>
          <p:cNvSpPr txBox="1"/>
          <p:nvPr/>
        </p:nvSpPr>
        <p:spPr>
          <a:xfrm>
            <a:off x="1113706" y="1933925"/>
            <a:ext cx="6734400" cy="3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Linear feedback shift registers (LFSRs)</a:t>
            </a:r>
            <a:endParaRPr b="1" sz="4400">
              <a:solidFill>
                <a:srgbClr val="2320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23202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1" lang="en-US" sz="40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Follow class lecture</a:t>
            </a:r>
            <a:endParaRPr b="1" sz="40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23202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e674a6f98_0_17"/>
          <p:cNvSpPr txBox="1"/>
          <p:nvPr/>
        </p:nvSpPr>
        <p:spPr>
          <a:xfrm>
            <a:off x="1056345" y="594283"/>
            <a:ext cx="43389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25">
            <a:sp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2000"/>
              <a:buFont typeface="Arimo"/>
              <a:buChar char="■"/>
            </a:pPr>
            <a:r>
              <a:rPr b="1" lang="en-US" sz="17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Linear Feedback Shift Registers (LFSRs)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de674a6f98_0_17"/>
          <p:cNvSpPr txBox="1"/>
          <p:nvPr/>
        </p:nvSpPr>
        <p:spPr>
          <a:xfrm>
            <a:off x="1079807" y="3904722"/>
            <a:ext cx="62499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92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Concatenated </a:t>
            </a:r>
            <a:r>
              <a:rPr i="1"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flip-flops (FF</a:t>
            </a: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), i.e., a shift register together with a feedback path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Feedback computes fresh input by XOR of certain state bits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i="1"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Degree m </a:t>
            </a: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given by number of storage elements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If p</a:t>
            </a:r>
            <a:r>
              <a:rPr baseline="-25000"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= 1, the feedback connection is present (“closed switch), otherwise there is  not feedback from this flip-flop (“open switch”)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Output sequence repeats periodically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Maximum output length</a:t>
            </a:r>
            <a:r>
              <a:rPr b="1"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i="1"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de674a6f98_0_17"/>
          <p:cNvSpPr txBox="1"/>
          <p:nvPr>
            <p:ph idx="11" type="ftr"/>
          </p:nvPr>
        </p:nvSpPr>
        <p:spPr>
          <a:xfrm>
            <a:off x="2714000" y="6248448"/>
            <a:ext cx="3507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of Understanding Cryptography by Christof Paar and Jan Pelzl</a:t>
            </a:r>
            <a:endParaRPr/>
          </a:p>
        </p:txBody>
      </p:sp>
      <p:sp>
        <p:nvSpPr>
          <p:cNvPr id="437" name="Google Shape;437;g3de674a6f98_0_17"/>
          <p:cNvSpPr txBox="1"/>
          <p:nvPr>
            <p:ph idx="12" type="sldNum"/>
          </p:nvPr>
        </p:nvSpPr>
        <p:spPr>
          <a:xfrm>
            <a:off x="886497" y="6299959"/>
            <a:ext cx="2805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  <p:pic>
        <p:nvPicPr>
          <p:cNvPr descr="Screen Clipping" id="438" name="Google Shape;438;g3de674a6f98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815" y="1137814"/>
            <a:ext cx="6629830" cy="2423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e674a6f98_0_25"/>
          <p:cNvSpPr txBox="1"/>
          <p:nvPr/>
        </p:nvSpPr>
        <p:spPr>
          <a:xfrm>
            <a:off x="1019856" y="561088"/>
            <a:ext cx="63216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25">
            <a:sp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2000"/>
              <a:buFont typeface="Arimo"/>
              <a:buChar char="■"/>
            </a:pPr>
            <a:r>
              <a:rPr b="1" lang="en-US" sz="17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Linear Feedback Shift Registers (LFSRs):	Example with m = 3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de674a6f98_0_25"/>
          <p:cNvSpPr/>
          <p:nvPr/>
        </p:nvSpPr>
        <p:spPr>
          <a:xfrm>
            <a:off x="2461611" y="3059475"/>
            <a:ext cx="10500" cy="99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de674a6f98_0_25"/>
          <p:cNvSpPr/>
          <p:nvPr/>
        </p:nvSpPr>
        <p:spPr>
          <a:xfrm>
            <a:off x="7976677" y="2428769"/>
            <a:ext cx="159000" cy="77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e674a6f98_0_25"/>
          <p:cNvSpPr/>
          <p:nvPr/>
        </p:nvSpPr>
        <p:spPr>
          <a:xfrm>
            <a:off x="7481469" y="2506224"/>
            <a:ext cx="15600" cy="16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de674a6f98_0_25"/>
          <p:cNvSpPr/>
          <p:nvPr/>
        </p:nvSpPr>
        <p:spPr>
          <a:xfrm>
            <a:off x="7564872" y="2506224"/>
            <a:ext cx="20700" cy="16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de674a6f98_0_25"/>
          <p:cNvSpPr/>
          <p:nvPr/>
        </p:nvSpPr>
        <p:spPr>
          <a:xfrm>
            <a:off x="7653489" y="2506224"/>
            <a:ext cx="15600" cy="16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e674a6f98_0_25"/>
          <p:cNvSpPr/>
          <p:nvPr/>
        </p:nvSpPr>
        <p:spPr>
          <a:xfrm>
            <a:off x="7278172" y="2428769"/>
            <a:ext cx="130200" cy="1272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e674a6f98_0_25"/>
          <p:cNvSpPr/>
          <p:nvPr/>
        </p:nvSpPr>
        <p:spPr>
          <a:xfrm>
            <a:off x="7736893" y="2434301"/>
            <a:ext cx="140700" cy="121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de674a6f98_0_25"/>
          <p:cNvSpPr/>
          <p:nvPr/>
        </p:nvSpPr>
        <p:spPr>
          <a:xfrm>
            <a:off x="7976677" y="2500692"/>
            <a:ext cx="159000" cy="552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de674a6f98_0_25"/>
          <p:cNvSpPr/>
          <p:nvPr/>
        </p:nvSpPr>
        <p:spPr>
          <a:xfrm>
            <a:off x="1710977" y="1084371"/>
            <a:ext cx="5463000" cy="1914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de674a6f98_0_25"/>
          <p:cNvSpPr/>
          <p:nvPr/>
        </p:nvSpPr>
        <p:spPr>
          <a:xfrm>
            <a:off x="5813395" y="3048410"/>
            <a:ext cx="10500" cy="996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de674a6f98_0_25"/>
          <p:cNvSpPr/>
          <p:nvPr/>
        </p:nvSpPr>
        <p:spPr>
          <a:xfrm>
            <a:off x="4134895" y="3059475"/>
            <a:ext cx="15600" cy="996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de674a6f98_0_25"/>
          <p:cNvSpPr/>
          <p:nvPr/>
        </p:nvSpPr>
        <p:spPr>
          <a:xfrm>
            <a:off x="5813395" y="3247580"/>
            <a:ext cx="10500" cy="996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de674a6f98_0_25"/>
          <p:cNvSpPr/>
          <p:nvPr/>
        </p:nvSpPr>
        <p:spPr>
          <a:xfrm>
            <a:off x="1471192" y="3347164"/>
            <a:ext cx="93900" cy="111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de674a6f98_0_25"/>
          <p:cNvSpPr/>
          <p:nvPr/>
        </p:nvSpPr>
        <p:spPr>
          <a:xfrm>
            <a:off x="1658850" y="3347164"/>
            <a:ext cx="99000" cy="111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de674a6f98_0_25"/>
          <p:cNvSpPr/>
          <p:nvPr/>
        </p:nvSpPr>
        <p:spPr>
          <a:xfrm>
            <a:off x="1851721" y="3347164"/>
            <a:ext cx="93900" cy="111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de674a6f98_0_25"/>
          <p:cNvSpPr/>
          <p:nvPr/>
        </p:nvSpPr>
        <p:spPr>
          <a:xfrm>
            <a:off x="2039379" y="3347164"/>
            <a:ext cx="93900" cy="111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de674a6f98_0_25"/>
          <p:cNvSpPr/>
          <p:nvPr/>
        </p:nvSpPr>
        <p:spPr>
          <a:xfrm>
            <a:off x="2227038" y="3347164"/>
            <a:ext cx="99000" cy="111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de674a6f98_0_25"/>
          <p:cNvSpPr/>
          <p:nvPr/>
        </p:nvSpPr>
        <p:spPr>
          <a:xfrm>
            <a:off x="2414696" y="3258645"/>
            <a:ext cx="99000" cy="99600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e674a6f98_0_25"/>
          <p:cNvSpPr/>
          <p:nvPr/>
        </p:nvSpPr>
        <p:spPr>
          <a:xfrm>
            <a:off x="2602354" y="3347164"/>
            <a:ext cx="99000" cy="11100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de674a6f98_0_25"/>
          <p:cNvSpPr/>
          <p:nvPr/>
        </p:nvSpPr>
        <p:spPr>
          <a:xfrm>
            <a:off x="2790010" y="3347164"/>
            <a:ext cx="99000" cy="1110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e674a6f98_0_25"/>
          <p:cNvSpPr/>
          <p:nvPr/>
        </p:nvSpPr>
        <p:spPr>
          <a:xfrm>
            <a:off x="2982881" y="3347164"/>
            <a:ext cx="93900" cy="1110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e674a6f98_0_25"/>
          <p:cNvSpPr/>
          <p:nvPr/>
        </p:nvSpPr>
        <p:spPr>
          <a:xfrm>
            <a:off x="3170540" y="3347164"/>
            <a:ext cx="93900" cy="11100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e674a6f98_0_25"/>
          <p:cNvSpPr/>
          <p:nvPr/>
        </p:nvSpPr>
        <p:spPr>
          <a:xfrm>
            <a:off x="3358198" y="3347164"/>
            <a:ext cx="99000" cy="11100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de674a6f98_0_25"/>
          <p:cNvSpPr/>
          <p:nvPr/>
        </p:nvSpPr>
        <p:spPr>
          <a:xfrm>
            <a:off x="3551068" y="3347164"/>
            <a:ext cx="93900" cy="11100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e674a6f98_0_25"/>
          <p:cNvSpPr/>
          <p:nvPr/>
        </p:nvSpPr>
        <p:spPr>
          <a:xfrm>
            <a:off x="3738727" y="3347164"/>
            <a:ext cx="93900" cy="11100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de674a6f98_0_25"/>
          <p:cNvSpPr/>
          <p:nvPr/>
        </p:nvSpPr>
        <p:spPr>
          <a:xfrm>
            <a:off x="3926386" y="3347164"/>
            <a:ext cx="99000" cy="11100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de674a6f98_0_25"/>
          <p:cNvSpPr/>
          <p:nvPr/>
        </p:nvSpPr>
        <p:spPr>
          <a:xfrm>
            <a:off x="4119257" y="3258645"/>
            <a:ext cx="93900" cy="99600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e674a6f98_0_25"/>
          <p:cNvSpPr/>
          <p:nvPr/>
        </p:nvSpPr>
        <p:spPr>
          <a:xfrm>
            <a:off x="4306914" y="3347164"/>
            <a:ext cx="93900" cy="11100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de674a6f98_0_25"/>
          <p:cNvSpPr/>
          <p:nvPr/>
        </p:nvSpPr>
        <p:spPr>
          <a:xfrm>
            <a:off x="4499786" y="3347164"/>
            <a:ext cx="93900" cy="11100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de674a6f98_0_25"/>
          <p:cNvSpPr/>
          <p:nvPr/>
        </p:nvSpPr>
        <p:spPr>
          <a:xfrm>
            <a:off x="4687445" y="3347164"/>
            <a:ext cx="93900" cy="11100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e674a6f98_0_25"/>
          <p:cNvSpPr/>
          <p:nvPr/>
        </p:nvSpPr>
        <p:spPr>
          <a:xfrm>
            <a:off x="4875103" y="3347164"/>
            <a:ext cx="93900" cy="11100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de674a6f98_0_25"/>
          <p:cNvSpPr/>
          <p:nvPr/>
        </p:nvSpPr>
        <p:spPr>
          <a:xfrm>
            <a:off x="5067974" y="3347164"/>
            <a:ext cx="93900" cy="11100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e674a6f98_0_25"/>
          <p:cNvSpPr/>
          <p:nvPr/>
        </p:nvSpPr>
        <p:spPr>
          <a:xfrm>
            <a:off x="5255632" y="3347164"/>
            <a:ext cx="93900" cy="11100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de674a6f98_0_25"/>
          <p:cNvSpPr/>
          <p:nvPr/>
        </p:nvSpPr>
        <p:spPr>
          <a:xfrm>
            <a:off x="5443291" y="3347164"/>
            <a:ext cx="93900" cy="11100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e674a6f98_0_25"/>
          <p:cNvSpPr/>
          <p:nvPr/>
        </p:nvSpPr>
        <p:spPr>
          <a:xfrm>
            <a:off x="5636162" y="3347164"/>
            <a:ext cx="93900" cy="11100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de674a6f98_0_25"/>
          <p:cNvSpPr/>
          <p:nvPr/>
        </p:nvSpPr>
        <p:spPr>
          <a:xfrm>
            <a:off x="970770" y="3280775"/>
            <a:ext cx="396000" cy="149400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0" name="Google Shape;480;g3de674a6f98_0_25"/>
          <p:cNvGraphicFramePr/>
          <p:nvPr/>
        </p:nvGraphicFramePr>
        <p:xfrm>
          <a:off x="6279934" y="33609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{295AB369-B081-4944-9EFD-BB2957504AA4}</a:tableStyleId>
              </a:tblPr>
              <a:tblGrid>
                <a:gridCol w="448500"/>
                <a:gridCol w="449600"/>
                <a:gridCol w="449600"/>
                <a:gridCol w="667350"/>
              </a:tblGrid>
              <a:tr h="2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clk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b="1" baseline="-25000" i="1" lang="en-US" sz="14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b="1" baseline="-25000" i="1" lang="en-US" sz="14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</a:t>
                      </a:r>
                      <a:r>
                        <a:rPr b="1" baseline="-25000" i="1" lang="en-US" sz="14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1" i="1"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=s</a:t>
                      </a:r>
                      <a:r>
                        <a:rPr b="1" baseline="-25000" i="1" lang="en-US" sz="14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baseline="-2500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74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515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0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300" marB="0" marR="0" marL="0">
                    <a:lnL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0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g3de674a6f98_0_25"/>
          <p:cNvSpPr txBox="1"/>
          <p:nvPr>
            <p:ph idx="11" type="ftr"/>
          </p:nvPr>
        </p:nvSpPr>
        <p:spPr>
          <a:xfrm>
            <a:off x="2714000" y="6248448"/>
            <a:ext cx="3507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of Understanding Cryptography by Christof Paar and Jan Pelzl</a:t>
            </a:r>
            <a:endParaRPr/>
          </a:p>
        </p:txBody>
      </p:sp>
      <p:sp>
        <p:nvSpPr>
          <p:cNvPr id="482" name="Google Shape;482;g3de674a6f98_0_25"/>
          <p:cNvSpPr txBox="1"/>
          <p:nvPr>
            <p:ph idx="12" type="sldNum"/>
          </p:nvPr>
        </p:nvSpPr>
        <p:spPr>
          <a:xfrm>
            <a:off x="886497" y="6299959"/>
            <a:ext cx="2805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  <p:sp>
        <p:nvSpPr>
          <p:cNvPr id="483" name="Google Shape;483;g3de674a6f98_0_25"/>
          <p:cNvSpPr txBox="1"/>
          <p:nvPr/>
        </p:nvSpPr>
        <p:spPr>
          <a:xfrm>
            <a:off x="1079807" y="3851655"/>
            <a:ext cx="4800600" cy="1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LFSR output described by recursive equation: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5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en-US" sz="17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17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-25000" lang="en-US" sz="17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20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en-US" sz="17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17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-25000" lang="en-US" sz="17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0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0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en-US" sz="17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0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 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Maximum output length (of 2</a:t>
            </a:r>
            <a:r>
              <a:rPr baseline="30000"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-1=7) achieved only for certain  feedback configurations, .e.g., the one shown here.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e674a6f98_0_69"/>
          <p:cNvSpPr txBox="1"/>
          <p:nvPr/>
        </p:nvSpPr>
        <p:spPr>
          <a:xfrm>
            <a:off x="1379540" y="4998160"/>
            <a:ext cx="35424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0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See Chapter 2 of </a:t>
            </a:r>
            <a:r>
              <a:rPr i="1" lang="en-US" sz="10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Understanding Cryptography </a:t>
            </a:r>
            <a:r>
              <a:rPr lang="en-US" sz="10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for further details.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de674a6f98_0_69"/>
          <p:cNvSpPr txBox="1"/>
          <p:nvPr/>
        </p:nvSpPr>
        <p:spPr>
          <a:xfrm>
            <a:off x="1056345" y="594283"/>
            <a:ext cx="5817000" cy="3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25">
            <a:sp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2000"/>
              <a:buFont typeface="Arimo"/>
              <a:buChar char="■"/>
            </a:pPr>
            <a:r>
              <a:rPr b="1" lang="en-US" sz="17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Security of LFSRs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LFSRs typically described by polynomials: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93700" marR="0" rtl="0" algn="l">
              <a:lnSpc>
                <a:spcPct val="9404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1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US" sz="18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21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	x</a:t>
            </a:r>
            <a:r>
              <a:rPr baseline="30000" i="1" lang="en-US" sz="18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30000" lang="en-US" sz="18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30000" lang="en-US" sz="18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1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... </a:t>
            </a:r>
            <a:r>
              <a:rPr lang="en-US" sz="21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x </a:t>
            </a:r>
            <a:r>
              <a:rPr lang="en-US" sz="21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00" marR="0" rtl="0" algn="l">
              <a:lnSpc>
                <a:spcPct val="74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1200">
                <a:solidFill>
                  <a:srgbClr val="23202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1200">
                <a:solidFill>
                  <a:srgbClr val="232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	1	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Single LFSRs generate highly predictable output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508000" marR="0" rtl="0" algn="l">
              <a:lnSpc>
                <a:spcPct val="133100"/>
              </a:lnSpc>
              <a:spcBef>
                <a:spcPts val="30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If 2</a:t>
            </a:r>
            <a:r>
              <a:rPr b="0" i="1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output bits of an LFSR of degree </a:t>
            </a:r>
            <a:r>
              <a:rPr b="0" i="1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are known, the feedback  coefficients </a:t>
            </a:r>
            <a:r>
              <a:rPr b="0" i="1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1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of the LFSR can be found by solving a system of linear  equations*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3BE"/>
              </a:buClr>
              <a:buSzPts val="17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Because of this many stream ciphers use </a:t>
            </a:r>
            <a:r>
              <a:rPr b="1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combinations </a:t>
            </a:r>
            <a:r>
              <a:rPr b="0" i="0" lang="en-US" sz="1400" u="none" cap="none" strike="noStrike">
                <a:solidFill>
                  <a:srgbClr val="232021"/>
                </a:solidFill>
                <a:latin typeface="Arial"/>
                <a:ea typeface="Arial"/>
                <a:cs typeface="Arial"/>
                <a:sym typeface="Arial"/>
              </a:rPr>
              <a:t>of LFSRs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de674a6f98_0_69"/>
          <p:cNvSpPr/>
          <p:nvPr/>
        </p:nvSpPr>
        <p:spPr>
          <a:xfrm>
            <a:off x="1262682" y="954357"/>
            <a:ext cx="4117543" cy="935274"/>
          </a:xfrm>
          <a:custGeom>
            <a:rect b="b" l="l" r="r" t="t"/>
            <a:pathLst>
              <a:path extrusionOk="0" h="1030605" w="4815840">
                <a:moveTo>
                  <a:pt x="4815837" y="1024128"/>
                </a:moveTo>
                <a:lnTo>
                  <a:pt x="4815837" y="6096"/>
                </a:lnTo>
                <a:lnTo>
                  <a:pt x="4809741" y="0"/>
                </a:lnTo>
                <a:lnTo>
                  <a:pt x="6096" y="0"/>
                </a:lnTo>
                <a:lnTo>
                  <a:pt x="0" y="6096"/>
                </a:lnTo>
                <a:lnTo>
                  <a:pt x="0" y="1024128"/>
                </a:lnTo>
                <a:lnTo>
                  <a:pt x="6096" y="1030224"/>
                </a:lnTo>
                <a:lnTo>
                  <a:pt x="15240" y="1030224"/>
                </a:lnTo>
                <a:lnTo>
                  <a:pt x="15240" y="30480"/>
                </a:lnTo>
                <a:lnTo>
                  <a:pt x="30480" y="15240"/>
                </a:lnTo>
                <a:lnTo>
                  <a:pt x="30480" y="30480"/>
                </a:lnTo>
                <a:lnTo>
                  <a:pt x="4785357" y="30480"/>
                </a:lnTo>
                <a:lnTo>
                  <a:pt x="4785357" y="15240"/>
                </a:lnTo>
                <a:lnTo>
                  <a:pt x="4800597" y="30480"/>
                </a:lnTo>
                <a:lnTo>
                  <a:pt x="4800597" y="1030224"/>
                </a:lnTo>
                <a:lnTo>
                  <a:pt x="4809741" y="1030224"/>
                </a:lnTo>
                <a:lnTo>
                  <a:pt x="4815837" y="1024128"/>
                </a:lnTo>
                <a:close/>
              </a:path>
              <a:path extrusionOk="0" h="1030605" w="4815840">
                <a:moveTo>
                  <a:pt x="30480" y="30480"/>
                </a:moveTo>
                <a:lnTo>
                  <a:pt x="30480" y="15240"/>
                </a:lnTo>
                <a:lnTo>
                  <a:pt x="15240" y="30480"/>
                </a:lnTo>
                <a:lnTo>
                  <a:pt x="30480" y="30480"/>
                </a:lnTo>
                <a:close/>
              </a:path>
              <a:path extrusionOk="0" h="1030605" w="4815840">
                <a:moveTo>
                  <a:pt x="30480" y="999744"/>
                </a:moveTo>
                <a:lnTo>
                  <a:pt x="30480" y="30480"/>
                </a:lnTo>
                <a:lnTo>
                  <a:pt x="15240" y="30480"/>
                </a:lnTo>
                <a:lnTo>
                  <a:pt x="15240" y="999744"/>
                </a:lnTo>
                <a:lnTo>
                  <a:pt x="30480" y="999744"/>
                </a:lnTo>
                <a:close/>
              </a:path>
              <a:path extrusionOk="0" h="1030605" w="4815840">
                <a:moveTo>
                  <a:pt x="4800597" y="999744"/>
                </a:moveTo>
                <a:lnTo>
                  <a:pt x="15240" y="999744"/>
                </a:lnTo>
                <a:lnTo>
                  <a:pt x="30480" y="1014984"/>
                </a:lnTo>
                <a:lnTo>
                  <a:pt x="30480" y="1030224"/>
                </a:lnTo>
                <a:lnTo>
                  <a:pt x="4785357" y="1030224"/>
                </a:lnTo>
                <a:lnTo>
                  <a:pt x="4785357" y="1014984"/>
                </a:lnTo>
                <a:lnTo>
                  <a:pt x="4800597" y="999744"/>
                </a:lnTo>
                <a:close/>
              </a:path>
              <a:path extrusionOk="0" h="1030605" w="4815840">
                <a:moveTo>
                  <a:pt x="30480" y="1030224"/>
                </a:moveTo>
                <a:lnTo>
                  <a:pt x="30480" y="1014984"/>
                </a:lnTo>
                <a:lnTo>
                  <a:pt x="15240" y="999744"/>
                </a:lnTo>
                <a:lnTo>
                  <a:pt x="15240" y="1030224"/>
                </a:lnTo>
                <a:lnTo>
                  <a:pt x="30480" y="1030224"/>
                </a:lnTo>
                <a:close/>
              </a:path>
              <a:path extrusionOk="0" h="1030605" w="4815840">
                <a:moveTo>
                  <a:pt x="4800597" y="30480"/>
                </a:moveTo>
                <a:lnTo>
                  <a:pt x="4785357" y="15240"/>
                </a:lnTo>
                <a:lnTo>
                  <a:pt x="4785357" y="30480"/>
                </a:lnTo>
                <a:lnTo>
                  <a:pt x="4800597" y="30480"/>
                </a:lnTo>
                <a:close/>
              </a:path>
              <a:path extrusionOk="0" h="1030605" w="4815840">
                <a:moveTo>
                  <a:pt x="4800597" y="999744"/>
                </a:moveTo>
                <a:lnTo>
                  <a:pt x="4800597" y="30480"/>
                </a:lnTo>
                <a:lnTo>
                  <a:pt x="4785357" y="30480"/>
                </a:lnTo>
                <a:lnTo>
                  <a:pt x="4785357" y="999744"/>
                </a:lnTo>
                <a:lnTo>
                  <a:pt x="4800597" y="999744"/>
                </a:lnTo>
                <a:close/>
              </a:path>
              <a:path extrusionOk="0" h="1030605" w="4815840">
                <a:moveTo>
                  <a:pt x="4800597" y="1030224"/>
                </a:moveTo>
                <a:lnTo>
                  <a:pt x="4800597" y="999744"/>
                </a:lnTo>
                <a:lnTo>
                  <a:pt x="4785357" y="1014984"/>
                </a:lnTo>
                <a:lnTo>
                  <a:pt x="4785357" y="1030224"/>
                </a:lnTo>
                <a:lnTo>
                  <a:pt x="4800597" y="103022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de674a6f98_0_69"/>
          <p:cNvSpPr txBox="1"/>
          <p:nvPr>
            <p:ph idx="11" type="ftr"/>
          </p:nvPr>
        </p:nvSpPr>
        <p:spPr>
          <a:xfrm>
            <a:off x="2714000" y="6248448"/>
            <a:ext cx="3507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of Understanding Cryptography by Christof Paar and Jan Pelzl</a:t>
            </a:r>
            <a:endParaRPr/>
          </a:p>
        </p:txBody>
      </p:sp>
      <p:sp>
        <p:nvSpPr>
          <p:cNvPr id="492" name="Google Shape;492;g3de674a6f98_0_69"/>
          <p:cNvSpPr txBox="1"/>
          <p:nvPr>
            <p:ph idx="12" type="sldNum"/>
          </p:nvPr>
        </p:nvSpPr>
        <p:spPr>
          <a:xfrm>
            <a:off x="886497" y="6299959"/>
            <a:ext cx="2805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/27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"/>
          <p:cNvSpPr txBox="1"/>
          <p:nvPr>
            <p:ph type="title"/>
          </p:nvPr>
        </p:nvSpPr>
        <p:spPr>
          <a:xfrm>
            <a:off x="857250" y="2143125"/>
            <a:ext cx="76009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b="0" i="0" lang="en-US" sz="3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USES FOR PUBLIC KEY CRYPTO</a:t>
            </a:r>
            <a:endParaRPr/>
          </a:p>
        </p:txBody>
      </p:sp>
      <p:sp>
        <p:nvSpPr>
          <p:cNvPr id="498" name="Google Shape;498;p17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499" name="Google Shape;499;p17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500" name="Google Shape;500;p17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USES FOR PUBLIC KEY CRYPTO</a:t>
            </a:r>
            <a:endParaRPr/>
          </a:p>
        </p:txBody>
      </p:sp>
      <p:sp>
        <p:nvSpPr>
          <p:cNvPr id="507" name="Google Shape;507;p18"/>
          <p:cNvSpPr txBox="1"/>
          <p:nvPr>
            <p:ph idx="1" type="body"/>
          </p:nvPr>
        </p:nvSpPr>
        <p:spPr>
          <a:xfrm>
            <a:off x="779462" y="1717675"/>
            <a:ext cx="7670800" cy="441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Confidentiality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Transmitting data over insecure channel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storage on insecure media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(later)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signature provides integrity and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non-repudiation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non-repudiation  with symmetric keys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has the secret key is the key for non-repudiation.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635000" y="6311900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510" name="Google Shape;510;p18"/>
          <p:cNvSpPr txBox="1"/>
          <p:nvPr/>
        </p:nvSpPr>
        <p:spPr>
          <a:xfrm>
            <a:off x="5586412" y="63119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NON-NON-REPUDIATION</a:t>
            </a:r>
            <a:endParaRPr/>
          </a:p>
        </p:txBody>
      </p:sp>
      <p:sp>
        <p:nvSpPr>
          <p:cNvPr id="517" name="Google Shape;517;p19"/>
          <p:cNvSpPr txBox="1"/>
          <p:nvPr>
            <p:ph idx="1" type="body"/>
          </p:nvPr>
        </p:nvSpPr>
        <p:spPr>
          <a:xfrm>
            <a:off x="785812" y="1897062"/>
            <a:ext cx="790098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orders 100 shares of stock from Bob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computes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MAC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symmetric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drops, Alice claims she did not order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Bob prove that Alice placed the order?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No!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Since Bob also knows symmetric key, he could have forged message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knows Alice placed the order, but he can’t prove it</a:t>
            </a:r>
            <a:endParaRPr/>
          </a:p>
        </p:txBody>
      </p:sp>
      <p:sp>
        <p:nvSpPr>
          <p:cNvPr id="518" name="Google Shape;518;p19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519" name="Google Shape;519;p19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520" name="Google Shape;520;p19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0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NON-REPUDIATION</a:t>
            </a:r>
            <a:endParaRPr/>
          </a:p>
        </p:txBody>
      </p:sp>
      <p:sp>
        <p:nvSpPr>
          <p:cNvPr id="527" name="Google Shape;527;p20"/>
          <p:cNvSpPr txBox="1"/>
          <p:nvPr>
            <p:ph idx="1" type="body"/>
          </p:nvPr>
        </p:nvSpPr>
        <p:spPr>
          <a:xfrm>
            <a:off x="785812" y="1719262"/>
            <a:ext cx="790098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orders 100 shares of stock from Bob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signs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with her private key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drops, Alice claims she did not order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Bob prove that Alice placed the order?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Yes!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someone with Alice’s private key could have signed the order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assumes Alice’s private key is not stolen (revocation problem)</a:t>
            </a:r>
            <a:endParaRPr/>
          </a:p>
        </p:txBody>
      </p:sp>
      <p:sp>
        <p:nvSpPr>
          <p:cNvPr id="528" name="Google Shape;528;p20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3   SYMMETRIC KEY CRYPTO.        DR. MUHAMMAD IQBAL HOSSAIN</a:t>
            </a:r>
            <a:endParaRPr/>
          </a:p>
        </p:txBody>
      </p:sp>
      <p:sp>
        <p:nvSpPr>
          <p:cNvPr id="529" name="Google Shape;529;p20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530" name="Google Shape;530;p20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6" name="Google Shape;536;p21"/>
          <p:cNvSpPr txBox="1"/>
          <p:nvPr>
            <p:ph type="title"/>
          </p:nvPr>
        </p:nvSpPr>
        <p:spPr>
          <a:xfrm>
            <a:off x="609600" y="228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PUBLIC KEY NOTATION</a:t>
            </a:r>
            <a:endParaRPr/>
          </a:p>
        </p:txBody>
      </p:sp>
      <p:sp>
        <p:nvSpPr>
          <p:cNvPr id="537" name="Google Shape;537;p21"/>
          <p:cNvSpPr txBox="1"/>
          <p:nvPr>
            <p:ph idx="1" type="body"/>
          </p:nvPr>
        </p:nvSpPr>
        <p:spPr>
          <a:xfrm>
            <a:off x="685800" y="1676400"/>
            <a:ext cx="7239000" cy="463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message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Alice’s </a:t>
            </a: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key: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[M]</a:t>
            </a:r>
            <a:r>
              <a:rPr b="0" baseline="-2500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message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Alice’s </a:t>
            </a: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key: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{M}</a:t>
            </a:r>
            <a:r>
              <a:rPr b="0" baseline="-2500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</a:t>
            </a:r>
            <a:endParaRPr/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M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M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2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3" name="Google Shape;543;p22"/>
          <p:cNvSpPr txBox="1"/>
          <p:nvPr>
            <p:ph type="title"/>
          </p:nvPr>
        </p:nvSpPr>
        <p:spPr>
          <a:xfrm>
            <a:off x="609600" y="228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CONFIDENTIALITY AND</a:t>
            </a:r>
            <a:b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NON-REPUDIATION?</a:t>
            </a:r>
            <a:endParaRPr/>
          </a:p>
        </p:txBody>
      </p:sp>
      <p:sp>
        <p:nvSpPr>
          <p:cNvPr id="544" name="Google Shape;544;p22"/>
          <p:cNvSpPr txBox="1"/>
          <p:nvPr>
            <p:ph idx="1" type="body"/>
          </p:nvPr>
        </p:nvSpPr>
        <p:spPr>
          <a:xfrm>
            <a:off x="611187" y="1887537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that we want confidentiality and integrity/non-repudiation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public key crypto achieve both?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message to Bob</a:t>
            </a:r>
            <a:endParaRPr/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and encrypt: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and sign: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the order possibly matter?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3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0" name="Google Shape;550;p23"/>
          <p:cNvSpPr txBox="1"/>
          <p:nvPr>
            <p:ph type="title"/>
          </p:nvPr>
        </p:nvSpPr>
        <p:spPr>
          <a:xfrm>
            <a:off x="6858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SIGN AND ENCRYPT</a:t>
            </a:r>
            <a:endParaRPr/>
          </a:p>
        </p:txBody>
      </p:sp>
      <p:sp>
        <p:nvSpPr>
          <p:cNvPr id="551" name="Google Shape;551;p23"/>
          <p:cNvSpPr txBox="1"/>
          <p:nvPr/>
        </p:nvSpPr>
        <p:spPr>
          <a:xfrm>
            <a:off x="455612" y="4094162"/>
            <a:ext cx="90011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Alice</a:t>
            </a:r>
            <a:endParaRPr/>
          </a:p>
        </p:txBody>
      </p:sp>
      <p:sp>
        <p:nvSpPr>
          <p:cNvPr id="552" name="Google Shape;552;p23"/>
          <p:cNvSpPr txBox="1"/>
          <p:nvPr/>
        </p:nvSpPr>
        <p:spPr>
          <a:xfrm>
            <a:off x="4114800" y="4054475"/>
            <a:ext cx="7175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Bob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1676400" y="2819400"/>
            <a:ext cx="161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endParaRPr/>
          </a:p>
        </p:txBody>
      </p:sp>
      <p:sp>
        <p:nvSpPr>
          <p:cNvPr id="554" name="Google Shape;554;p23"/>
          <p:cNvSpPr txBox="1"/>
          <p:nvPr/>
        </p:nvSpPr>
        <p:spPr>
          <a:xfrm>
            <a:off x="1219200" y="4800600"/>
            <a:ext cx="7086600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Q: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What’s the problem?</a:t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A: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No problem ⎯ public key is public</a:t>
            </a:r>
            <a:endParaRPr/>
          </a:p>
        </p:txBody>
      </p:sp>
      <p:sp>
        <p:nvSpPr>
          <p:cNvPr id="555" name="Google Shape;555;p23"/>
          <p:cNvSpPr txBox="1"/>
          <p:nvPr/>
        </p:nvSpPr>
        <p:spPr>
          <a:xfrm>
            <a:off x="7504112" y="4054475"/>
            <a:ext cx="11826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Charlie</a:t>
            </a:r>
            <a:endParaRPr/>
          </a:p>
        </p:txBody>
      </p:sp>
      <p:sp>
        <p:nvSpPr>
          <p:cNvPr id="556" name="Google Shape;556;p23"/>
          <p:cNvSpPr txBox="1"/>
          <p:nvPr/>
        </p:nvSpPr>
        <p:spPr>
          <a:xfrm>
            <a:off x="5105400" y="2819400"/>
            <a:ext cx="1895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{[M]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Charlie</a:t>
            </a:r>
            <a:endParaRPr/>
          </a:p>
        </p:txBody>
      </p:sp>
      <p:sp>
        <p:nvSpPr>
          <p:cNvPr id="557" name="Google Shape;557;p23"/>
          <p:cNvSpPr txBox="1"/>
          <p:nvPr/>
        </p:nvSpPr>
        <p:spPr>
          <a:xfrm>
            <a:off x="1143000" y="1887537"/>
            <a:ext cx="6172200" cy="58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= “I love you”</a:t>
            </a:r>
            <a:endParaRPr/>
          </a:p>
        </p:txBody>
      </p:sp>
      <p:cxnSp>
        <p:nvCxnSpPr>
          <p:cNvPr id="558" name="Google Shape;558;p23"/>
          <p:cNvCxnSpPr/>
          <p:nvPr/>
        </p:nvCxnSpPr>
        <p:spPr>
          <a:xfrm>
            <a:off x="1447800" y="3352800"/>
            <a:ext cx="23622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59" name="Google Shape;559;p23"/>
          <p:cNvCxnSpPr/>
          <p:nvPr/>
        </p:nvCxnSpPr>
        <p:spPr>
          <a:xfrm>
            <a:off x="5105400" y="3352800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alice3Rev.tiff                                                 0010273EMacintosh HD                   BC93A1CC:" id="560" name="Google Shape;5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50" y="2514600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bbit3.tiff                                                   0010273EMacintosh HD                   BC93A1CC:" id="561" name="Google Shape;5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2438400"/>
            <a:ext cx="1076325" cy="166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tter2.tif                                                    000675D6Macintosh HD                   BC93A1CC:" id="562" name="Google Shape;5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7600" y="2514600"/>
            <a:ext cx="1323975" cy="14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8" name="Google Shape;568;p24"/>
          <p:cNvSpPr txBox="1"/>
          <p:nvPr>
            <p:ph type="title"/>
          </p:nvPr>
        </p:nvSpPr>
        <p:spPr>
          <a:xfrm>
            <a:off x="685800" y="3048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ENCRYPT AND SIGN</a:t>
            </a:r>
            <a:endParaRPr/>
          </a:p>
        </p:txBody>
      </p:sp>
      <p:sp>
        <p:nvSpPr>
          <p:cNvPr id="569" name="Google Shape;569;p24"/>
          <p:cNvSpPr txBox="1"/>
          <p:nvPr/>
        </p:nvSpPr>
        <p:spPr>
          <a:xfrm>
            <a:off x="471487" y="4117975"/>
            <a:ext cx="90011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Alice</a:t>
            </a:r>
            <a:endParaRPr/>
          </a:p>
        </p:txBody>
      </p:sp>
      <p:sp>
        <p:nvSpPr>
          <p:cNvPr id="570" name="Google Shape;570;p24"/>
          <p:cNvSpPr txBox="1"/>
          <p:nvPr/>
        </p:nvSpPr>
        <p:spPr>
          <a:xfrm>
            <a:off x="7924800" y="4097337"/>
            <a:ext cx="7175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Bob</a:t>
            </a:r>
            <a:endParaRPr/>
          </a:p>
        </p:txBody>
      </p:sp>
      <p:sp>
        <p:nvSpPr>
          <p:cNvPr id="571" name="Google Shape;571;p24"/>
          <p:cNvSpPr txBox="1"/>
          <p:nvPr/>
        </p:nvSpPr>
        <p:spPr>
          <a:xfrm>
            <a:off x="1752600" y="2898775"/>
            <a:ext cx="161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/>
          </a:p>
        </p:txBody>
      </p:sp>
      <p:sp>
        <p:nvSpPr>
          <p:cNvPr id="572" name="Google Shape;572;p24"/>
          <p:cNvSpPr txBox="1"/>
          <p:nvPr/>
        </p:nvSpPr>
        <p:spPr>
          <a:xfrm>
            <a:off x="1219200" y="4803775"/>
            <a:ext cx="7086600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chemeClr val="hlink"/>
                </a:solidFill>
                <a:latin typeface="Gulim"/>
                <a:ea typeface="Gulim"/>
                <a:cs typeface="Gulim"/>
                <a:sym typeface="Gulim"/>
              </a:rPr>
              <a:t>Note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that Charlie cannot decrypt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Q: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What is the problem?</a:t>
            </a:r>
            <a:endParaRPr/>
          </a:p>
          <a:p>
            <a:pPr indent="-1333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1" i="0" lang="en-US" sz="2800" u="none">
                <a:solidFill>
                  <a:srgbClr val="FF0000"/>
                </a:solidFill>
                <a:latin typeface="Gulim"/>
                <a:ea typeface="Gulim"/>
                <a:cs typeface="Gulim"/>
                <a:sym typeface="Gulim"/>
              </a:rPr>
              <a:t>A: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No problem ⎯ public key is public</a:t>
            </a:r>
            <a:endParaRPr/>
          </a:p>
        </p:txBody>
      </p:sp>
      <p:sp>
        <p:nvSpPr>
          <p:cNvPr id="573" name="Google Shape;573;p24"/>
          <p:cNvSpPr txBox="1"/>
          <p:nvPr/>
        </p:nvSpPr>
        <p:spPr>
          <a:xfrm>
            <a:off x="3998912" y="4117975"/>
            <a:ext cx="11826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Charlie</a:t>
            </a:r>
            <a:endParaRPr/>
          </a:p>
        </p:txBody>
      </p:sp>
      <p:sp>
        <p:nvSpPr>
          <p:cNvPr id="574" name="Google Shape;574;p24"/>
          <p:cNvSpPr txBox="1"/>
          <p:nvPr/>
        </p:nvSpPr>
        <p:spPr>
          <a:xfrm>
            <a:off x="5562600" y="2898775"/>
            <a:ext cx="1817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[{M}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Bob</a:t>
            </a: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]</a:t>
            </a:r>
            <a:r>
              <a:rPr b="0" baseline="-2500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Charlie</a:t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471487" y="1844675"/>
            <a:ext cx="69199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= “My theory, which is mine….”</a:t>
            </a:r>
            <a:endParaRPr/>
          </a:p>
        </p:txBody>
      </p:sp>
      <p:cxnSp>
        <p:nvCxnSpPr>
          <p:cNvPr id="576" name="Google Shape;576;p24"/>
          <p:cNvCxnSpPr/>
          <p:nvPr/>
        </p:nvCxnSpPr>
        <p:spPr>
          <a:xfrm>
            <a:off x="1524000" y="3432175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77" name="Google Shape;577;p24"/>
          <p:cNvCxnSpPr/>
          <p:nvPr/>
        </p:nvCxnSpPr>
        <p:spPr>
          <a:xfrm>
            <a:off x="5486400" y="3432175"/>
            <a:ext cx="2209800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alice3Rev.tiff                                                 0010273EMacintosh HD                   BC93A1CC:" id="578" name="Google Shape;5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50" y="2593975"/>
            <a:ext cx="946150" cy="1624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bbit3.tiff                                                   0010273EMacintosh HD                   BC93A1CC:" id="579" name="Google Shape;5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441575"/>
            <a:ext cx="1076325" cy="166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tter2.tif                                                    000675D6Macintosh HD                   BC93A1CC:" id="580" name="Google Shape;58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3825" y="2625725"/>
            <a:ext cx="1323975" cy="14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 txBox="1"/>
          <p:nvPr/>
        </p:nvSpPr>
        <p:spPr>
          <a:xfrm>
            <a:off x="5559425" y="6307137"/>
            <a:ext cx="2973387" cy="290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6" name="Google Shape;586;p25"/>
          <p:cNvSpPr txBox="1"/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PUBLIC KEY CERTIFICATE</a:t>
            </a:r>
            <a:endParaRPr/>
          </a:p>
        </p:txBody>
      </p:sp>
      <p:sp>
        <p:nvSpPr>
          <p:cNvPr id="587" name="Google Shape;587;p25"/>
          <p:cNvSpPr txBox="1"/>
          <p:nvPr>
            <p:ph idx="1" type="body"/>
          </p:nvPr>
        </p:nvSpPr>
        <p:spPr>
          <a:xfrm>
            <a:off x="611187" y="1873250"/>
            <a:ext cx="8001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b="1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contains name of user and user’s public key (possibly other info too)</a:t>
            </a:r>
            <a:endParaRPr/>
          </a:p>
          <a:p>
            <a:pPr indent="-304800" lvl="0" marL="30480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by the issuer, a 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(CA), such as VeriSign</a:t>
            </a:r>
            <a:endParaRPr/>
          </a:p>
          <a:p>
            <a:pPr indent="-304800" lvl="1" marL="6286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184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 = (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Alice, Alice’s public key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 = [M]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Alice’s Certificate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(M, S)</a:t>
            </a:r>
            <a:endParaRPr/>
          </a:p>
          <a:p>
            <a:pPr indent="-304800" lvl="0" marL="30480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Signature on certificate is verified using CA’s public key</a:t>
            </a:r>
            <a:endParaRPr/>
          </a:p>
          <a:p>
            <a:pPr indent="-304800" lvl="1" marL="6286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680"/>
              <a:buNone/>
            </a:pPr>
            <a:r>
              <a:rPr b="0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verify that </a:t>
            </a: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 = {S}</a:t>
            </a:r>
            <a:r>
              <a:rPr b="0" baseline="-2500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CA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"/>
          <p:cNvSpPr txBox="1"/>
          <p:nvPr/>
        </p:nvSpPr>
        <p:spPr>
          <a:xfrm>
            <a:off x="5559425" y="63071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 Part 1 ⎯ Cryptography                                                                                                     </a:t>
            </a: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3" name="Google Shape;593;p26"/>
          <p:cNvSpPr txBox="1"/>
          <p:nvPr>
            <p:ph type="title"/>
          </p:nvPr>
        </p:nvSpPr>
        <p:spPr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CERTIFICATE AUTHORITY</a:t>
            </a:r>
            <a:endParaRPr/>
          </a:p>
        </p:txBody>
      </p:sp>
      <p:sp>
        <p:nvSpPr>
          <p:cNvPr id="594" name="Google Shape;594;p26"/>
          <p:cNvSpPr txBox="1"/>
          <p:nvPr>
            <p:ph idx="1" type="body"/>
          </p:nvPr>
        </p:nvSpPr>
        <p:spPr>
          <a:xfrm>
            <a:off x="457200" y="2070100"/>
            <a:ext cx="8229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Certificate authority (CA) is a trusted 3rd party (TTP) ⎯ creates and signs certificates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signature to verify </a:t>
            </a:r>
            <a:r>
              <a:rPr b="1" i="0" lang="en-US" sz="2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identity of </a:t>
            </a:r>
            <a:r>
              <a:rPr b="1" i="0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 of corresponding private key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the identity of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certificate ⎯ certificates are public!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problem if CA makes a mistake</a:t>
            </a:r>
            <a:endParaRPr/>
          </a:p>
          <a:p>
            <a:pPr indent="-304800" lvl="1" marL="6286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 once issued Microsoft cert. to someone else</a:t>
            </a:r>
            <a:endParaRPr/>
          </a:p>
          <a:p>
            <a:pPr indent="-304800" lvl="0" marL="3048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common format for certificates is X.509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74923cb686_0_0"/>
          <p:cNvSpPr txBox="1"/>
          <p:nvPr>
            <p:ph type="title"/>
          </p:nvPr>
        </p:nvSpPr>
        <p:spPr>
          <a:xfrm>
            <a:off x="581025" y="687389"/>
            <a:ext cx="7989900" cy="72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74923cb686_0_0"/>
          <p:cNvSpPr txBox="1"/>
          <p:nvPr>
            <p:ph idx="1" type="body"/>
          </p:nvPr>
        </p:nvSpPr>
        <p:spPr>
          <a:xfrm>
            <a:off x="581192" y="2228003"/>
            <a:ext cx="7989900" cy="363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INFORMATION HIDING</a:t>
            </a:r>
            <a:endParaRPr/>
          </a:p>
        </p:txBody>
      </p:sp>
      <p:sp>
        <p:nvSpPr>
          <p:cNvPr id="602" name="Google Shape;602;g374923cb686_0_0"/>
          <p:cNvSpPr txBox="1"/>
          <p:nvPr>
            <p:ph idx="12" type="sldNum"/>
          </p:nvPr>
        </p:nvSpPr>
        <p:spPr>
          <a:xfrm>
            <a:off x="7823200" y="6307137"/>
            <a:ext cx="769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7"/>
          <p:cNvSpPr txBox="1"/>
          <p:nvPr>
            <p:ph type="title"/>
          </p:nvPr>
        </p:nvSpPr>
        <p:spPr>
          <a:xfrm>
            <a:off x="785812" y="122237"/>
            <a:ext cx="77152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DIGITAL WATERMARK</a:t>
            </a:r>
            <a:endParaRPr/>
          </a:p>
        </p:txBody>
      </p:sp>
      <p:sp>
        <p:nvSpPr>
          <p:cNvPr id="608" name="Google Shape;608;p27"/>
          <p:cNvSpPr txBox="1"/>
          <p:nvPr>
            <p:ph idx="1" type="body"/>
          </p:nvPr>
        </p:nvSpPr>
        <p:spPr>
          <a:xfrm>
            <a:off x="611187" y="1773237"/>
            <a:ext cx="8353425" cy="4475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Watermarks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“Digital Watermarking”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watermarking of paper or money as a security measure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technique which allows an individual to add hidden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notices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digital audio, video, or image signals and documents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Defense against music or software piracy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Add “invisible” identifier to data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watermarking can be a form of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steganography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8"/>
          <p:cNvSpPr txBox="1"/>
          <p:nvPr>
            <p:ph type="title"/>
          </p:nvPr>
        </p:nvSpPr>
        <p:spPr>
          <a:xfrm>
            <a:off x="785812" y="122237"/>
            <a:ext cx="77152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DIGITAL WATERMARK</a:t>
            </a:r>
            <a:endParaRPr/>
          </a:p>
        </p:txBody>
      </p:sp>
      <p:sp>
        <p:nvSpPr>
          <p:cNvPr id="616" name="Google Shape;616;p28"/>
          <p:cNvSpPr txBox="1"/>
          <p:nvPr>
            <p:ph idx="1" type="body"/>
          </p:nvPr>
        </p:nvSpPr>
        <p:spPr>
          <a:xfrm>
            <a:off x="581025" y="1844675"/>
            <a:ext cx="7989887" cy="4441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“mark”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data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types of watermarks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1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Invisible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Not obvious the mark exists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Such as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TOP SECRET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stamp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2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Readable even if attacked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Fragile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⎯ Mark destroyed if attacked</a:t>
            </a:r>
            <a:endParaRPr/>
          </a:p>
        </p:txBody>
      </p:sp>
      <p:sp>
        <p:nvSpPr>
          <p:cNvPr id="617" name="Google Shape;617;p28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18" name="Google Shape;618;p2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9"/>
          <p:cNvSpPr txBox="1"/>
          <p:nvPr>
            <p:ph type="title"/>
          </p:nvPr>
        </p:nvSpPr>
        <p:spPr>
          <a:xfrm>
            <a:off x="785812" y="122237"/>
            <a:ext cx="77152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DIGITAL WATERMARK</a:t>
            </a:r>
            <a:endParaRPr/>
          </a:p>
        </p:txBody>
      </p:sp>
      <p:sp>
        <p:nvSpPr>
          <p:cNvPr id="624" name="Google Shape;624;p29"/>
          <p:cNvSpPr txBox="1"/>
          <p:nvPr>
            <p:ph idx="1" type="body"/>
          </p:nvPr>
        </p:nvSpPr>
        <p:spPr>
          <a:xfrm>
            <a:off x="468312" y="1889125"/>
            <a:ext cx="8207375" cy="4421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invisible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to digital music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pirated music appears on Internet, can trace it back to original source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fragile invisible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to audio file 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watermark is unreadable, recipient knows that audio has been tampered (integrity)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Combinations of several types are sometimes used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visible plus robust invisible watermarks</a:t>
            </a:r>
            <a:endParaRPr/>
          </a:p>
        </p:txBody>
      </p:sp>
      <p:sp>
        <p:nvSpPr>
          <p:cNvPr id="625" name="Google Shape;625;p29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26" name="Google Shape;626;p2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0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632" name="Google Shape;632;p30"/>
          <p:cNvSpPr txBox="1"/>
          <p:nvPr>
            <p:ph idx="1" type="body"/>
          </p:nvPr>
        </p:nvSpPr>
        <p:spPr>
          <a:xfrm>
            <a:off x="581025" y="1916112"/>
            <a:ext cx="8312150" cy="433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Steganography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Batang"/>
                <a:ea typeface="Batang"/>
                <a:cs typeface="Batang"/>
                <a:sym typeface="Batang"/>
              </a:rPr>
              <a:t>−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“Hidden writing”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art and science of writing hidden messages</a:t>
            </a:r>
            <a:endParaRPr/>
          </a:p>
          <a:p>
            <a:pPr indent="-269875" lvl="2" marL="8985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recipient does not know of the existence of the mssg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 the fact that information is being transmitted − a kind of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covert channel (Ch8)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9875" lvl="2" marL="8985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 communication channel</a:t>
            </a:r>
            <a:endParaRPr/>
          </a:p>
          <a:p>
            <a:pPr indent="-269875" lvl="2" marL="8985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Cryptography, where the existence of the message itself is not disguised, but the content is obscured.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Hide data in image or music file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633" name="Google Shape;633;p30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34" name="Google Shape;634;p3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640" name="Google Shape;640;p31"/>
          <p:cNvSpPr txBox="1"/>
          <p:nvPr>
            <p:ph idx="1" type="body"/>
          </p:nvPr>
        </p:nvSpPr>
        <p:spPr>
          <a:xfrm>
            <a:off x="582612" y="1847850"/>
            <a:ext cx="7977187" cy="43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Herodotus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(Greece 440BC)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Shaved slave’s head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Wrote message on head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hair grow back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slave to deliver message</a:t>
            </a:r>
            <a:endParaRPr/>
          </a:p>
          <a:p>
            <a:pPr indent="-304800" lvl="1" marL="6286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Shave slave’s head to expose message (warning of Persian invasion)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Historically, Steganography has been used more than cryptography!</a:t>
            </a:r>
            <a:endParaRPr/>
          </a:p>
        </p:txBody>
      </p:sp>
      <p:sp>
        <p:nvSpPr>
          <p:cNvPr id="641" name="Google Shape;641;p31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42" name="Google Shape;642;p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4d8702162e_0_9"/>
          <p:cNvSpPr txBox="1"/>
          <p:nvPr>
            <p:ph type="title"/>
          </p:nvPr>
        </p:nvSpPr>
        <p:spPr>
          <a:xfrm>
            <a:off x="581025" y="687389"/>
            <a:ext cx="7989900" cy="72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Techniques of Steganography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9" name="Google Shape;649;g34d8702162e_0_9"/>
          <p:cNvSpPr txBox="1"/>
          <p:nvPr>
            <p:ph idx="1" type="body"/>
          </p:nvPr>
        </p:nvSpPr>
        <p:spPr>
          <a:xfrm>
            <a:off x="581192" y="2228003"/>
            <a:ext cx="7989900" cy="363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4d8702162e_0_9"/>
          <p:cNvSpPr txBox="1"/>
          <p:nvPr>
            <p:ph idx="12" type="sldNum"/>
          </p:nvPr>
        </p:nvSpPr>
        <p:spPr>
          <a:xfrm>
            <a:off x="7823200" y="6307137"/>
            <a:ext cx="7698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1" name="Google Shape;651;g34d8702162e_0_9" title="Understanding Steganography_ The Art of Concealed Communication - visual selection.png"/>
          <p:cNvPicPr preferRelativeResize="0"/>
          <p:nvPr/>
        </p:nvPicPr>
        <p:blipFill rotWithShape="1">
          <a:blip r:embed="rId3">
            <a:alphaModFix/>
          </a:blip>
          <a:srcRect b="7173" l="-4270" r="4270" t="13393"/>
          <a:stretch/>
        </p:blipFill>
        <p:spPr>
          <a:xfrm>
            <a:off x="304800" y="1896575"/>
            <a:ext cx="8153201" cy="48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2"/>
          <p:cNvSpPr txBox="1"/>
          <p:nvPr>
            <p:ph type="title"/>
          </p:nvPr>
        </p:nvSpPr>
        <p:spPr>
          <a:xfrm>
            <a:off x="785812" y="304800"/>
            <a:ext cx="7358062" cy="1052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</a:t>
            </a:r>
            <a:endParaRPr/>
          </a:p>
        </p:txBody>
      </p:sp>
      <p:sp>
        <p:nvSpPr>
          <p:cNvPr id="657" name="Google Shape;657;p32"/>
          <p:cNvSpPr txBox="1"/>
          <p:nvPr>
            <p:ph idx="1" type="body"/>
          </p:nvPr>
        </p:nvSpPr>
        <p:spPr>
          <a:xfrm>
            <a:off x="785812" y="1714500"/>
            <a:ext cx="767238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use 24 bits for color: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i="0" lang="en-US" sz="2800" u="none" cap="none" strike="noStrike">
                <a:solidFill>
                  <a:srgbClr val="06FF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bits for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8 for </a:t>
            </a:r>
            <a:r>
              <a:rPr b="0" i="0" lang="en-US" sz="2400" u="none" cap="none" strike="noStrike">
                <a:solidFill>
                  <a:srgbClr val="06FF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8 for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 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0x7E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0x52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0x90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7E52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0xFE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0x52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0x90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FE52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</a:t>
            </a:r>
            <a:r>
              <a:rPr b="0" i="0" lang="en-US" sz="2400" u="none" cap="none" strike="noStrike">
                <a:solidFill>
                  <a:srgbClr val="FE529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0xAB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0x33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0xF0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AB33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0xAB </a:t>
            </a:r>
            <a:r>
              <a:rPr b="1" i="0" lang="en-US" sz="2400" u="none" cap="none" strike="noStrike">
                <a:solidFill>
                  <a:srgbClr val="06FF0E"/>
                </a:solidFill>
                <a:latin typeface="Times"/>
                <a:ea typeface="Times"/>
                <a:cs typeface="Times"/>
                <a:sym typeface="Times"/>
              </a:rPr>
              <a:t>0x33</a:t>
            </a:r>
            <a:r>
              <a:rPr b="1" i="0" lang="en-US" sz="2400" u="none" cap="none" strike="noStrike">
                <a:solidFill>
                  <a:schemeClr val="accent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0xF1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400" u="none" cap="none" strike="noStrike">
                <a:solidFill>
                  <a:srgbClr val="AB33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color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Low-order bits are unimportant! </a:t>
            </a:r>
            <a:endParaRPr/>
          </a:p>
        </p:txBody>
      </p:sp>
      <p:sp>
        <p:nvSpPr>
          <p:cNvPr id="658" name="Google Shape;658;p32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59" name="Google Shape;659;p3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3"/>
          <p:cNvSpPr txBox="1"/>
          <p:nvPr>
            <p:ph type="title"/>
          </p:nvPr>
        </p:nvSpPr>
        <p:spPr>
          <a:xfrm>
            <a:off x="785812" y="214312"/>
            <a:ext cx="7429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</a:t>
            </a:r>
            <a:endParaRPr/>
          </a:p>
        </p:txBody>
      </p:sp>
      <p:sp>
        <p:nvSpPr>
          <p:cNvPr id="665" name="Google Shape;665;p33"/>
          <p:cNvSpPr txBox="1"/>
          <p:nvPr>
            <p:ph idx="1" type="body"/>
          </p:nvPr>
        </p:nvSpPr>
        <p:spPr>
          <a:xfrm>
            <a:off x="785812" y="1714500"/>
            <a:ext cx="7600950" cy="4344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an uncompressed image file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BMP format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we can insert any information into low-order RGB bits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low-order RGB bits don’t matter, result will be “invisible” to human eye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a computer program can “see” the bits</a:t>
            </a:r>
            <a:endParaRPr/>
          </a:p>
        </p:txBody>
      </p:sp>
      <p:sp>
        <p:nvSpPr>
          <p:cNvPr id="666" name="Google Shape;666;p33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67" name="Google Shape;667;p3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4"/>
          <p:cNvSpPr txBox="1"/>
          <p:nvPr>
            <p:ph type="title"/>
          </p:nvPr>
        </p:nvSpPr>
        <p:spPr>
          <a:xfrm>
            <a:off x="785812" y="285750"/>
            <a:ext cx="7429500" cy="1071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 1</a:t>
            </a:r>
            <a:endParaRPr/>
          </a:p>
        </p:txBody>
      </p:sp>
      <p:sp>
        <p:nvSpPr>
          <p:cNvPr id="673" name="Google Shape;673;p34"/>
          <p:cNvSpPr txBox="1"/>
          <p:nvPr>
            <p:ph idx="1" type="body"/>
          </p:nvPr>
        </p:nvSpPr>
        <p:spPr>
          <a:xfrm>
            <a:off x="785812" y="4648200"/>
            <a:ext cx="751998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side: plain Alice image</a:t>
            </a:r>
            <a:endParaRPr/>
          </a:p>
          <a:p>
            <a:pPr indent="-304800" lvl="0" marL="304800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side: Alice with entire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in Wonderland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(pdf) “hidden” in image</a:t>
            </a:r>
            <a:endParaRPr/>
          </a:p>
        </p:txBody>
      </p:sp>
      <p:sp>
        <p:nvSpPr>
          <p:cNvPr id="674" name="Google Shape;674;p34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75" name="Google Shape;675;p3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pic>
        <p:nvPicPr>
          <p:cNvPr id="676" name="Google Shape;6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785937"/>
            <a:ext cx="368935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/>
          <p:cNvSpPr txBox="1"/>
          <p:nvPr>
            <p:ph type="title"/>
          </p:nvPr>
        </p:nvSpPr>
        <p:spPr>
          <a:xfrm>
            <a:off x="785812" y="500062"/>
            <a:ext cx="7572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 2</a:t>
            </a:r>
            <a:endParaRPr/>
          </a:p>
        </p:txBody>
      </p:sp>
      <p:sp>
        <p:nvSpPr>
          <p:cNvPr id="682" name="Google Shape;682;p35"/>
          <p:cNvSpPr txBox="1"/>
          <p:nvPr>
            <p:ph idx="1" type="body"/>
          </p:nvPr>
        </p:nvSpPr>
        <p:spPr>
          <a:xfrm>
            <a:off x="785812" y="4233862"/>
            <a:ext cx="7672387" cy="62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source</a:t>
            </a:r>
            <a:endParaRPr/>
          </a:p>
        </p:txBody>
      </p:sp>
      <p:sp>
        <p:nvSpPr>
          <p:cNvPr id="683" name="Google Shape;683;p35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84" name="Google Shape;684;p3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pic>
        <p:nvPicPr>
          <p:cNvPr id="685" name="Google Shape;68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750" y="4876800"/>
            <a:ext cx="6597650" cy="1306512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5"/>
          <p:cNvSpPr txBox="1"/>
          <p:nvPr/>
        </p:nvSpPr>
        <p:spPr>
          <a:xfrm>
            <a:off x="785812" y="1714500"/>
            <a:ext cx="7672387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b="0" i="0" lang="en-US" sz="2800" u="sng">
                <a:solidFill>
                  <a:srgbClr val="7F7B9A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Non-Steganography Example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Walrus.html in web browser</a:t>
            </a:r>
            <a:endParaRPr/>
          </a:p>
        </p:txBody>
      </p:sp>
      <p:pic>
        <p:nvPicPr>
          <p:cNvPr id="687" name="Google Shape;68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4437" y="2857500"/>
            <a:ext cx="3219450" cy="1500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6"/>
          <p:cNvSpPr txBox="1"/>
          <p:nvPr>
            <p:ph type="title"/>
          </p:nvPr>
        </p:nvSpPr>
        <p:spPr>
          <a:xfrm>
            <a:off x="785812" y="428625"/>
            <a:ext cx="7500937" cy="928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 EXAMPLE 2</a:t>
            </a:r>
            <a:endParaRPr/>
          </a:p>
        </p:txBody>
      </p:sp>
      <p:sp>
        <p:nvSpPr>
          <p:cNvPr id="693" name="Google Shape;693;p36"/>
          <p:cNvSpPr txBox="1"/>
          <p:nvPr>
            <p:ph idx="1" type="body"/>
          </p:nvPr>
        </p:nvSpPr>
        <p:spPr>
          <a:xfrm>
            <a:off x="785812" y="3786187"/>
            <a:ext cx="7672387" cy="500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0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source</a:t>
            </a:r>
            <a:endParaRPr/>
          </a:p>
        </p:txBody>
      </p:sp>
      <p:sp>
        <p:nvSpPr>
          <p:cNvPr id="694" name="Google Shape;694;p36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695" name="Google Shape;695;p3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  <p:sp>
        <p:nvSpPr>
          <p:cNvPr id="696" name="Google Shape;696;p36"/>
          <p:cNvSpPr txBox="1"/>
          <p:nvPr/>
        </p:nvSpPr>
        <p:spPr>
          <a:xfrm>
            <a:off x="785812" y="1820862"/>
            <a:ext cx="7672387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stegoWalrus.html in web browser</a:t>
            </a:r>
            <a:endParaRPr/>
          </a:p>
        </p:txBody>
      </p:sp>
      <p:pic>
        <p:nvPicPr>
          <p:cNvPr id="697" name="Google Shape;6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286000"/>
            <a:ext cx="30988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3162" y="4267200"/>
            <a:ext cx="6327775" cy="1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6"/>
          <p:cNvSpPr txBox="1"/>
          <p:nvPr/>
        </p:nvSpPr>
        <p:spPr>
          <a:xfrm>
            <a:off x="785812" y="5562600"/>
            <a:ext cx="80533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“Hidden” message: </a:t>
            </a:r>
            <a:r>
              <a:rPr b="1" i="0" lang="en-US" sz="280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110 010 110 011 000 101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7"/>
          <p:cNvSpPr txBox="1"/>
          <p:nvPr>
            <p:ph type="title"/>
          </p:nvPr>
        </p:nvSpPr>
        <p:spPr>
          <a:xfrm>
            <a:off x="785812" y="533400"/>
            <a:ext cx="714375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705" name="Google Shape;705;p37"/>
          <p:cNvSpPr txBox="1"/>
          <p:nvPr>
            <p:ph idx="1" type="body"/>
          </p:nvPr>
        </p:nvSpPr>
        <p:spPr>
          <a:xfrm>
            <a:off x="611187" y="1989137"/>
            <a:ext cx="8251825" cy="414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formats (jpg, gif, wav, etc.) are more difficult (than html) for humans to read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hide information in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unimportant bits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destroy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remove info stored in unimportant bits!</a:t>
            </a:r>
            <a:endParaRPr/>
          </a:p>
        </p:txBody>
      </p:sp>
      <p:sp>
        <p:nvSpPr>
          <p:cNvPr id="706" name="Google Shape;706;p37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707" name="Google Shape;707;p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8"/>
          <p:cNvSpPr txBox="1"/>
          <p:nvPr>
            <p:ph type="title"/>
          </p:nvPr>
        </p:nvSpPr>
        <p:spPr>
          <a:xfrm>
            <a:off x="785812" y="533400"/>
            <a:ext cx="714375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INFORMATION HIDING </a:t>
            </a:r>
            <a:r>
              <a:rPr b="0" i="0" lang="en-US" sz="24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STEGANOGRAPHY</a:t>
            </a:r>
            <a:endParaRPr/>
          </a:p>
        </p:txBody>
      </p:sp>
      <p:sp>
        <p:nvSpPr>
          <p:cNvPr id="713" name="Google Shape;713;p38"/>
          <p:cNvSpPr txBox="1"/>
          <p:nvPr>
            <p:ph idx="1" type="body"/>
          </p:nvPr>
        </p:nvSpPr>
        <p:spPr>
          <a:xfrm>
            <a:off x="785812" y="1704975"/>
            <a:ext cx="7456487" cy="443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robust, information must be stored in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bits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stored information must not damage data!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Collusion attacks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a major concern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and watermarked object can be compared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steganography is trickier than it seems</a:t>
            </a:r>
            <a:endParaRPr/>
          </a:p>
        </p:txBody>
      </p:sp>
      <p:sp>
        <p:nvSpPr>
          <p:cNvPr id="714" name="Google Shape;714;p38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715" name="Google Shape;715;p3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9"/>
          <p:cNvSpPr txBox="1"/>
          <p:nvPr>
            <p:ph type="title"/>
          </p:nvPr>
        </p:nvSpPr>
        <p:spPr>
          <a:xfrm>
            <a:off x="785812" y="228600"/>
            <a:ext cx="7786687" cy="112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THE BOTTOM LINE OF INF HIDING </a:t>
            </a:r>
            <a:endParaRPr/>
          </a:p>
        </p:txBody>
      </p:sp>
      <p:sp>
        <p:nvSpPr>
          <p:cNvPr id="721" name="Google Shape;721;p39"/>
          <p:cNvSpPr txBox="1"/>
          <p:nvPr>
            <p:ph idx="1" type="body"/>
          </p:nvPr>
        </p:nvSpPr>
        <p:spPr>
          <a:xfrm>
            <a:off x="395287" y="1916112"/>
            <a:ext cx="8569325" cy="4256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information hiding is suspected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 can probably make information/watermark unreadable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Attacker may be able to read the information, given the original document (image, audio, etc.)</a:t>
            </a:r>
            <a:endParaRPr/>
          </a:p>
        </p:txBody>
      </p:sp>
      <p:sp>
        <p:nvSpPr>
          <p:cNvPr id="722" name="Google Shape;722;p39"/>
          <p:cNvSpPr txBox="1"/>
          <p:nvPr/>
        </p:nvSpPr>
        <p:spPr>
          <a:xfrm>
            <a:off x="3124200" y="62865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CHAPTER 5 OTHER TOPICS</a:t>
            </a:r>
            <a:endParaRPr/>
          </a:p>
        </p:txBody>
      </p:sp>
      <p:sp>
        <p:nvSpPr>
          <p:cNvPr id="723" name="Google Shape;723;p3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0"/>
          <p:cNvSpPr txBox="1"/>
          <p:nvPr>
            <p:ph type="ctrTitle"/>
          </p:nvPr>
        </p:nvSpPr>
        <p:spPr>
          <a:xfrm>
            <a:off x="1122362" y="476250"/>
            <a:ext cx="6899275" cy="22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CHAPTER 5</a:t>
            </a:r>
            <a:b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  <a:t>HASH FUNCTIONS</a:t>
            </a:r>
            <a:br>
              <a:rPr b="0" i="0" lang="en-US" sz="36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360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Not required for exam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29" name="Google Shape;729;p40"/>
          <p:cNvSpPr txBox="1"/>
          <p:nvPr>
            <p:ph idx="1" type="subTitle"/>
          </p:nvPr>
        </p:nvSpPr>
        <p:spPr>
          <a:xfrm>
            <a:off x="641350" y="3357562"/>
            <a:ext cx="7891462" cy="2736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PREPARED BY: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DR. MUHAMMAD IQBAL HOSSAIN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ASSOCIATE PROFESSOR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DEPARTMENT OF CSE, BRAC UNIVERSITY</a:t>
            </a:r>
            <a:endParaRPr/>
          </a:p>
        </p:txBody>
      </p:sp>
      <p:pic>
        <p:nvPicPr>
          <p:cNvPr id="730" name="Google Shape;73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1"/>
          <p:cNvSpPr txBox="1"/>
          <p:nvPr>
            <p:ph type="title"/>
          </p:nvPr>
        </p:nvSpPr>
        <p:spPr>
          <a:xfrm>
            <a:off x="581025" y="687387"/>
            <a:ext cx="7989887" cy="741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FUNCTION?</a:t>
            </a:r>
            <a:endParaRPr/>
          </a:p>
        </p:txBody>
      </p:sp>
      <p:sp>
        <p:nvSpPr>
          <p:cNvPr id="737" name="Google Shape;737;p41"/>
          <p:cNvSpPr txBox="1"/>
          <p:nvPr>
            <p:ph idx="1" type="body"/>
          </p:nvPr>
        </p:nvSpPr>
        <p:spPr>
          <a:xfrm>
            <a:off x="769937" y="1857375"/>
            <a:ext cx="79724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Noto Sans Symbols"/>
              <a:buChar char="◼"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 function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accent2"/>
              </a:buClr>
              <a:buSzPts val="2024"/>
              <a:buFont typeface="Noto Sans Symbols"/>
              <a:buChar char="◼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reproducible method of turning some kind of data into a (relatively) small number that may serve as a digital </a:t>
            </a:r>
            <a:r>
              <a:rPr b="0" i="0" lang="en-US" sz="2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"fingerprint" 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data.</a:t>
            </a:r>
            <a:endParaRPr/>
          </a:p>
        </p:txBody>
      </p:sp>
      <p:sp>
        <p:nvSpPr>
          <p:cNvPr id="738" name="Google Shape;738;p41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39" name="Google Shape;739;p41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pic>
        <p:nvPicPr>
          <p:cNvPr descr="C:\Documents and Settings\taenamahn\바탕 화면\x.bmp" id="740" name="Google Shape;74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0" y="3571875"/>
            <a:ext cx="34956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1"/>
          <p:cNvSpPr txBox="1"/>
          <p:nvPr/>
        </p:nvSpPr>
        <p:spPr>
          <a:xfrm>
            <a:off x="785812" y="3571875"/>
            <a:ext cx="4786312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20"/>
              <a:buFont typeface="Noto Sans Symbols"/>
              <a:buChar char="●"/>
            </a:pPr>
            <a:r>
              <a:rPr b="0" i="0" lang="en-US" sz="26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Crypto Hash function</a:t>
            </a:r>
            <a:endParaRPr/>
          </a:p>
          <a:p>
            <a:pPr indent="-457199" lvl="2" marL="830262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3A8F98"/>
              </a:buClr>
              <a:buSzPts val="154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hash function</a:t>
            </a:r>
            <a:r>
              <a:rPr b="0" i="0" lang="en-US" sz="2200" u="none" cap="none" strike="noStrike">
                <a:solidFill>
                  <a:srgbClr val="0000FF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with certain additional security properties</a:t>
            </a: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to make it suitable for use as various info security applications</a:t>
            </a:r>
            <a:endParaRPr b="0" i="0" sz="22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2"/>
          <p:cNvSpPr txBox="1"/>
          <p:nvPr>
            <p:ph type="title"/>
          </p:nvPr>
        </p:nvSpPr>
        <p:spPr>
          <a:xfrm>
            <a:off x="785812" y="457200"/>
            <a:ext cx="7143750" cy="900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 MOTIVATION</a:t>
            </a:r>
            <a:endParaRPr/>
          </a:p>
        </p:txBody>
      </p:sp>
      <p:sp>
        <p:nvSpPr>
          <p:cNvPr id="748" name="Google Shape;748;p42"/>
          <p:cNvSpPr txBox="1"/>
          <p:nvPr>
            <p:ph idx="1" type="body"/>
          </p:nvPr>
        </p:nvSpPr>
        <p:spPr>
          <a:xfrm>
            <a:off x="785812" y="1719262"/>
            <a:ext cx="7748587" cy="4308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Alice signs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endParaRPr b="1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S = [M]</a:t>
            </a:r>
            <a:r>
              <a:rPr b="0" baseline="-25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Bob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verifies that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 = {S}</a:t>
            </a:r>
            <a:r>
              <a:rPr b="0" baseline="-2500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Aside: Is it OK to just send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S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big,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[M]</a:t>
            </a:r>
            <a:r>
              <a:rPr b="0" baseline="-25000" i="0" lang="en-US" sz="2800" u="none" cap="none" strike="noStrike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costly to compute</a:t>
            </a:r>
            <a:endParaRPr/>
          </a:p>
          <a:p>
            <a:pPr indent="-304800" lvl="0" marL="304800" marR="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instead, Alice signs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h(M)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h(M)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much smaller than 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endParaRPr b="0" i="0" sz="2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sends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 = [h(M)]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Bob</a:t>
            </a:r>
            <a:endParaRPr/>
          </a:p>
          <a:p>
            <a:pPr indent="-304800" lvl="1" marL="628650" marR="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 verifies that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h(M) = {S}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Alice</a:t>
            </a:r>
            <a:endParaRPr/>
          </a:p>
        </p:txBody>
      </p:sp>
      <p:sp>
        <p:nvSpPr>
          <p:cNvPr id="749" name="Google Shape;749;p42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50" name="Google Shape;750;p42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3"/>
          <p:cNvSpPr txBox="1"/>
          <p:nvPr>
            <p:ph type="title"/>
          </p:nvPr>
        </p:nvSpPr>
        <p:spPr>
          <a:xfrm>
            <a:off x="785812" y="381000"/>
            <a:ext cx="7143750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CRYPTO HASH FUNCTION</a:t>
            </a:r>
            <a:endParaRPr/>
          </a:p>
        </p:txBody>
      </p:sp>
      <p:sp>
        <p:nvSpPr>
          <p:cNvPr id="757" name="Google Shape;757;p43"/>
          <p:cNvSpPr txBox="1"/>
          <p:nvPr>
            <p:ph idx="1" type="body"/>
          </p:nvPr>
        </p:nvSpPr>
        <p:spPr>
          <a:xfrm>
            <a:off x="654050" y="1928812"/>
            <a:ext cx="8489950" cy="438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 hash function h(x)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provide the following properties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length is small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h(x) easy to computer for any x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One-way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value y it is infeasible to find an x such that h(x) = y</a:t>
            </a:r>
            <a:endParaRPr/>
          </a:p>
        </p:txBody>
      </p:sp>
      <p:sp>
        <p:nvSpPr>
          <p:cNvPr id="758" name="Google Shape;758;p43"/>
          <p:cNvSpPr txBox="1"/>
          <p:nvPr/>
        </p:nvSpPr>
        <p:spPr>
          <a:xfrm>
            <a:off x="395287" y="6367462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59" name="Google Shape;759;p43"/>
          <p:cNvSpPr txBox="1"/>
          <p:nvPr/>
        </p:nvSpPr>
        <p:spPr>
          <a:xfrm>
            <a:off x="7897812" y="6367462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4"/>
          <p:cNvSpPr txBox="1"/>
          <p:nvPr>
            <p:ph type="title"/>
          </p:nvPr>
        </p:nvSpPr>
        <p:spPr>
          <a:xfrm>
            <a:off x="785812" y="381000"/>
            <a:ext cx="7143750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CRYPTO HASH FUNCTION</a:t>
            </a:r>
            <a:endParaRPr/>
          </a:p>
        </p:txBody>
      </p:sp>
      <p:sp>
        <p:nvSpPr>
          <p:cNvPr id="766" name="Google Shape;766;p44"/>
          <p:cNvSpPr txBox="1"/>
          <p:nvPr>
            <p:ph idx="1" type="body"/>
          </p:nvPr>
        </p:nvSpPr>
        <p:spPr>
          <a:xfrm>
            <a:off x="522287" y="1928812"/>
            <a:ext cx="7670800" cy="438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collision resistance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x and h(x),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infeasible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y </a:t>
            </a:r>
            <a:b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y ≠ x such that h(y) = h(x)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collision resistance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infeasible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find any x and y, </a:t>
            </a:r>
            <a:br>
              <a:rPr b="1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x ≠ y such that h(x) = h(y)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Lots of collisions exist, but hard to find one</a:t>
            </a:r>
            <a:endParaRPr/>
          </a:p>
        </p:txBody>
      </p:sp>
      <p:sp>
        <p:nvSpPr>
          <p:cNvPr id="767" name="Google Shape;767;p44"/>
          <p:cNvSpPr txBox="1"/>
          <p:nvPr/>
        </p:nvSpPr>
        <p:spPr>
          <a:xfrm>
            <a:off x="522287" y="6300787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68" name="Google Shape;768;p4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5"/>
          <p:cNvSpPr txBox="1"/>
          <p:nvPr>
            <p:ph type="title"/>
          </p:nvPr>
        </p:nvSpPr>
        <p:spPr>
          <a:xfrm>
            <a:off x="785812" y="228600"/>
            <a:ext cx="7143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POPULAR CRYPTO HASHES</a:t>
            </a:r>
            <a:endParaRPr/>
          </a:p>
        </p:txBody>
      </p:sp>
      <p:sp>
        <p:nvSpPr>
          <p:cNvPr id="774" name="Google Shape;774;p45"/>
          <p:cNvSpPr txBox="1"/>
          <p:nvPr>
            <p:ph idx="1" type="body"/>
          </p:nvPr>
        </p:nvSpPr>
        <p:spPr>
          <a:xfrm>
            <a:off x="519112" y="1844675"/>
            <a:ext cx="8105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MD(Message Digest) 5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invented by Rivest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 bit output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MD2 → MD4 → MD5 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MD2 and MD4 are no longer secure, due to collision found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even MD5, collision recently found</a:t>
            </a:r>
            <a:endParaRPr/>
          </a:p>
        </p:txBody>
      </p:sp>
      <p:sp>
        <p:nvSpPr>
          <p:cNvPr id="775" name="Google Shape;775;p4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76" name="Google Shape;776;p4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6"/>
          <p:cNvSpPr txBox="1"/>
          <p:nvPr>
            <p:ph type="title"/>
          </p:nvPr>
        </p:nvSpPr>
        <p:spPr>
          <a:xfrm>
            <a:off x="785812" y="228600"/>
            <a:ext cx="7143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POPULAR CRYPTO HASHES</a:t>
            </a:r>
            <a:endParaRPr/>
          </a:p>
        </p:txBody>
      </p:sp>
      <p:sp>
        <p:nvSpPr>
          <p:cNvPr id="782" name="Google Shape;782;p46"/>
          <p:cNvSpPr txBox="1"/>
          <p:nvPr>
            <p:ph idx="1" type="body"/>
          </p:nvPr>
        </p:nvSpPr>
        <p:spPr>
          <a:xfrm>
            <a:off x="506412" y="1844675"/>
            <a:ext cx="8242300" cy="446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SHA(Secure Hash Algorithm)-1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US government standard (similar to MD5)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 world’s most popular hash function”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180 bit output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SHA-0  → SHA-1</a:t>
            </a:r>
            <a:endParaRPr b="0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others hashes, but MD5 and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SHA-1 most widely used</a:t>
            </a:r>
            <a:endParaRPr/>
          </a:p>
        </p:txBody>
      </p:sp>
      <p:sp>
        <p:nvSpPr>
          <p:cNvPr id="783" name="Google Shape;783;p46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784" name="Google Shape;784;p46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7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0" name="Google Shape;790;p47"/>
          <p:cNvSpPr txBox="1"/>
          <p:nvPr>
            <p:ph idx="1" type="body"/>
          </p:nvPr>
        </p:nvSpPr>
        <p:spPr>
          <a:xfrm>
            <a:off x="581025" y="185737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16"/>
              <a:buFont typeface="Noto Sans Symbols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 usages </a:t>
            </a:r>
            <a:endParaRPr/>
          </a:p>
        </p:txBody>
      </p:sp>
      <p:sp>
        <p:nvSpPr>
          <p:cNvPr id="791" name="Google Shape;791;p47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792" name="Google Shape;792;p47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8"/>
          <p:cNvSpPr txBox="1"/>
          <p:nvPr>
            <p:ph type="title"/>
          </p:nvPr>
        </p:nvSpPr>
        <p:spPr>
          <a:xfrm>
            <a:off x="785812" y="122237"/>
            <a:ext cx="7143750" cy="123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USES</a:t>
            </a:r>
            <a:endParaRPr/>
          </a:p>
        </p:txBody>
      </p:sp>
      <p:sp>
        <p:nvSpPr>
          <p:cNvPr id="798" name="Google Shape;798;p48"/>
          <p:cNvSpPr txBox="1"/>
          <p:nvPr>
            <p:ph idx="1" type="body"/>
          </p:nvPr>
        </p:nvSpPr>
        <p:spPr>
          <a:xfrm>
            <a:off x="581025" y="2227262"/>
            <a:ext cx="7989887" cy="3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HMAC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integrity (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HMAC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fingerprint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corruption detection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signature efficiency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Anything you can do with symmetric crypto ???</a:t>
            </a:r>
            <a:endParaRPr/>
          </a:p>
        </p:txBody>
      </p:sp>
      <p:sp>
        <p:nvSpPr>
          <p:cNvPr id="799" name="Google Shape;799;p48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800" name="Google Shape;800;p48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>
            <p:ph type="title"/>
          </p:nvPr>
        </p:nvSpPr>
        <p:spPr>
          <a:xfrm>
            <a:off x="785812" y="381000"/>
            <a:ext cx="7143750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ONLINE AUCTION</a:t>
            </a:r>
            <a:endParaRPr/>
          </a:p>
        </p:txBody>
      </p:sp>
      <p:sp>
        <p:nvSpPr>
          <p:cNvPr id="806" name="Google Shape;806;p49"/>
          <p:cNvSpPr txBox="1"/>
          <p:nvPr>
            <p:ph idx="1" type="body"/>
          </p:nvPr>
        </p:nvSpPr>
        <p:spPr>
          <a:xfrm>
            <a:off x="658812" y="1916112"/>
            <a:ext cx="7824787" cy="438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Alice, Bob and Charlie are bidders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 plans to bid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Bob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Charlie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don’t trust that bids will stay secret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Solution?</a:t>
            </a:r>
            <a:endParaRPr/>
          </a:p>
          <a:p>
            <a:pPr indent="-304800" lvl="1" marL="62865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Alice, Bob, Charlie submit </a:t>
            </a:r>
            <a:r>
              <a:rPr b="1" i="0" lang="en-US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h(B)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h(C)</a:t>
            </a:r>
            <a:endParaRPr/>
          </a:p>
          <a:p>
            <a:pPr indent="-304800" lvl="1" marL="62865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hashes received and posted online</a:t>
            </a:r>
            <a:endParaRPr/>
          </a:p>
          <a:p>
            <a:pPr indent="-304800" lvl="1" marL="628650" marR="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bids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revealed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Hashes don’t reveal bids (one way)</a:t>
            </a:r>
            <a:endParaRPr/>
          </a:p>
          <a:p>
            <a:pPr indent="-304800" lvl="0" marL="304800" marR="0" rtl="0" algn="l">
              <a:lnSpc>
                <a:spcPct val="75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change bid after hash sent (collision)</a:t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ic Sans MS"/>
              <a:buNone/>
            </a:pPr>
            <a:r>
              <a:rPr b="0" i="0" lang="en-US" sz="9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CHAPTER 5 HASH FUNCTION</a:t>
            </a:r>
            <a:endParaRPr/>
          </a:p>
        </p:txBody>
      </p:sp>
      <p:sp>
        <p:nvSpPr>
          <p:cNvPr id="808" name="Google Shape;808;p49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0"/>
          <p:cNvSpPr txBox="1"/>
          <p:nvPr>
            <p:ph type="title"/>
          </p:nvPr>
        </p:nvSpPr>
        <p:spPr>
          <a:xfrm>
            <a:off x="581025" y="687387"/>
            <a:ext cx="7989887" cy="869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HASH FUNCTION</a:t>
            </a:r>
            <a:endParaRPr/>
          </a:p>
        </p:txBody>
      </p:sp>
      <p:sp>
        <p:nvSpPr>
          <p:cNvPr id="814" name="Google Shape;814;p50"/>
          <p:cNvSpPr txBox="1"/>
          <p:nvPr>
            <p:ph idx="1" type="body"/>
          </p:nvPr>
        </p:nvSpPr>
        <p:spPr>
          <a:xfrm>
            <a:off x="581025" y="185737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 -Secure Hash Algorithm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 – Message Digest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 use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Message Digest to plain text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it to receiver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compute with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endParaRPr/>
          </a:p>
          <a:p>
            <a:pPr indent="-304800" lvl="1" marL="6286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 compare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</a:t>
            </a:r>
            <a:endParaRPr/>
          </a:p>
        </p:txBody>
      </p:sp>
      <p:sp>
        <p:nvSpPr>
          <p:cNvPr id="815" name="Google Shape;815;p50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816" name="Google Shape;816;p50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817" name="Google Shape;817;p50"/>
          <p:cNvSpPr/>
          <p:nvPr/>
        </p:nvSpPr>
        <p:spPr>
          <a:xfrm>
            <a:off x="447675" y="600075"/>
            <a:ext cx="8239125" cy="1258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  <p:pic>
        <p:nvPicPr>
          <p:cNvPr id="818" name="Google Shape;8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1"/>
          <p:cNvSpPr txBox="1"/>
          <p:nvPr>
            <p:ph type="title"/>
          </p:nvPr>
        </p:nvSpPr>
        <p:spPr>
          <a:xfrm>
            <a:off x="581025" y="687387"/>
            <a:ext cx="7989887" cy="79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MD5 ALGORITHM (128 BIT)</a:t>
            </a:r>
            <a:endParaRPr/>
          </a:p>
        </p:txBody>
      </p:sp>
      <p:sp>
        <p:nvSpPr>
          <p:cNvPr id="825" name="Google Shape;825;p51"/>
          <p:cNvSpPr txBox="1"/>
          <p:nvPr>
            <p:ph idx="1" type="body"/>
          </p:nvPr>
        </p:nvSpPr>
        <p:spPr>
          <a:xfrm>
            <a:off x="581025" y="185737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Message is padded to an exact multiple of 512 bit blocks.</a:t>
            </a:r>
            <a:endParaRPr/>
          </a:p>
          <a:p>
            <a:pPr indent="-514350" lvl="1" marL="8382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accent2"/>
              </a:buClr>
              <a:buSzPts val="2392"/>
              <a:buFont typeface="Gill Sans"/>
              <a:buAutoNum type="alphaL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Append 64 bit representation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 the MD buffers (32-bit, 4 buffer, A, B, C, D)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the each block (512)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Gill Sans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(message digest in buffers)</a:t>
            </a:r>
            <a:endParaRPr/>
          </a:p>
          <a:p>
            <a:pPr indent="-141224" lvl="0" marL="304800" marR="0" rtl="0" algn="l"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51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827" name="Google Shape;827;p51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pic>
        <p:nvPicPr>
          <p:cNvPr id="828" name="Google Shape;82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2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835" name="Google Shape;835;p52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836" name="Google Shape;836;p5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MAIN MD5 LOOP</a:t>
            </a:r>
            <a:endParaRPr/>
          </a:p>
        </p:txBody>
      </p:sp>
      <p:sp>
        <p:nvSpPr>
          <p:cNvPr id="837" name="Google Shape;837;p52"/>
          <p:cNvSpPr txBox="1"/>
          <p:nvPr/>
        </p:nvSpPr>
        <p:spPr>
          <a:xfrm>
            <a:off x="420687" y="2755900"/>
            <a:ext cx="62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IVs</a:t>
            </a:r>
            <a:endParaRPr/>
          </a:p>
        </p:txBody>
      </p:sp>
      <p:pic>
        <p:nvPicPr>
          <p:cNvPr descr="C:\Documents and Settings\Admin\My Documents\Crypto-2007\MD5\Overview.jpg" id="838" name="Google Shape;83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866900"/>
            <a:ext cx="7904162" cy="3865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ocuments and Settings\Admin\My Documents\Crypto-2007\MD5\IV.jpg" id="839" name="Google Shape;83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637" y="3429000"/>
            <a:ext cx="9144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848" name="Google Shape;848;p53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849" name="Google Shape;849;p53"/>
          <p:cNvSpPr txBox="1"/>
          <p:nvPr/>
        </p:nvSpPr>
        <p:spPr>
          <a:xfrm>
            <a:off x="2098675" y="1412875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F,     T[1-16],     X[ ]</a:t>
            </a:r>
            <a:endParaRPr/>
          </a:p>
        </p:txBody>
      </p:sp>
      <p:sp>
        <p:nvSpPr>
          <p:cNvPr id="850" name="Google Shape;850;p53"/>
          <p:cNvSpPr txBox="1"/>
          <p:nvPr/>
        </p:nvSpPr>
        <p:spPr>
          <a:xfrm>
            <a:off x="2124075" y="188912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Initializing Vector</a:t>
            </a:r>
            <a:endParaRPr/>
          </a:p>
        </p:txBody>
      </p:sp>
      <p:cxnSp>
        <p:nvCxnSpPr>
          <p:cNvPr id="851" name="Google Shape;851;p53"/>
          <p:cNvCxnSpPr/>
          <p:nvPr/>
        </p:nvCxnSpPr>
        <p:spPr>
          <a:xfrm>
            <a:off x="2343150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2" name="Google Shape;852;p53"/>
          <p:cNvCxnSpPr/>
          <p:nvPr/>
        </p:nvCxnSpPr>
        <p:spPr>
          <a:xfrm>
            <a:off x="3035300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3" name="Google Shape;853;p53"/>
          <p:cNvCxnSpPr/>
          <p:nvPr/>
        </p:nvCxnSpPr>
        <p:spPr>
          <a:xfrm>
            <a:off x="3863975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4" name="Google Shape;854;p53"/>
          <p:cNvCxnSpPr/>
          <p:nvPr/>
        </p:nvCxnSpPr>
        <p:spPr>
          <a:xfrm>
            <a:off x="4522787" y="5540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55" name="Google Shape;855;p53"/>
          <p:cNvSpPr txBox="1"/>
          <p:nvPr/>
        </p:nvSpPr>
        <p:spPr>
          <a:xfrm>
            <a:off x="2124075" y="2632075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G,     T[17-34],     X[ ]</a:t>
            </a:r>
            <a:endParaRPr/>
          </a:p>
        </p:txBody>
      </p:sp>
      <p:cxnSp>
        <p:nvCxnSpPr>
          <p:cNvPr id="856" name="Google Shape;856;p53"/>
          <p:cNvCxnSpPr/>
          <p:nvPr/>
        </p:nvCxnSpPr>
        <p:spPr>
          <a:xfrm>
            <a:off x="2368550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7" name="Google Shape;857;p53"/>
          <p:cNvCxnSpPr/>
          <p:nvPr/>
        </p:nvCxnSpPr>
        <p:spPr>
          <a:xfrm>
            <a:off x="3059112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8" name="Google Shape;858;p53"/>
          <p:cNvCxnSpPr/>
          <p:nvPr/>
        </p:nvCxnSpPr>
        <p:spPr>
          <a:xfrm>
            <a:off x="3889375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59" name="Google Shape;859;p53"/>
          <p:cNvCxnSpPr/>
          <p:nvPr/>
        </p:nvCxnSpPr>
        <p:spPr>
          <a:xfrm>
            <a:off x="4594225" y="17732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60" name="Google Shape;860;p53"/>
          <p:cNvSpPr txBox="1"/>
          <p:nvPr/>
        </p:nvSpPr>
        <p:spPr>
          <a:xfrm>
            <a:off x="2124075" y="3859212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H,     T[35-48],     X[ ]</a:t>
            </a:r>
            <a:endParaRPr/>
          </a:p>
        </p:txBody>
      </p:sp>
      <p:cxnSp>
        <p:nvCxnSpPr>
          <p:cNvPr id="861" name="Google Shape;861;p53"/>
          <p:cNvCxnSpPr/>
          <p:nvPr/>
        </p:nvCxnSpPr>
        <p:spPr>
          <a:xfrm>
            <a:off x="2368550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2" name="Google Shape;862;p53"/>
          <p:cNvCxnSpPr/>
          <p:nvPr/>
        </p:nvCxnSpPr>
        <p:spPr>
          <a:xfrm>
            <a:off x="3059112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3" name="Google Shape;863;p53"/>
          <p:cNvCxnSpPr/>
          <p:nvPr/>
        </p:nvCxnSpPr>
        <p:spPr>
          <a:xfrm>
            <a:off x="3889375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4" name="Google Shape;864;p53"/>
          <p:cNvCxnSpPr/>
          <p:nvPr/>
        </p:nvCxnSpPr>
        <p:spPr>
          <a:xfrm>
            <a:off x="4667250" y="3000375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65" name="Google Shape;865;p53"/>
          <p:cNvSpPr txBox="1"/>
          <p:nvPr/>
        </p:nvSpPr>
        <p:spPr>
          <a:xfrm>
            <a:off x="2146300" y="5083175"/>
            <a:ext cx="2881312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I,     T[49-64],     X[ ]</a:t>
            </a:r>
            <a:endParaRPr/>
          </a:p>
        </p:txBody>
      </p:sp>
      <p:cxnSp>
        <p:nvCxnSpPr>
          <p:cNvPr id="866" name="Google Shape;866;p53"/>
          <p:cNvCxnSpPr/>
          <p:nvPr/>
        </p:nvCxnSpPr>
        <p:spPr>
          <a:xfrm>
            <a:off x="2343150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7" name="Google Shape;867;p53"/>
          <p:cNvCxnSpPr/>
          <p:nvPr/>
        </p:nvCxnSpPr>
        <p:spPr>
          <a:xfrm>
            <a:off x="3035300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8" name="Google Shape;868;p53"/>
          <p:cNvCxnSpPr/>
          <p:nvPr/>
        </p:nvCxnSpPr>
        <p:spPr>
          <a:xfrm>
            <a:off x="3863975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69" name="Google Shape;869;p53"/>
          <p:cNvCxnSpPr/>
          <p:nvPr/>
        </p:nvCxnSpPr>
        <p:spPr>
          <a:xfrm>
            <a:off x="4667250" y="4224337"/>
            <a:ext cx="0" cy="85883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70" name="Google Shape;870;p53"/>
          <p:cNvSpPr txBox="1"/>
          <p:nvPr/>
        </p:nvSpPr>
        <p:spPr>
          <a:xfrm>
            <a:off x="1979612" y="1031875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871" name="Google Shape;871;p53"/>
          <p:cNvSpPr txBox="1"/>
          <p:nvPr/>
        </p:nvSpPr>
        <p:spPr>
          <a:xfrm>
            <a:off x="2678112" y="1031875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872" name="Google Shape;872;p53"/>
          <p:cNvSpPr txBox="1"/>
          <p:nvPr/>
        </p:nvSpPr>
        <p:spPr>
          <a:xfrm>
            <a:off x="3489325" y="103187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873" name="Google Shape;873;p53"/>
          <p:cNvSpPr txBox="1"/>
          <p:nvPr/>
        </p:nvSpPr>
        <p:spPr>
          <a:xfrm>
            <a:off x="4162425" y="982662"/>
            <a:ext cx="3508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sp>
        <p:nvSpPr>
          <p:cNvPr id="874" name="Google Shape;874;p53"/>
          <p:cNvSpPr txBox="1"/>
          <p:nvPr/>
        </p:nvSpPr>
        <p:spPr>
          <a:xfrm>
            <a:off x="2028825" y="2214562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875" name="Google Shape;875;p53"/>
          <p:cNvSpPr txBox="1"/>
          <p:nvPr/>
        </p:nvSpPr>
        <p:spPr>
          <a:xfrm>
            <a:off x="2727325" y="2214562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876" name="Google Shape;876;p53"/>
          <p:cNvSpPr txBox="1"/>
          <p:nvPr/>
        </p:nvSpPr>
        <p:spPr>
          <a:xfrm>
            <a:off x="3538537" y="2214562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877" name="Google Shape;877;p53"/>
          <p:cNvSpPr txBox="1"/>
          <p:nvPr/>
        </p:nvSpPr>
        <p:spPr>
          <a:xfrm>
            <a:off x="4211637" y="2166937"/>
            <a:ext cx="3508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sp>
        <p:nvSpPr>
          <p:cNvPr id="878" name="Google Shape;878;p53"/>
          <p:cNvSpPr txBox="1"/>
          <p:nvPr/>
        </p:nvSpPr>
        <p:spPr>
          <a:xfrm>
            <a:off x="2028825" y="3497262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879" name="Google Shape;879;p53"/>
          <p:cNvSpPr txBox="1"/>
          <p:nvPr/>
        </p:nvSpPr>
        <p:spPr>
          <a:xfrm>
            <a:off x="2727325" y="3497262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880" name="Google Shape;880;p53"/>
          <p:cNvSpPr txBox="1"/>
          <p:nvPr/>
        </p:nvSpPr>
        <p:spPr>
          <a:xfrm>
            <a:off x="3538537" y="3497262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881" name="Google Shape;881;p53"/>
          <p:cNvSpPr txBox="1"/>
          <p:nvPr/>
        </p:nvSpPr>
        <p:spPr>
          <a:xfrm>
            <a:off x="4211637" y="3449637"/>
            <a:ext cx="350837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sp>
        <p:nvSpPr>
          <p:cNvPr id="882" name="Google Shape;882;p53"/>
          <p:cNvSpPr txBox="1"/>
          <p:nvPr/>
        </p:nvSpPr>
        <p:spPr>
          <a:xfrm>
            <a:off x="1998662" y="4681537"/>
            <a:ext cx="3333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</a:t>
            </a:r>
            <a:endParaRPr/>
          </a:p>
        </p:txBody>
      </p:sp>
      <p:sp>
        <p:nvSpPr>
          <p:cNvPr id="883" name="Google Shape;883;p53"/>
          <p:cNvSpPr txBox="1"/>
          <p:nvPr/>
        </p:nvSpPr>
        <p:spPr>
          <a:xfrm>
            <a:off x="2697162" y="4681537"/>
            <a:ext cx="3397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B</a:t>
            </a:r>
            <a:endParaRPr/>
          </a:p>
        </p:txBody>
      </p:sp>
      <p:sp>
        <p:nvSpPr>
          <p:cNvPr id="884" name="Google Shape;884;p53"/>
          <p:cNvSpPr txBox="1"/>
          <p:nvPr/>
        </p:nvSpPr>
        <p:spPr>
          <a:xfrm>
            <a:off x="3508375" y="4681537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</a:t>
            </a:r>
            <a:endParaRPr/>
          </a:p>
        </p:txBody>
      </p:sp>
      <p:sp>
        <p:nvSpPr>
          <p:cNvPr id="885" name="Google Shape;885;p53"/>
          <p:cNvSpPr txBox="1"/>
          <p:nvPr/>
        </p:nvSpPr>
        <p:spPr>
          <a:xfrm>
            <a:off x="4179887" y="4632325"/>
            <a:ext cx="352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D</a:t>
            </a:r>
            <a:endParaRPr/>
          </a:p>
        </p:txBody>
      </p:sp>
      <p:cxnSp>
        <p:nvCxnSpPr>
          <p:cNvPr id="886" name="Google Shape;886;p53"/>
          <p:cNvCxnSpPr/>
          <p:nvPr/>
        </p:nvCxnSpPr>
        <p:spPr>
          <a:xfrm flipH="1" rot="-5400000">
            <a:off x="-778599" y="2340700"/>
            <a:ext cx="4491000" cy="1359000"/>
          </a:xfrm>
          <a:prstGeom prst="bentConnector2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87" name="Google Shape;887;p53"/>
          <p:cNvSpPr txBox="1"/>
          <p:nvPr/>
        </p:nvSpPr>
        <p:spPr>
          <a:xfrm>
            <a:off x="50800" y="404812"/>
            <a:ext cx="1473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Plain text, X</a:t>
            </a:r>
            <a:endParaRPr/>
          </a:p>
        </p:txBody>
      </p:sp>
      <p:cxnSp>
        <p:nvCxnSpPr>
          <p:cNvPr id="888" name="Google Shape;888;p53"/>
          <p:cNvCxnSpPr/>
          <p:nvPr/>
        </p:nvCxnSpPr>
        <p:spPr>
          <a:xfrm rot="10800000">
            <a:off x="787400" y="1595437"/>
            <a:ext cx="1311275" cy="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9" name="Google Shape;889;p53"/>
          <p:cNvCxnSpPr/>
          <p:nvPr/>
        </p:nvCxnSpPr>
        <p:spPr>
          <a:xfrm flipH="1">
            <a:off x="755650" y="2814637"/>
            <a:ext cx="1368425" cy="1905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0" name="Google Shape;890;p53"/>
          <p:cNvCxnSpPr/>
          <p:nvPr/>
        </p:nvCxnSpPr>
        <p:spPr>
          <a:xfrm rot="10800000">
            <a:off x="755650" y="4024312"/>
            <a:ext cx="1368425" cy="17462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91" name="Google Shape;891;p53"/>
          <p:cNvSpPr txBox="1"/>
          <p:nvPr/>
        </p:nvSpPr>
        <p:spPr>
          <a:xfrm>
            <a:off x="2124075" y="6388100"/>
            <a:ext cx="2879725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MD</a:t>
            </a:r>
            <a:endParaRPr/>
          </a:p>
        </p:txBody>
      </p:sp>
      <p:sp>
        <p:nvSpPr>
          <p:cNvPr id="892" name="Google Shape;892;p53"/>
          <p:cNvSpPr txBox="1"/>
          <p:nvPr/>
        </p:nvSpPr>
        <p:spPr>
          <a:xfrm>
            <a:off x="3354387" y="5797550"/>
            <a:ext cx="336550" cy="365125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/>
          </a:p>
        </p:txBody>
      </p:sp>
      <p:cxnSp>
        <p:nvCxnSpPr>
          <p:cNvPr id="893" name="Google Shape;893;p53"/>
          <p:cNvCxnSpPr/>
          <p:nvPr/>
        </p:nvCxnSpPr>
        <p:spPr>
          <a:xfrm rot="10800000">
            <a:off x="2535237" y="5448300"/>
            <a:ext cx="819150" cy="531812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4" name="Google Shape;894;p53"/>
          <p:cNvCxnSpPr/>
          <p:nvPr/>
        </p:nvCxnSpPr>
        <p:spPr>
          <a:xfrm rot="10800000">
            <a:off x="3067050" y="5448300"/>
            <a:ext cx="455612" cy="34925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5" name="Google Shape;895;p53"/>
          <p:cNvCxnSpPr/>
          <p:nvPr/>
        </p:nvCxnSpPr>
        <p:spPr>
          <a:xfrm flipH="1" rot="10800000">
            <a:off x="3522662" y="5448300"/>
            <a:ext cx="365125" cy="349250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6" name="Google Shape;896;p53"/>
          <p:cNvCxnSpPr/>
          <p:nvPr/>
        </p:nvCxnSpPr>
        <p:spPr>
          <a:xfrm flipH="1" rot="10800000">
            <a:off x="3690937" y="5448300"/>
            <a:ext cx="520700" cy="531812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7" name="Google Shape;897;p53"/>
          <p:cNvCxnSpPr/>
          <p:nvPr/>
        </p:nvCxnSpPr>
        <p:spPr>
          <a:xfrm rot="5400000">
            <a:off x="1543149" y="2519325"/>
            <a:ext cx="5608500" cy="1312800"/>
          </a:xfrm>
          <a:prstGeom prst="bentConnector3">
            <a:avLst>
              <a:gd fmla="val 0" name="adj1"/>
            </a:avLst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8" name="Google Shape;898;p53"/>
          <p:cNvCxnSpPr/>
          <p:nvPr/>
        </p:nvCxnSpPr>
        <p:spPr>
          <a:xfrm>
            <a:off x="3522662" y="6162675"/>
            <a:ext cx="41275" cy="225425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9" name="Google Shape;899;p53"/>
          <p:cNvCxnSpPr/>
          <p:nvPr/>
        </p:nvCxnSpPr>
        <p:spPr>
          <a:xfrm flipH="1" rot="10800000">
            <a:off x="4375150" y="742950"/>
            <a:ext cx="288925" cy="24288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00" name="Google Shape;900;p53"/>
          <p:cNvSpPr txBox="1"/>
          <p:nvPr/>
        </p:nvSpPr>
        <p:spPr>
          <a:xfrm>
            <a:off x="4718050" y="693737"/>
            <a:ext cx="4508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32</a:t>
            </a:r>
            <a:endParaRPr/>
          </a:p>
        </p:txBody>
      </p:sp>
      <p:cxnSp>
        <p:nvCxnSpPr>
          <p:cNvPr id="901" name="Google Shape;901;p53"/>
          <p:cNvCxnSpPr/>
          <p:nvPr/>
        </p:nvCxnSpPr>
        <p:spPr>
          <a:xfrm flipH="1" rot="10800000">
            <a:off x="606425" y="911225"/>
            <a:ext cx="287337" cy="242887"/>
          </a:xfrm>
          <a:prstGeom prst="straightConnector1">
            <a:avLst/>
          </a:prstGeom>
          <a:noFill/>
          <a:ln cap="rnd" cmpd="sng" w="12700">
            <a:solidFill>
              <a:srgbClr val="2F85A7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02" name="Google Shape;902;p53"/>
          <p:cNvSpPr txBox="1"/>
          <p:nvPr/>
        </p:nvSpPr>
        <p:spPr>
          <a:xfrm>
            <a:off x="947737" y="862012"/>
            <a:ext cx="5842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512</a:t>
            </a:r>
            <a:endParaRPr/>
          </a:p>
        </p:txBody>
      </p:sp>
      <p:sp>
        <p:nvSpPr>
          <p:cNvPr id="903" name="Google Shape;903;p53"/>
          <p:cNvSpPr txBox="1"/>
          <p:nvPr/>
        </p:nvSpPr>
        <p:spPr>
          <a:xfrm>
            <a:off x="5695950" y="4251325"/>
            <a:ext cx="3365500" cy="203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Uses 4   32-bit inputs: </a:t>
            </a:r>
            <a:r>
              <a:rPr b="0" i="1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a, b, c, 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Also uses a 32-bit sub-block of the message block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Generates 4  32-bit outputs for the next round step or the next round</a:t>
            </a:r>
            <a:endParaRPr/>
          </a:p>
        </p:txBody>
      </p:sp>
      <p:sp>
        <p:nvSpPr>
          <p:cNvPr id="904" name="Google Shape;904;p53"/>
          <p:cNvSpPr txBox="1"/>
          <p:nvPr/>
        </p:nvSpPr>
        <p:spPr>
          <a:xfrm>
            <a:off x="5708650" y="2233612"/>
            <a:ext cx="3365500" cy="12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Each round have 16 constraints and 16 steps.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r>
              <a:rPr b="0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Each constraint will use in each step.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4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DIFFICULTY IN CRACKING</a:t>
            </a:r>
            <a:endParaRPr/>
          </a:p>
        </p:txBody>
      </p:sp>
      <p:sp>
        <p:nvSpPr>
          <p:cNvPr id="910" name="Google Shape;910;p54"/>
          <p:cNvSpPr txBox="1"/>
          <p:nvPr>
            <p:ph idx="1" type="body"/>
          </p:nvPr>
        </p:nvSpPr>
        <p:spPr>
          <a:xfrm>
            <a:off x="503237" y="2155825"/>
            <a:ext cx="7989887" cy="4487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Md5, with its 128bit encryption algorithm has 1,280,000,000,000,000,000 possible combinations.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if the exact same hash value found, possible other string combination could have created it.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considered that the md5 message digest would take an unrealistic time to crack via brute force attack.</a:t>
            </a:r>
            <a:endParaRPr/>
          </a:p>
          <a:p>
            <a:pPr indent="-141224" lvl="0" marL="304800" marR="0" rtl="0" algn="l"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1" name="Google Shape;911;p54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912" name="Google Shape;912;p54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pic>
        <p:nvPicPr>
          <p:cNvPr id="913" name="Google Shape;91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5"/>
          <p:cNvSpPr txBox="1"/>
          <p:nvPr>
            <p:ph type="title"/>
          </p:nvPr>
        </p:nvSpPr>
        <p:spPr>
          <a:xfrm>
            <a:off x="581025" y="687387"/>
            <a:ext cx="7989887" cy="725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en-US" sz="28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PROS/CONS MD5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581025" y="6321425"/>
            <a:ext cx="4870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r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CHAPTER 5 HASH FUNCTION</a:t>
            </a:r>
            <a:endParaRPr/>
          </a:p>
        </p:txBody>
      </p:sp>
      <p:sp>
        <p:nvSpPr>
          <p:cNvPr id="921" name="Google Shape;921;p55"/>
          <p:cNvSpPr txBox="1"/>
          <p:nvPr/>
        </p:nvSpPr>
        <p:spPr>
          <a:xfrm>
            <a:off x="7823200" y="6307137"/>
            <a:ext cx="7699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Gulim"/>
              <a:buNone/>
            </a:pPr>
            <a:fld id="{00000000-1234-1234-1234-123412341234}" type="slidenum">
              <a:rPr b="0" i="0" lang="en-US" sz="900" u="none">
                <a:solidFill>
                  <a:schemeClr val="accent2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  <p:sp>
        <p:nvSpPr>
          <p:cNvPr id="922" name="Google Shape;922;p55"/>
          <p:cNvSpPr txBox="1"/>
          <p:nvPr/>
        </p:nvSpPr>
        <p:spPr>
          <a:xfrm>
            <a:off x="768350" y="1412875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Easy to use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Widely used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Considered secure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Difficult to crack</a:t>
            </a:r>
            <a:endParaRPr/>
          </a:p>
        </p:txBody>
      </p:sp>
      <p:sp>
        <p:nvSpPr>
          <p:cNvPr id="923" name="Google Shape;923;p55"/>
          <p:cNvSpPr txBox="1"/>
          <p:nvPr/>
        </p:nvSpPr>
        <p:spPr>
          <a:xfrm>
            <a:off x="5021262" y="2089150"/>
            <a:ext cx="381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Is susceptible to brute force attacks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Hash collisions is a known flaw</a:t>
            </a:r>
            <a:endParaRPr/>
          </a:p>
          <a:p>
            <a:pPr indent="-304800" lvl="0" marL="30480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b="0" i="0" lang="en-US" sz="2800" u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Quantum computers would make such an algorithm worthless</a:t>
            </a:r>
            <a:endParaRPr/>
          </a:p>
        </p:txBody>
      </p:sp>
      <p:pic>
        <p:nvPicPr>
          <p:cNvPr id="924" name="Google Shape;92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825" y="620712"/>
            <a:ext cx="1408112" cy="115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287" y="692150"/>
            <a:ext cx="1147762" cy="106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0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9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8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6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4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5_Dividend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2006-02-20T14:29:07Z</dcterms:created>
  <dc:creator>MIH</dc:creator>
</cp:coreProperties>
</file>