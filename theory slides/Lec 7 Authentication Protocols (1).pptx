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Lst>
  <p:sldSz cy="6858000" cx="9144000"/>
  <p:notesSz cx="7099300" cy="10234600"/>
  <p:embeddedFontLst>
    <p:embeddedFont>
      <p:font typeface="Gill Sans"/>
      <p:regular r:id="rId82"/>
      <p:bold r:id="rId8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3224">
          <p15:clr>
            <a:srgbClr val="000000"/>
          </p15:clr>
        </p15:guide>
        <p15:guide id="2" pos="2236">
          <p15:clr>
            <a:srgbClr val="000000"/>
          </p15:clr>
        </p15:guide>
      </p15:notesGuideLst>
    </p:ext>
    <p:ext uri="GoogleSlidesCustomDataVersion2">
      <go:slidesCustomData xmlns:go="http://customooxmlschemas.google.com/" r:id="rId84" roundtripDataSignature="AMtx7mikJyGkaGMm7l8x/x2918OswJfQ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3224" orient="horz"/>
        <p:guide pos="2236"/>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customschemas.google.com/relationships/presentationmetadata" Target="metadata"/><Relationship Id="rId83" Type="http://schemas.openxmlformats.org/officeDocument/2006/relationships/font" Target="fonts/GillSans-bold.fntdata"/><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slide" Target="slides/slide74.xml"/><Relationship Id="rId82" Type="http://schemas.openxmlformats.org/officeDocument/2006/relationships/font" Target="fonts/GillSans-regular.fntdata"/><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76575" cy="511175"/>
          </a:xfrm>
          <a:prstGeom prst="rect">
            <a:avLst/>
          </a:prstGeom>
          <a:noFill/>
          <a:ln>
            <a:noFill/>
          </a:ln>
        </p:spPr>
        <p:txBody>
          <a:bodyPr anchorCtr="0" anchor="t" bIns="49500" lIns="99025" spcFirstLastPara="1" rIns="99025" wrap="square" tIns="495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Gulim"/>
                <a:ea typeface="Gulim"/>
                <a:cs typeface="Gulim"/>
                <a:sym typeface="Gulim"/>
              </a:defRPr>
            </a:lvl1pPr>
            <a:lvl2pPr lvl="1" marR="0" rtl="0" algn="l">
              <a:lnSpc>
                <a:spcPct val="100000"/>
              </a:lnSpc>
              <a:spcBef>
                <a:spcPts val="0"/>
              </a:spcBef>
              <a:spcAft>
                <a:spcPts val="0"/>
              </a:spcAft>
              <a:buSzPts val="1400"/>
              <a:buNone/>
              <a:defRPr b="0" i="0" sz="1800" u="none" cap="none" strike="noStrike">
                <a:solidFill>
                  <a:srgbClr val="000000"/>
                </a:solidFill>
                <a:latin typeface="Gulim"/>
                <a:ea typeface="Gulim"/>
                <a:cs typeface="Gulim"/>
                <a:sym typeface="Gulim"/>
              </a:defRPr>
            </a:lvl2pPr>
            <a:lvl3pPr lvl="2" marR="0" rtl="0" algn="l">
              <a:lnSpc>
                <a:spcPct val="100000"/>
              </a:lnSpc>
              <a:spcBef>
                <a:spcPts val="0"/>
              </a:spcBef>
              <a:spcAft>
                <a:spcPts val="0"/>
              </a:spcAft>
              <a:buSzPts val="1400"/>
              <a:buNone/>
              <a:defRPr b="0" i="0" sz="1800" u="none" cap="none" strike="noStrike">
                <a:solidFill>
                  <a:srgbClr val="000000"/>
                </a:solidFill>
                <a:latin typeface="Gulim"/>
                <a:ea typeface="Gulim"/>
                <a:cs typeface="Gulim"/>
                <a:sym typeface="Gulim"/>
              </a:defRPr>
            </a:lvl3pPr>
            <a:lvl4pPr lvl="3" marR="0" rtl="0" algn="l">
              <a:lnSpc>
                <a:spcPct val="100000"/>
              </a:lnSpc>
              <a:spcBef>
                <a:spcPts val="0"/>
              </a:spcBef>
              <a:spcAft>
                <a:spcPts val="0"/>
              </a:spcAft>
              <a:buSzPts val="1400"/>
              <a:buNone/>
              <a:defRPr b="0" i="0" sz="1800" u="none" cap="none" strike="noStrike">
                <a:solidFill>
                  <a:srgbClr val="000000"/>
                </a:solidFill>
                <a:latin typeface="Gulim"/>
                <a:ea typeface="Gulim"/>
                <a:cs typeface="Gulim"/>
                <a:sym typeface="Gulim"/>
              </a:defRPr>
            </a:lvl4pPr>
            <a:lvl5pPr lvl="4" marR="0" rtl="0" algn="l">
              <a:lnSpc>
                <a:spcPct val="100000"/>
              </a:lnSpc>
              <a:spcBef>
                <a:spcPts val="0"/>
              </a:spcBef>
              <a:spcAft>
                <a:spcPts val="0"/>
              </a:spcAft>
              <a:buSzPts val="1400"/>
              <a:buNone/>
              <a:defRPr b="0" i="0" sz="1800" u="none" cap="none" strike="noStrike">
                <a:solidFill>
                  <a:srgbClr val="000000"/>
                </a:solidFill>
                <a:latin typeface="Gulim"/>
                <a:ea typeface="Gulim"/>
                <a:cs typeface="Gulim"/>
                <a:sym typeface="Gulim"/>
              </a:defRPr>
            </a:lvl5pPr>
            <a:lvl6pPr lvl="5" marR="0" rtl="0" algn="l">
              <a:lnSpc>
                <a:spcPct val="100000"/>
              </a:lnSpc>
              <a:spcBef>
                <a:spcPts val="0"/>
              </a:spcBef>
              <a:spcAft>
                <a:spcPts val="0"/>
              </a:spcAft>
              <a:buSzPts val="1400"/>
              <a:buNone/>
              <a:defRPr b="0" i="0" sz="1800" u="none" cap="none" strike="noStrike">
                <a:solidFill>
                  <a:srgbClr val="000000"/>
                </a:solidFill>
                <a:latin typeface="Gulim"/>
                <a:ea typeface="Gulim"/>
                <a:cs typeface="Gulim"/>
                <a:sym typeface="Gulim"/>
              </a:defRPr>
            </a:lvl6pPr>
            <a:lvl7pPr lvl="6" marR="0" rtl="0" algn="l">
              <a:lnSpc>
                <a:spcPct val="100000"/>
              </a:lnSpc>
              <a:spcBef>
                <a:spcPts val="0"/>
              </a:spcBef>
              <a:spcAft>
                <a:spcPts val="0"/>
              </a:spcAft>
              <a:buSzPts val="1400"/>
              <a:buNone/>
              <a:defRPr b="0" i="0" sz="1800" u="none" cap="none" strike="noStrike">
                <a:solidFill>
                  <a:srgbClr val="000000"/>
                </a:solidFill>
                <a:latin typeface="Gulim"/>
                <a:ea typeface="Gulim"/>
                <a:cs typeface="Gulim"/>
                <a:sym typeface="Gulim"/>
              </a:defRPr>
            </a:lvl7pPr>
            <a:lvl8pPr lvl="7" marR="0" rtl="0" algn="l">
              <a:lnSpc>
                <a:spcPct val="100000"/>
              </a:lnSpc>
              <a:spcBef>
                <a:spcPts val="0"/>
              </a:spcBef>
              <a:spcAft>
                <a:spcPts val="0"/>
              </a:spcAft>
              <a:buSzPts val="1400"/>
              <a:buNone/>
              <a:defRPr b="0" i="0" sz="1800" u="none" cap="none" strike="noStrike">
                <a:solidFill>
                  <a:srgbClr val="000000"/>
                </a:solidFill>
                <a:latin typeface="Gulim"/>
                <a:ea typeface="Gulim"/>
                <a:cs typeface="Gulim"/>
                <a:sym typeface="Gulim"/>
              </a:defRPr>
            </a:lvl8pPr>
            <a:lvl9pPr lvl="8" marR="0" rtl="0" algn="l">
              <a:lnSpc>
                <a:spcPct val="100000"/>
              </a:lnSpc>
              <a:spcBef>
                <a:spcPts val="0"/>
              </a:spcBef>
              <a:spcAft>
                <a:spcPts val="0"/>
              </a:spcAft>
              <a:buSzPts val="1400"/>
              <a:buNone/>
              <a:defRPr b="0" i="0" sz="1800" u="none" cap="none" strike="noStrike">
                <a:solidFill>
                  <a:srgbClr val="000000"/>
                </a:solidFill>
                <a:latin typeface="Gulim"/>
                <a:ea typeface="Gulim"/>
                <a:cs typeface="Gulim"/>
                <a:sym typeface="Gulim"/>
              </a:defRPr>
            </a:lvl9pPr>
          </a:lstStyle>
          <a:p/>
        </p:txBody>
      </p:sp>
      <p:sp>
        <p:nvSpPr>
          <p:cNvPr id="4" name="Google Shape;4;n"/>
          <p:cNvSpPr txBox="1"/>
          <p:nvPr>
            <p:ph idx="10" type="dt"/>
          </p:nvPr>
        </p:nvSpPr>
        <p:spPr>
          <a:xfrm>
            <a:off x="4021137" y="0"/>
            <a:ext cx="3076575" cy="511175"/>
          </a:xfrm>
          <a:prstGeom prst="rect">
            <a:avLst/>
          </a:prstGeom>
          <a:noFill/>
          <a:ln>
            <a:noFill/>
          </a:ln>
        </p:spPr>
        <p:txBody>
          <a:bodyPr anchorCtr="0" anchor="t" bIns="49500" lIns="99025" spcFirstLastPara="1" rIns="99025" wrap="square" tIns="49500">
            <a:noAutofit/>
          </a:bodyPr>
          <a:lstStyle>
            <a:lvl1pPr lvl="0" marR="0" rtl="0" algn="r">
              <a:lnSpc>
                <a:spcPct val="100000"/>
              </a:lnSpc>
              <a:spcBef>
                <a:spcPts val="0"/>
              </a:spcBef>
              <a:spcAft>
                <a:spcPts val="0"/>
              </a:spcAft>
              <a:buSzPts val="1400"/>
              <a:buNone/>
              <a:defRPr b="0" i="0" sz="1300" u="none" cap="none" strike="noStrike">
                <a:solidFill>
                  <a:srgbClr val="000000"/>
                </a:solidFill>
                <a:latin typeface="Gulim"/>
                <a:ea typeface="Gulim"/>
                <a:cs typeface="Gulim"/>
                <a:sym typeface="Gulim"/>
              </a:defRPr>
            </a:lvl1pPr>
            <a:lvl2pPr lvl="1" marR="0" rtl="0" algn="l">
              <a:lnSpc>
                <a:spcPct val="100000"/>
              </a:lnSpc>
              <a:spcBef>
                <a:spcPts val="0"/>
              </a:spcBef>
              <a:spcAft>
                <a:spcPts val="0"/>
              </a:spcAft>
              <a:buSzPts val="1400"/>
              <a:buNone/>
              <a:defRPr b="0" i="0" sz="1800" u="none" cap="none" strike="noStrike">
                <a:solidFill>
                  <a:srgbClr val="000000"/>
                </a:solidFill>
                <a:latin typeface="Gulim"/>
                <a:ea typeface="Gulim"/>
                <a:cs typeface="Gulim"/>
                <a:sym typeface="Gulim"/>
              </a:defRPr>
            </a:lvl2pPr>
            <a:lvl3pPr lvl="2" marR="0" rtl="0" algn="l">
              <a:lnSpc>
                <a:spcPct val="100000"/>
              </a:lnSpc>
              <a:spcBef>
                <a:spcPts val="0"/>
              </a:spcBef>
              <a:spcAft>
                <a:spcPts val="0"/>
              </a:spcAft>
              <a:buSzPts val="1400"/>
              <a:buNone/>
              <a:defRPr b="0" i="0" sz="1800" u="none" cap="none" strike="noStrike">
                <a:solidFill>
                  <a:srgbClr val="000000"/>
                </a:solidFill>
                <a:latin typeface="Gulim"/>
                <a:ea typeface="Gulim"/>
                <a:cs typeface="Gulim"/>
                <a:sym typeface="Gulim"/>
              </a:defRPr>
            </a:lvl3pPr>
            <a:lvl4pPr lvl="3" marR="0" rtl="0" algn="l">
              <a:lnSpc>
                <a:spcPct val="100000"/>
              </a:lnSpc>
              <a:spcBef>
                <a:spcPts val="0"/>
              </a:spcBef>
              <a:spcAft>
                <a:spcPts val="0"/>
              </a:spcAft>
              <a:buSzPts val="1400"/>
              <a:buNone/>
              <a:defRPr b="0" i="0" sz="1800" u="none" cap="none" strike="noStrike">
                <a:solidFill>
                  <a:srgbClr val="000000"/>
                </a:solidFill>
                <a:latin typeface="Gulim"/>
                <a:ea typeface="Gulim"/>
                <a:cs typeface="Gulim"/>
                <a:sym typeface="Gulim"/>
              </a:defRPr>
            </a:lvl4pPr>
            <a:lvl5pPr lvl="4" marR="0" rtl="0" algn="l">
              <a:lnSpc>
                <a:spcPct val="100000"/>
              </a:lnSpc>
              <a:spcBef>
                <a:spcPts val="0"/>
              </a:spcBef>
              <a:spcAft>
                <a:spcPts val="0"/>
              </a:spcAft>
              <a:buSzPts val="1400"/>
              <a:buNone/>
              <a:defRPr b="0" i="0" sz="1800" u="none" cap="none" strike="noStrike">
                <a:solidFill>
                  <a:srgbClr val="000000"/>
                </a:solidFill>
                <a:latin typeface="Gulim"/>
                <a:ea typeface="Gulim"/>
                <a:cs typeface="Gulim"/>
                <a:sym typeface="Gulim"/>
              </a:defRPr>
            </a:lvl5pPr>
            <a:lvl6pPr lvl="5" marR="0" rtl="0" algn="l">
              <a:lnSpc>
                <a:spcPct val="100000"/>
              </a:lnSpc>
              <a:spcBef>
                <a:spcPts val="0"/>
              </a:spcBef>
              <a:spcAft>
                <a:spcPts val="0"/>
              </a:spcAft>
              <a:buSzPts val="1400"/>
              <a:buNone/>
              <a:defRPr b="0" i="0" sz="1800" u="none" cap="none" strike="noStrike">
                <a:solidFill>
                  <a:srgbClr val="000000"/>
                </a:solidFill>
                <a:latin typeface="Gulim"/>
                <a:ea typeface="Gulim"/>
                <a:cs typeface="Gulim"/>
                <a:sym typeface="Gulim"/>
              </a:defRPr>
            </a:lvl6pPr>
            <a:lvl7pPr lvl="6" marR="0" rtl="0" algn="l">
              <a:lnSpc>
                <a:spcPct val="100000"/>
              </a:lnSpc>
              <a:spcBef>
                <a:spcPts val="0"/>
              </a:spcBef>
              <a:spcAft>
                <a:spcPts val="0"/>
              </a:spcAft>
              <a:buSzPts val="1400"/>
              <a:buNone/>
              <a:defRPr b="0" i="0" sz="1800" u="none" cap="none" strike="noStrike">
                <a:solidFill>
                  <a:srgbClr val="000000"/>
                </a:solidFill>
                <a:latin typeface="Gulim"/>
                <a:ea typeface="Gulim"/>
                <a:cs typeface="Gulim"/>
                <a:sym typeface="Gulim"/>
              </a:defRPr>
            </a:lvl7pPr>
            <a:lvl8pPr lvl="7" marR="0" rtl="0" algn="l">
              <a:lnSpc>
                <a:spcPct val="100000"/>
              </a:lnSpc>
              <a:spcBef>
                <a:spcPts val="0"/>
              </a:spcBef>
              <a:spcAft>
                <a:spcPts val="0"/>
              </a:spcAft>
              <a:buSzPts val="1400"/>
              <a:buNone/>
              <a:defRPr b="0" i="0" sz="1800" u="none" cap="none" strike="noStrike">
                <a:solidFill>
                  <a:srgbClr val="000000"/>
                </a:solidFill>
                <a:latin typeface="Gulim"/>
                <a:ea typeface="Gulim"/>
                <a:cs typeface="Gulim"/>
                <a:sym typeface="Gulim"/>
              </a:defRPr>
            </a:lvl8pPr>
            <a:lvl9pPr lvl="8" marR="0" rtl="0" algn="l">
              <a:lnSpc>
                <a:spcPct val="100000"/>
              </a:lnSpc>
              <a:spcBef>
                <a:spcPts val="0"/>
              </a:spcBef>
              <a:spcAft>
                <a:spcPts val="0"/>
              </a:spcAft>
              <a:buSzPts val="1400"/>
              <a:buNone/>
              <a:defRPr b="0" i="0" sz="1800" u="none" cap="none" strike="noStrike">
                <a:solidFill>
                  <a:srgbClr val="000000"/>
                </a:solidFill>
                <a:latin typeface="Gulim"/>
                <a:ea typeface="Gulim"/>
                <a:cs typeface="Gulim"/>
                <a:sym typeface="Gulim"/>
              </a:defRPr>
            </a:lvl9pPr>
          </a:lstStyle>
          <a:p/>
        </p:txBody>
      </p:sp>
      <p:sp>
        <p:nvSpPr>
          <p:cNvPr id="5" name="Google Shape;5;n"/>
          <p:cNvSpPr/>
          <p:nvPr>
            <p:ph idx="3"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9721850"/>
            <a:ext cx="3076575" cy="511175"/>
          </a:xfrm>
          <a:prstGeom prst="rect">
            <a:avLst/>
          </a:prstGeom>
          <a:noFill/>
          <a:ln>
            <a:noFill/>
          </a:ln>
        </p:spPr>
        <p:txBody>
          <a:bodyPr anchorCtr="0" anchor="b" bIns="49500" lIns="99025" spcFirstLastPara="1" rIns="99025" wrap="square" tIns="495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Gulim"/>
                <a:ea typeface="Gulim"/>
                <a:cs typeface="Gulim"/>
                <a:sym typeface="Gulim"/>
              </a:defRPr>
            </a:lvl1pPr>
            <a:lvl2pPr lvl="1" marR="0" rtl="0" algn="l">
              <a:lnSpc>
                <a:spcPct val="100000"/>
              </a:lnSpc>
              <a:spcBef>
                <a:spcPts val="0"/>
              </a:spcBef>
              <a:spcAft>
                <a:spcPts val="0"/>
              </a:spcAft>
              <a:buSzPts val="1400"/>
              <a:buNone/>
              <a:defRPr b="0" i="0" sz="1800" u="none" cap="none" strike="noStrike">
                <a:solidFill>
                  <a:srgbClr val="000000"/>
                </a:solidFill>
                <a:latin typeface="Gulim"/>
                <a:ea typeface="Gulim"/>
                <a:cs typeface="Gulim"/>
                <a:sym typeface="Gulim"/>
              </a:defRPr>
            </a:lvl2pPr>
            <a:lvl3pPr lvl="2" marR="0" rtl="0" algn="l">
              <a:lnSpc>
                <a:spcPct val="100000"/>
              </a:lnSpc>
              <a:spcBef>
                <a:spcPts val="0"/>
              </a:spcBef>
              <a:spcAft>
                <a:spcPts val="0"/>
              </a:spcAft>
              <a:buSzPts val="1400"/>
              <a:buNone/>
              <a:defRPr b="0" i="0" sz="1800" u="none" cap="none" strike="noStrike">
                <a:solidFill>
                  <a:srgbClr val="000000"/>
                </a:solidFill>
                <a:latin typeface="Gulim"/>
                <a:ea typeface="Gulim"/>
                <a:cs typeface="Gulim"/>
                <a:sym typeface="Gulim"/>
              </a:defRPr>
            </a:lvl3pPr>
            <a:lvl4pPr lvl="3" marR="0" rtl="0" algn="l">
              <a:lnSpc>
                <a:spcPct val="100000"/>
              </a:lnSpc>
              <a:spcBef>
                <a:spcPts val="0"/>
              </a:spcBef>
              <a:spcAft>
                <a:spcPts val="0"/>
              </a:spcAft>
              <a:buSzPts val="1400"/>
              <a:buNone/>
              <a:defRPr b="0" i="0" sz="1800" u="none" cap="none" strike="noStrike">
                <a:solidFill>
                  <a:srgbClr val="000000"/>
                </a:solidFill>
                <a:latin typeface="Gulim"/>
                <a:ea typeface="Gulim"/>
                <a:cs typeface="Gulim"/>
                <a:sym typeface="Gulim"/>
              </a:defRPr>
            </a:lvl4pPr>
            <a:lvl5pPr lvl="4" marR="0" rtl="0" algn="l">
              <a:lnSpc>
                <a:spcPct val="100000"/>
              </a:lnSpc>
              <a:spcBef>
                <a:spcPts val="0"/>
              </a:spcBef>
              <a:spcAft>
                <a:spcPts val="0"/>
              </a:spcAft>
              <a:buSzPts val="1400"/>
              <a:buNone/>
              <a:defRPr b="0" i="0" sz="1800" u="none" cap="none" strike="noStrike">
                <a:solidFill>
                  <a:srgbClr val="000000"/>
                </a:solidFill>
                <a:latin typeface="Gulim"/>
                <a:ea typeface="Gulim"/>
                <a:cs typeface="Gulim"/>
                <a:sym typeface="Gulim"/>
              </a:defRPr>
            </a:lvl5pPr>
            <a:lvl6pPr lvl="5" marR="0" rtl="0" algn="l">
              <a:lnSpc>
                <a:spcPct val="100000"/>
              </a:lnSpc>
              <a:spcBef>
                <a:spcPts val="0"/>
              </a:spcBef>
              <a:spcAft>
                <a:spcPts val="0"/>
              </a:spcAft>
              <a:buSzPts val="1400"/>
              <a:buNone/>
              <a:defRPr b="0" i="0" sz="1800" u="none" cap="none" strike="noStrike">
                <a:solidFill>
                  <a:srgbClr val="000000"/>
                </a:solidFill>
                <a:latin typeface="Gulim"/>
                <a:ea typeface="Gulim"/>
                <a:cs typeface="Gulim"/>
                <a:sym typeface="Gulim"/>
              </a:defRPr>
            </a:lvl6pPr>
            <a:lvl7pPr lvl="6" marR="0" rtl="0" algn="l">
              <a:lnSpc>
                <a:spcPct val="100000"/>
              </a:lnSpc>
              <a:spcBef>
                <a:spcPts val="0"/>
              </a:spcBef>
              <a:spcAft>
                <a:spcPts val="0"/>
              </a:spcAft>
              <a:buSzPts val="1400"/>
              <a:buNone/>
              <a:defRPr b="0" i="0" sz="1800" u="none" cap="none" strike="noStrike">
                <a:solidFill>
                  <a:srgbClr val="000000"/>
                </a:solidFill>
                <a:latin typeface="Gulim"/>
                <a:ea typeface="Gulim"/>
                <a:cs typeface="Gulim"/>
                <a:sym typeface="Gulim"/>
              </a:defRPr>
            </a:lvl7pPr>
            <a:lvl8pPr lvl="7" marR="0" rtl="0" algn="l">
              <a:lnSpc>
                <a:spcPct val="100000"/>
              </a:lnSpc>
              <a:spcBef>
                <a:spcPts val="0"/>
              </a:spcBef>
              <a:spcAft>
                <a:spcPts val="0"/>
              </a:spcAft>
              <a:buSzPts val="1400"/>
              <a:buNone/>
              <a:defRPr b="0" i="0" sz="1800" u="none" cap="none" strike="noStrike">
                <a:solidFill>
                  <a:srgbClr val="000000"/>
                </a:solidFill>
                <a:latin typeface="Gulim"/>
                <a:ea typeface="Gulim"/>
                <a:cs typeface="Gulim"/>
                <a:sym typeface="Gulim"/>
              </a:defRPr>
            </a:lvl8pPr>
            <a:lvl9pPr lvl="8" marR="0" rtl="0" algn="l">
              <a:lnSpc>
                <a:spcPct val="100000"/>
              </a:lnSpc>
              <a:spcBef>
                <a:spcPts val="0"/>
              </a:spcBef>
              <a:spcAft>
                <a:spcPts val="0"/>
              </a:spcAft>
              <a:buSzPts val="1400"/>
              <a:buNone/>
              <a:defRPr b="0" i="0" sz="1800" u="none" cap="none" strike="noStrike">
                <a:solidFill>
                  <a:srgbClr val="000000"/>
                </a:solidFill>
                <a:latin typeface="Gulim"/>
                <a:ea typeface="Gulim"/>
                <a:cs typeface="Gulim"/>
                <a:sym typeface="Gulim"/>
              </a:defRPr>
            </a:lvl9pPr>
          </a:lstStyle>
          <a:p/>
        </p:txBody>
      </p:sp>
      <p:sp>
        <p:nvSpPr>
          <p:cNvPr id="8" name="Google Shape;8;n"/>
          <p:cNvSpPr txBox="1"/>
          <p:nvPr>
            <p:ph idx="12" type="sldNum"/>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cap="none" strike="noStrike">
                <a:solidFill>
                  <a:srgbClr val="000000"/>
                </a:solidFill>
                <a:latin typeface="Gulim"/>
                <a:ea typeface="Gulim"/>
                <a:cs typeface="Gulim"/>
                <a:sym typeface="Gulim"/>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43" name="Google Shape;43;p1: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2: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1" name="Google Shape;51;p2: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52" name="Google Shape;52;p2: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a:solidFill>
                  <a:srgbClr val="000000"/>
                </a:solidFill>
                <a:latin typeface="Gulim"/>
                <a:ea typeface="Gulim"/>
                <a:cs typeface="Gulim"/>
                <a:sym typeface="Gulim"/>
              </a:rP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3: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0" name="Google Shape;60;p3: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4: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8" name="Google Shape;68;p4: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9" name="Google Shape;69;p4: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a:solidFill>
                  <a:srgbClr val="000000"/>
                </a:solidFill>
                <a:latin typeface="Gulim"/>
                <a:ea typeface="Gulim"/>
                <a:cs typeface="Gulim"/>
                <a:sym typeface="Gulim"/>
              </a:rP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5: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77" name="Google Shape;77;p5: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6: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4" name="Google Shape;84;p6: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85" name="Google Shape;85;p6: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a:solidFill>
                  <a:srgbClr val="000000"/>
                </a:solidFill>
                <a:latin typeface="Gulim"/>
                <a:ea typeface="Gulim"/>
                <a:cs typeface="Gulim"/>
                <a:sym typeface="Gulim"/>
              </a:rP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7: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93" name="Google Shape;93;p7: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8: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101" name="Google Shape;101;p8: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9: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123" name="Google Shape;123;p9: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0: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152" name="Google Shape;152;p10: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1: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159" name="Google Shape;159;p11: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2: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167" name="Google Shape;167;p12: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3: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75" name="Google Shape;175;p13: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176" name="Google Shape;176;p13: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a:solidFill>
                  <a:srgbClr val="000000"/>
                </a:solidFill>
                <a:latin typeface="Gulim"/>
                <a:ea typeface="Gulim"/>
                <a:cs typeface="Gulim"/>
                <a:sym typeface="Gulim"/>
              </a:rP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4: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94" name="Google Shape;194;p14: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SzPts val="1800"/>
              <a:buNone/>
            </a:pPr>
            <a:r>
              <a:rPr lang="en-US"/>
              <a:t>Although the protocol in Figure 9.3 is certainly simple, it has some major</a:t>
            </a:r>
            <a:endParaRPr/>
          </a:p>
          <a:p>
            <a:pPr indent="0" lvl="0" marL="0" rtl="0" algn="l">
              <a:spcBef>
                <a:spcPts val="0"/>
              </a:spcBef>
              <a:spcAft>
                <a:spcPts val="0"/>
              </a:spcAft>
              <a:buSzPts val="1800"/>
              <a:buNone/>
            </a:pPr>
            <a:r>
              <a:rPr lang="en-US"/>
              <a:t>flaws. For one thing, if Trudy is able to observe the messages that are sent, she can later replay the messages to convince Bob that she is Alice</a:t>
            </a:r>
            <a:endParaRPr/>
          </a:p>
        </p:txBody>
      </p:sp>
      <p:sp>
        <p:nvSpPr>
          <p:cNvPr id="195" name="Google Shape;195;p14: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a:solidFill>
                  <a:srgbClr val="000000"/>
                </a:solidFill>
                <a:latin typeface="Gulim"/>
                <a:ea typeface="Gulim"/>
                <a:cs typeface="Gulim"/>
                <a:sym typeface="Gulim"/>
              </a:rP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5: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215" name="Google Shape;215;p15: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6: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233" name="Google Shape;233;p16: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7: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47" name="Google Shape;247;p17: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248" name="Google Shape;248;p17: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a:solidFill>
                  <a:srgbClr val="000000"/>
                </a:solidFill>
                <a:latin typeface="Gulim"/>
                <a:ea typeface="Gulim"/>
                <a:cs typeface="Gulim"/>
                <a:sym typeface="Gulim"/>
              </a:rP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8: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266" name="Google Shape;266;p18: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9: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274" name="Google Shape;274;p19: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0: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82" name="Google Shape;282;p20: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SzPts val="1800"/>
              <a:buNone/>
            </a:pPr>
            <a:r>
              <a:rPr lang="en-US"/>
              <a:t>In this protocol, the nonce sent from Bob to Alice is the challenge. Alice must respond with the hash of her password together with the nonce, which, assuming Alice's password is secure, serves to prove that the response was generated by Alice. Note that the nonce proves that the response is fresh and not a replay.</a:t>
            </a:r>
            <a:endParaRPr/>
          </a:p>
        </p:txBody>
      </p:sp>
      <p:sp>
        <p:nvSpPr>
          <p:cNvPr id="283" name="Google Shape;283;p20: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a:solidFill>
                  <a:srgbClr val="000000"/>
                </a:solidFill>
                <a:latin typeface="Gulim"/>
                <a:ea typeface="Gulim"/>
                <a:cs typeface="Gulim"/>
                <a:sym typeface="Gulim"/>
              </a:rP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1: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01" name="Google Shape;301;p21: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302" name="Google Shape;302;p21: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a:solidFill>
                  <a:srgbClr val="000000"/>
                </a:solidFill>
                <a:latin typeface="Gulim"/>
                <a:ea typeface="Gulim"/>
                <a:cs typeface="Gulim"/>
                <a:sym typeface="Gulim"/>
              </a:rP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2: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322" name="Google Shape;322;p22: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3: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330" name="Google Shape;330;p23: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4: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338" name="Google Shape;338;p24: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5: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46" name="Google Shape;346;p25: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347" name="Google Shape;347;p25: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a:solidFill>
                  <a:srgbClr val="000000"/>
                </a:solidFill>
                <a:latin typeface="Gulim"/>
                <a:ea typeface="Gulim"/>
                <a:cs typeface="Gulim"/>
                <a:sym typeface="Gulim"/>
              </a:rP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6: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65" name="Google Shape;365;p26: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366" name="Google Shape;366;p26: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a:solidFill>
                  <a:srgbClr val="000000"/>
                </a:solidFill>
                <a:latin typeface="Gulim"/>
                <a:ea typeface="Gulim"/>
                <a:cs typeface="Gulim"/>
                <a:sym typeface="Gulim"/>
              </a:rPr>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27: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84" name="Google Shape;384;p27: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385" name="Google Shape;385;p27: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a:solidFill>
                  <a:srgbClr val="000000"/>
                </a:solidFill>
                <a:latin typeface="Gulim"/>
                <a:ea typeface="Gulim"/>
                <a:cs typeface="Gulim"/>
                <a:sym typeface="Gulim"/>
              </a:rPr>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8: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93" name="Google Shape;393;p28: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SzPts val="1800"/>
              <a:buNone/>
            </a:pPr>
            <a:r>
              <a:rPr lang="en-US"/>
              <a:t>we've combined some messages for the sake of efficiency.</a:t>
            </a:r>
            <a:endParaRPr/>
          </a:p>
        </p:txBody>
      </p:sp>
      <p:sp>
        <p:nvSpPr>
          <p:cNvPr id="394" name="Google Shape;394;p28: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a:solidFill>
                  <a:srgbClr val="000000"/>
                </a:solidFill>
                <a:latin typeface="Gulim"/>
                <a:ea typeface="Gulim"/>
                <a:cs typeface="Gulim"/>
                <a:sym typeface="Gulim"/>
              </a:rPr>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29: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13" name="Google Shape;413;p29: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414" name="Google Shape;414;p29: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a:solidFill>
                  <a:srgbClr val="000000"/>
                </a:solidFill>
                <a:latin typeface="Gulim"/>
                <a:ea typeface="Gulim"/>
                <a:cs typeface="Gulim"/>
                <a:sym typeface="Gulim"/>
              </a:rPr>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30: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440" name="Google Shape;440;p30: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31: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448" name="Google Shape;448;p31: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82e846f0cc_0_10:notes"/>
          <p:cNvSpPr txBox="1"/>
          <p:nvPr>
            <p:ph idx="1" type="body"/>
          </p:nvPr>
        </p:nvSpPr>
        <p:spPr>
          <a:xfrm>
            <a:off x="709612" y="4860925"/>
            <a:ext cx="5680200" cy="4605300"/>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466" name="Google Shape;466;g382e846f0cc_0_10:notes"/>
          <p:cNvSpPr/>
          <p:nvPr>
            <p:ph idx="2" type="sldImg"/>
          </p:nvPr>
        </p:nvSpPr>
        <p:spPr>
          <a:xfrm>
            <a:off x="992187" y="768350"/>
            <a:ext cx="5115000" cy="3837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32: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84" name="Google Shape;484;p32: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485" name="Google Shape;485;p32: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a:solidFill>
                  <a:srgbClr val="000000"/>
                </a:solidFill>
                <a:latin typeface="Gulim"/>
                <a:ea typeface="Gulim"/>
                <a:cs typeface="Gulim"/>
                <a:sym typeface="Gulim"/>
              </a:rPr>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33: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493" name="Google Shape;493;p33: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34: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501" name="Google Shape;501;p34: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35: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519" name="Google Shape;519;p35: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36: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537" name="Google Shape;537;p36: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37: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545" name="Google Shape;545;p37: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38: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553" name="Google Shape;553;p38: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39: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561" name="Google Shape;561;p39: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40: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585" name="Google Shape;585;p40: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41: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593" name="Google Shape;593;p41: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42: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13" name="Google Shape;613;p42: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43: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33" name="Google Shape;633;p43: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82e846f0cc_0_27:notes"/>
          <p:cNvSpPr txBox="1"/>
          <p:nvPr>
            <p:ph idx="1" type="body"/>
          </p:nvPr>
        </p:nvSpPr>
        <p:spPr>
          <a:xfrm>
            <a:off x="709612" y="4860925"/>
            <a:ext cx="5680200" cy="4605300"/>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53" name="Google Shape;653;g382e846f0cc_0_27:notes"/>
          <p:cNvSpPr/>
          <p:nvPr>
            <p:ph idx="2" type="sldImg"/>
          </p:nvPr>
        </p:nvSpPr>
        <p:spPr>
          <a:xfrm>
            <a:off x="992187" y="768350"/>
            <a:ext cx="5115000" cy="3837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82e846f0cc_0_44:notes"/>
          <p:cNvSpPr/>
          <p:nvPr>
            <p:ph idx="2" type="sldImg"/>
          </p:nvPr>
        </p:nvSpPr>
        <p:spPr>
          <a:xfrm>
            <a:off x="992187" y="768350"/>
            <a:ext cx="5115000" cy="3837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382e846f0cc_0_44:notes"/>
          <p:cNvSpPr txBox="1"/>
          <p:nvPr>
            <p:ph idx="1" type="body"/>
          </p:nvPr>
        </p:nvSpPr>
        <p:spPr>
          <a:xfrm>
            <a:off x="709612" y="4860925"/>
            <a:ext cx="5680200" cy="4605300"/>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72" name="Google Shape;672;g382e846f0cc_0_44:notes"/>
          <p:cNvSpPr txBox="1"/>
          <p:nvPr>
            <p:ph idx="12" type="sldNum"/>
          </p:nvPr>
        </p:nvSpPr>
        <p:spPr>
          <a:xfrm>
            <a:off x="4021137" y="9721850"/>
            <a:ext cx="3076500" cy="511200"/>
          </a:xfrm>
          <a:prstGeom prst="rect">
            <a:avLst/>
          </a:prstGeom>
        </p:spPr>
        <p:txBody>
          <a:bodyPr anchorCtr="0" anchor="b" bIns="49500" lIns="99025" spcFirstLastPara="1" rIns="99025" wrap="square" tIns="49500">
            <a:noAutofit/>
          </a:bodyPr>
          <a:lstStyle/>
          <a:p>
            <a:pPr indent="0" lvl="0" marL="0" rtl="0" algn="r">
              <a:spcBef>
                <a:spcPts val="0"/>
              </a:spcBef>
              <a:spcAft>
                <a:spcPts val="0"/>
              </a:spcAft>
              <a:buClr>
                <a:srgbClr val="000000"/>
              </a:buClr>
              <a:buSzPts val="1300"/>
              <a:buFont typeface="Gulim"/>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45: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79" name="Google Shape;679;p45: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46: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87" name="Google Shape;687;p46: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47: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95" name="Google Shape;695;p47: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48: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711" name="Google Shape;711;p48: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49: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728" name="Google Shape;728;p49: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50: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44" name="Google Shape;744;p50: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745" name="Google Shape;745;p50: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a:solidFill>
                  <a:srgbClr val="000000"/>
                </a:solidFill>
                <a:latin typeface="Gulim"/>
                <a:ea typeface="Gulim"/>
                <a:cs typeface="Gulim"/>
                <a:sym typeface="Gulim"/>
              </a:rPr>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51: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763" name="Google Shape;763;p51: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52: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771" name="Google Shape;771;p52: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p53: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787" name="Google Shape;787;p53: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54: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803" name="Google Shape;803;p54: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p55: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19" name="Google Shape;819;p55:notes"/>
          <p:cNvSpPr txBox="1"/>
          <p:nvPr>
            <p:ph idx="1" type="body"/>
          </p:nvPr>
        </p:nvSpPr>
        <p:spPr>
          <a:xfrm>
            <a:off x="709612" y="4860925"/>
            <a:ext cx="5680075" cy="4605337"/>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820" name="Google Shape;820;p55:notes"/>
          <p:cNvSpPr txBox="1"/>
          <p:nvPr/>
        </p:nvSpPr>
        <p:spPr>
          <a:xfrm>
            <a:off x="4021137" y="9721850"/>
            <a:ext cx="3076575" cy="511175"/>
          </a:xfrm>
          <a:prstGeom prst="rect">
            <a:avLst/>
          </a:prstGeom>
          <a:noFill/>
          <a:ln>
            <a:noFill/>
          </a:ln>
        </p:spPr>
        <p:txBody>
          <a:bodyPr anchorCtr="0" anchor="b" bIns="49500" lIns="99025" spcFirstLastPara="1" rIns="99025" wrap="square" tIns="49500">
            <a:noAutofit/>
          </a:bodyPr>
          <a:lstStyle/>
          <a:p>
            <a:pPr indent="0" lvl="0" marL="0" marR="0" rtl="0" algn="r">
              <a:lnSpc>
                <a:spcPct val="100000"/>
              </a:lnSpc>
              <a:spcBef>
                <a:spcPts val="0"/>
              </a:spcBef>
              <a:spcAft>
                <a:spcPts val="0"/>
              </a:spcAft>
              <a:buClr>
                <a:srgbClr val="000000"/>
              </a:buClr>
              <a:buSzPts val="1300"/>
              <a:buFont typeface="Gulim"/>
              <a:buNone/>
            </a:pPr>
            <a:fld id="{00000000-1234-1234-1234-123412341234}" type="slidenum">
              <a:rPr b="0" i="0" lang="en-US" sz="1300" u="none">
                <a:solidFill>
                  <a:srgbClr val="000000"/>
                </a:solidFill>
                <a:latin typeface="Gulim"/>
                <a:ea typeface="Gulim"/>
                <a:cs typeface="Gulim"/>
                <a:sym typeface="Gulim"/>
              </a:rPr>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56: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828" name="Google Shape;828;p56: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57: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835" name="Google Shape;835;p57: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58: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843" name="Google Shape;843;p58: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59: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851" name="Google Shape;851;p59: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82e846f0cc_0_1:notes"/>
          <p:cNvSpPr/>
          <p:nvPr>
            <p:ph idx="2" type="sldImg"/>
          </p:nvPr>
        </p:nvSpPr>
        <p:spPr>
          <a:xfrm>
            <a:off x="992187" y="768350"/>
            <a:ext cx="5115000" cy="3837000"/>
          </a:xfrm>
          <a:custGeom>
            <a:rect b="b" l="l" r="r" t="t"/>
            <a:pathLst>
              <a:path extrusionOk="0" h="120000" w="120000">
                <a:moveTo>
                  <a:pt x="0" y="0"/>
                </a:moveTo>
                <a:lnTo>
                  <a:pt x="120000" y="0"/>
                </a:lnTo>
                <a:lnTo>
                  <a:pt x="120000" y="120000"/>
                </a:lnTo>
                <a:lnTo>
                  <a:pt x="0" y="120000"/>
                </a:lnTo>
                <a:close/>
              </a:path>
            </a:pathLst>
          </a:custGeom>
        </p:spPr>
      </p:sp>
      <p:sp>
        <p:nvSpPr>
          <p:cNvPr id="861" name="Google Shape;861;g382e846f0cc_0_1:notes"/>
          <p:cNvSpPr txBox="1"/>
          <p:nvPr>
            <p:ph idx="1" type="body"/>
          </p:nvPr>
        </p:nvSpPr>
        <p:spPr>
          <a:xfrm>
            <a:off x="709612" y="4860925"/>
            <a:ext cx="5680200" cy="4605300"/>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862" name="Google Shape;862;g382e846f0cc_0_1:notes"/>
          <p:cNvSpPr txBox="1"/>
          <p:nvPr>
            <p:ph idx="12" type="sldNum"/>
          </p:nvPr>
        </p:nvSpPr>
        <p:spPr>
          <a:xfrm>
            <a:off x="4021137" y="9721850"/>
            <a:ext cx="3076500" cy="511200"/>
          </a:xfrm>
          <a:prstGeom prst="rect">
            <a:avLst/>
          </a:prstGeom>
        </p:spPr>
        <p:txBody>
          <a:bodyPr anchorCtr="0" anchor="b" bIns="49500" lIns="99025" spcFirstLastPara="1" rIns="99025" wrap="square" tIns="49500">
            <a:noAutofit/>
          </a:bodyPr>
          <a:lstStyle/>
          <a:p>
            <a:pPr indent="0" lvl="0" marL="0" rtl="0" algn="r">
              <a:spcBef>
                <a:spcPts val="0"/>
              </a:spcBef>
              <a:spcAft>
                <a:spcPts val="0"/>
              </a:spcAft>
              <a:buClr>
                <a:srgbClr val="000000"/>
              </a:buClr>
              <a:buSzPts val="1300"/>
              <a:buFont typeface="Gulim"/>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60: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869" name="Google Shape;869;p60: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p61: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894" name="Google Shape;894;p61: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p62: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937" name="Google Shape;937;p62: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63: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945" name="Google Shape;945;p63: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p64: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954" name="Google Shape;954;p64: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65: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973" name="Google Shape;973;p65: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66: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993" name="Google Shape;993;p66: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p67: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1013" name="Google Shape;1013;p67: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p68: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1021" name="Google Shape;1021;p68: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p69: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1029" name="Google Shape;1029;p69: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p70: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1037" name="Google Shape;1037;p70: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p71: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1045" name="Google Shape;1045;p71: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p72:notes"/>
          <p:cNvSpPr txBox="1"/>
          <p:nvPr>
            <p:ph idx="1" type="body"/>
          </p:nvPr>
        </p:nvSpPr>
        <p:spPr>
          <a:xfrm>
            <a:off x="709612" y="4860925"/>
            <a:ext cx="5680075" cy="4605337"/>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1053" name="Google Shape;1053;p72:notes"/>
          <p:cNvSpPr/>
          <p:nvPr>
            <p:ph idx="2" type="sldImg"/>
          </p:nvPr>
        </p:nvSpPr>
        <p:spPr>
          <a:xfrm>
            <a:off x="992187" y="768350"/>
            <a:ext cx="5114925" cy="383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74"/>
          <p:cNvSpPr txBox="1"/>
          <p:nvPr>
            <p:ph type="ctrTitle"/>
          </p:nvPr>
        </p:nvSpPr>
        <p:spPr>
          <a:xfrm>
            <a:off x="581192" y="990600"/>
            <a:ext cx="7989752" cy="150484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SzPts val="1400"/>
              <a:buNone/>
              <a:defRPr sz="36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74"/>
          <p:cNvSpPr txBox="1"/>
          <p:nvPr>
            <p:ph idx="1" type="subTitle"/>
          </p:nvPr>
        </p:nvSpPr>
        <p:spPr>
          <a:xfrm>
            <a:off x="581192" y="2495444"/>
            <a:ext cx="7989752" cy="590321"/>
          </a:xfrm>
          <a:prstGeom prst="rect">
            <a:avLst/>
          </a:prstGeom>
          <a:noFill/>
          <a:ln>
            <a:noFill/>
          </a:ln>
        </p:spPr>
        <p:txBody>
          <a:bodyPr anchorCtr="0" anchor="t" bIns="45700" lIns="91425" spcFirstLastPara="1" rIns="91425" wrap="square" tIns="45700">
            <a:normAutofit/>
          </a:bodyPr>
          <a:lstStyle>
            <a:lvl1pPr lvl="0" algn="l">
              <a:spcBef>
                <a:spcPts val="320"/>
              </a:spcBef>
              <a:spcAft>
                <a:spcPts val="0"/>
              </a:spcAft>
              <a:buSzPts val="1472"/>
              <a:buNone/>
              <a:defRPr sz="1600" cap="none">
                <a:solidFill>
                  <a:schemeClr val="accent2"/>
                </a:solidFill>
              </a:defRPr>
            </a:lvl1pPr>
            <a:lvl2pPr lvl="1" algn="ctr">
              <a:spcBef>
                <a:spcPts val="600"/>
              </a:spcBef>
              <a:spcAft>
                <a:spcPts val="0"/>
              </a:spcAft>
              <a:buSzPts val="1472"/>
              <a:buNone/>
              <a:defRPr>
                <a:solidFill>
                  <a:srgbClr val="888888"/>
                </a:solidFill>
              </a:defRPr>
            </a:lvl2pPr>
            <a:lvl3pPr lvl="2" algn="ctr">
              <a:spcBef>
                <a:spcPts val="600"/>
              </a:spcBef>
              <a:spcAft>
                <a:spcPts val="0"/>
              </a:spcAft>
              <a:buSzPts val="1288"/>
              <a:buNone/>
              <a:defRPr>
                <a:solidFill>
                  <a:srgbClr val="888888"/>
                </a:solidFill>
              </a:defRPr>
            </a:lvl3pPr>
            <a:lvl4pPr lvl="3" algn="ctr">
              <a:spcBef>
                <a:spcPts val="600"/>
              </a:spcBef>
              <a:spcAft>
                <a:spcPts val="0"/>
              </a:spcAft>
              <a:buSzPts val="1104"/>
              <a:buNone/>
              <a:defRPr>
                <a:solidFill>
                  <a:srgbClr val="888888"/>
                </a:solidFill>
              </a:defRPr>
            </a:lvl4pPr>
            <a:lvl5pPr lvl="4" algn="ctr">
              <a:spcBef>
                <a:spcPts val="600"/>
              </a:spcBef>
              <a:spcAft>
                <a:spcPts val="0"/>
              </a:spcAft>
              <a:buSzPts val="1104"/>
              <a:buNone/>
              <a:defRPr>
                <a:solidFill>
                  <a:srgbClr val="888888"/>
                </a:solidFill>
              </a:defRPr>
            </a:lvl5pPr>
            <a:lvl6pPr lvl="5" algn="ctr">
              <a:spcBef>
                <a:spcPts val="600"/>
              </a:spcBef>
              <a:spcAft>
                <a:spcPts val="0"/>
              </a:spcAft>
              <a:buSzPts val="1104"/>
              <a:buNone/>
              <a:defRPr>
                <a:solidFill>
                  <a:srgbClr val="888888"/>
                </a:solidFill>
              </a:defRPr>
            </a:lvl6pPr>
            <a:lvl7pPr lvl="6" algn="ctr">
              <a:spcBef>
                <a:spcPts val="600"/>
              </a:spcBef>
              <a:spcAft>
                <a:spcPts val="0"/>
              </a:spcAft>
              <a:buSzPts val="1104"/>
              <a:buNone/>
              <a:defRPr>
                <a:solidFill>
                  <a:srgbClr val="888888"/>
                </a:solidFill>
              </a:defRPr>
            </a:lvl7pPr>
            <a:lvl8pPr lvl="7" algn="ctr">
              <a:spcBef>
                <a:spcPts val="600"/>
              </a:spcBef>
              <a:spcAft>
                <a:spcPts val="0"/>
              </a:spcAft>
              <a:buSzPts val="1104"/>
              <a:buNone/>
              <a:defRPr>
                <a:solidFill>
                  <a:srgbClr val="888888"/>
                </a:solidFill>
              </a:defRPr>
            </a:lvl8pPr>
            <a:lvl9pPr lvl="8" algn="ctr">
              <a:spcBef>
                <a:spcPts val="600"/>
              </a:spcBef>
              <a:spcAft>
                <a:spcPts val="600"/>
              </a:spcAft>
              <a:buSzPts val="1104"/>
              <a:buNone/>
              <a:defRPr>
                <a:solidFill>
                  <a:srgbClr val="888888"/>
                </a:solidFill>
              </a:defRPr>
            </a:lvl9pPr>
          </a:lstStyle>
          <a:p/>
        </p:txBody>
      </p:sp>
      <p:sp>
        <p:nvSpPr>
          <p:cNvPr id="22" name="Google Shape;22;p74"/>
          <p:cNvSpPr txBox="1"/>
          <p:nvPr>
            <p:ph idx="10" type="dt"/>
          </p:nvPr>
        </p:nvSpPr>
        <p:spPr>
          <a:xfrm>
            <a:off x="5559425" y="595630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74"/>
          <p:cNvSpPr txBox="1"/>
          <p:nvPr>
            <p:ph idx="11" type="ftr"/>
          </p:nvPr>
        </p:nvSpPr>
        <p:spPr>
          <a:xfrm>
            <a:off x="581025" y="5951537"/>
            <a:ext cx="487045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9F296B"/>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74"/>
          <p:cNvSpPr txBox="1"/>
          <p:nvPr>
            <p:ph idx="12" type="sldNum"/>
          </p:nvPr>
        </p:nvSpPr>
        <p:spPr>
          <a:xfrm>
            <a:off x="7800975" y="5956300"/>
            <a:ext cx="76993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9F296B"/>
              </a:buClr>
              <a:buSzPts val="900"/>
              <a:buFont typeface="Gulim"/>
              <a:buNone/>
              <a:defRPr b="0" i="0" sz="900" u="none">
                <a:solidFill>
                  <a:srgbClr val="9F296B"/>
                </a:solidFill>
                <a:latin typeface="Gulim"/>
                <a:ea typeface="Gulim"/>
                <a:cs typeface="Gulim"/>
                <a:sym typeface="Gulim"/>
              </a:defRPr>
            </a:lvl1pPr>
            <a:lvl2pPr indent="0" lvl="1" marL="0" marR="0" algn="r">
              <a:lnSpc>
                <a:spcPct val="100000"/>
              </a:lnSpc>
              <a:spcBef>
                <a:spcPts val="0"/>
              </a:spcBef>
              <a:spcAft>
                <a:spcPts val="0"/>
              </a:spcAft>
              <a:buClr>
                <a:srgbClr val="9F296B"/>
              </a:buClr>
              <a:buSzPts val="900"/>
              <a:buFont typeface="Gulim"/>
              <a:buNone/>
              <a:defRPr b="0" i="0" sz="900" u="none">
                <a:solidFill>
                  <a:srgbClr val="9F296B"/>
                </a:solidFill>
                <a:latin typeface="Gulim"/>
                <a:ea typeface="Gulim"/>
                <a:cs typeface="Gulim"/>
                <a:sym typeface="Gulim"/>
              </a:defRPr>
            </a:lvl2pPr>
            <a:lvl3pPr indent="0" lvl="2" marL="0" marR="0" algn="r">
              <a:lnSpc>
                <a:spcPct val="100000"/>
              </a:lnSpc>
              <a:spcBef>
                <a:spcPts val="0"/>
              </a:spcBef>
              <a:spcAft>
                <a:spcPts val="0"/>
              </a:spcAft>
              <a:buClr>
                <a:srgbClr val="9F296B"/>
              </a:buClr>
              <a:buSzPts val="900"/>
              <a:buFont typeface="Gulim"/>
              <a:buNone/>
              <a:defRPr b="0" i="0" sz="900" u="none">
                <a:solidFill>
                  <a:srgbClr val="9F296B"/>
                </a:solidFill>
                <a:latin typeface="Gulim"/>
                <a:ea typeface="Gulim"/>
                <a:cs typeface="Gulim"/>
                <a:sym typeface="Gulim"/>
              </a:defRPr>
            </a:lvl3pPr>
            <a:lvl4pPr indent="0" lvl="3" marL="0" marR="0" algn="r">
              <a:lnSpc>
                <a:spcPct val="100000"/>
              </a:lnSpc>
              <a:spcBef>
                <a:spcPts val="0"/>
              </a:spcBef>
              <a:spcAft>
                <a:spcPts val="0"/>
              </a:spcAft>
              <a:buClr>
                <a:srgbClr val="9F296B"/>
              </a:buClr>
              <a:buSzPts val="900"/>
              <a:buFont typeface="Gulim"/>
              <a:buNone/>
              <a:defRPr b="0" i="0" sz="900" u="none">
                <a:solidFill>
                  <a:srgbClr val="9F296B"/>
                </a:solidFill>
                <a:latin typeface="Gulim"/>
                <a:ea typeface="Gulim"/>
                <a:cs typeface="Gulim"/>
                <a:sym typeface="Gulim"/>
              </a:defRPr>
            </a:lvl4pPr>
            <a:lvl5pPr indent="0" lvl="4" marL="0" marR="0" algn="r">
              <a:lnSpc>
                <a:spcPct val="100000"/>
              </a:lnSpc>
              <a:spcBef>
                <a:spcPts val="0"/>
              </a:spcBef>
              <a:spcAft>
                <a:spcPts val="0"/>
              </a:spcAft>
              <a:buClr>
                <a:srgbClr val="9F296B"/>
              </a:buClr>
              <a:buSzPts val="900"/>
              <a:buFont typeface="Gulim"/>
              <a:buNone/>
              <a:defRPr b="0" i="0" sz="900" u="none">
                <a:solidFill>
                  <a:srgbClr val="9F296B"/>
                </a:solidFill>
                <a:latin typeface="Gulim"/>
                <a:ea typeface="Gulim"/>
                <a:cs typeface="Gulim"/>
                <a:sym typeface="Gulim"/>
              </a:defRPr>
            </a:lvl5pPr>
            <a:lvl6pPr indent="0" lvl="5" marL="0" marR="0" algn="r">
              <a:lnSpc>
                <a:spcPct val="100000"/>
              </a:lnSpc>
              <a:spcBef>
                <a:spcPts val="0"/>
              </a:spcBef>
              <a:spcAft>
                <a:spcPts val="0"/>
              </a:spcAft>
              <a:buClr>
                <a:srgbClr val="9F296B"/>
              </a:buClr>
              <a:buSzPts val="900"/>
              <a:buFont typeface="Gulim"/>
              <a:buNone/>
              <a:defRPr b="0" i="0" sz="900" u="none">
                <a:solidFill>
                  <a:srgbClr val="9F296B"/>
                </a:solidFill>
                <a:latin typeface="Gulim"/>
                <a:ea typeface="Gulim"/>
                <a:cs typeface="Gulim"/>
                <a:sym typeface="Gulim"/>
              </a:defRPr>
            </a:lvl6pPr>
            <a:lvl7pPr indent="0" lvl="6" marL="0" marR="0" algn="r">
              <a:lnSpc>
                <a:spcPct val="100000"/>
              </a:lnSpc>
              <a:spcBef>
                <a:spcPts val="0"/>
              </a:spcBef>
              <a:spcAft>
                <a:spcPts val="0"/>
              </a:spcAft>
              <a:buClr>
                <a:srgbClr val="9F296B"/>
              </a:buClr>
              <a:buSzPts val="900"/>
              <a:buFont typeface="Gulim"/>
              <a:buNone/>
              <a:defRPr b="0" i="0" sz="900" u="none">
                <a:solidFill>
                  <a:srgbClr val="9F296B"/>
                </a:solidFill>
                <a:latin typeface="Gulim"/>
                <a:ea typeface="Gulim"/>
                <a:cs typeface="Gulim"/>
                <a:sym typeface="Gulim"/>
              </a:defRPr>
            </a:lvl7pPr>
            <a:lvl8pPr indent="0" lvl="7" marL="0" marR="0" algn="r">
              <a:lnSpc>
                <a:spcPct val="100000"/>
              </a:lnSpc>
              <a:spcBef>
                <a:spcPts val="0"/>
              </a:spcBef>
              <a:spcAft>
                <a:spcPts val="0"/>
              </a:spcAft>
              <a:buClr>
                <a:srgbClr val="9F296B"/>
              </a:buClr>
              <a:buSzPts val="900"/>
              <a:buFont typeface="Gulim"/>
              <a:buNone/>
              <a:defRPr b="0" i="0" sz="900" u="none">
                <a:solidFill>
                  <a:srgbClr val="9F296B"/>
                </a:solidFill>
                <a:latin typeface="Gulim"/>
                <a:ea typeface="Gulim"/>
                <a:cs typeface="Gulim"/>
                <a:sym typeface="Gulim"/>
              </a:defRPr>
            </a:lvl8pPr>
            <a:lvl9pPr indent="0" lvl="8" marL="0" marR="0" algn="r">
              <a:lnSpc>
                <a:spcPct val="100000"/>
              </a:lnSpc>
              <a:spcBef>
                <a:spcPts val="0"/>
              </a:spcBef>
              <a:spcAft>
                <a:spcPts val="0"/>
              </a:spcAft>
              <a:buClr>
                <a:srgbClr val="9F296B"/>
              </a:buClr>
              <a:buSzPts val="900"/>
              <a:buFont typeface="Gulim"/>
              <a:buNone/>
              <a:defRPr b="0" i="0" sz="900" u="none">
                <a:solidFill>
                  <a:srgbClr val="9F296B"/>
                </a:solidFill>
                <a:latin typeface="Gulim"/>
                <a:ea typeface="Gulim"/>
                <a:cs typeface="Gulim"/>
                <a:sym typeface="Gulim"/>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6" name="Shape 36"/>
        <p:cNvGrpSpPr/>
        <p:nvPr/>
      </p:nvGrpSpPr>
      <p:grpSpPr>
        <a:xfrm>
          <a:off x="0" y="0"/>
          <a:ext cx="0" cy="0"/>
          <a:chOff x="0" y="0"/>
          <a:chExt cx="0" cy="0"/>
        </a:xfrm>
      </p:grpSpPr>
      <p:sp>
        <p:nvSpPr>
          <p:cNvPr id="37" name="Google Shape;37;p76"/>
          <p:cNvSpPr txBox="1"/>
          <p:nvPr>
            <p:ph type="title"/>
          </p:nvPr>
        </p:nvSpPr>
        <p:spPr>
          <a:xfrm>
            <a:off x="581025" y="687387"/>
            <a:ext cx="7989887" cy="108267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76"/>
          <p:cNvSpPr txBox="1"/>
          <p:nvPr>
            <p:ph idx="1" type="body"/>
          </p:nvPr>
        </p:nvSpPr>
        <p:spPr>
          <a:xfrm>
            <a:off x="581192" y="2228003"/>
            <a:ext cx="7989752" cy="3630795"/>
          </a:xfrm>
          <a:prstGeom prst="rect">
            <a:avLst/>
          </a:prstGeom>
          <a:noFill/>
          <a:ln>
            <a:noFill/>
          </a:ln>
        </p:spPr>
        <p:txBody>
          <a:bodyPr anchorCtr="0" anchor="ctr" bIns="45700" lIns="91425" spcFirstLastPara="1" rIns="91425" wrap="square" tIns="45700">
            <a:noAutofit/>
          </a:bodyPr>
          <a:lstStyle>
            <a:lvl1pPr indent="-333756" lvl="0" marL="457200" algn="l">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39" name="Google Shape;39;p76"/>
          <p:cNvSpPr txBox="1"/>
          <p:nvPr>
            <p:ph idx="11" type="ftr"/>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chemeClr val="accen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76"/>
          <p:cNvSpPr txBox="1"/>
          <p:nvPr>
            <p:ph idx="12" type="sldNum"/>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2"/>
              </a:buClr>
              <a:buSzPts val="900"/>
              <a:buFont typeface="Gulim"/>
              <a:buNone/>
              <a:defRPr b="0" i="0" sz="900" u="none">
                <a:solidFill>
                  <a:schemeClr val="accent2"/>
                </a:solidFill>
                <a:latin typeface="Gulim"/>
                <a:ea typeface="Gulim"/>
                <a:cs typeface="Gulim"/>
                <a:sym typeface="Gulim"/>
              </a:defRPr>
            </a:lvl1pPr>
            <a:lvl2pPr indent="0" lvl="1" marL="0" marR="0" algn="r">
              <a:lnSpc>
                <a:spcPct val="100000"/>
              </a:lnSpc>
              <a:spcBef>
                <a:spcPts val="0"/>
              </a:spcBef>
              <a:spcAft>
                <a:spcPts val="0"/>
              </a:spcAft>
              <a:buClr>
                <a:schemeClr val="accent2"/>
              </a:buClr>
              <a:buSzPts val="900"/>
              <a:buFont typeface="Gulim"/>
              <a:buNone/>
              <a:defRPr b="0" i="0" sz="900" u="none">
                <a:solidFill>
                  <a:schemeClr val="accent2"/>
                </a:solidFill>
                <a:latin typeface="Gulim"/>
                <a:ea typeface="Gulim"/>
                <a:cs typeface="Gulim"/>
                <a:sym typeface="Gulim"/>
              </a:defRPr>
            </a:lvl2pPr>
            <a:lvl3pPr indent="0" lvl="2" marL="0" marR="0" algn="r">
              <a:lnSpc>
                <a:spcPct val="100000"/>
              </a:lnSpc>
              <a:spcBef>
                <a:spcPts val="0"/>
              </a:spcBef>
              <a:spcAft>
                <a:spcPts val="0"/>
              </a:spcAft>
              <a:buClr>
                <a:schemeClr val="accent2"/>
              </a:buClr>
              <a:buSzPts val="900"/>
              <a:buFont typeface="Gulim"/>
              <a:buNone/>
              <a:defRPr b="0" i="0" sz="900" u="none">
                <a:solidFill>
                  <a:schemeClr val="accent2"/>
                </a:solidFill>
                <a:latin typeface="Gulim"/>
                <a:ea typeface="Gulim"/>
                <a:cs typeface="Gulim"/>
                <a:sym typeface="Gulim"/>
              </a:defRPr>
            </a:lvl3pPr>
            <a:lvl4pPr indent="0" lvl="3" marL="0" marR="0" algn="r">
              <a:lnSpc>
                <a:spcPct val="100000"/>
              </a:lnSpc>
              <a:spcBef>
                <a:spcPts val="0"/>
              </a:spcBef>
              <a:spcAft>
                <a:spcPts val="0"/>
              </a:spcAft>
              <a:buClr>
                <a:schemeClr val="accent2"/>
              </a:buClr>
              <a:buSzPts val="900"/>
              <a:buFont typeface="Gulim"/>
              <a:buNone/>
              <a:defRPr b="0" i="0" sz="900" u="none">
                <a:solidFill>
                  <a:schemeClr val="accent2"/>
                </a:solidFill>
                <a:latin typeface="Gulim"/>
                <a:ea typeface="Gulim"/>
                <a:cs typeface="Gulim"/>
                <a:sym typeface="Gulim"/>
              </a:defRPr>
            </a:lvl4pPr>
            <a:lvl5pPr indent="0" lvl="4" marL="0" marR="0" algn="r">
              <a:lnSpc>
                <a:spcPct val="100000"/>
              </a:lnSpc>
              <a:spcBef>
                <a:spcPts val="0"/>
              </a:spcBef>
              <a:spcAft>
                <a:spcPts val="0"/>
              </a:spcAft>
              <a:buClr>
                <a:schemeClr val="accent2"/>
              </a:buClr>
              <a:buSzPts val="900"/>
              <a:buFont typeface="Gulim"/>
              <a:buNone/>
              <a:defRPr b="0" i="0" sz="900" u="none">
                <a:solidFill>
                  <a:schemeClr val="accent2"/>
                </a:solidFill>
                <a:latin typeface="Gulim"/>
                <a:ea typeface="Gulim"/>
                <a:cs typeface="Gulim"/>
                <a:sym typeface="Gulim"/>
              </a:defRPr>
            </a:lvl5pPr>
            <a:lvl6pPr indent="0" lvl="5" marL="0" marR="0" algn="r">
              <a:lnSpc>
                <a:spcPct val="100000"/>
              </a:lnSpc>
              <a:spcBef>
                <a:spcPts val="0"/>
              </a:spcBef>
              <a:spcAft>
                <a:spcPts val="0"/>
              </a:spcAft>
              <a:buClr>
                <a:schemeClr val="accent2"/>
              </a:buClr>
              <a:buSzPts val="900"/>
              <a:buFont typeface="Gulim"/>
              <a:buNone/>
              <a:defRPr b="0" i="0" sz="900" u="none">
                <a:solidFill>
                  <a:schemeClr val="accent2"/>
                </a:solidFill>
                <a:latin typeface="Gulim"/>
                <a:ea typeface="Gulim"/>
                <a:cs typeface="Gulim"/>
                <a:sym typeface="Gulim"/>
              </a:defRPr>
            </a:lvl6pPr>
            <a:lvl7pPr indent="0" lvl="6" marL="0" marR="0" algn="r">
              <a:lnSpc>
                <a:spcPct val="100000"/>
              </a:lnSpc>
              <a:spcBef>
                <a:spcPts val="0"/>
              </a:spcBef>
              <a:spcAft>
                <a:spcPts val="0"/>
              </a:spcAft>
              <a:buClr>
                <a:schemeClr val="accent2"/>
              </a:buClr>
              <a:buSzPts val="900"/>
              <a:buFont typeface="Gulim"/>
              <a:buNone/>
              <a:defRPr b="0" i="0" sz="900" u="none">
                <a:solidFill>
                  <a:schemeClr val="accent2"/>
                </a:solidFill>
                <a:latin typeface="Gulim"/>
                <a:ea typeface="Gulim"/>
                <a:cs typeface="Gulim"/>
                <a:sym typeface="Gulim"/>
              </a:defRPr>
            </a:lvl7pPr>
            <a:lvl8pPr indent="0" lvl="7" marL="0" marR="0" algn="r">
              <a:lnSpc>
                <a:spcPct val="100000"/>
              </a:lnSpc>
              <a:spcBef>
                <a:spcPts val="0"/>
              </a:spcBef>
              <a:spcAft>
                <a:spcPts val="0"/>
              </a:spcAft>
              <a:buClr>
                <a:schemeClr val="accent2"/>
              </a:buClr>
              <a:buSzPts val="900"/>
              <a:buFont typeface="Gulim"/>
              <a:buNone/>
              <a:defRPr b="0" i="0" sz="900" u="none">
                <a:solidFill>
                  <a:schemeClr val="accent2"/>
                </a:solidFill>
                <a:latin typeface="Gulim"/>
                <a:ea typeface="Gulim"/>
                <a:cs typeface="Gulim"/>
                <a:sym typeface="Gulim"/>
              </a:defRPr>
            </a:lvl8pPr>
            <a:lvl9pPr indent="0" lvl="8" marL="0" marR="0" algn="r">
              <a:lnSpc>
                <a:spcPct val="100000"/>
              </a:lnSpc>
              <a:spcBef>
                <a:spcPts val="0"/>
              </a:spcBef>
              <a:spcAft>
                <a:spcPts val="0"/>
              </a:spcAft>
              <a:buClr>
                <a:schemeClr val="accent2"/>
              </a:buClr>
              <a:buSzPts val="900"/>
              <a:buFont typeface="Gulim"/>
              <a:buNone/>
              <a:defRPr b="0" i="0" sz="900" u="none">
                <a:solidFill>
                  <a:schemeClr val="accent2"/>
                </a:solidFill>
                <a:latin typeface="Gulim"/>
                <a:ea typeface="Gulim"/>
                <a:cs typeface="Gulim"/>
                <a:sym typeface="Gulim"/>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2.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73"/>
          <p:cNvSpPr/>
          <p:nvPr/>
        </p:nvSpPr>
        <p:spPr>
          <a:xfrm>
            <a:off x="447675" y="441325"/>
            <a:ext cx="2720975" cy="10795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ulim"/>
              <a:ea typeface="Gulim"/>
              <a:cs typeface="Gulim"/>
              <a:sym typeface="Gulim"/>
            </a:endParaRPr>
          </a:p>
        </p:txBody>
      </p:sp>
      <p:sp>
        <p:nvSpPr>
          <p:cNvPr id="11" name="Google Shape;11;p73"/>
          <p:cNvSpPr/>
          <p:nvPr/>
        </p:nvSpPr>
        <p:spPr>
          <a:xfrm>
            <a:off x="5975350" y="441325"/>
            <a:ext cx="2711450" cy="107950"/>
          </a:xfrm>
          <a:prstGeom prst="rect">
            <a:avLst/>
          </a:prstGeom>
          <a:solidFill>
            <a:srgbClr val="969F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ulim"/>
              <a:ea typeface="Gulim"/>
              <a:cs typeface="Gulim"/>
              <a:sym typeface="Gulim"/>
            </a:endParaRPr>
          </a:p>
        </p:txBody>
      </p:sp>
      <p:sp>
        <p:nvSpPr>
          <p:cNvPr id="12" name="Google Shape;12;p73"/>
          <p:cNvSpPr/>
          <p:nvPr/>
        </p:nvSpPr>
        <p:spPr>
          <a:xfrm>
            <a:off x="3216275" y="441325"/>
            <a:ext cx="2711450" cy="10795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ulim"/>
              <a:ea typeface="Gulim"/>
              <a:cs typeface="Gulim"/>
              <a:sym typeface="Gulim"/>
            </a:endParaRPr>
          </a:p>
        </p:txBody>
      </p:sp>
      <p:sp>
        <p:nvSpPr>
          <p:cNvPr id="13" name="Google Shape;13;p73"/>
          <p:cNvSpPr/>
          <p:nvPr/>
        </p:nvSpPr>
        <p:spPr>
          <a:xfrm>
            <a:off x="447675" y="3086100"/>
            <a:ext cx="8240712" cy="33051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ulim"/>
              <a:ea typeface="Gulim"/>
              <a:cs typeface="Gulim"/>
              <a:sym typeface="Gulim"/>
            </a:endParaRPr>
          </a:p>
        </p:txBody>
      </p:sp>
      <p:sp>
        <p:nvSpPr>
          <p:cNvPr id="14" name="Google Shape;14;p73"/>
          <p:cNvSpPr txBox="1"/>
          <p:nvPr>
            <p:ph type="title"/>
          </p:nvPr>
        </p:nvSpPr>
        <p:spPr>
          <a:xfrm>
            <a:off x="581025" y="687387"/>
            <a:ext cx="7989887" cy="1082675"/>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SzPts val="1400"/>
              <a:buNone/>
              <a:defRPr b="0" i="0" sz="2800" u="none" cap="none" strike="noStrike">
                <a:solidFill>
                  <a:schemeClr val="lt1"/>
                </a:solidFill>
                <a:latin typeface="Gill Sans"/>
                <a:ea typeface="Gill Sans"/>
                <a:cs typeface="Gill Sans"/>
                <a:sym typeface="Gill Sans"/>
              </a:defRPr>
            </a:lvl1pPr>
            <a:lvl2pPr lvl="1" marR="0" rtl="0" algn="l">
              <a:spcBef>
                <a:spcPts val="0"/>
              </a:spcBef>
              <a:spcAft>
                <a:spcPts val="0"/>
              </a:spcAft>
              <a:buSzPts val="1400"/>
              <a:buNone/>
              <a:defRPr b="0" i="0" sz="2800" u="none" cap="none" strike="noStrike">
                <a:solidFill>
                  <a:schemeClr val="lt1"/>
                </a:solidFill>
                <a:latin typeface="Gill Sans"/>
                <a:ea typeface="Gill Sans"/>
                <a:cs typeface="Gill Sans"/>
                <a:sym typeface="Gill Sans"/>
              </a:defRPr>
            </a:lvl2pPr>
            <a:lvl3pPr lvl="2" marR="0" rtl="0" algn="l">
              <a:spcBef>
                <a:spcPts val="0"/>
              </a:spcBef>
              <a:spcAft>
                <a:spcPts val="0"/>
              </a:spcAft>
              <a:buSzPts val="1400"/>
              <a:buNone/>
              <a:defRPr b="0" i="0" sz="2800" u="none" cap="none" strike="noStrike">
                <a:solidFill>
                  <a:schemeClr val="lt1"/>
                </a:solidFill>
                <a:latin typeface="Gill Sans"/>
                <a:ea typeface="Gill Sans"/>
                <a:cs typeface="Gill Sans"/>
                <a:sym typeface="Gill Sans"/>
              </a:defRPr>
            </a:lvl3pPr>
            <a:lvl4pPr lvl="3" marR="0" rtl="0" algn="l">
              <a:spcBef>
                <a:spcPts val="0"/>
              </a:spcBef>
              <a:spcAft>
                <a:spcPts val="0"/>
              </a:spcAft>
              <a:buSzPts val="1400"/>
              <a:buNone/>
              <a:defRPr b="0" i="0" sz="2800" u="none" cap="none" strike="noStrike">
                <a:solidFill>
                  <a:schemeClr val="lt1"/>
                </a:solidFill>
                <a:latin typeface="Gill Sans"/>
                <a:ea typeface="Gill Sans"/>
                <a:cs typeface="Gill Sans"/>
                <a:sym typeface="Gill Sans"/>
              </a:defRPr>
            </a:lvl4pPr>
            <a:lvl5pPr lvl="4" marR="0" rtl="0" algn="l">
              <a:spcBef>
                <a:spcPts val="0"/>
              </a:spcBef>
              <a:spcAft>
                <a:spcPts val="0"/>
              </a:spcAft>
              <a:buSzPts val="1400"/>
              <a:buNone/>
              <a:defRPr b="0" i="0" sz="2800" u="none" cap="none" strike="noStrike">
                <a:solidFill>
                  <a:schemeClr val="lt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5" name="Google Shape;15;p73"/>
          <p:cNvSpPr txBox="1"/>
          <p:nvPr>
            <p:ph idx="1" type="body"/>
          </p:nvPr>
        </p:nvSpPr>
        <p:spPr>
          <a:xfrm>
            <a:off x="581025" y="2227262"/>
            <a:ext cx="7989887" cy="3632200"/>
          </a:xfrm>
          <a:prstGeom prst="rect">
            <a:avLst/>
          </a:prstGeom>
          <a:noFill/>
          <a:ln>
            <a:noFill/>
          </a:ln>
        </p:spPr>
        <p:txBody>
          <a:bodyPr anchorCtr="0" anchor="ctr" bIns="45700" lIns="91425" spcFirstLastPara="1" rIns="91425" wrap="square" tIns="45700">
            <a:noAutofit/>
          </a:bodyPr>
          <a:lstStyle>
            <a:lvl1pPr indent="-333756" lvl="0" marL="457200" marR="0" rtl="0" algn="l">
              <a:spcBef>
                <a:spcPts val="360"/>
              </a:spcBef>
              <a:spcAft>
                <a:spcPts val="0"/>
              </a:spcAft>
              <a:buClr>
                <a:schemeClr val="accent2"/>
              </a:buClr>
              <a:buSzPts val="1656"/>
              <a:buFont typeface="Noto Sans Symbols"/>
              <a:buChar char="◼"/>
              <a:defRPr b="0" i="0" sz="1800" u="none" cap="none" strike="noStrike">
                <a:solidFill>
                  <a:schemeClr val="dk2"/>
                </a:solidFill>
                <a:latin typeface="Gill Sans"/>
                <a:ea typeface="Gill Sans"/>
                <a:cs typeface="Gill Sans"/>
                <a:sym typeface="Gill Sans"/>
              </a:defRPr>
            </a:lvl1pPr>
            <a:lvl2pPr indent="-322072" lvl="1" marL="914400" marR="0" rtl="0" algn="l">
              <a:spcBef>
                <a:spcPts val="600"/>
              </a:spcBef>
              <a:spcAft>
                <a:spcPts val="0"/>
              </a:spcAft>
              <a:buClr>
                <a:schemeClr val="accent2"/>
              </a:buClr>
              <a:buSzPts val="1472"/>
              <a:buFont typeface="Noto Sans Symbols"/>
              <a:buChar char="◼"/>
              <a:defRPr b="0" i="0" sz="1600" u="none" cap="none" strike="noStrike">
                <a:solidFill>
                  <a:schemeClr val="dk2"/>
                </a:solidFill>
                <a:latin typeface="Gill Sans"/>
                <a:ea typeface="Gill Sans"/>
                <a:cs typeface="Gill Sans"/>
                <a:sym typeface="Gill Sans"/>
              </a:defRPr>
            </a:lvl2pPr>
            <a:lvl3pPr indent="-310388" lvl="2" marL="1371600" marR="0" rtl="0" algn="l">
              <a:spcBef>
                <a:spcPts val="600"/>
              </a:spcBef>
              <a:spcAft>
                <a:spcPts val="0"/>
              </a:spcAft>
              <a:buClr>
                <a:schemeClr val="accent2"/>
              </a:buClr>
              <a:buSzPts val="1288"/>
              <a:buFont typeface="Noto Sans Symbols"/>
              <a:buChar char="◼"/>
              <a:defRPr b="0" i="0" sz="1400" u="none" cap="none" strike="noStrike">
                <a:solidFill>
                  <a:schemeClr val="dk2"/>
                </a:solidFill>
                <a:latin typeface="Gill Sans"/>
                <a:ea typeface="Gill Sans"/>
                <a:cs typeface="Gill Sans"/>
                <a:sym typeface="Gill Sans"/>
              </a:defRPr>
            </a:lvl3pPr>
            <a:lvl4pPr indent="-298703" lvl="3" marL="18288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4pPr>
            <a:lvl5pPr indent="-298704" lvl="4" marL="22860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5pPr>
            <a:lvl6pPr indent="-298704" lvl="5" marL="27432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6pPr>
            <a:lvl7pPr indent="-298704" lvl="6" marL="32004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7pPr>
            <a:lvl8pPr indent="-298703" lvl="7" marL="36576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8pPr>
            <a:lvl9pPr indent="-298703" lvl="8" marL="4114800" marR="0" rtl="0" algn="l">
              <a:spcBef>
                <a:spcPts val="600"/>
              </a:spcBef>
              <a:spcAft>
                <a:spcPts val="60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9pPr>
          </a:lstStyle>
          <a:p/>
        </p:txBody>
      </p:sp>
      <p:sp>
        <p:nvSpPr>
          <p:cNvPr id="16" name="Google Shape;16;p73"/>
          <p:cNvSpPr txBox="1"/>
          <p:nvPr>
            <p:ph idx="10" type="dt"/>
          </p:nvPr>
        </p:nvSpPr>
        <p:spPr>
          <a:xfrm>
            <a:off x="5559425" y="595630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Gulim"/>
                <a:ea typeface="Gulim"/>
                <a:cs typeface="Gulim"/>
                <a:sym typeface="Gulim"/>
              </a:defRPr>
            </a:lvl1pPr>
            <a:lvl2pPr lvl="1" marR="0" rtl="0" algn="l">
              <a:lnSpc>
                <a:spcPct val="100000"/>
              </a:lnSpc>
              <a:spcBef>
                <a:spcPts val="0"/>
              </a:spcBef>
              <a:spcAft>
                <a:spcPts val="0"/>
              </a:spcAft>
              <a:buSzPts val="1400"/>
              <a:buNone/>
              <a:defRPr b="0" i="0" sz="1800" u="none" cap="none" strike="noStrike">
                <a:solidFill>
                  <a:schemeClr val="dk1"/>
                </a:solidFill>
                <a:latin typeface="Gulim"/>
                <a:ea typeface="Gulim"/>
                <a:cs typeface="Gulim"/>
                <a:sym typeface="Gulim"/>
              </a:defRPr>
            </a:lvl2pPr>
            <a:lvl3pPr lvl="2" marR="0" rtl="0" algn="l">
              <a:lnSpc>
                <a:spcPct val="100000"/>
              </a:lnSpc>
              <a:spcBef>
                <a:spcPts val="0"/>
              </a:spcBef>
              <a:spcAft>
                <a:spcPts val="0"/>
              </a:spcAft>
              <a:buSzPts val="1400"/>
              <a:buNone/>
              <a:defRPr b="0" i="0" sz="1800" u="none" cap="none" strike="noStrike">
                <a:solidFill>
                  <a:schemeClr val="dk1"/>
                </a:solidFill>
                <a:latin typeface="Gulim"/>
                <a:ea typeface="Gulim"/>
                <a:cs typeface="Gulim"/>
                <a:sym typeface="Gulim"/>
              </a:defRPr>
            </a:lvl3pPr>
            <a:lvl4pPr lvl="3" marR="0" rtl="0" algn="l">
              <a:lnSpc>
                <a:spcPct val="100000"/>
              </a:lnSpc>
              <a:spcBef>
                <a:spcPts val="0"/>
              </a:spcBef>
              <a:spcAft>
                <a:spcPts val="0"/>
              </a:spcAft>
              <a:buSzPts val="1400"/>
              <a:buNone/>
              <a:defRPr b="0" i="0" sz="1800" u="none" cap="none" strike="noStrike">
                <a:solidFill>
                  <a:schemeClr val="dk1"/>
                </a:solidFill>
                <a:latin typeface="Gulim"/>
                <a:ea typeface="Gulim"/>
                <a:cs typeface="Gulim"/>
                <a:sym typeface="Gulim"/>
              </a:defRPr>
            </a:lvl4pPr>
            <a:lvl5pPr lvl="4" marR="0" rtl="0" algn="l">
              <a:lnSpc>
                <a:spcPct val="100000"/>
              </a:lnSpc>
              <a:spcBef>
                <a:spcPts val="0"/>
              </a:spcBef>
              <a:spcAft>
                <a:spcPts val="0"/>
              </a:spcAft>
              <a:buSzPts val="1400"/>
              <a:buNone/>
              <a:defRPr b="0" i="0" sz="1800" u="none" cap="none" strike="noStrike">
                <a:solidFill>
                  <a:schemeClr val="dk1"/>
                </a:solidFill>
                <a:latin typeface="Gulim"/>
                <a:ea typeface="Gulim"/>
                <a:cs typeface="Gulim"/>
                <a:sym typeface="Gulim"/>
              </a:defRPr>
            </a:lvl5pPr>
            <a:lvl6pPr lvl="5" marR="0" rtl="0" algn="l">
              <a:lnSpc>
                <a:spcPct val="100000"/>
              </a:lnSpc>
              <a:spcBef>
                <a:spcPts val="0"/>
              </a:spcBef>
              <a:spcAft>
                <a:spcPts val="0"/>
              </a:spcAft>
              <a:buSzPts val="1400"/>
              <a:buNone/>
              <a:defRPr b="0" i="0" sz="1800" u="none" cap="none" strike="noStrike">
                <a:solidFill>
                  <a:schemeClr val="dk1"/>
                </a:solidFill>
                <a:latin typeface="Gulim"/>
                <a:ea typeface="Gulim"/>
                <a:cs typeface="Gulim"/>
                <a:sym typeface="Gulim"/>
              </a:defRPr>
            </a:lvl6pPr>
            <a:lvl7pPr lvl="6" marR="0" rtl="0" algn="l">
              <a:lnSpc>
                <a:spcPct val="100000"/>
              </a:lnSpc>
              <a:spcBef>
                <a:spcPts val="0"/>
              </a:spcBef>
              <a:spcAft>
                <a:spcPts val="0"/>
              </a:spcAft>
              <a:buSzPts val="1400"/>
              <a:buNone/>
              <a:defRPr b="0" i="0" sz="1800" u="none" cap="none" strike="noStrike">
                <a:solidFill>
                  <a:schemeClr val="dk1"/>
                </a:solidFill>
                <a:latin typeface="Gulim"/>
                <a:ea typeface="Gulim"/>
                <a:cs typeface="Gulim"/>
                <a:sym typeface="Gulim"/>
              </a:defRPr>
            </a:lvl7pPr>
            <a:lvl8pPr lvl="7" marR="0" rtl="0" algn="l">
              <a:lnSpc>
                <a:spcPct val="100000"/>
              </a:lnSpc>
              <a:spcBef>
                <a:spcPts val="0"/>
              </a:spcBef>
              <a:spcAft>
                <a:spcPts val="0"/>
              </a:spcAft>
              <a:buSzPts val="1400"/>
              <a:buNone/>
              <a:defRPr b="0" i="0" sz="1800" u="none" cap="none" strike="noStrike">
                <a:solidFill>
                  <a:schemeClr val="dk1"/>
                </a:solidFill>
                <a:latin typeface="Gulim"/>
                <a:ea typeface="Gulim"/>
                <a:cs typeface="Gulim"/>
                <a:sym typeface="Gulim"/>
              </a:defRPr>
            </a:lvl8pPr>
            <a:lvl9pPr lvl="8" marR="0" rtl="0" algn="l">
              <a:lnSpc>
                <a:spcPct val="100000"/>
              </a:lnSpc>
              <a:spcBef>
                <a:spcPts val="0"/>
              </a:spcBef>
              <a:spcAft>
                <a:spcPts val="0"/>
              </a:spcAft>
              <a:buSzPts val="1400"/>
              <a:buNone/>
              <a:defRPr b="0" i="0" sz="1800" u="none" cap="none" strike="noStrike">
                <a:solidFill>
                  <a:schemeClr val="dk1"/>
                </a:solidFill>
                <a:latin typeface="Gulim"/>
                <a:ea typeface="Gulim"/>
                <a:cs typeface="Gulim"/>
                <a:sym typeface="Gulim"/>
              </a:defRPr>
            </a:lvl9pPr>
          </a:lstStyle>
          <a:p/>
        </p:txBody>
      </p:sp>
      <p:sp>
        <p:nvSpPr>
          <p:cNvPr id="17" name="Google Shape;17;p73"/>
          <p:cNvSpPr txBox="1"/>
          <p:nvPr>
            <p:ph idx="11" type="ftr"/>
          </p:nvPr>
        </p:nvSpPr>
        <p:spPr>
          <a:xfrm>
            <a:off x="581025" y="5951537"/>
            <a:ext cx="487045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900" u="none">
                <a:solidFill>
                  <a:srgbClr val="9F296B"/>
                </a:solidFill>
                <a:latin typeface="Gulim"/>
                <a:ea typeface="Gulim"/>
                <a:cs typeface="Gulim"/>
                <a:sym typeface="Gulim"/>
              </a:defRPr>
            </a:lvl1pPr>
            <a:lvl2pPr lvl="1" marR="0" rtl="0" algn="l">
              <a:lnSpc>
                <a:spcPct val="100000"/>
              </a:lnSpc>
              <a:spcBef>
                <a:spcPts val="0"/>
              </a:spcBef>
              <a:spcAft>
                <a:spcPts val="0"/>
              </a:spcAft>
              <a:buSzPts val="1400"/>
              <a:buNone/>
              <a:defRPr b="0" i="0" sz="1800" u="none" cap="none" strike="noStrike">
                <a:solidFill>
                  <a:schemeClr val="dk1"/>
                </a:solidFill>
                <a:latin typeface="Gulim"/>
                <a:ea typeface="Gulim"/>
                <a:cs typeface="Gulim"/>
                <a:sym typeface="Gulim"/>
              </a:defRPr>
            </a:lvl2pPr>
            <a:lvl3pPr lvl="2" marR="0" rtl="0" algn="l">
              <a:lnSpc>
                <a:spcPct val="100000"/>
              </a:lnSpc>
              <a:spcBef>
                <a:spcPts val="0"/>
              </a:spcBef>
              <a:spcAft>
                <a:spcPts val="0"/>
              </a:spcAft>
              <a:buSzPts val="1400"/>
              <a:buNone/>
              <a:defRPr b="0" i="0" sz="1800" u="none" cap="none" strike="noStrike">
                <a:solidFill>
                  <a:schemeClr val="dk1"/>
                </a:solidFill>
                <a:latin typeface="Gulim"/>
                <a:ea typeface="Gulim"/>
                <a:cs typeface="Gulim"/>
                <a:sym typeface="Gulim"/>
              </a:defRPr>
            </a:lvl3pPr>
            <a:lvl4pPr lvl="3" marR="0" rtl="0" algn="l">
              <a:lnSpc>
                <a:spcPct val="100000"/>
              </a:lnSpc>
              <a:spcBef>
                <a:spcPts val="0"/>
              </a:spcBef>
              <a:spcAft>
                <a:spcPts val="0"/>
              </a:spcAft>
              <a:buSzPts val="1400"/>
              <a:buNone/>
              <a:defRPr b="0" i="0" sz="1800" u="none" cap="none" strike="noStrike">
                <a:solidFill>
                  <a:schemeClr val="dk1"/>
                </a:solidFill>
                <a:latin typeface="Gulim"/>
                <a:ea typeface="Gulim"/>
                <a:cs typeface="Gulim"/>
                <a:sym typeface="Gulim"/>
              </a:defRPr>
            </a:lvl4pPr>
            <a:lvl5pPr lvl="4" marR="0" rtl="0" algn="l">
              <a:lnSpc>
                <a:spcPct val="100000"/>
              </a:lnSpc>
              <a:spcBef>
                <a:spcPts val="0"/>
              </a:spcBef>
              <a:spcAft>
                <a:spcPts val="0"/>
              </a:spcAft>
              <a:buSzPts val="1400"/>
              <a:buNone/>
              <a:defRPr b="0" i="0" sz="1800" u="none" cap="none" strike="noStrike">
                <a:solidFill>
                  <a:schemeClr val="dk1"/>
                </a:solidFill>
                <a:latin typeface="Gulim"/>
                <a:ea typeface="Gulim"/>
                <a:cs typeface="Gulim"/>
                <a:sym typeface="Gulim"/>
              </a:defRPr>
            </a:lvl5pPr>
            <a:lvl6pPr lvl="5" marR="0" rtl="0" algn="l">
              <a:lnSpc>
                <a:spcPct val="100000"/>
              </a:lnSpc>
              <a:spcBef>
                <a:spcPts val="0"/>
              </a:spcBef>
              <a:spcAft>
                <a:spcPts val="0"/>
              </a:spcAft>
              <a:buSzPts val="1400"/>
              <a:buNone/>
              <a:defRPr b="0" i="0" sz="1800" u="none" cap="none" strike="noStrike">
                <a:solidFill>
                  <a:schemeClr val="dk1"/>
                </a:solidFill>
                <a:latin typeface="Gulim"/>
                <a:ea typeface="Gulim"/>
                <a:cs typeface="Gulim"/>
                <a:sym typeface="Gulim"/>
              </a:defRPr>
            </a:lvl6pPr>
            <a:lvl7pPr lvl="6" marR="0" rtl="0" algn="l">
              <a:lnSpc>
                <a:spcPct val="100000"/>
              </a:lnSpc>
              <a:spcBef>
                <a:spcPts val="0"/>
              </a:spcBef>
              <a:spcAft>
                <a:spcPts val="0"/>
              </a:spcAft>
              <a:buSzPts val="1400"/>
              <a:buNone/>
              <a:defRPr b="0" i="0" sz="1800" u="none" cap="none" strike="noStrike">
                <a:solidFill>
                  <a:schemeClr val="dk1"/>
                </a:solidFill>
                <a:latin typeface="Gulim"/>
                <a:ea typeface="Gulim"/>
                <a:cs typeface="Gulim"/>
                <a:sym typeface="Gulim"/>
              </a:defRPr>
            </a:lvl7pPr>
            <a:lvl8pPr lvl="7" marR="0" rtl="0" algn="l">
              <a:lnSpc>
                <a:spcPct val="100000"/>
              </a:lnSpc>
              <a:spcBef>
                <a:spcPts val="0"/>
              </a:spcBef>
              <a:spcAft>
                <a:spcPts val="0"/>
              </a:spcAft>
              <a:buSzPts val="1400"/>
              <a:buNone/>
              <a:defRPr b="0" i="0" sz="1800" u="none" cap="none" strike="noStrike">
                <a:solidFill>
                  <a:schemeClr val="dk1"/>
                </a:solidFill>
                <a:latin typeface="Gulim"/>
                <a:ea typeface="Gulim"/>
                <a:cs typeface="Gulim"/>
                <a:sym typeface="Gulim"/>
              </a:defRPr>
            </a:lvl8pPr>
            <a:lvl9pPr lvl="8" marR="0" rtl="0" algn="l">
              <a:lnSpc>
                <a:spcPct val="100000"/>
              </a:lnSpc>
              <a:spcBef>
                <a:spcPts val="0"/>
              </a:spcBef>
              <a:spcAft>
                <a:spcPts val="0"/>
              </a:spcAft>
              <a:buSzPts val="1400"/>
              <a:buNone/>
              <a:defRPr b="0" i="0" sz="1800" u="none" cap="none" strike="noStrike">
                <a:solidFill>
                  <a:schemeClr val="dk1"/>
                </a:solidFill>
                <a:latin typeface="Gulim"/>
                <a:ea typeface="Gulim"/>
                <a:cs typeface="Gulim"/>
                <a:sym typeface="Gulim"/>
              </a:defRPr>
            </a:lvl9pPr>
          </a:lstStyle>
          <a:p/>
        </p:txBody>
      </p:sp>
      <p:sp>
        <p:nvSpPr>
          <p:cNvPr id="18" name="Google Shape;18;p73"/>
          <p:cNvSpPr txBox="1"/>
          <p:nvPr>
            <p:ph idx="12" type="sldNum"/>
          </p:nvPr>
        </p:nvSpPr>
        <p:spPr>
          <a:xfrm>
            <a:off x="7800975" y="5956300"/>
            <a:ext cx="769937"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9F296B"/>
              </a:buClr>
              <a:buSzPts val="900"/>
              <a:buFont typeface="Gulim"/>
              <a:buNone/>
              <a:defRPr b="0" i="0" sz="900" u="none">
                <a:solidFill>
                  <a:srgbClr val="9F296B"/>
                </a:solidFill>
                <a:latin typeface="Gulim"/>
                <a:ea typeface="Gulim"/>
                <a:cs typeface="Gulim"/>
                <a:sym typeface="Gulim"/>
              </a:defRPr>
            </a:lvl1pPr>
            <a:lvl2pPr indent="0" lvl="1" marL="0" marR="0" rtl="0" algn="r">
              <a:lnSpc>
                <a:spcPct val="100000"/>
              </a:lnSpc>
              <a:spcBef>
                <a:spcPts val="0"/>
              </a:spcBef>
              <a:spcAft>
                <a:spcPts val="0"/>
              </a:spcAft>
              <a:buClr>
                <a:srgbClr val="9F296B"/>
              </a:buClr>
              <a:buSzPts val="900"/>
              <a:buFont typeface="Gulim"/>
              <a:buNone/>
              <a:defRPr b="0" i="0" sz="900" u="none">
                <a:solidFill>
                  <a:srgbClr val="9F296B"/>
                </a:solidFill>
                <a:latin typeface="Gulim"/>
                <a:ea typeface="Gulim"/>
                <a:cs typeface="Gulim"/>
                <a:sym typeface="Gulim"/>
              </a:defRPr>
            </a:lvl2pPr>
            <a:lvl3pPr indent="0" lvl="2" marL="0" marR="0" rtl="0" algn="r">
              <a:lnSpc>
                <a:spcPct val="100000"/>
              </a:lnSpc>
              <a:spcBef>
                <a:spcPts val="0"/>
              </a:spcBef>
              <a:spcAft>
                <a:spcPts val="0"/>
              </a:spcAft>
              <a:buClr>
                <a:srgbClr val="9F296B"/>
              </a:buClr>
              <a:buSzPts val="900"/>
              <a:buFont typeface="Gulim"/>
              <a:buNone/>
              <a:defRPr b="0" i="0" sz="900" u="none">
                <a:solidFill>
                  <a:srgbClr val="9F296B"/>
                </a:solidFill>
                <a:latin typeface="Gulim"/>
                <a:ea typeface="Gulim"/>
                <a:cs typeface="Gulim"/>
                <a:sym typeface="Gulim"/>
              </a:defRPr>
            </a:lvl3pPr>
            <a:lvl4pPr indent="0" lvl="3" marL="0" marR="0" rtl="0" algn="r">
              <a:lnSpc>
                <a:spcPct val="100000"/>
              </a:lnSpc>
              <a:spcBef>
                <a:spcPts val="0"/>
              </a:spcBef>
              <a:spcAft>
                <a:spcPts val="0"/>
              </a:spcAft>
              <a:buClr>
                <a:srgbClr val="9F296B"/>
              </a:buClr>
              <a:buSzPts val="900"/>
              <a:buFont typeface="Gulim"/>
              <a:buNone/>
              <a:defRPr b="0" i="0" sz="900" u="none">
                <a:solidFill>
                  <a:srgbClr val="9F296B"/>
                </a:solidFill>
                <a:latin typeface="Gulim"/>
                <a:ea typeface="Gulim"/>
                <a:cs typeface="Gulim"/>
                <a:sym typeface="Gulim"/>
              </a:defRPr>
            </a:lvl4pPr>
            <a:lvl5pPr indent="0" lvl="4" marL="0" marR="0" rtl="0" algn="r">
              <a:lnSpc>
                <a:spcPct val="100000"/>
              </a:lnSpc>
              <a:spcBef>
                <a:spcPts val="0"/>
              </a:spcBef>
              <a:spcAft>
                <a:spcPts val="0"/>
              </a:spcAft>
              <a:buClr>
                <a:srgbClr val="9F296B"/>
              </a:buClr>
              <a:buSzPts val="900"/>
              <a:buFont typeface="Gulim"/>
              <a:buNone/>
              <a:defRPr b="0" i="0" sz="900" u="none">
                <a:solidFill>
                  <a:srgbClr val="9F296B"/>
                </a:solidFill>
                <a:latin typeface="Gulim"/>
                <a:ea typeface="Gulim"/>
                <a:cs typeface="Gulim"/>
                <a:sym typeface="Gulim"/>
              </a:defRPr>
            </a:lvl5pPr>
            <a:lvl6pPr indent="0" lvl="5" marL="0" marR="0" rtl="0" algn="r">
              <a:lnSpc>
                <a:spcPct val="100000"/>
              </a:lnSpc>
              <a:spcBef>
                <a:spcPts val="0"/>
              </a:spcBef>
              <a:spcAft>
                <a:spcPts val="0"/>
              </a:spcAft>
              <a:buClr>
                <a:srgbClr val="9F296B"/>
              </a:buClr>
              <a:buSzPts val="900"/>
              <a:buFont typeface="Gulim"/>
              <a:buNone/>
              <a:defRPr b="0" i="0" sz="900" u="none">
                <a:solidFill>
                  <a:srgbClr val="9F296B"/>
                </a:solidFill>
                <a:latin typeface="Gulim"/>
                <a:ea typeface="Gulim"/>
                <a:cs typeface="Gulim"/>
                <a:sym typeface="Gulim"/>
              </a:defRPr>
            </a:lvl6pPr>
            <a:lvl7pPr indent="0" lvl="6" marL="0" marR="0" rtl="0" algn="r">
              <a:lnSpc>
                <a:spcPct val="100000"/>
              </a:lnSpc>
              <a:spcBef>
                <a:spcPts val="0"/>
              </a:spcBef>
              <a:spcAft>
                <a:spcPts val="0"/>
              </a:spcAft>
              <a:buClr>
                <a:srgbClr val="9F296B"/>
              </a:buClr>
              <a:buSzPts val="900"/>
              <a:buFont typeface="Gulim"/>
              <a:buNone/>
              <a:defRPr b="0" i="0" sz="900" u="none">
                <a:solidFill>
                  <a:srgbClr val="9F296B"/>
                </a:solidFill>
                <a:latin typeface="Gulim"/>
                <a:ea typeface="Gulim"/>
                <a:cs typeface="Gulim"/>
                <a:sym typeface="Gulim"/>
              </a:defRPr>
            </a:lvl7pPr>
            <a:lvl8pPr indent="0" lvl="7" marL="0" marR="0" rtl="0" algn="r">
              <a:lnSpc>
                <a:spcPct val="100000"/>
              </a:lnSpc>
              <a:spcBef>
                <a:spcPts val="0"/>
              </a:spcBef>
              <a:spcAft>
                <a:spcPts val="0"/>
              </a:spcAft>
              <a:buClr>
                <a:srgbClr val="9F296B"/>
              </a:buClr>
              <a:buSzPts val="900"/>
              <a:buFont typeface="Gulim"/>
              <a:buNone/>
              <a:defRPr b="0" i="0" sz="900" u="none">
                <a:solidFill>
                  <a:srgbClr val="9F296B"/>
                </a:solidFill>
                <a:latin typeface="Gulim"/>
                <a:ea typeface="Gulim"/>
                <a:cs typeface="Gulim"/>
                <a:sym typeface="Gulim"/>
              </a:defRPr>
            </a:lvl8pPr>
            <a:lvl9pPr indent="0" lvl="8" marL="0" marR="0" rtl="0" algn="r">
              <a:lnSpc>
                <a:spcPct val="100000"/>
              </a:lnSpc>
              <a:spcBef>
                <a:spcPts val="0"/>
              </a:spcBef>
              <a:spcAft>
                <a:spcPts val="0"/>
              </a:spcAft>
              <a:buClr>
                <a:srgbClr val="9F296B"/>
              </a:buClr>
              <a:buSzPts val="900"/>
              <a:buFont typeface="Gulim"/>
              <a:buNone/>
              <a:defRPr b="0" i="0" sz="900" u="none">
                <a:solidFill>
                  <a:srgbClr val="9F296B"/>
                </a:solidFill>
                <a:latin typeface="Gulim"/>
                <a:ea typeface="Gulim"/>
                <a:cs typeface="Gulim"/>
                <a:sym typeface="Gulim"/>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 name="Shape 25"/>
        <p:cNvGrpSpPr/>
        <p:nvPr/>
      </p:nvGrpSpPr>
      <p:grpSpPr>
        <a:xfrm>
          <a:off x="0" y="0"/>
          <a:ext cx="0" cy="0"/>
          <a:chOff x="0" y="0"/>
          <a:chExt cx="0" cy="0"/>
        </a:xfrm>
      </p:grpSpPr>
      <p:sp>
        <p:nvSpPr>
          <p:cNvPr id="26" name="Google Shape;26;p75"/>
          <p:cNvSpPr/>
          <p:nvPr/>
        </p:nvSpPr>
        <p:spPr>
          <a:xfrm>
            <a:off x="447675" y="441325"/>
            <a:ext cx="2720975" cy="10795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ulim"/>
              <a:ea typeface="Gulim"/>
              <a:cs typeface="Gulim"/>
              <a:sym typeface="Gulim"/>
            </a:endParaRPr>
          </a:p>
        </p:txBody>
      </p:sp>
      <p:sp>
        <p:nvSpPr>
          <p:cNvPr id="27" name="Google Shape;27;p75"/>
          <p:cNvSpPr/>
          <p:nvPr/>
        </p:nvSpPr>
        <p:spPr>
          <a:xfrm>
            <a:off x="5975350" y="441325"/>
            <a:ext cx="2711450" cy="107950"/>
          </a:xfrm>
          <a:prstGeom prst="rect">
            <a:avLst/>
          </a:prstGeom>
          <a:solidFill>
            <a:srgbClr val="969FA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ulim"/>
              <a:ea typeface="Gulim"/>
              <a:cs typeface="Gulim"/>
              <a:sym typeface="Gulim"/>
            </a:endParaRPr>
          </a:p>
        </p:txBody>
      </p:sp>
      <p:sp>
        <p:nvSpPr>
          <p:cNvPr id="28" name="Google Shape;28;p75"/>
          <p:cNvSpPr/>
          <p:nvPr/>
        </p:nvSpPr>
        <p:spPr>
          <a:xfrm>
            <a:off x="3216275" y="441325"/>
            <a:ext cx="2711450" cy="10795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ulim"/>
              <a:ea typeface="Gulim"/>
              <a:cs typeface="Gulim"/>
              <a:sym typeface="Gulim"/>
            </a:endParaRPr>
          </a:p>
        </p:txBody>
      </p:sp>
      <p:sp>
        <p:nvSpPr>
          <p:cNvPr id="29" name="Google Shape;29;p75"/>
          <p:cNvSpPr/>
          <p:nvPr/>
        </p:nvSpPr>
        <p:spPr>
          <a:xfrm>
            <a:off x="447675" y="600075"/>
            <a:ext cx="8239125" cy="125888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ulim"/>
              <a:ea typeface="Gulim"/>
              <a:cs typeface="Gulim"/>
              <a:sym typeface="Gulim"/>
            </a:endParaRPr>
          </a:p>
        </p:txBody>
      </p:sp>
      <p:pic>
        <p:nvPicPr>
          <p:cNvPr id="30" name="Google Shape;30;p75"/>
          <p:cNvPicPr preferRelativeResize="0"/>
          <p:nvPr/>
        </p:nvPicPr>
        <p:blipFill rotWithShape="1">
          <a:blip r:embed="rId1">
            <a:alphaModFix/>
          </a:blip>
          <a:srcRect b="0" l="0" r="0" t="0"/>
          <a:stretch/>
        </p:blipFill>
        <p:spPr>
          <a:xfrm>
            <a:off x="7235825" y="620712"/>
            <a:ext cx="1408112" cy="1150937"/>
          </a:xfrm>
          <a:prstGeom prst="rect">
            <a:avLst/>
          </a:prstGeom>
          <a:noFill/>
          <a:ln>
            <a:noFill/>
          </a:ln>
        </p:spPr>
      </p:pic>
      <p:pic>
        <p:nvPicPr>
          <p:cNvPr id="31" name="Google Shape;31;p75"/>
          <p:cNvPicPr preferRelativeResize="0"/>
          <p:nvPr/>
        </p:nvPicPr>
        <p:blipFill rotWithShape="1">
          <a:blip r:embed="rId2">
            <a:alphaModFix/>
          </a:blip>
          <a:srcRect b="0" l="0" r="0" t="0"/>
          <a:stretch/>
        </p:blipFill>
        <p:spPr>
          <a:xfrm>
            <a:off x="7380287" y="692150"/>
            <a:ext cx="1147762" cy="1062037"/>
          </a:xfrm>
          <a:prstGeom prst="rect">
            <a:avLst/>
          </a:prstGeom>
          <a:noFill/>
          <a:ln>
            <a:noFill/>
          </a:ln>
        </p:spPr>
      </p:pic>
      <p:sp>
        <p:nvSpPr>
          <p:cNvPr id="32" name="Google Shape;32;p75"/>
          <p:cNvSpPr txBox="1"/>
          <p:nvPr>
            <p:ph type="title"/>
          </p:nvPr>
        </p:nvSpPr>
        <p:spPr>
          <a:xfrm>
            <a:off x="581025" y="687387"/>
            <a:ext cx="7989887" cy="1082675"/>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SzPts val="1400"/>
              <a:buNone/>
              <a:defRPr b="0" i="0" sz="2800" u="none" cap="none" strike="noStrike">
                <a:solidFill>
                  <a:schemeClr val="lt1"/>
                </a:solidFill>
                <a:latin typeface="Gill Sans"/>
                <a:ea typeface="Gill Sans"/>
                <a:cs typeface="Gill Sans"/>
                <a:sym typeface="Gill Sans"/>
              </a:defRPr>
            </a:lvl1pPr>
            <a:lvl2pPr lvl="1" marR="0" rtl="0" algn="l">
              <a:spcBef>
                <a:spcPts val="0"/>
              </a:spcBef>
              <a:spcAft>
                <a:spcPts val="0"/>
              </a:spcAft>
              <a:buSzPts val="1400"/>
              <a:buNone/>
              <a:defRPr b="0" i="0" sz="2800" u="none" cap="none" strike="noStrike">
                <a:solidFill>
                  <a:schemeClr val="lt1"/>
                </a:solidFill>
                <a:latin typeface="Gill Sans"/>
                <a:ea typeface="Gill Sans"/>
                <a:cs typeface="Gill Sans"/>
                <a:sym typeface="Gill Sans"/>
              </a:defRPr>
            </a:lvl2pPr>
            <a:lvl3pPr lvl="2" marR="0" rtl="0" algn="l">
              <a:spcBef>
                <a:spcPts val="0"/>
              </a:spcBef>
              <a:spcAft>
                <a:spcPts val="0"/>
              </a:spcAft>
              <a:buSzPts val="1400"/>
              <a:buNone/>
              <a:defRPr b="0" i="0" sz="2800" u="none" cap="none" strike="noStrike">
                <a:solidFill>
                  <a:schemeClr val="lt1"/>
                </a:solidFill>
                <a:latin typeface="Gill Sans"/>
                <a:ea typeface="Gill Sans"/>
                <a:cs typeface="Gill Sans"/>
                <a:sym typeface="Gill Sans"/>
              </a:defRPr>
            </a:lvl3pPr>
            <a:lvl4pPr lvl="3" marR="0" rtl="0" algn="l">
              <a:spcBef>
                <a:spcPts val="0"/>
              </a:spcBef>
              <a:spcAft>
                <a:spcPts val="0"/>
              </a:spcAft>
              <a:buSzPts val="1400"/>
              <a:buNone/>
              <a:defRPr b="0" i="0" sz="2800" u="none" cap="none" strike="noStrike">
                <a:solidFill>
                  <a:schemeClr val="lt1"/>
                </a:solidFill>
                <a:latin typeface="Gill Sans"/>
                <a:ea typeface="Gill Sans"/>
                <a:cs typeface="Gill Sans"/>
                <a:sym typeface="Gill Sans"/>
              </a:defRPr>
            </a:lvl4pPr>
            <a:lvl5pPr lvl="4" marR="0" rtl="0" algn="l">
              <a:spcBef>
                <a:spcPts val="0"/>
              </a:spcBef>
              <a:spcAft>
                <a:spcPts val="0"/>
              </a:spcAft>
              <a:buSzPts val="1400"/>
              <a:buNone/>
              <a:defRPr b="0" i="0" sz="2800" u="none" cap="none" strike="noStrike">
                <a:solidFill>
                  <a:schemeClr val="lt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33" name="Google Shape;33;p75"/>
          <p:cNvSpPr txBox="1"/>
          <p:nvPr>
            <p:ph idx="1" type="body"/>
          </p:nvPr>
        </p:nvSpPr>
        <p:spPr>
          <a:xfrm>
            <a:off x="581025" y="2227262"/>
            <a:ext cx="7989887" cy="3632200"/>
          </a:xfrm>
          <a:prstGeom prst="rect">
            <a:avLst/>
          </a:prstGeom>
          <a:noFill/>
          <a:ln>
            <a:noFill/>
          </a:ln>
        </p:spPr>
        <p:txBody>
          <a:bodyPr anchorCtr="0" anchor="ctr" bIns="45700" lIns="91425" spcFirstLastPara="1" rIns="91425" wrap="square" tIns="45700">
            <a:noAutofit/>
          </a:bodyPr>
          <a:lstStyle>
            <a:lvl1pPr indent="-333756" lvl="0" marL="457200" marR="0" rtl="0" algn="l">
              <a:spcBef>
                <a:spcPts val="360"/>
              </a:spcBef>
              <a:spcAft>
                <a:spcPts val="0"/>
              </a:spcAft>
              <a:buClr>
                <a:schemeClr val="accent2"/>
              </a:buClr>
              <a:buSzPts val="1656"/>
              <a:buFont typeface="Noto Sans Symbols"/>
              <a:buChar char="◼"/>
              <a:defRPr b="0" i="0" sz="1800" u="none" cap="none" strike="noStrike">
                <a:solidFill>
                  <a:schemeClr val="dk2"/>
                </a:solidFill>
                <a:latin typeface="Gill Sans"/>
                <a:ea typeface="Gill Sans"/>
                <a:cs typeface="Gill Sans"/>
                <a:sym typeface="Gill Sans"/>
              </a:defRPr>
            </a:lvl1pPr>
            <a:lvl2pPr indent="-322072" lvl="1" marL="914400" marR="0" rtl="0" algn="l">
              <a:spcBef>
                <a:spcPts val="600"/>
              </a:spcBef>
              <a:spcAft>
                <a:spcPts val="0"/>
              </a:spcAft>
              <a:buClr>
                <a:schemeClr val="accent2"/>
              </a:buClr>
              <a:buSzPts val="1472"/>
              <a:buFont typeface="Noto Sans Symbols"/>
              <a:buChar char="◼"/>
              <a:defRPr b="0" i="0" sz="1600" u="none" cap="none" strike="noStrike">
                <a:solidFill>
                  <a:schemeClr val="dk2"/>
                </a:solidFill>
                <a:latin typeface="Gill Sans"/>
                <a:ea typeface="Gill Sans"/>
                <a:cs typeface="Gill Sans"/>
                <a:sym typeface="Gill Sans"/>
              </a:defRPr>
            </a:lvl2pPr>
            <a:lvl3pPr indent="-310388" lvl="2" marL="1371600" marR="0" rtl="0" algn="l">
              <a:spcBef>
                <a:spcPts val="600"/>
              </a:spcBef>
              <a:spcAft>
                <a:spcPts val="0"/>
              </a:spcAft>
              <a:buClr>
                <a:schemeClr val="accent2"/>
              </a:buClr>
              <a:buSzPts val="1288"/>
              <a:buFont typeface="Noto Sans Symbols"/>
              <a:buChar char="◼"/>
              <a:defRPr b="0" i="0" sz="1400" u="none" cap="none" strike="noStrike">
                <a:solidFill>
                  <a:schemeClr val="dk2"/>
                </a:solidFill>
                <a:latin typeface="Gill Sans"/>
                <a:ea typeface="Gill Sans"/>
                <a:cs typeface="Gill Sans"/>
                <a:sym typeface="Gill Sans"/>
              </a:defRPr>
            </a:lvl3pPr>
            <a:lvl4pPr indent="-298703" lvl="3" marL="18288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4pPr>
            <a:lvl5pPr indent="-298704" lvl="4" marL="22860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5pPr>
            <a:lvl6pPr indent="-298704" lvl="5" marL="27432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6pPr>
            <a:lvl7pPr indent="-298704" lvl="6" marL="32004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7pPr>
            <a:lvl8pPr indent="-298703" lvl="7" marL="36576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8pPr>
            <a:lvl9pPr indent="-298703" lvl="8" marL="4114800" marR="0" rtl="0" algn="l">
              <a:spcBef>
                <a:spcPts val="600"/>
              </a:spcBef>
              <a:spcAft>
                <a:spcPts val="60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9pPr>
          </a:lstStyle>
          <a:p/>
        </p:txBody>
      </p:sp>
      <p:sp>
        <p:nvSpPr>
          <p:cNvPr id="34" name="Google Shape;34;p75"/>
          <p:cNvSpPr txBox="1"/>
          <p:nvPr>
            <p:ph idx="11" type="ftr"/>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900" u="none">
                <a:solidFill>
                  <a:schemeClr val="accent2"/>
                </a:solidFill>
                <a:latin typeface="Gulim"/>
                <a:ea typeface="Gulim"/>
                <a:cs typeface="Gulim"/>
                <a:sym typeface="Gulim"/>
              </a:defRPr>
            </a:lvl1pPr>
            <a:lvl2pPr lvl="1" marR="0" rtl="0" algn="l">
              <a:lnSpc>
                <a:spcPct val="100000"/>
              </a:lnSpc>
              <a:spcBef>
                <a:spcPts val="0"/>
              </a:spcBef>
              <a:spcAft>
                <a:spcPts val="0"/>
              </a:spcAft>
              <a:buSzPts val="1400"/>
              <a:buNone/>
              <a:defRPr b="0" i="0" sz="1800" u="none" cap="none" strike="noStrike">
                <a:solidFill>
                  <a:schemeClr val="dk1"/>
                </a:solidFill>
                <a:latin typeface="Gulim"/>
                <a:ea typeface="Gulim"/>
                <a:cs typeface="Gulim"/>
                <a:sym typeface="Gulim"/>
              </a:defRPr>
            </a:lvl2pPr>
            <a:lvl3pPr lvl="2" marR="0" rtl="0" algn="l">
              <a:lnSpc>
                <a:spcPct val="100000"/>
              </a:lnSpc>
              <a:spcBef>
                <a:spcPts val="0"/>
              </a:spcBef>
              <a:spcAft>
                <a:spcPts val="0"/>
              </a:spcAft>
              <a:buSzPts val="1400"/>
              <a:buNone/>
              <a:defRPr b="0" i="0" sz="1800" u="none" cap="none" strike="noStrike">
                <a:solidFill>
                  <a:schemeClr val="dk1"/>
                </a:solidFill>
                <a:latin typeface="Gulim"/>
                <a:ea typeface="Gulim"/>
                <a:cs typeface="Gulim"/>
                <a:sym typeface="Gulim"/>
              </a:defRPr>
            </a:lvl3pPr>
            <a:lvl4pPr lvl="3" marR="0" rtl="0" algn="l">
              <a:lnSpc>
                <a:spcPct val="100000"/>
              </a:lnSpc>
              <a:spcBef>
                <a:spcPts val="0"/>
              </a:spcBef>
              <a:spcAft>
                <a:spcPts val="0"/>
              </a:spcAft>
              <a:buSzPts val="1400"/>
              <a:buNone/>
              <a:defRPr b="0" i="0" sz="1800" u="none" cap="none" strike="noStrike">
                <a:solidFill>
                  <a:schemeClr val="dk1"/>
                </a:solidFill>
                <a:latin typeface="Gulim"/>
                <a:ea typeface="Gulim"/>
                <a:cs typeface="Gulim"/>
                <a:sym typeface="Gulim"/>
              </a:defRPr>
            </a:lvl4pPr>
            <a:lvl5pPr lvl="4" marR="0" rtl="0" algn="l">
              <a:lnSpc>
                <a:spcPct val="100000"/>
              </a:lnSpc>
              <a:spcBef>
                <a:spcPts val="0"/>
              </a:spcBef>
              <a:spcAft>
                <a:spcPts val="0"/>
              </a:spcAft>
              <a:buSzPts val="1400"/>
              <a:buNone/>
              <a:defRPr b="0" i="0" sz="1800" u="none" cap="none" strike="noStrike">
                <a:solidFill>
                  <a:schemeClr val="dk1"/>
                </a:solidFill>
                <a:latin typeface="Gulim"/>
                <a:ea typeface="Gulim"/>
                <a:cs typeface="Gulim"/>
                <a:sym typeface="Gulim"/>
              </a:defRPr>
            </a:lvl5pPr>
            <a:lvl6pPr lvl="5" marR="0" rtl="0" algn="l">
              <a:lnSpc>
                <a:spcPct val="100000"/>
              </a:lnSpc>
              <a:spcBef>
                <a:spcPts val="0"/>
              </a:spcBef>
              <a:spcAft>
                <a:spcPts val="0"/>
              </a:spcAft>
              <a:buSzPts val="1400"/>
              <a:buNone/>
              <a:defRPr b="0" i="0" sz="1800" u="none" cap="none" strike="noStrike">
                <a:solidFill>
                  <a:schemeClr val="dk1"/>
                </a:solidFill>
                <a:latin typeface="Gulim"/>
                <a:ea typeface="Gulim"/>
                <a:cs typeface="Gulim"/>
                <a:sym typeface="Gulim"/>
              </a:defRPr>
            </a:lvl6pPr>
            <a:lvl7pPr lvl="6" marR="0" rtl="0" algn="l">
              <a:lnSpc>
                <a:spcPct val="100000"/>
              </a:lnSpc>
              <a:spcBef>
                <a:spcPts val="0"/>
              </a:spcBef>
              <a:spcAft>
                <a:spcPts val="0"/>
              </a:spcAft>
              <a:buSzPts val="1400"/>
              <a:buNone/>
              <a:defRPr b="0" i="0" sz="1800" u="none" cap="none" strike="noStrike">
                <a:solidFill>
                  <a:schemeClr val="dk1"/>
                </a:solidFill>
                <a:latin typeface="Gulim"/>
                <a:ea typeface="Gulim"/>
                <a:cs typeface="Gulim"/>
                <a:sym typeface="Gulim"/>
              </a:defRPr>
            </a:lvl7pPr>
            <a:lvl8pPr lvl="7" marR="0" rtl="0" algn="l">
              <a:lnSpc>
                <a:spcPct val="100000"/>
              </a:lnSpc>
              <a:spcBef>
                <a:spcPts val="0"/>
              </a:spcBef>
              <a:spcAft>
                <a:spcPts val="0"/>
              </a:spcAft>
              <a:buSzPts val="1400"/>
              <a:buNone/>
              <a:defRPr b="0" i="0" sz="1800" u="none" cap="none" strike="noStrike">
                <a:solidFill>
                  <a:schemeClr val="dk1"/>
                </a:solidFill>
                <a:latin typeface="Gulim"/>
                <a:ea typeface="Gulim"/>
                <a:cs typeface="Gulim"/>
                <a:sym typeface="Gulim"/>
              </a:defRPr>
            </a:lvl8pPr>
            <a:lvl9pPr lvl="8" marR="0" rtl="0" algn="l">
              <a:lnSpc>
                <a:spcPct val="100000"/>
              </a:lnSpc>
              <a:spcBef>
                <a:spcPts val="0"/>
              </a:spcBef>
              <a:spcAft>
                <a:spcPts val="0"/>
              </a:spcAft>
              <a:buSzPts val="1400"/>
              <a:buNone/>
              <a:defRPr b="0" i="0" sz="1800" u="none" cap="none" strike="noStrike">
                <a:solidFill>
                  <a:schemeClr val="dk1"/>
                </a:solidFill>
                <a:latin typeface="Gulim"/>
                <a:ea typeface="Gulim"/>
                <a:cs typeface="Gulim"/>
                <a:sym typeface="Gulim"/>
              </a:defRPr>
            </a:lvl9pPr>
          </a:lstStyle>
          <a:p/>
        </p:txBody>
      </p:sp>
      <p:sp>
        <p:nvSpPr>
          <p:cNvPr id="35" name="Google Shape;35;p75"/>
          <p:cNvSpPr txBox="1"/>
          <p:nvPr>
            <p:ph idx="12" type="sldNum"/>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accent2"/>
              </a:buClr>
              <a:buSzPts val="900"/>
              <a:buFont typeface="Gulim"/>
              <a:buNone/>
              <a:defRPr b="0" i="0" sz="900" u="none">
                <a:solidFill>
                  <a:schemeClr val="accent2"/>
                </a:solidFill>
                <a:latin typeface="Gulim"/>
                <a:ea typeface="Gulim"/>
                <a:cs typeface="Gulim"/>
                <a:sym typeface="Gulim"/>
              </a:defRPr>
            </a:lvl1pPr>
            <a:lvl2pPr indent="0" lvl="1" marL="0" marR="0" rtl="0" algn="r">
              <a:lnSpc>
                <a:spcPct val="100000"/>
              </a:lnSpc>
              <a:spcBef>
                <a:spcPts val="0"/>
              </a:spcBef>
              <a:spcAft>
                <a:spcPts val="0"/>
              </a:spcAft>
              <a:buClr>
                <a:schemeClr val="accent2"/>
              </a:buClr>
              <a:buSzPts val="900"/>
              <a:buFont typeface="Gulim"/>
              <a:buNone/>
              <a:defRPr b="0" i="0" sz="900" u="none">
                <a:solidFill>
                  <a:schemeClr val="accent2"/>
                </a:solidFill>
                <a:latin typeface="Gulim"/>
                <a:ea typeface="Gulim"/>
                <a:cs typeface="Gulim"/>
                <a:sym typeface="Gulim"/>
              </a:defRPr>
            </a:lvl2pPr>
            <a:lvl3pPr indent="0" lvl="2" marL="0" marR="0" rtl="0" algn="r">
              <a:lnSpc>
                <a:spcPct val="100000"/>
              </a:lnSpc>
              <a:spcBef>
                <a:spcPts val="0"/>
              </a:spcBef>
              <a:spcAft>
                <a:spcPts val="0"/>
              </a:spcAft>
              <a:buClr>
                <a:schemeClr val="accent2"/>
              </a:buClr>
              <a:buSzPts val="900"/>
              <a:buFont typeface="Gulim"/>
              <a:buNone/>
              <a:defRPr b="0" i="0" sz="900" u="none">
                <a:solidFill>
                  <a:schemeClr val="accent2"/>
                </a:solidFill>
                <a:latin typeface="Gulim"/>
                <a:ea typeface="Gulim"/>
                <a:cs typeface="Gulim"/>
                <a:sym typeface="Gulim"/>
              </a:defRPr>
            </a:lvl3pPr>
            <a:lvl4pPr indent="0" lvl="3" marL="0" marR="0" rtl="0" algn="r">
              <a:lnSpc>
                <a:spcPct val="100000"/>
              </a:lnSpc>
              <a:spcBef>
                <a:spcPts val="0"/>
              </a:spcBef>
              <a:spcAft>
                <a:spcPts val="0"/>
              </a:spcAft>
              <a:buClr>
                <a:schemeClr val="accent2"/>
              </a:buClr>
              <a:buSzPts val="900"/>
              <a:buFont typeface="Gulim"/>
              <a:buNone/>
              <a:defRPr b="0" i="0" sz="900" u="none">
                <a:solidFill>
                  <a:schemeClr val="accent2"/>
                </a:solidFill>
                <a:latin typeface="Gulim"/>
                <a:ea typeface="Gulim"/>
                <a:cs typeface="Gulim"/>
                <a:sym typeface="Gulim"/>
              </a:defRPr>
            </a:lvl4pPr>
            <a:lvl5pPr indent="0" lvl="4" marL="0" marR="0" rtl="0" algn="r">
              <a:lnSpc>
                <a:spcPct val="100000"/>
              </a:lnSpc>
              <a:spcBef>
                <a:spcPts val="0"/>
              </a:spcBef>
              <a:spcAft>
                <a:spcPts val="0"/>
              </a:spcAft>
              <a:buClr>
                <a:schemeClr val="accent2"/>
              </a:buClr>
              <a:buSzPts val="900"/>
              <a:buFont typeface="Gulim"/>
              <a:buNone/>
              <a:defRPr b="0" i="0" sz="900" u="none">
                <a:solidFill>
                  <a:schemeClr val="accent2"/>
                </a:solidFill>
                <a:latin typeface="Gulim"/>
                <a:ea typeface="Gulim"/>
                <a:cs typeface="Gulim"/>
                <a:sym typeface="Gulim"/>
              </a:defRPr>
            </a:lvl5pPr>
            <a:lvl6pPr indent="0" lvl="5" marL="0" marR="0" rtl="0" algn="r">
              <a:lnSpc>
                <a:spcPct val="100000"/>
              </a:lnSpc>
              <a:spcBef>
                <a:spcPts val="0"/>
              </a:spcBef>
              <a:spcAft>
                <a:spcPts val="0"/>
              </a:spcAft>
              <a:buClr>
                <a:schemeClr val="accent2"/>
              </a:buClr>
              <a:buSzPts val="900"/>
              <a:buFont typeface="Gulim"/>
              <a:buNone/>
              <a:defRPr b="0" i="0" sz="900" u="none">
                <a:solidFill>
                  <a:schemeClr val="accent2"/>
                </a:solidFill>
                <a:latin typeface="Gulim"/>
                <a:ea typeface="Gulim"/>
                <a:cs typeface="Gulim"/>
                <a:sym typeface="Gulim"/>
              </a:defRPr>
            </a:lvl6pPr>
            <a:lvl7pPr indent="0" lvl="6" marL="0" marR="0" rtl="0" algn="r">
              <a:lnSpc>
                <a:spcPct val="100000"/>
              </a:lnSpc>
              <a:spcBef>
                <a:spcPts val="0"/>
              </a:spcBef>
              <a:spcAft>
                <a:spcPts val="0"/>
              </a:spcAft>
              <a:buClr>
                <a:schemeClr val="accent2"/>
              </a:buClr>
              <a:buSzPts val="900"/>
              <a:buFont typeface="Gulim"/>
              <a:buNone/>
              <a:defRPr b="0" i="0" sz="900" u="none">
                <a:solidFill>
                  <a:schemeClr val="accent2"/>
                </a:solidFill>
                <a:latin typeface="Gulim"/>
                <a:ea typeface="Gulim"/>
                <a:cs typeface="Gulim"/>
                <a:sym typeface="Gulim"/>
              </a:defRPr>
            </a:lvl7pPr>
            <a:lvl8pPr indent="0" lvl="7" marL="0" marR="0" rtl="0" algn="r">
              <a:lnSpc>
                <a:spcPct val="100000"/>
              </a:lnSpc>
              <a:spcBef>
                <a:spcPts val="0"/>
              </a:spcBef>
              <a:spcAft>
                <a:spcPts val="0"/>
              </a:spcAft>
              <a:buClr>
                <a:schemeClr val="accent2"/>
              </a:buClr>
              <a:buSzPts val="900"/>
              <a:buFont typeface="Gulim"/>
              <a:buNone/>
              <a:defRPr b="0" i="0" sz="900" u="none">
                <a:solidFill>
                  <a:schemeClr val="accent2"/>
                </a:solidFill>
                <a:latin typeface="Gulim"/>
                <a:ea typeface="Gulim"/>
                <a:cs typeface="Gulim"/>
                <a:sym typeface="Gulim"/>
              </a:defRPr>
            </a:lvl8pPr>
            <a:lvl9pPr indent="0" lvl="8" marL="0" marR="0" rtl="0" algn="r">
              <a:lnSpc>
                <a:spcPct val="100000"/>
              </a:lnSpc>
              <a:spcBef>
                <a:spcPts val="0"/>
              </a:spcBef>
              <a:spcAft>
                <a:spcPts val="0"/>
              </a:spcAft>
              <a:buClr>
                <a:schemeClr val="accent2"/>
              </a:buClr>
              <a:buSzPts val="900"/>
              <a:buFont typeface="Gulim"/>
              <a:buNone/>
              <a:defRPr b="0" i="0" sz="900" u="none">
                <a:solidFill>
                  <a:schemeClr val="accent2"/>
                </a:solidFill>
                <a:latin typeface="Gulim"/>
                <a:ea typeface="Gulim"/>
                <a:cs typeface="Gulim"/>
                <a:sym typeface="Gulim"/>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1.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1.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1.png"/><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1.png"/><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1.png"/><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7.png"/><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1.png"/><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1.png"/><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1.png"/><Relationship Id="rId4"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1.png"/><Relationship Id="rId4"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1.png"/><Relationship Id="rId4" Type="http://schemas.openxmlformats.org/officeDocument/2006/relationships/image" Target="../media/image1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1.png"/><Relationship Id="rId4" Type="http://schemas.openxmlformats.org/officeDocument/2006/relationships/image" Target="../media/image1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1.png"/><Relationship Id="rId4" Type="http://schemas.openxmlformats.org/officeDocument/2006/relationships/image" Target="../media/image1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1.png"/><Relationship Id="rId4" Type="http://schemas.openxmlformats.org/officeDocument/2006/relationships/image" Target="../media/image1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1.png"/><Relationship Id="rId4" Type="http://schemas.openxmlformats.org/officeDocument/2006/relationships/image" Target="../media/image1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1.png"/><Relationship Id="rId4" Type="http://schemas.openxmlformats.org/officeDocument/2006/relationships/image" Target="../media/image1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1.png"/><Relationship Id="rId4" Type="http://schemas.openxmlformats.org/officeDocument/2006/relationships/image" Target="../media/image1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1.png"/><Relationship Id="rId4" Type="http://schemas.openxmlformats.org/officeDocument/2006/relationships/image" Target="../media/image1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11.png"/><Relationship Id="rId4" Type="http://schemas.openxmlformats.org/officeDocument/2006/relationships/image" Target="../media/image1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11.png"/><Relationship Id="rId4" Type="http://schemas.openxmlformats.org/officeDocument/2006/relationships/image" Target="../media/image1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11.png"/><Relationship Id="rId4" Type="http://schemas.openxmlformats.org/officeDocument/2006/relationships/image" Target="../media/image1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13.png"/><Relationship Id="rId4" Type="http://schemas.openxmlformats.org/officeDocument/2006/relationships/image" Target="../media/image1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2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21.png"/><Relationship Id="rId4" Type="http://schemas.openxmlformats.org/officeDocument/2006/relationships/image" Target="../media/image2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23.png"/><Relationship Id="rId4" Type="http://schemas.openxmlformats.org/officeDocument/2006/relationships/image" Target="../media/image2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2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11.png"/><Relationship Id="rId4" Type="http://schemas.openxmlformats.org/officeDocument/2006/relationships/image" Target="../media/image1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11.png"/><Relationship Id="rId4" Type="http://schemas.openxmlformats.org/officeDocument/2006/relationships/image" Target="../media/image1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11.png"/><Relationship Id="rId4" Type="http://schemas.openxmlformats.org/officeDocument/2006/relationships/image" Target="../media/image1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1"/>
          <p:cNvSpPr txBox="1"/>
          <p:nvPr>
            <p:ph type="ctrTitle"/>
          </p:nvPr>
        </p:nvSpPr>
        <p:spPr>
          <a:xfrm>
            <a:off x="755650" y="514350"/>
            <a:ext cx="6970712" cy="2319337"/>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accent1"/>
              </a:buClr>
              <a:buSzPts val="3600"/>
              <a:buFont typeface="Gill Sans"/>
              <a:buNone/>
            </a:pPr>
            <a:r>
              <a:rPr b="0" i="0" lang="en-US" sz="3600" u="none">
                <a:solidFill>
                  <a:schemeClr val="accent1"/>
                </a:solidFill>
                <a:latin typeface="Gill Sans"/>
                <a:ea typeface="Gill Sans"/>
                <a:cs typeface="Gill Sans"/>
                <a:sym typeface="Gill Sans"/>
              </a:rPr>
              <a:t>CHAPTER 9</a:t>
            </a:r>
            <a:br>
              <a:rPr b="0" i="0" lang="en-US" sz="3600" u="none">
                <a:solidFill>
                  <a:schemeClr val="accent1"/>
                </a:solidFill>
                <a:latin typeface="Gill Sans"/>
                <a:ea typeface="Gill Sans"/>
                <a:cs typeface="Gill Sans"/>
                <a:sym typeface="Gill Sans"/>
              </a:rPr>
            </a:br>
            <a:r>
              <a:rPr b="0" i="0" lang="en-US" sz="3600" u="none">
                <a:solidFill>
                  <a:schemeClr val="accent1"/>
                </a:solidFill>
                <a:latin typeface="Gill Sans"/>
                <a:ea typeface="Gill Sans"/>
                <a:cs typeface="Gill Sans"/>
                <a:sym typeface="Gill Sans"/>
              </a:rPr>
              <a:t>SIMPLE AUTHENTICATION PROTOCOLS</a:t>
            </a:r>
            <a:endParaRPr/>
          </a:p>
        </p:txBody>
      </p:sp>
      <p:sp>
        <p:nvSpPr>
          <p:cNvPr id="46" name="Google Shape;46;p1"/>
          <p:cNvSpPr txBox="1"/>
          <p:nvPr>
            <p:ph idx="1" type="subTitle"/>
          </p:nvPr>
        </p:nvSpPr>
        <p:spPr>
          <a:xfrm>
            <a:off x="546100" y="3222625"/>
            <a:ext cx="8597900" cy="3094037"/>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840"/>
              <a:buNone/>
            </a:pPr>
            <a:r>
              <a:rPr b="0" i="0" lang="en-US" sz="2000" u="none">
                <a:solidFill>
                  <a:schemeClr val="lt1"/>
                </a:solidFill>
                <a:latin typeface="Gill Sans"/>
                <a:ea typeface="Gill Sans"/>
                <a:cs typeface="Gill Sans"/>
                <a:sym typeface="Gill Sans"/>
              </a:rPr>
              <a:t>SIMPLE SECURITY PROTOCOL</a:t>
            </a:r>
            <a:endParaRPr/>
          </a:p>
          <a:p>
            <a:pPr indent="0" lvl="0" marL="0" rtl="0" algn="l">
              <a:lnSpc>
                <a:spcPct val="100000"/>
              </a:lnSpc>
              <a:spcBef>
                <a:spcPts val="1000"/>
              </a:spcBef>
              <a:spcAft>
                <a:spcPts val="0"/>
              </a:spcAft>
              <a:buSzPts val="1840"/>
              <a:buNone/>
            </a:pPr>
            <a:r>
              <a:rPr b="0" i="0" lang="en-US" sz="2000" u="none">
                <a:solidFill>
                  <a:schemeClr val="lt1"/>
                </a:solidFill>
                <a:latin typeface="Gill Sans"/>
                <a:ea typeface="Gill Sans"/>
                <a:cs typeface="Gill Sans"/>
                <a:sym typeface="Gill Sans"/>
              </a:rPr>
              <a:t>AUTHENTICATION PROTOCOLS</a:t>
            </a:r>
            <a:endParaRPr/>
          </a:p>
          <a:p>
            <a:pPr indent="0" lvl="0" marL="0" rtl="0" algn="l">
              <a:lnSpc>
                <a:spcPct val="100000"/>
              </a:lnSpc>
              <a:spcBef>
                <a:spcPts val="1000"/>
              </a:spcBef>
              <a:spcAft>
                <a:spcPts val="0"/>
              </a:spcAft>
              <a:buSzPts val="1840"/>
              <a:buNone/>
            </a:pPr>
            <a:r>
              <a:rPr b="0" i="0" lang="en-US" sz="2000" u="none">
                <a:solidFill>
                  <a:schemeClr val="lt1"/>
                </a:solidFill>
                <a:latin typeface="Gill Sans"/>
                <a:ea typeface="Gill Sans"/>
                <a:cs typeface="Gill Sans"/>
                <a:sym typeface="Gill Sans"/>
              </a:rPr>
              <a:t>ZERO KNOWLEDGE PROOFS</a:t>
            </a:r>
            <a:endParaRPr/>
          </a:p>
          <a:p>
            <a:pPr indent="0" lvl="0" marL="0" rtl="0" algn="l">
              <a:lnSpc>
                <a:spcPct val="100000"/>
              </a:lnSpc>
              <a:spcBef>
                <a:spcPts val="1000"/>
              </a:spcBef>
              <a:spcAft>
                <a:spcPts val="0"/>
              </a:spcAft>
              <a:buSzPts val="1840"/>
              <a:buNone/>
            </a:pPr>
            <a:r>
              <a:rPr b="0" i="0" lang="en-US" sz="2000" u="none">
                <a:solidFill>
                  <a:schemeClr val="lt1"/>
                </a:solidFill>
                <a:latin typeface="Gill Sans"/>
                <a:ea typeface="Gill Sans"/>
                <a:cs typeface="Gill Sans"/>
                <a:sym typeface="Gill Sans"/>
              </a:rPr>
              <a:t>THE BEST AUTHENTICATION PROTOCOL?</a:t>
            </a:r>
            <a:endParaRPr/>
          </a:p>
          <a:p>
            <a:pPr indent="0" lvl="0" marL="0" rtl="0" algn="l">
              <a:spcBef>
                <a:spcPts val="1000"/>
              </a:spcBef>
              <a:spcAft>
                <a:spcPts val="0"/>
              </a:spcAft>
              <a:buSzPts val="1840"/>
              <a:buNone/>
            </a:pPr>
            <a:r>
              <a:t/>
            </a:r>
            <a:endParaRPr b="0" i="0" sz="2000" u="none">
              <a:solidFill>
                <a:schemeClr val="lt1"/>
              </a:solidFill>
              <a:latin typeface="Gill Sans"/>
              <a:ea typeface="Gill Sans"/>
              <a:cs typeface="Gill Sans"/>
              <a:sym typeface="Gill Sans"/>
            </a:endParaRPr>
          </a:p>
        </p:txBody>
      </p:sp>
      <p:pic>
        <p:nvPicPr>
          <p:cNvPr id="47" name="Google Shape;47;p1"/>
          <p:cNvPicPr preferRelativeResize="0"/>
          <p:nvPr/>
        </p:nvPicPr>
        <p:blipFill rotWithShape="1">
          <a:blip r:embed="rId3">
            <a:alphaModFix/>
          </a:blip>
          <a:srcRect b="0" l="0" r="0" t="0"/>
          <a:stretch/>
        </p:blipFill>
        <p:spPr>
          <a:xfrm>
            <a:off x="7235825" y="620712"/>
            <a:ext cx="1408112" cy="1150937"/>
          </a:xfrm>
          <a:prstGeom prst="rect">
            <a:avLst/>
          </a:prstGeom>
          <a:noFill/>
          <a:ln>
            <a:noFill/>
          </a:ln>
        </p:spPr>
      </p:pic>
      <p:pic>
        <p:nvPicPr>
          <p:cNvPr id="48" name="Google Shape;48;p1"/>
          <p:cNvPicPr preferRelativeResize="0"/>
          <p:nvPr/>
        </p:nvPicPr>
        <p:blipFill rotWithShape="1">
          <a:blip r:embed="rId4">
            <a:alphaModFix/>
          </a:blip>
          <a:srcRect b="0" l="0" r="0" t="0"/>
          <a:stretch/>
        </p:blipFill>
        <p:spPr>
          <a:xfrm>
            <a:off x="7380287" y="692150"/>
            <a:ext cx="1147762" cy="106203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2"/>
          <p:cNvSpPr txBox="1"/>
          <p:nvPr>
            <p:ph type="title"/>
          </p:nvPr>
        </p:nvSpPr>
        <p:spPr>
          <a:xfrm>
            <a:off x="785812" y="457200"/>
            <a:ext cx="7143750" cy="9001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PROTOCOLS</a:t>
            </a:r>
            <a:endParaRPr/>
          </a:p>
        </p:txBody>
      </p:sp>
      <p:sp>
        <p:nvSpPr>
          <p:cNvPr id="55" name="Google Shape;55;p2"/>
          <p:cNvSpPr txBox="1"/>
          <p:nvPr>
            <p:ph idx="1" type="body"/>
          </p:nvPr>
        </p:nvSpPr>
        <p:spPr>
          <a:xfrm>
            <a:off x="730250" y="1916112"/>
            <a:ext cx="7456487" cy="4278312"/>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90000"/>
              </a:lnSpc>
              <a:spcBef>
                <a:spcPts val="0"/>
              </a:spcBef>
              <a:spcAft>
                <a:spcPts val="0"/>
              </a:spcAft>
              <a:buClr>
                <a:schemeClr val="accent2"/>
              </a:buClr>
              <a:buSzPts val="2576"/>
              <a:buFont typeface="Noto Sans Symbols"/>
              <a:buChar char="◼"/>
            </a:pPr>
            <a:r>
              <a:rPr b="0" i="0" lang="en-US" sz="2800" u="none" cap="none" strike="noStrike">
                <a:solidFill>
                  <a:srgbClr val="0000FF"/>
                </a:solidFill>
                <a:latin typeface="Gill Sans"/>
                <a:ea typeface="Gill Sans"/>
                <a:cs typeface="Gill Sans"/>
                <a:sym typeface="Gill Sans"/>
              </a:rPr>
              <a:t>Human protocols </a:t>
            </a:r>
            <a:r>
              <a:rPr b="0" i="0" lang="en-US" sz="2800" u="none" cap="none" strike="noStrike">
                <a:solidFill>
                  <a:schemeClr val="dk2"/>
                </a:solidFill>
                <a:latin typeface="Gill Sans"/>
                <a:ea typeface="Gill Sans"/>
                <a:cs typeface="Gill Sans"/>
                <a:sym typeface="Gill Sans"/>
              </a:rPr>
              <a:t>⎯ </a:t>
            </a:r>
            <a:r>
              <a:rPr b="0" i="0" lang="en-US" sz="2800" u="none" cap="none" strike="noStrike">
                <a:solidFill>
                  <a:srgbClr val="FF0000"/>
                </a:solidFill>
                <a:latin typeface="Gill Sans"/>
                <a:ea typeface="Gill Sans"/>
                <a:cs typeface="Gill Sans"/>
                <a:sym typeface="Gill Sans"/>
              </a:rPr>
              <a:t>the rules </a:t>
            </a:r>
            <a:r>
              <a:rPr b="0" i="0" lang="en-US" sz="2800" u="none" cap="none" strike="noStrike">
                <a:solidFill>
                  <a:schemeClr val="dk2"/>
                </a:solidFill>
                <a:latin typeface="Gill Sans"/>
                <a:ea typeface="Gill Sans"/>
                <a:cs typeface="Gill Sans"/>
                <a:sym typeface="Gill Sans"/>
              </a:rPr>
              <a:t>followed in human interactions</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Example: Asking a question in class</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0" i="0" lang="en-US" sz="2800" u="none" cap="none" strike="noStrike">
                <a:solidFill>
                  <a:srgbClr val="0000FF"/>
                </a:solidFill>
                <a:latin typeface="Gill Sans"/>
                <a:ea typeface="Gill Sans"/>
                <a:cs typeface="Gill Sans"/>
                <a:sym typeface="Gill Sans"/>
              </a:rPr>
              <a:t>Networking protocols </a:t>
            </a:r>
            <a:r>
              <a:rPr b="0" i="0" lang="en-US" sz="2800" u="none" cap="none" strike="noStrike">
                <a:solidFill>
                  <a:schemeClr val="dk2"/>
                </a:solidFill>
                <a:latin typeface="Gill Sans"/>
                <a:ea typeface="Gill Sans"/>
                <a:cs typeface="Gill Sans"/>
                <a:sym typeface="Gill Sans"/>
              </a:rPr>
              <a:t>⎯ rules followed in networked communication systems</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Examples: HTTP, FTP, etc.</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0" i="0" lang="en-US" sz="2800" u="none" cap="none" strike="noStrike">
                <a:solidFill>
                  <a:srgbClr val="0000FF"/>
                </a:solidFill>
                <a:latin typeface="Gill Sans"/>
                <a:ea typeface="Gill Sans"/>
                <a:cs typeface="Gill Sans"/>
                <a:sym typeface="Gill Sans"/>
              </a:rPr>
              <a:t>Security protocols </a:t>
            </a:r>
            <a:r>
              <a:rPr b="0" i="0" lang="en-US" sz="2800" u="none" cap="none" strike="noStrike">
                <a:solidFill>
                  <a:schemeClr val="dk2"/>
                </a:solidFill>
                <a:latin typeface="Gill Sans"/>
                <a:ea typeface="Gill Sans"/>
                <a:cs typeface="Gill Sans"/>
                <a:sym typeface="Gill Sans"/>
              </a:rPr>
              <a:t>⎯ the (communication) rules followed in a security application</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Examples: SSL, IPSec, Kerberos, etc.</a:t>
            </a:r>
            <a:endParaRPr/>
          </a:p>
        </p:txBody>
      </p:sp>
      <p:sp>
        <p:nvSpPr>
          <p:cNvPr id="56" name="Google Shape;56;p2"/>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57" name="Google Shape;57;p2"/>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3"/>
          <p:cNvSpPr txBox="1"/>
          <p:nvPr>
            <p:ph type="title"/>
          </p:nvPr>
        </p:nvSpPr>
        <p:spPr>
          <a:xfrm>
            <a:off x="785812" y="428625"/>
            <a:ext cx="7143750" cy="928687"/>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PROTOCOLS</a:t>
            </a:r>
            <a:endParaRPr/>
          </a:p>
        </p:txBody>
      </p:sp>
      <p:sp>
        <p:nvSpPr>
          <p:cNvPr id="63" name="Google Shape;63;p3"/>
          <p:cNvSpPr txBox="1"/>
          <p:nvPr>
            <p:ph idx="1" type="body"/>
          </p:nvPr>
        </p:nvSpPr>
        <p:spPr>
          <a:xfrm>
            <a:off x="785812" y="1714500"/>
            <a:ext cx="7527925" cy="4657725"/>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100000"/>
              </a:lnSpc>
              <a:spcBef>
                <a:spcPts val="0"/>
              </a:spcBef>
              <a:spcAft>
                <a:spcPts val="0"/>
              </a:spcAft>
              <a:buClr>
                <a:schemeClr val="accent2"/>
              </a:buClr>
              <a:buSzPts val="2944"/>
              <a:buFont typeface="Noto Sans Symbols"/>
              <a:buChar char="◼"/>
            </a:pPr>
            <a:r>
              <a:rPr b="0" i="0" lang="en-US" sz="3200" u="none" cap="none" strike="noStrike">
                <a:solidFill>
                  <a:schemeClr val="dk2"/>
                </a:solidFill>
                <a:latin typeface="Gill Sans"/>
                <a:ea typeface="Gill Sans"/>
                <a:cs typeface="Gill Sans"/>
                <a:sym typeface="Gill Sans"/>
              </a:rPr>
              <a:t>Protocol flaws can be very subtle </a:t>
            </a:r>
            <a:endParaRPr/>
          </a:p>
          <a:p>
            <a:pPr indent="-304800" lvl="0" marL="304800" marR="0" rtl="0" algn="l">
              <a:lnSpc>
                <a:spcPct val="100000"/>
              </a:lnSpc>
              <a:spcBef>
                <a:spcPts val="1240"/>
              </a:spcBef>
              <a:spcAft>
                <a:spcPts val="0"/>
              </a:spcAft>
              <a:buClr>
                <a:schemeClr val="accent2"/>
              </a:buClr>
              <a:buSzPts val="2944"/>
              <a:buFont typeface="Noto Sans Symbols"/>
              <a:buChar char="◼"/>
            </a:pPr>
            <a:r>
              <a:rPr b="0" i="0" lang="en-US" sz="3200" u="none" cap="none" strike="noStrike">
                <a:solidFill>
                  <a:srgbClr val="0000FF"/>
                </a:solidFill>
                <a:latin typeface="Gill Sans"/>
                <a:ea typeface="Gill Sans"/>
                <a:cs typeface="Gill Sans"/>
                <a:sym typeface="Gill Sans"/>
              </a:rPr>
              <a:t>Several well-known security protocols have serious flaws</a:t>
            </a:r>
            <a:endParaRPr/>
          </a:p>
          <a:p>
            <a:pPr indent="-304800" lvl="1" marL="628650" marR="0" rtl="0" algn="l">
              <a:lnSpc>
                <a:spcPct val="100000"/>
              </a:lnSpc>
              <a:spcBef>
                <a:spcPts val="116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Including WEP, GSM and  even IPSec </a:t>
            </a:r>
            <a:endParaRPr/>
          </a:p>
          <a:p>
            <a:pPr indent="-304800" lvl="1" marL="628650" marR="0" rtl="0" algn="l">
              <a:lnSpc>
                <a:spcPct val="100000"/>
              </a:lnSpc>
              <a:spcBef>
                <a:spcPts val="116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Implementation errors can occur</a:t>
            </a:r>
            <a:endParaRPr/>
          </a:p>
          <a:p>
            <a:pPr indent="-269875" lvl="2" marL="898525"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Such as IE implementation of SSL</a:t>
            </a:r>
            <a:endParaRPr/>
          </a:p>
          <a:p>
            <a:pPr indent="-304800" lvl="0" marL="304800" marR="0" rtl="0" algn="l">
              <a:lnSpc>
                <a:spcPct val="100000"/>
              </a:lnSpc>
              <a:spcBef>
                <a:spcPts val="1240"/>
              </a:spcBef>
              <a:spcAft>
                <a:spcPts val="0"/>
              </a:spcAft>
              <a:buClr>
                <a:schemeClr val="accent2"/>
              </a:buClr>
              <a:buSzPts val="2944"/>
              <a:buFont typeface="Noto Sans Symbols"/>
              <a:buChar char="◼"/>
            </a:pPr>
            <a:r>
              <a:rPr b="0" i="0" lang="en-US" sz="3200" u="none" cap="none" strike="noStrike">
                <a:solidFill>
                  <a:schemeClr val="dk2"/>
                </a:solidFill>
                <a:latin typeface="Gill Sans"/>
                <a:ea typeface="Gill Sans"/>
                <a:cs typeface="Gill Sans"/>
                <a:sym typeface="Gill Sans"/>
              </a:rPr>
              <a:t>Not easy to get protocols right…</a:t>
            </a:r>
            <a:endParaRPr/>
          </a:p>
        </p:txBody>
      </p:sp>
      <p:sp>
        <p:nvSpPr>
          <p:cNvPr id="64" name="Google Shape;64;p3"/>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65" name="Google Shape;65;p3"/>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4"/>
          <p:cNvSpPr txBox="1"/>
          <p:nvPr>
            <p:ph type="title"/>
          </p:nvPr>
        </p:nvSpPr>
        <p:spPr>
          <a:xfrm>
            <a:off x="785812" y="501650"/>
            <a:ext cx="7143750" cy="85566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IDEAL SECURITY PROTOCOL</a:t>
            </a:r>
            <a:endParaRPr/>
          </a:p>
        </p:txBody>
      </p:sp>
      <p:sp>
        <p:nvSpPr>
          <p:cNvPr id="72" name="Google Shape;72;p4"/>
          <p:cNvSpPr txBox="1"/>
          <p:nvPr>
            <p:ph idx="1" type="body"/>
          </p:nvPr>
        </p:nvSpPr>
        <p:spPr>
          <a:xfrm>
            <a:off x="377825" y="1933575"/>
            <a:ext cx="7786687" cy="4443412"/>
          </a:xfrm>
          <a:prstGeom prst="rect">
            <a:avLst/>
          </a:prstGeom>
          <a:noFill/>
          <a:ln>
            <a:noFill/>
          </a:ln>
        </p:spPr>
        <p:txBody>
          <a:bodyPr anchorCtr="0" anchor="ctr" bIns="45700" lIns="91425" spcFirstLastPara="1" rIns="91425" wrap="square" tIns="45700">
            <a:normAutofit/>
          </a:bodyPr>
          <a:lstStyle/>
          <a:p>
            <a:pPr indent="-514350" lvl="0" marL="514350" marR="0" rtl="0" algn="l">
              <a:lnSpc>
                <a:spcPct val="80000"/>
              </a:lnSpc>
              <a:spcBef>
                <a:spcPts val="0"/>
              </a:spcBef>
              <a:spcAft>
                <a:spcPts val="0"/>
              </a:spcAft>
              <a:buClr>
                <a:schemeClr val="accent2"/>
              </a:buClr>
              <a:buSzPts val="2424"/>
              <a:buFont typeface="Gill Sans"/>
              <a:buAutoNum type="arabicPeriod"/>
            </a:pPr>
            <a:r>
              <a:rPr b="0" i="0" lang="en-US" sz="2400" u="none" cap="none" strike="noStrike">
                <a:solidFill>
                  <a:srgbClr val="0000FF"/>
                </a:solidFill>
                <a:latin typeface="Gill Sans"/>
                <a:ea typeface="Gill Sans"/>
                <a:cs typeface="Gill Sans"/>
                <a:sym typeface="Gill Sans"/>
              </a:rPr>
              <a:t>Satisfies security requirements</a:t>
            </a:r>
            <a:endParaRPr/>
          </a:p>
          <a:p>
            <a:pPr indent="-457200" lvl="1" marL="800100" marR="0" rtl="0" algn="l">
              <a:lnSpc>
                <a:spcPct val="80000"/>
              </a:lnSpc>
              <a:spcBef>
                <a:spcPts val="1000"/>
              </a:spcBef>
              <a:spcAft>
                <a:spcPts val="0"/>
              </a:spcAft>
              <a:buClr>
                <a:schemeClr val="accent2"/>
              </a:buClr>
              <a:buSzPts val="1840"/>
              <a:buFont typeface="Noto Sans Symbols"/>
              <a:buChar char="◼"/>
            </a:pPr>
            <a:r>
              <a:rPr b="0" i="0" lang="en-US" sz="2000" u="none" cap="none" strike="noStrike">
                <a:solidFill>
                  <a:schemeClr val="dk1"/>
                </a:solidFill>
                <a:latin typeface="Gill Sans"/>
                <a:ea typeface="Gill Sans"/>
                <a:cs typeface="Gill Sans"/>
                <a:sym typeface="Gill Sans"/>
              </a:rPr>
              <a:t>Requirements must be precise</a:t>
            </a:r>
            <a:endParaRPr/>
          </a:p>
          <a:p>
            <a:pPr indent="-514350" lvl="0" marL="514350" marR="0" rtl="0" algn="l">
              <a:lnSpc>
                <a:spcPct val="80000"/>
              </a:lnSpc>
              <a:spcBef>
                <a:spcPts val="1080"/>
              </a:spcBef>
              <a:spcAft>
                <a:spcPts val="0"/>
              </a:spcAft>
              <a:buClr>
                <a:schemeClr val="accent2"/>
              </a:buClr>
              <a:buSzPts val="2424"/>
              <a:buFont typeface="Gill Sans"/>
              <a:buAutoNum type="arabicPeriod"/>
            </a:pPr>
            <a:r>
              <a:rPr b="0" i="0" lang="en-US" sz="2400" u="none" cap="none" strike="noStrike">
                <a:solidFill>
                  <a:srgbClr val="0000FF"/>
                </a:solidFill>
                <a:latin typeface="Gill Sans"/>
                <a:ea typeface="Gill Sans"/>
                <a:cs typeface="Gill Sans"/>
                <a:sym typeface="Gill Sans"/>
              </a:rPr>
              <a:t>Efficient</a:t>
            </a:r>
            <a:endParaRPr/>
          </a:p>
          <a:p>
            <a:pPr indent="-457200" lvl="1" marL="800100" marR="0" rtl="0" algn="l">
              <a:lnSpc>
                <a:spcPct val="80000"/>
              </a:lnSpc>
              <a:spcBef>
                <a:spcPts val="1000"/>
              </a:spcBef>
              <a:spcAft>
                <a:spcPts val="0"/>
              </a:spcAft>
              <a:buClr>
                <a:schemeClr val="accent2"/>
              </a:buClr>
              <a:buSzPts val="1840"/>
              <a:buFont typeface="Noto Sans Symbols"/>
              <a:buChar char="◼"/>
            </a:pPr>
            <a:r>
              <a:rPr b="0" i="0" lang="en-US" sz="2000" u="none" cap="none" strike="noStrike">
                <a:solidFill>
                  <a:schemeClr val="dk1"/>
                </a:solidFill>
                <a:latin typeface="Gill Sans"/>
                <a:ea typeface="Gill Sans"/>
                <a:cs typeface="Gill Sans"/>
                <a:sym typeface="Gill Sans"/>
              </a:rPr>
              <a:t>Minimize computational requirement ⎯ in particular, costly public key operations</a:t>
            </a:r>
            <a:endParaRPr/>
          </a:p>
          <a:p>
            <a:pPr indent="-457200" lvl="1" marL="800100" marR="0" rtl="0" algn="l">
              <a:lnSpc>
                <a:spcPct val="80000"/>
              </a:lnSpc>
              <a:spcBef>
                <a:spcPts val="1000"/>
              </a:spcBef>
              <a:spcAft>
                <a:spcPts val="0"/>
              </a:spcAft>
              <a:buClr>
                <a:schemeClr val="accent2"/>
              </a:buClr>
              <a:buSzPts val="1840"/>
              <a:buFont typeface="Noto Sans Symbols"/>
              <a:buChar char="◼"/>
            </a:pPr>
            <a:r>
              <a:rPr b="0" i="0" lang="en-US" sz="2000" u="none" cap="none" strike="noStrike">
                <a:solidFill>
                  <a:schemeClr val="dk1"/>
                </a:solidFill>
                <a:latin typeface="Gill Sans"/>
                <a:ea typeface="Gill Sans"/>
                <a:cs typeface="Gill Sans"/>
                <a:sym typeface="Gill Sans"/>
              </a:rPr>
              <a:t>Minimize delays/bandwidth</a:t>
            </a:r>
            <a:endParaRPr/>
          </a:p>
          <a:p>
            <a:pPr indent="-514350" lvl="0" marL="514350" marR="0" rtl="0" algn="l">
              <a:lnSpc>
                <a:spcPct val="80000"/>
              </a:lnSpc>
              <a:spcBef>
                <a:spcPts val="1080"/>
              </a:spcBef>
              <a:spcAft>
                <a:spcPts val="0"/>
              </a:spcAft>
              <a:buClr>
                <a:schemeClr val="accent2"/>
              </a:buClr>
              <a:buSzPts val="2424"/>
              <a:buFont typeface="Gill Sans"/>
              <a:buAutoNum type="arabicPeriod"/>
            </a:pPr>
            <a:r>
              <a:rPr b="0" i="0" lang="en-US" sz="2400" u="none" cap="none" strike="noStrike">
                <a:solidFill>
                  <a:srgbClr val="0000FF"/>
                </a:solidFill>
                <a:latin typeface="Gill Sans"/>
                <a:ea typeface="Gill Sans"/>
                <a:cs typeface="Gill Sans"/>
                <a:sym typeface="Gill Sans"/>
              </a:rPr>
              <a:t>Not fragile</a:t>
            </a:r>
            <a:endParaRPr/>
          </a:p>
          <a:p>
            <a:pPr indent="-457200" lvl="1" marL="800100" marR="0" rtl="0" algn="l">
              <a:lnSpc>
                <a:spcPct val="80000"/>
              </a:lnSpc>
              <a:spcBef>
                <a:spcPts val="1000"/>
              </a:spcBef>
              <a:spcAft>
                <a:spcPts val="0"/>
              </a:spcAft>
              <a:buClr>
                <a:schemeClr val="accent2"/>
              </a:buClr>
              <a:buSzPts val="1840"/>
              <a:buFont typeface="Noto Sans Symbols"/>
              <a:buChar char="◼"/>
            </a:pPr>
            <a:r>
              <a:rPr b="0" i="0" lang="en-US" sz="2000" u="none" cap="none" strike="noStrike">
                <a:solidFill>
                  <a:schemeClr val="dk1"/>
                </a:solidFill>
                <a:latin typeface="Gill Sans"/>
                <a:ea typeface="Gill Sans"/>
                <a:cs typeface="Gill Sans"/>
                <a:sym typeface="Gill Sans"/>
              </a:rPr>
              <a:t>Must work when attacker tries to break it</a:t>
            </a:r>
            <a:endParaRPr/>
          </a:p>
          <a:p>
            <a:pPr indent="-457200" lvl="1" marL="800100" marR="0" rtl="0" algn="l">
              <a:lnSpc>
                <a:spcPct val="80000"/>
              </a:lnSpc>
              <a:spcBef>
                <a:spcPts val="1000"/>
              </a:spcBef>
              <a:spcAft>
                <a:spcPts val="0"/>
              </a:spcAft>
              <a:buClr>
                <a:schemeClr val="accent2"/>
              </a:buClr>
              <a:buSzPts val="1840"/>
              <a:buFont typeface="Noto Sans Symbols"/>
              <a:buChar char="◼"/>
            </a:pPr>
            <a:r>
              <a:rPr b="0" i="0" lang="en-US" sz="2000" u="none" cap="none" strike="noStrike">
                <a:solidFill>
                  <a:schemeClr val="dk1"/>
                </a:solidFill>
                <a:latin typeface="Gill Sans"/>
                <a:ea typeface="Gill Sans"/>
                <a:cs typeface="Gill Sans"/>
                <a:sym typeface="Gill Sans"/>
              </a:rPr>
              <a:t>Works even if environment changes</a:t>
            </a:r>
            <a:endParaRPr/>
          </a:p>
          <a:p>
            <a:pPr indent="-514350" lvl="0" marL="514350" marR="0" rtl="0" algn="l">
              <a:lnSpc>
                <a:spcPct val="80000"/>
              </a:lnSpc>
              <a:spcBef>
                <a:spcPts val="1080"/>
              </a:spcBef>
              <a:spcAft>
                <a:spcPts val="0"/>
              </a:spcAft>
              <a:buClr>
                <a:schemeClr val="accent2"/>
              </a:buClr>
              <a:buSzPts val="2400"/>
              <a:buFont typeface="Gill Sans"/>
              <a:buAutoNum type="arabicPeriod"/>
            </a:pPr>
            <a:r>
              <a:rPr b="0" i="0" lang="en-US" sz="2400" u="none" cap="none" strike="noStrike">
                <a:solidFill>
                  <a:srgbClr val="0000FF"/>
                </a:solidFill>
                <a:latin typeface="Gill Sans"/>
                <a:ea typeface="Gill Sans"/>
                <a:cs typeface="Gill Sans"/>
                <a:sym typeface="Gill Sans"/>
              </a:rPr>
              <a:t>Easy to use and implement, flexible, etc.</a:t>
            </a:r>
            <a:endParaRPr/>
          </a:p>
          <a:p>
            <a:pPr indent="-514350" lvl="0" marL="514350" marR="0" rtl="0" algn="l">
              <a:lnSpc>
                <a:spcPct val="80000"/>
              </a:lnSpc>
              <a:spcBef>
                <a:spcPts val="1800"/>
              </a:spcBef>
              <a:spcAft>
                <a:spcPts val="0"/>
              </a:spcAft>
              <a:buClr>
                <a:schemeClr val="accent2"/>
              </a:buClr>
              <a:buSzPts val="2392"/>
              <a:buFont typeface="Noto Sans Symbols"/>
              <a:buChar char="◼"/>
            </a:pPr>
            <a:r>
              <a:rPr b="0" i="0" lang="en-US" sz="2600" u="none" cap="none" strike="noStrike">
                <a:solidFill>
                  <a:srgbClr val="FF0000"/>
                </a:solidFill>
                <a:latin typeface="Gill Sans"/>
                <a:ea typeface="Gill Sans"/>
                <a:cs typeface="Gill Sans"/>
                <a:sym typeface="Gill Sans"/>
              </a:rPr>
              <a:t>Difficult to satisfy all of these!</a:t>
            </a:r>
            <a:endParaRPr/>
          </a:p>
        </p:txBody>
      </p:sp>
      <p:sp>
        <p:nvSpPr>
          <p:cNvPr id="73" name="Google Shape;73;p4"/>
          <p:cNvSpPr txBox="1"/>
          <p:nvPr/>
        </p:nvSpPr>
        <p:spPr>
          <a:xfrm>
            <a:off x="250825" y="6435725"/>
            <a:ext cx="7345362"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74" name="Google Shape;74;p4"/>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5"/>
          <p:cNvSpPr txBox="1"/>
          <p:nvPr>
            <p:ph type="title"/>
          </p:nvPr>
        </p:nvSpPr>
        <p:spPr>
          <a:xfrm>
            <a:off x="285750" y="2276475"/>
            <a:ext cx="8572500" cy="11430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accent2"/>
              </a:buClr>
              <a:buSzPts val="4400"/>
              <a:buFont typeface="Gill Sans"/>
              <a:buNone/>
            </a:pPr>
            <a:r>
              <a:rPr b="0" i="0" lang="en-US" sz="4400" u="none">
                <a:solidFill>
                  <a:schemeClr val="accent2"/>
                </a:solidFill>
                <a:latin typeface="Gill Sans"/>
                <a:ea typeface="Gill Sans"/>
                <a:cs typeface="Gill Sans"/>
                <a:sym typeface="Gill Sans"/>
              </a:rPr>
              <a:t>SIMPLE SECURITY PROTOCOLS</a:t>
            </a:r>
            <a:endParaRPr/>
          </a:p>
        </p:txBody>
      </p:sp>
      <p:sp>
        <p:nvSpPr>
          <p:cNvPr id="80" name="Google Shape;80;p5"/>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81" name="Google Shape;81;p5"/>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6"/>
          <p:cNvSpPr txBox="1"/>
          <p:nvPr>
            <p:ph type="title"/>
          </p:nvPr>
        </p:nvSpPr>
        <p:spPr>
          <a:xfrm>
            <a:off x="785812" y="122237"/>
            <a:ext cx="7215187" cy="123507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SECURE ENTRY TO NSA</a:t>
            </a:r>
            <a:endParaRPr/>
          </a:p>
        </p:txBody>
      </p:sp>
      <p:sp>
        <p:nvSpPr>
          <p:cNvPr id="88" name="Google Shape;88;p6"/>
          <p:cNvSpPr txBox="1"/>
          <p:nvPr>
            <p:ph idx="1" type="body"/>
          </p:nvPr>
        </p:nvSpPr>
        <p:spPr>
          <a:xfrm>
            <a:off x="785812" y="1719262"/>
            <a:ext cx="7900987" cy="4411662"/>
          </a:xfrm>
          <a:prstGeom prst="rect">
            <a:avLst/>
          </a:prstGeom>
          <a:noFill/>
          <a:ln>
            <a:noFill/>
          </a:ln>
        </p:spPr>
        <p:txBody>
          <a:bodyPr anchorCtr="0" anchor="ctr" bIns="45700" lIns="91425" spcFirstLastPara="1" rIns="91425" wrap="square" tIns="45700">
            <a:noAutofit/>
          </a:bodyPr>
          <a:lstStyle/>
          <a:p>
            <a:pPr indent="-609600" lvl="0" marL="609600" marR="0" rtl="0" algn="l">
              <a:lnSpc>
                <a:spcPct val="150000"/>
              </a:lnSpc>
              <a:spcBef>
                <a:spcPts val="0"/>
              </a:spcBef>
              <a:spcAft>
                <a:spcPts val="0"/>
              </a:spcAft>
              <a:buClr>
                <a:schemeClr val="accent2"/>
              </a:buClr>
              <a:buSzPts val="2800"/>
              <a:buFont typeface="Times"/>
              <a:buAutoNum type="arabicPeriod"/>
            </a:pPr>
            <a:r>
              <a:rPr b="0" i="0" lang="en-US" sz="2800" u="none" cap="none" strike="noStrike">
                <a:solidFill>
                  <a:schemeClr val="dk2"/>
                </a:solidFill>
                <a:latin typeface="Gill Sans"/>
                <a:ea typeface="Gill Sans"/>
                <a:cs typeface="Gill Sans"/>
                <a:sym typeface="Gill Sans"/>
              </a:rPr>
              <a:t>Insert badge into reader</a:t>
            </a:r>
            <a:endParaRPr/>
          </a:p>
          <a:p>
            <a:pPr indent="-609600" lvl="0" marL="609600" marR="0" rtl="0" algn="l">
              <a:lnSpc>
                <a:spcPct val="150000"/>
              </a:lnSpc>
              <a:spcBef>
                <a:spcPts val="1160"/>
              </a:spcBef>
              <a:spcAft>
                <a:spcPts val="0"/>
              </a:spcAft>
              <a:buClr>
                <a:schemeClr val="accent2"/>
              </a:buClr>
              <a:buSzPts val="2800"/>
              <a:buFont typeface="Times"/>
              <a:buAutoNum type="arabicPeriod"/>
            </a:pPr>
            <a:r>
              <a:rPr b="0" i="0" lang="en-US" sz="2800" u="none" cap="none" strike="noStrike">
                <a:solidFill>
                  <a:schemeClr val="dk2"/>
                </a:solidFill>
                <a:latin typeface="Gill Sans"/>
                <a:ea typeface="Gill Sans"/>
                <a:cs typeface="Gill Sans"/>
                <a:sym typeface="Gill Sans"/>
              </a:rPr>
              <a:t>Enter PIN</a:t>
            </a:r>
            <a:endParaRPr/>
          </a:p>
          <a:p>
            <a:pPr indent="-609600" lvl="0" marL="609600" marR="0" rtl="0" algn="l">
              <a:lnSpc>
                <a:spcPct val="150000"/>
              </a:lnSpc>
              <a:spcBef>
                <a:spcPts val="1160"/>
              </a:spcBef>
              <a:spcAft>
                <a:spcPts val="0"/>
              </a:spcAft>
              <a:buClr>
                <a:schemeClr val="accent2"/>
              </a:buClr>
              <a:buSzPts val="2800"/>
              <a:buFont typeface="Times"/>
              <a:buAutoNum type="arabicPeriod"/>
            </a:pPr>
            <a:r>
              <a:rPr b="0" i="0" lang="en-US" sz="2800" u="none" cap="none" strike="noStrike">
                <a:solidFill>
                  <a:schemeClr val="dk2"/>
                </a:solidFill>
                <a:latin typeface="Gill Sans"/>
                <a:ea typeface="Gill Sans"/>
                <a:cs typeface="Gill Sans"/>
                <a:sym typeface="Gill Sans"/>
              </a:rPr>
              <a:t>Correct PIN?</a:t>
            </a:r>
            <a:endParaRPr/>
          </a:p>
          <a:p>
            <a:pPr indent="-533400" lvl="1" marL="990600" marR="0" rtl="0" algn="l">
              <a:lnSpc>
                <a:spcPct val="150000"/>
              </a:lnSpc>
              <a:spcBef>
                <a:spcPts val="1200"/>
              </a:spcBef>
              <a:spcAft>
                <a:spcPts val="0"/>
              </a:spcAft>
              <a:buClr>
                <a:schemeClr val="accent2"/>
              </a:buClr>
              <a:buSzPts val="2760"/>
              <a:buFont typeface="Noto Sans Symbols"/>
              <a:buNone/>
            </a:pPr>
            <a:r>
              <a:rPr b="0" i="0" lang="en-US" sz="3000" u="none" cap="none" strike="noStrike">
                <a:solidFill>
                  <a:schemeClr val="dk2"/>
                </a:solidFill>
                <a:latin typeface="Gill Sans"/>
                <a:ea typeface="Gill Sans"/>
                <a:cs typeface="Gill Sans"/>
                <a:sym typeface="Gill Sans"/>
              </a:rPr>
              <a:t>	</a:t>
            </a:r>
            <a:r>
              <a:rPr b="1" i="0" lang="en-US" sz="3000" u="none" cap="none" strike="noStrike">
                <a:solidFill>
                  <a:srgbClr val="0000FF"/>
                </a:solidFill>
                <a:latin typeface="Gill Sans"/>
                <a:ea typeface="Gill Sans"/>
                <a:cs typeface="Gill Sans"/>
                <a:sym typeface="Gill Sans"/>
              </a:rPr>
              <a:t>Yes?</a:t>
            </a:r>
            <a:r>
              <a:rPr b="0" i="0" lang="en-US" sz="3000" u="none" cap="none" strike="noStrike">
                <a:solidFill>
                  <a:srgbClr val="0000FF"/>
                </a:solidFill>
                <a:latin typeface="Gill Sans"/>
                <a:ea typeface="Gill Sans"/>
                <a:cs typeface="Gill Sans"/>
                <a:sym typeface="Gill Sans"/>
              </a:rPr>
              <a:t> </a:t>
            </a:r>
            <a:r>
              <a:rPr b="0" i="0" lang="en-US" sz="3000" u="none" cap="none" strike="noStrike">
                <a:solidFill>
                  <a:schemeClr val="dk2"/>
                </a:solidFill>
                <a:latin typeface="Gill Sans"/>
                <a:ea typeface="Gill Sans"/>
                <a:cs typeface="Gill Sans"/>
                <a:sym typeface="Gill Sans"/>
              </a:rPr>
              <a:t>Enter</a:t>
            </a:r>
            <a:endParaRPr/>
          </a:p>
          <a:p>
            <a:pPr indent="-533400" lvl="1" marL="990600" marR="0" rtl="0" algn="l">
              <a:lnSpc>
                <a:spcPct val="150000"/>
              </a:lnSpc>
              <a:spcBef>
                <a:spcPts val="1200"/>
              </a:spcBef>
              <a:spcAft>
                <a:spcPts val="0"/>
              </a:spcAft>
              <a:buClr>
                <a:schemeClr val="accent2"/>
              </a:buClr>
              <a:buSzPts val="2760"/>
              <a:buFont typeface="Noto Sans Symbols"/>
              <a:buNone/>
            </a:pPr>
            <a:r>
              <a:rPr b="0" i="0" lang="en-US" sz="3000" u="none" cap="none" strike="noStrike">
                <a:solidFill>
                  <a:schemeClr val="dk2"/>
                </a:solidFill>
                <a:latin typeface="Gill Sans"/>
                <a:ea typeface="Gill Sans"/>
                <a:cs typeface="Gill Sans"/>
                <a:sym typeface="Gill Sans"/>
              </a:rPr>
              <a:t>	</a:t>
            </a:r>
            <a:r>
              <a:rPr b="1" i="0" lang="en-US" sz="3000" u="none" cap="none" strike="noStrike">
                <a:solidFill>
                  <a:srgbClr val="FF0000"/>
                </a:solidFill>
                <a:latin typeface="Gill Sans"/>
                <a:ea typeface="Gill Sans"/>
                <a:cs typeface="Gill Sans"/>
                <a:sym typeface="Gill Sans"/>
              </a:rPr>
              <a:t>No?</a:t>
            </a:r>
            <a:r>
              <a:rPr b="0" i="0" lang="en-US" sz="3000" u="none" cap="none" strike="noStrike">
                <a:solidFill>
                  <a:schemeClr val="dk2"/>
                </a:solidFill>
                <a:latin typeface="Gill Sans"/>
                <a:ea typeface="Gill Sans"/>
                <a:cs typeface="Gill Sans"/>
                <a:sym typeface="Gill Sans"/>
              </a:rPr>
              <a:t> Get shot by security guard</a:t>
            </a:r>
            <a:endParaRPr/>
          </a:p>
        </p:txBody>
      </p:sp>
      <p:sp>
        <p:nvSpPr>
          <p:cNvPr id="89" name="Google Shape;89;p6"/>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90" name="Google Shape;90;p6"/>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
                                            <p:txEl>
                                              <p:pRg end="0" st="0"/>
                                            </p:txEl>
                                          </p:spTgt>
                                        </p:tgtEl>
                                        <p:attrNameLst>
                                          <p:attrName>style.visibility</p:attrName>
                                        </p:attrNameLst>
                                      </p:cBhvr>
                                      <p:to>
                                        <p:strVal val="visible"/>
                                      </p:to>
                                    </p:set>
                                    <p:animEffect filter="fade" transition="in">
                                      <p:cBhvr>
                                        <p:cTn dur="500"/>
                                        <p:tgtEl>
                                          <p:spTgt spid="8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
                                            <p:txEl>
                                              <p:pRg end="1" st="1"/>
                                            </p:txEl>
                                          </p:spTgt>
                                        </p:tgtEl>
                                        <p:attrNameLst>
                                          <p:attrName>style.visibility</p:attrName>
                                        </p:attrNameLst>
                                      </p:cBhvr>
                                      <p:to>
                                        <p:strVal val="visible"/>
                                      </p:to>
                                    </p:set>
                                    <p:animEffect filter="fade" transition="in">
                                      <p:cBhvr>
                                        <p:cTn dur="500"/>
                                        <p:tgtEl>
                                          <p:spTgt spid="8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
                                            <p:txEl>
                                              <p:pRg end="2" st="2"/>
                                            </p:txEl>
                                          </p:spTgt>
                                        </p:tgtEl>
                                        <p:attrNameLst>
                                          <p:attrName>style.visibility</p:attrName>
                                        </p:attrNameLst>
                                      </p:cBhvr>
                                      <p:to>
                                        <p:strVal val="visible"/>
                                      </p:to>
                                    </p:set>
                                    <p:animEffect filter="fade" transition="in">
                                      <p:cBhvr>
                                        <p:cTn dur="500"/>
                                        <p:tgtEl>
                                          <p:spTgt spid="8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
                                            <p:txEl>
                                              <p:pRg end="3" st="3"/>
                                            </p:txEl>
                                          </p:spTgt>
                                        </p:tgtEl>
                                        <p:attrNameLst>
                                          <p:attrName>style.visibility</p:attrName>
                                        </p:attrNameLst>
                                      </p:cBhvr>
                                      <p:to>
                                        <p:strVal val="visible"/>
                                      </p:to>
                                    </p:set>
                                    <p:animEffect filter="fade" transition="in">
                                      <p:cBhvr>
                                        <p:cTn dur="500"/>
                                        <p:tgtEl>
                                          <p:spTgt spid="8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
                                            <p:txEl>
                                              <p:pRg end="4" st="4"/>
                                            </p:txEl>
                                          </p:spTgt>
                                        </p:tgtEl>
                                        <p:attrNameLst>
                                          <p:attrName>style.visibility</p:attrName>
                                        </p:attrNameLst>
                                      </p:cBhvr>
                                      <p:to>
                                        <p:strVal val="visible"/>
                                      </p:to>
                                    </p:set>
                                    <p:animEffect filter="fade" transition="in">
                                      <p:cBhvr>
                                        <p:cTn dur="500"/>
                                        <p:tgtEl>
                                          <p:spTgt spid="88">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7"/>
          <p:cNvSpPr txBox="1"/>
          <p:nvPr>
            <p:ph type="title"/>
          </p:nvPr>
        </p:nvSpPr>
        <p:spPr>
          <a:xfrm>
            <a:off x="785812" y="122237"/>
            <a:ext cx="7215187" cy="123507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ATM MACHINE PROTOCOL</a:t>
            </a:r>
            <a:endParaRPr/>
          </a:p>
        </p:txBody>
      </p:sp>
      <p:sp>
        <p:nvSpPr>
          <p:cNvPr id="96" name="Google Shape;96;p7"/>
          <p:cNvSpPr txBox="1"/>
          <p:nvPr>
            <p:ph idx="1" type="body"/>
          </p:nvPr>
        </p:nvSpPr>
        <p:spPr>
          <a:xfrm>
            <a:off x="785812" y="1719262"/>
            <a:ext cx="7900987" cy="4411662"/>
          </a:xfrm>
          <a:prstGeom prst="rect">
            <a:avLst/>
          </a:prstGeom>
          <a:noFill/>
          <a:ln>
            <a:noFill/>
          </a:ln>
        </p:spPr>
        <p:txBody>
          <a:bodyPr anchorCtr="0" anchor="ctr" bIns="45700" lIns="91425" spcFirstLastPara="1" rIns="91425" wrap="square" tIns="45700">
            <a:noAutofit/>
          </a:bodyPr>
          <a:lstStyle/>
          <a:p>
            <a:pPr indent="-609600" lvl="0" marL="609600" marR="0" rtl="0" algn="l">
              <a:lnSpc>
                <a:spcPct val="150000"/>
              </a:lnSpc>
              <a:spcBef>
                <a:spcPts val="0"/>
              </a:spcBef>
              <a:spcAft>
                <a:spcPts val="0"/>
              </a:spcAft>
              <a:buClr>
                <a:schemeClr val="accent2"/>
              </a:buClr>
              <a:buSzPts val="2800"/>
              <a:buFont typeface="Times"/>
              <a:buAutoNum type="arabicPeriod"/>
            </a:pPr>
            <a:r>
              <a:rPr b="0" i="0" lang="en-US" sz="2800" u="none" cap="none" strike="noStrike">
                <a:solidFill>
                  <a:schemeClr val="dk2"/>
                </a:solidFill>
                <a:latin typeface="Gill Sans"/>
                <a:ea typeface="Gill Sans"/>
                <a:cs typeface="Gill Sans"/>
                <a:sym typeface="Gill Sans"/>
              </a:rPr>
              <a:t>Insert ATM card</a:t>
            </a:r>
            <a:endParaRPr/>
          </a:p>
          <a:p>
            <a:pPr indent="-609600" lvl="0" marL="609600" marR="0" rtl="0" algn="l">
              <a:lnSpc>
                <a:spcPct val="150000"/>
              </a:lnSpc>
              <a:spcBef>
                <a:spcPts val="1160"/>
              </a:spcBef>
              <a:spcAft>
                <a:spcPts val="0"/>
              </a:spcAft>
              <a:buClr>
                <a:schemeClr val="accent2"/>
              </a:buClr>
              <a:buSzPts val="2800"/>
              <a:buFont typeface="Times"/>
              <a:buAutoNum type="arabicPeriod"/>
            </a:pPr>
            <a:r>
              <a:rPr b="0" i="0" lang="en-US" sz="2800" u="none" cap="none" strike="noStrike">
                <a:solidFill>
                  <a:schemeClr val="dk2"/>
                </a:solidFill>
                <a:latin typeface="Gill Sans"/>
                <a:ea typeface="Gill Sans"/>
                <a:cs typeface="Gill Sans"/>
                <a:sym typeface="Gill Sans"/>
              </a:rPr>
              <a:t>Enter PIN</a:t>
            </a:r>
            <a:endParaRPr/>
          </a:p>
          <a:p>
            <a:pPr indent="-609600" lvl="0" marL="609600" marR="0" rtl="0" algn="l">
              <a:lnSpc>
                <a:spcPct val="150000"/>
              </a:lnSpc>
              <a:spcBef>
                <a:spcPts val="1160"/>
              </a:spcBef>
              <a:spcAft>
                <a:spcPts val="0"/>
              </a:spcAft>
              <a:buClr>
                <a:schemeClr val="accent2"/>
              </a:buClr>
              <a:buSzPts val="2800"/>
              <a:buFont typeface="Times"/>
              <a:buAutoNum type="arabicPeriod"/>
            </a:pPr>
            <a:r>
              <a:rPr b="0" i="0" lang="en-US" sz="2800" u="none" cap="none" strike="noStrike">
                <a:solidFill>
                  <a:schemeClr val="dk2"/>
                </a:solidFill>
                <a:latin typeface="Gill Sans"/>
                <a:ea typeface="Gill Sans"/>
                <a:cs typeface="Gill Sans"/>
                <a:sym typeface="Gill Sans"/>
              </a:rPr>
              <a:t>Correct PIN?</a:t>
            </a:r>
            <a:endParaRPr/>
          </a:p>
          <a:p>
            <a:pPr indent="-533400" lvl="1" marL="990600" marR="0" rtl="0" algn="l">
              <a:lnSpc>
                <a:spcPct val="150000"/>
              </a:lnSpc>
              <a:spcBef>
                <a:spcPts val="1200"/>
              </a:spcBef>
              <a:spcAft>
                <a:spcPts val="0"/>
              </a:spcAft>
              <a:buClr>
                <a:schemeClr val="accent2"/>
              </a:buClr>
              <a:buSzPts val="2760"/>
              <a:buFont typeface="Noto Sans Symbols"/>
              <a:buNone/>
            </a:pPr>
            <a:r>
              <a:rPr b="0" i="0" lang="en-US" sz="3000" u="none" cap="none" strike="noStrike">
                <a:solidFill>
                  <a:schemeClr val="dk2"/>
                </a:solidFill>
                <a:latin typeface="Gill Sans"/>
                <a:ea typeface="Gill Sans"/>
                <a:cs typeface="Gill Sans"/>
                <a:sym typeface="Gill Sans"/>
              </a:rPr>
              <a:t>	</a:t>
            </a:r>
            <a:r>
              <a:rPr b="1" i="0" lang="en-US" sz="3000" u="none" cap="none" strike="noStrike">
                <a:solidFill>
                  <a:srgbClr val="0000FF"/>
                </a:solidFill>
                <a:latin typeface="Gill Sans"/>
                <a:ea typeface="Gill Sans"/>
                <a:cs typeface="Gill Sans"/>
                <a:sym typeface="Gill Sans"/>
              </a:rPr>
              <a:t>Yes?</a:t>
            </a:r>
            <a:r>
              <a:rPr b="0" i="0" lang="en-US" sz="3000" u="none" cap="none" strike="noStrike">
                <a:solidFill>
                  <a:schemeClr val="dk2"/>
                </a:solidFill>
                <a:latin typeface="Gill Sans"/>
                <a:ea typeface="Gill Sans"/>
                <a:cs typeface="Gill Sans"/>
                <a:sym typeface="Gill Sans"/>
              </a:rPr>
              <a:t> Conduct your transaction(s)</a:t>
            </a:r>
            <a:endParaRPr/>
          </a:p>
          <a:p>
            <a:pPr indent="-533400" lvl="1" marL="990600" marR="0" rtl="0" algn="l">
              <a:lnSpc>
                <a:spcPct val="150000"/>
              </a:lnSpc>
              <a:spcBef>
                <a:spcPts val="1200"/>
              </a:spcBef>
              <a:spcAft>
                <a:spcPts val="0"/>
              </a:spcAft>
              <a:buClr>
                <a:schemeClr val="accent2"/>
              </a:buClr>
              <a:buSzPts val="2760"/>
              <a:buFont typeface="Noto Sans Symbols"/>
              <a:buNone/>
            </a:pPr>
            <a:r>
              <a:rPr b="0" i="0" lang="en-US" sz="3000" u="none" cap="none" strike="noStrike">
                <a:solidFill>
                  <a:schemeClr val="dk2"/>
                </a:solidFill>
                <a:latin typeface="Gill Sans"/>
                <a:ea typeface="Gill Sans"/>
                <a:cs typeface="Gill Sans"/>
                <a:sym typeface="Gill Sans"/>
              </a:rPr>
              <a:t>	</a:t>
            </a:r>
            <a:r>
              <a:rPr b="1" i="0" lang="en-US" sz="3000" u="none" cap="none" strike="noStrike">
                <a:solidFill>
                  <a:srgbClr val="FF0000"/>
                </a:solidFill>
                <a:latin typeface="Gill Sans"/>
                <a:ea typeface="Gill Sans"/>
                <a:cs typeface="Gill Sans"/>
                <a:sym typeface="Gill Sans"/>
              </a:rPr>
              <a:t>No?</a:t>
            </a:r>
            <a:r>
              <a:rPr b="0" i="0" lang="en-US" sz="3000" u="none" cap="none" strike="noStrike">
                <a:solidFill>
                  <a:schemeClr val="dk2"/>
                </a:solidFill>
                <a:latin typeface="Gill Sans"/>
                <a:ea typeface="Gill Sans"/>
                <a:cs typeface="Gill Sans"/>
                <a:sym typeface="Gill Sans"/>
              </a:rPr>
              <a:t> Machine eats card</a:t>
            </a:r>
            <a:endParaRPr/>
          </a:p>
        </p:txBody>
      </p:sp>
      <p:sp>
        <p:nvSpPr>
          <p:cNvPr id="97" name="Google Shape;97;p7"/>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98" name="Google Shape;98;p7"/>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8"/>
          <p:cNvSpPr txBox="1"/>
          <p:nvPr>
            <p:ph type="title"/>
          </p:nvPr>
        </p:nvSpPr>
        <p:spPr>
          <a:xfrm>
            <a:off x="785812" y="228600"/>
            <a:ext cx="7672387" cy="11430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IDENTIFY FRIEND OR FOE (IFF)</a:t>
            </a:r>
            <a:endParaRPr/>
          </a:p>
        </p:txBody>
      </p:sp>
      <p:sp>
        <p:nvSpPr>
          <p:cNvPr id="104" name="Google Shape;104;p8"/>
          <p:cNvSpPr txBox="1"/>
          <p:nvPr>
            <p:ph idx="1" type="body"/>
          </p:nvPr>
        </p:nvSpPr>
        <p:spPr>
          <a:xfrm>
            <a:off x="611175" y="1969325"/>
            <a:ext cx="2786100" cy="4174200"/>
          </a:xfrm>
          <a:prstGeom prst="rect">
            <a:avLst/>
          </a:prstGeom>
          <a:noFill/>
          <a:ln>
            <a:noFill/>
          </a:ln>
        </p:spPr>
        <p:txBody>
          <a:bodyPr anchorCtr="0" anchor="ctr" bIns="45700" lIns="91425" spcFirstLastPara="1" rIns="91425" wrap="square" tIns="45700">
            <a:noAutofit/>
          </a:bodyPr>
          <a:lstStyle/>
          <a:p>
            <a:pPr indent="-452437" lvl="0" marL="452437" marR="0" rtl="0" algn="l">
              <a:lnSpc>
                <a:spcPct val="100000"/>
              </a:lnSpc>
              <a:spcBef>
                <a:spcPts val="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Military needs many specialized protocols</a:t>
            </a:r>
            <a:endParaRPr/>
          </a:p>
          <a:p>
            <a:pPr indent="-452437" lvl="0" marL="452437" marR="0" rtl="0" algn="l">
              <a:lnSpc>
                <a:spcPct val="100000"/>
              </a:lnSpc>
              <a:spcBef>
                <a:spcPts val="116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Many cases, it could recognize friends as enemies, or ….</a:t>
            </a:r>
            <a:endParaRPr/>
          </a:p>
        </p:txBody>
      </p:sp>
      <p:sp>
        <p:nvSpPr>
          <p:cNvPr id="105" name="Google Shape;105;p8"/>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106" name="Google Shape;106;p8"/>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cxnSp>
        <p:nvCxnSpPr>
          <p:cNvPr id="107" name="Google Shape;107;p8"/>
          <p:cNvCxnSpPr/>
          <p:nvPr/>
        </p:nvCxnSpPr>
        <p:spPr>
          <a:xfrm>
            <a:off x="3429000" y="3857625"/>
            <a:ext cx="5481637" cy="0"/>
          </a:xfrm>
          <a:prstGeom prst="straightConnector1">
            <a:avLst/>
          </a:prstGeom>
          <a:noFill/>
          <a:ln cap="flat" cmpd="sng" w="9525">
            <a:solidFill>
              <a:schemeClr val="dk1"/>
            </a:solidFill>
            <a:prstDash val="solid"/>
            <a:miter lim="800000"/>
            <a:headEnd len="med" w="med" type="none"/>
            <a:tailEnd len="med" w="med" type="none"/>
          </a:ln>
        </p:spPr>
      </p:cxnSp>
      <p:sp>
        <p:nvSpPr>
          <p:cNvPr id="108" name="Google Shape;108;p8"/>
          <p:cNvSpPr txBox="1"/>
          <p:nvPr/>
        </p:nvSpPr>
        <p:spPr>
          <a:xfrm>
            <a:off x="7572375" y="4643437"/>
            <a:ext cx="13271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Namibia</a:t>
            </a:r>
            <a:endParaRPr/>
          </a:p>
        </p:txBody>
      </p:sp>
      <p:sp>
        <p:nvSpPr>
          <p:cNvPr id="109" name="Google Shape;109;p8"/>
          <p:cNvSpPr txBox="1"/>
          <p:nvPr/>
        </p:nvSpPr>
        <p:spPr>
          <a:xfrm>
            <a:off x="7643812" y="3286125"/>
            <a:ext cx="11287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Angola</a:t>
            </a:r>
            <a:endParaRPr/>
          </a:p>
        </p:txBody>
      </p:sp>
      <p:cxnSp>
        <p:nvCxnSpPr>
          <p:cNvPr id="110" name="Google Shape;110;p8"/>
          <p:cNvCxnSpPr/>
          <p:nvPr/>
        </p:nvCxnSpPr>
        <p:spPr>
          <a:xfrm rot="10800000">
            <a:off x="4643437" y="5286375"/>
            <a:ext cx="2857500" cy="500062"/>
          </a:xfrm>
          <a:prstGeom prst="straightConnector1">
            <a:avLst/>
          </a:prstGeom>
          <a:noFill/>
          <a:ln cap="flat" cmpd="sng" w="50800">
            <a:solidFill>
              <a:schemeClr val="dk1"/>
            </a:solidFill>
            <a:prstDash val="solid"/>
            <a:miter lim="800000"/>
            <a:headEnd len="med" w="med" type="none"/>
            <a:tailEnd len="med" w="med" type="triangle"/>
          </a:ln>
        </p:spPr>
      </p:cxnSp>
      <p:sp>
        <p:nvSpPr>
          <p:cNvPr id="111" name="Google Shape;111;p8"/>
          <p:cNvSpPr txBox="1"/>
          <p:nvPr/>
        </p:nvSpPr>
        <p:spPr>
          <a:xfrm>
            <a:off x="5357812" y="5643562"/>
            <a:ext cx="7000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0" lang="en-US" sz="2000" u="none">
                <a:solidFill>
                  <a:srgbClr val="FF0000"/>
                </a:solidFill>
                <a:latin typeface="Times"/>
                <a:ea typeface="Times"/>
                <a:cs typeface="Times"/>
                <a:sym typeface="Times"/>
              </a:rPr>
              <a:t>1.</a:t>
            </a:r>
            <a:r>
              <a:rPr b="0" i="0" lang="en-US" sz="2400" u="none">
                <a:solidFill>
                  <a:schemeClr val="dk1"/>
                </a:solidFill>
                <a:latin typeface="Times"/>
                <a:ea typeface="Times"/>
                <a:cs typeface="Times"/>
                <a:sym typeface="Times"/>
              </a:rPr>
              <a:t> N</a:t>
            </a:r>
            <a:endParaRPr/>
          </a:p>
        </p:txBody>
      </p:sp>
      <p:sp>
        <p:nvSpPr>
          <p:cNvPr id="112" name="Google Shape;112;p8"/>
          <p:cNvSpPr txBox="1"/>
          <p:nvPr/>
        </p:nvSpPr>
        <p:spPr>
          <a:xfrm>
            <a:off x="5357812" y="4643437"/>
            <a:ext cx="13938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0" lang="en-US" sz="2000" u="none">
                <a:solidFill>
                  <a:srgbClr val="FF0000"/>
                </a:solidFill>
                <a:latin typeface="Times"/>
                <a:ea typeface="Times"/>
                <a:cs typeface="Times"/>
                <a:sym typeface="Times"/>
              </a:rPr>
              <a:t>2.</a:t>
            </a:r>
            <a:r>
              <a:rPr b="0" i="0" lang="en-US" sz="2400" u="none">
                <a:solidFill>
                  <a:schemeClr val="dk1"/>
                </a:solidFill>
                <a:latin typeface="Times"/>
                <a:ea typeface="Times"/>
                <a:cs typeface="Times"/>
                <a:sym typeface="Times"/>
              </a:rPr>
              <a:t> E(N,K)</a:t>
            </a:r>
            <a:endParaRPr/>
          </a:p>
        </p:txBody>
      </p:sp>
      <p:cxnSp>
        <p:nvCxnSpPr>
          <p:cNvPr id="113" name="Google Shape;113;p8"/>
          <p:cNvCxnSpPr/>
          <p:nvPr/>
        </p:nvCxnSpPr>
        <p:spPr>
          <a:xfrm>
            <a:off x="4714875" y="5000625"/>
            <a:ext cx="3071812" cy="571500"/>
          </a:xfrm>
          <a:prstGeom prst="straightConnector1">
            <a:avLst/>
          </a:prstGeom>
          <a:noFill/>
          <a:ln cap="flat" cmpd="sng" w="50800">
            <a:solidFill>
              <a:schemeClr val="dk1"/>
            </a:solidFill>
            <a:prstDash val="solid"/>
            <a:miter lim="800000"/>
            <a:headEnd len="med" w="med" type="none"/>
            <a:tailEnd len="med" w="med" type="triangle"/>
          </a:ln>
        </p:spPr>
      </p:cxnSp>
      <p:sp>
        <p:nvSpPr>
          <p:cNvPr id="114" name="Google Shape;114;p8"/>
          <p:cNvSpPr txBox="1"/>
          <p:nvPr/>
        </p:nvSpPr>
        <p:spPr>
          <a:xfrm>
            <a:off x="3714750" y="4857750"/>
            <a:ext cx="985837" cy="80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SAAF</a:t>
            </a:r>
            <a:endParaRPr/>
          </a:p>
          <a:p>
            <a:pPr indent="0" lvl="0" marL="0" marR="0" rtl="0" algn="l">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Impala</a:t>
            </a:r>
            <a:endParaRPr/>
          </a:p>
        </p:txBody>
      </p:sp>
      <p:sp>
        <p:nvSpPr>
          <p:cNvPr id="115" name="Google Shape;115;p8"/>
          <p:cNvSpPr txBox="1"/>
          <p:nvPr/>
        </p:nvSpPr>
        <p:spPr>
          <a:xfrm>
            <a:off x="3795712" y="3014662"/>
            <a:ext cx="1058862" cy="8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Russian</a:t>
            </a:r>
            <a:endParaRPr/>
          </a:p>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MIG</a:t>
            </a:r>
            <a:endParaRPr/>
          </a:p>
        </p:txBody>
      </p:sp>
      <p:pic>
        <p:nvPicPr>
          <p:cNvPr id="116" name="Google Shape;116;p8"/>
          <p:cNvPicPr preferRelativeResize="0"/>
          <p:nvPr/>
        </p:nvPicPr>
        <p:blipFill rotWithShape="1">
          <a:blip r:embed="rId3">
            <a:alphaModFix/>
          </a:blip>
          <a:srcRect b="0" l="0" r="0" t="0"/>
          <a:stretch/>
        </p:blipFill>
        <p:spPr>
          <a:xfrm>
            <a:off x="3486150" y="4286250"/>
            <a:ext cx="1636712" cy="617537"/>
          </a:xfrm>
          <a:prstGeom prst="rect">
            <a:avLst/>
          </a:prstGeom>
          <a:noFill/>
          <a:ln>
            <a:noFill/>
          </a:ln>
        </p:spPr>
      </p:pic>
      <p:pic>
        <p:nvPicPr>
          <p:cNvPr id="117" name="Google Shape;117;p8"/>
          <p:cNvPicPr preferRelativeResize="0"/>
          <p:nvPr/>
        </p:nvPicPr>
        <p:blipFill rotWithShape="1">
          <a:blip r:embed="rId4">
            <a:alphaModFix/>
          </a:blip>
          <a:srcRect b="0" l="0" r="0" t="0"/>
          <a:stretch/>
        </p:blipFill>
        <p:spPr>
          <a:xfrm>
            <a:off x="3643312" y="2214562"/>
            <a:ext cx="1295400" cy="860425"/>
          </a:xfrm>
          <a:prstGeom prst="rect">
            <a:avLst/>
          </a:prstGeom>
          <a:noFill/>
          <a:ln>
            <a:noFill/>
          </a:ln>
        </p:spPr>
      </p:pic>
      <p:pic>
        <p:nvPicPr>
          <p:cNvPr id="118" name="Google Shape;118;p8"/>
          <p:cNvPicPr preferRelativeResize="0"/>
          <p:nvPr/>
        </p:nvPicPr>
        <p:blipFill rotWithShape="1">
          <a:blip r:embed="rId5">
            <a:alphaModFix/>
          </a:blip>
          <a:srcRect b="0" l="0" r="0" t="0"/>
          <a:stretch/>
        </p:blipFill>
        <p:spPr>
          <a:xfrm>
            <a:off x="7858125" y="5214937"/>
            <a:ext cx="823912" cy="965200"/>
          </a:xfrm>
          <a:prstGeom prst="rect">
            <a:avLst/>
          </a:prstGeom>
          <a:noFill/>
          <a:ln>
            <a:noFill/>
          </a:ln>
        </p:spPr>
      </p:pic>
      <p:sp>
        <p:nvSpPr>
          <p:cNvPr id="119" name="Google Shape;119;p8"/>
          <p:cNvSpPr txBox="1"/>
          <p:nvPr/>
        </p:nvSpPr>
        <p:spPr>
          <a:xfrm>
            <a:off x="3357562" y="4000500"/>
            <a:ext cx="5572125" cy="2357437"/>
          </a:xfrm>
          <a:prstGeom prst="rect">
            <a:avLst/>
          </a:prstGeom>
          <a:solidFill>
            <a:schemeClr val="accent1">
              <a:alpha val="8627"/>
            </a:schemeClr>
          </a:solidFill>
          <a:ln cap="rnd" cmpd="sng" w="22225">
            <a:solidFill>
              <a:srgbClr val="360B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ulim"/>
              <a:ea typeface="Gulim"/>
              <a:cs typeface="Gulim"/>
              <a:sym typeface="Gulim"/>
            </a:endParaRPr>
          </a:p>
        </p:txBody>
      </p:sp>
      <p:sp>
        <p:nvSpPr>
          <p:cNvPr id="120" name="Google Shape;120;p8"/>
          <p:cNvSpPr txBox="1"/>
          <p:nvPr/>
        </p:nvSpPr>
        <p:spPr>
          <a:xfrm>
            <a:off x="3357562" y="1857375"/>
            <a:ext cx="5572125" cy="1857375"/>
          </a:xfrm>
          <a:prstGeom prst="rect">
            <a:avLst/>
          </a:prstGeom>
          <a:solidFill>
            <a:schemeClr val="accent1">
              <a:alpha val="9803"/>
            </a:schemeClr>
          </a:solidFill>
          <a:ln cap="rnd" cmpd="sng" w="22225">
            <a:solidFill>
              <a:srgbClr val="360B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ulim"/>
              <a:ea typeface="Gulim"/>
              <a:cs typeface="Gulim"/>
              <a:sym typeface="Guli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1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9"/>
          <p:cNvSpPr txBox="1"/>
          <p:nvPr>
            <p:ph type="title"/>
          </p:nvPr>
        </p:nvSpPr>
        <p:spPr>
          <a:xfrm>
            <a:off x="785812" y="500062"/>
            <a:ext cx="7143750" cy="871537"/>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MIG IN THE MIDDLE</a:t>
            </a:r>
            <a:endParaRPr/>
          </a:p>
        </p:txBody>
      </p:sp>
      <p:sp>
        <p:nvSpPr>
          <p:cNvPr id="126" name="Google Shape;126;p9"/>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127" name="Google Shape;127;p9"/>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cxnSp>
        <p:nvCxnSpPr>
          <p:cNvPr id="128" name="Google Shape;128;p9"/>
          <p:cNvCxnSpPr/>
          <p:nvPr/>
        </p:nvCxnSpPr>
        <p:spPr>
          <a:xfrm>
            <a:off x="785812" y="3571875"/>
            <a:ext cx="8053387" cy="0"/>
          </a:xfrm>
          <a:prstGeom prst="straightConnector1">
            <a:avLst/>
          </a:prstGeom>
          <a:noFill/>
          <a:ln cap="flat" cmpd="sng" w="9525">
            <a:solidFill>
              <a:schemeClr val="dk1"/>
            </a:solidFill>
            <a:prstDash val="solid"/>
            <a:miter lim="800000"/>
            <a:headEnd len="med" w="med" type="none"/>
            <a:tailEnd len="med" w="med" type="none"/>
          </a:ln>
        </p:spPr>
      </p:cxnSp>
      <p:sp>
        <p:nvSpPr>
          <p:cNvPr id="129" name="Google Shape;129;p9"/>
          <p:cNvSpPr txBox="1"/>
          <p:nvPr/>
        </p:nvSpPr>
        <p:spPr>
          <a:xfrm>
            <a:off x="7286625" y="4500562"/>
            <a:ext cx="13271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Namibia</a:t>
            </a:r>
            <a:endParaRPr/>
          </a:p>
        </p:txBody>
      </p:sp>
      <p:sp>
        <p:nvSpPr>
          <p:cNvPr id="130" name="Google Shape;130;p9"/>
          <p:cNvSpPr txBox="1"/>
          <p:nvPr/>
        </p:nvSpPr>
        <p:spPr>
          <a:xfrm>
            <a:off x="7429500" y="1857375"/>
            <a:ext cx="11287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Angola</a:t>
            </a:r>
            <a:endParaRPr/>
          </a:p>
        </p:txBody>
      </p:sp>
      <p:cxnSp>
        <p:nvCxnSpPr>
          <p:cNvPr id="131" name="Google Shape;131;p9"/>
          <p:cNvCxnSpPr/>
          <p:nvPr/>
        </p:nvCxnSpPr>
        <p:spPr>
          <a:xfrm rot="10800000">
            <a:off x="3429000" y="5072062"/>
            <a:ext cx="4071937" cy="857250"/>
          </a:xfrm>
          <a:prstGeom prst="straightConnector1">
            <a:avLst/>
          </a:prstGeom>
          <a:noFill/>
          <a:ln cap="flat" cmpd="sng" w="50800">
            <a:solidFill>
              <a:schemeClr val="dk1"/>
            </a:solidFill>
            <a:prstDash val="solid"/>
            <a:miter lim="800000"/>
            <a:headEnd len="med" w="med" type="none"/>
            <a:tailEnd len="med" w="med" type="triangle"/>
          </a:ln>
        </p:spPr>
      </p:cxnSp>
      <p:sp>
        <p:nvSpPr>
          <p:cNvPr id="132" name="Google Shape;132;p9"/>
          <p:cNvSpPr txBox="1"/>
          <p:nvPr/>
        </p:nvSpPr>
        <p:spPr>
          <a:xfrm>
            <a:off x="6500812" y="5786437"/>
            <a:ext cx="7000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0" lang="en-US" sz="2000" u="none">
                <a:solidFill>
                  <a:srgbClr val="FF0000"/>
                </a:solidFill>
                <a:latin typeface="Times"/>
                <a:ea typeface="Times"/>
                <a:cs typeface="Times"/>
                <a:sym typeface="Times"/>
              </a:rPr>
              <a:t>1.</a:t>
            </a:r>
            <a:r>
              <a:rPr b="0" i="0" lang="en-US" sz="2400" u="none">
                <a:solidFill>
                  <a:schemeClr val="dk1"/>
                </a:solidFill>
                <a:latin typeface="Times"/>
                <a:ea typeface="Times"/>
                <a:cs typeface="Times"/>
                <a:sym typeface="Times"/>
              </a:rPr>
              <a:t> N</a:t>
            </a:r>
            <a:endParaRPr/>
          </a:p>
        </p:txBody>
      </p:sp>
      <p:sp>
        <p:nvSpPr>
          <p:cNvPr id="133" name="Google Shape;133;p9"/>
          <p:cNvSpPr txBox="1"/>
          <p:nvPr/>
        </p:nvSpPr>
        <p:spPr>
          <a:xfrm>
            <a:off x="3500437" y="3714750"/>
            <a:ext cx="7000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0" lang="en-US" sz="2000" u="none">
                <a:solidFill>
                  <a:srgbClr val="FF0000"/>
                </a:solidFill>
                <a:latin typeface="Times"/>
                <a:ea typeface="Times"/>
                <a:cs typeface="Times"/>
                <a:sym typeface="Times"/>
              </a:rPr>
              <a:t>2.</a:t>
            </a:r>
            <a:r>
              <a:rPr b="0" i="0" lang="en-US" sz="2400" u="none">
                <a:solidFill>
                  <a:schemeClr val="dk1"/>
                </a:solidFill>
                <a:latin typeface="Times"/>
                <a:ea typeface="Times"/>
                <a:cs typeface="Times"/>
                <a:sym typeface="Times"/>
              </a:rPr>
              <a:t> N</a:t>
            </a:r>
            <a:endParaRPr/>
          </a:p>
        </p:txBody>
      </p:sp>
      <p:cxnSp>
        <p:nvCxnSpPr>
          <p:cNvPr id="134" name="Google Shape;134;p9"/>
          <p:cNvCxnSpPr/>
          <p:nvPr/>
        </p:nvCxnSpPr>
        <p:spPr>
          <a:xfrm flipH="1" rot="10800000">
            <a:off x="3429000" y="3286125"/>
            <a:ext cx="4071937" cy="1000125"/>
          </a:xfrm>
          <a:prstGeom prst="straightConnector1">
            <a:avLst/>
          </a:prstGeom>
          <a:noFill/>
          <a:ln cap="flat" cmpd="sng" w="50800">
            <a:solidFill>
              <a:schemeClr val="dk1"/>
            </a:solidFill>
            <a:prstDash val="solid"/>
            <a:miter lim="800000"/>
            <a:headEnd len="med" w="med" type="none"/>
            <a:tailEnd len="med" w="med" type="triangle"/>
          </a:ln>
        </p:spPr>
      </p:cxnSp>
      <p:cxnSp>
        <p:nvCxnSpPr>
          <p:cNvPr id="135" name="Google Shape;135;p9"/>
          <p:cNvCxnSpPr/>
          <p:nvPr/>
        </p:nvCxnSpPr>
        <p:spPr>
          <a:xfrm rot="10800000">
            <a:off x="3500437" y="2214562"/>
            <a:ext cx="3929062" cy="714375"/>
          </a:xfrm>
          <a:prstGeom prst="straightConnector1">
            <a:avLst/>
          </a:prstGeom>
          <a:noFill/>
          <a:ln cap="flat" cmpd="sng" w="50800">
            <a:solidFill>
              <a:schemeClr val="dk1"/>
            </a:solidFill>
            <a:prstDash val="solid"/>
            <a:miter lim="800000"/>
            <a:headEnd len="med" w="med" type="none"/>
            <a:tailEnd len="med" w="med" type="triangle"/>
          </a:ln>
        </p:spPr>
      </p:cxnSp>
      <p:sp>
        <p:nvSpPr>
          <p:cNvPr id="136" name="Google Shape;136;p9"/>
          <p:cNvSpPr txBox="1"/>
          <p:nvPr/>
        </p:nvSpPr>
        <p:spPr>
          <a:xfrm>
            <a:off x="6786562" y="2428875"/>
            <a:ext cx="7000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0" lang="en-US" sz="2000" u="none">
                <a:solidFill>
                  <a:srgbClr val="FF0000"/>
                </a:solidFill>
                <a:latin typeface="Times"/>
                <a:ea typeface="Times"/>
                <a:cs typeface="Times"/>
                <a:sym typeface="Times"/>
              </a:rPr>
              <a:t>3.</a:t>
            </a:r>
            <a:r>
              <a:rPr b="0" i="0" lang="en-US" sz="2400" u="none">
                <a:solidFill>
                  <a:schemeClr val="dk1"/>
                </a:solidFill>
                <a:latin typeface="Times"/>
                <a:ea typeface="Times"/>
                <a:cs typeface="Times"/>
                <a:sym typeface="Times"/>
              </a:rPr>
              <a:t> N</a:t>
            </a:r>
            <a:endParaRPr/>
          </a:p>
        </p:txBody>
      </p:sp>
      <p:cxnSp>
        <p:nvCxnSpPr>
          <p:cNvPr id="137" name="Google Shape;137;p9"/>
          <p:cNvCxnSpPr/>
          <p:nvPr/>
        </p:nvCxnSpPr>
        <p:spPr>
          <a:xfrm>
            <a:off x="3429000" y="2500312"/>
            <a:ext cx="4110037" cy="676275"/>
          </a:xfrm>
          <a:prstGeom prst="straightConnector1">
            <a:avLst/>
          </a:prstGeom>
          <a:noFill/>
          <a:ln cap="flat" cmpd="sng" w="50800">
            <a:solidFill>
              <a:schemeClr val="dk1"/>
            </a:solidFill>
            <a:prstDash val="solid"/>
            <a:miter lim="800000"/>
            <a:headEnd len="med" w="med" type="none"/>
            <a:tailEnd len="med" w="med" type="triangle"/>
          </a:ln>
        </p:spPr>
      </p:cxnSp>
      <p:sp>
        <p:nvSpPr>
          <p:cNvPr id="138" name="Google Shape;138;p9"/>
          <p:cNvSpPr txBox="1"/>
          <p:nvPr/>
        </p:nvSpPr>
        <p:spPr>
          <a:xfrm>
            <a:off x="3357562" y="2643187"/>
            <a:ext cx="13938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0" lang="en-US" sz="2000" u="none">
                <a:solidFill>
                  <a:srgbClr val="FF0000"/>
                </a:solidFill>
                <a:latin typeface="Times"/>
                <a:ea typeface="Times"/>
                <a:cs typeface="Times"/>
                <a:sym typeface="Times"/>
              </a:rPr>
              <a:t>4.</a:t>
            </a:r>
            <a:r>
              <a:rPr b="0" i="0" lang="en-US" sz="2400" u="none">
                <a:solidFill>
                  <a:schemeClr val="dk1"/>
                </a:solidFill>
                <a:latin typeface="Times"/>
                <a:ea typeface="Times"/>
                <a:cs typeface="Times"/>
                <a:sym typeface="Times"/>
              </a:rPr>
              <a:t> E(N,K)</a:t>
            </a:r>
            <a:endParaRPr/>
          </a:p>
        </p:txBody>
      </p:sp>
      <p:cxnSp>
        <p:nvCxnSpPr>
          <p:cNvPr id="139" name="Google Shape;139;p9"/>
          <p:cNvCxnSpPr/>
          <p:nvPr/>
        </p:nvCxnSpPr>
        <p:spPr>
          <a:xfrm flipH="1">
            <a:off x="3357562" y="3571875"/>
            <a:ext cx="4143375" cy="1004887"/>
          </a:xfrm>
          <a:prstGeom prst="straightConnector1">
            <a:avLst/>
          </a:prstGeom>
          <a:noFill/>
          <a:ln cap="flat" cmpd="sng" w="50800">
            <a:solidFill>
              <a:schemeClr val="dk1"/>
            </a:solidFill>
            <a:prstDash val="solid"/>
            <a:miter lim="800000"/>
            <a:headEnd len="med" w="med" type="none"/>
            <a:tailEnd len="med" w="med" type="triangle"/>
          </a:ln>
        </p:spPr>
      </p:cxnSp>
      <p:sp>
        <p:nvSpPr>
          <p:cNvPr id="140" name="Google Shape;140;p9"/>
          <p:cNvSpPr txBox="1"/>
          <p:nvPr/>
        </p:nvSpPr>
        <p:spPr>
          <a:xfrm>
            <a:off x="6572250" y="3714750"/>
            <a:ext cx="13938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0" lang="en-US" sz="2000" u="none">
                <a:solidFill>
                  <a:srgbClr val="FF0000"/>
                </a:solidFill>
                <a:latin typeface="Times"/>
                <a:ea typeface="Times"/>
                <a:cs typeface="Times"/>
                <a:sym typeface="Times"/>
              </a:rPr>
              <a:t>5.</a:t>
            </a:r>
            <a:r>
              <a:rPr b="0" i="0" lang="en-US" sz="2400" u="none">
                <a:solidFill>
                  <a:schemeClr val="dk1"/>
                </a:solidFill>
                <a:latin typeface="Times"/>
                <a:ea typeface="Times"/>
                <a:cs typeface="Times"/>
                <a:sym typeface="Times"/>
              </a:rPr>
              <a:t> E(N,K)</a:t>
            </a:r>
            <a:endParaRPr/>
          </a:p>
        </p:txBody>
      </p:sp>
      <p:sp>
        <p:nvSpPr>
          <p:cNvPr id="141" name="Google Shape;141;p9"/>
          <p:cNvSpPr txBox="1"/>
          <p:nvPr/>
        </p:nvSpPr>
        <p:spPr>
          <a:xfrm>
            <a:off x="4429125" y="4572000"/>
            <a:ext cx="13938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0" lang="en-US" sz="2000" u="none">
                <a:solidFill>
                  <a:srgbClr val="FF0000"/>
                </a:solidFill>
                <a:latin typeface="Times"/>
                <a:ea typeface="Times"/>
                <a:cs typeface="Times"/>
                <a:sym typeface="Times"/>
              </a:rPr>
              <a:t>6.</a:t>
            </a:r>
            <a:r>
              <a:rPr b="0" i="0" lang="en-US" sz="2400" u="none">
                <a:solidFill>
                  <a:schemeClr val="dk1"/>
                </a:solidFill>
                <a:latin typeface="Times"/>
                <a:ea typeface="Times"/>
                <a:cs typeface="Times"/>
                <a:sym typeface="Times"/>
              </a:rPr>
              <a:t> E(N,K)</a:t>
            </a:r>
            <a:endParaRPr/>
          </a:p>
        </p:txBody>
      </p:sp>
      <p:cxnSp>
        <p:nvCxnSpPr>
          <p:cNvPr id="142" name="Google Shape;142;p9"/>
          <p:cNvCxnSpPr/>
          <p:nvPr/>
        </p:nvCxnSpPr>
        <p:spPr>
          <a:xfrm>
            <a:off x="3429000" y="4714875"/>
            <a:ext cx="4114800" cy="914400"/>
          </a:xfrm>
          <a:prstGeom prst="straightConnector1">
            <a:avLst/>
          </a:prstGeom>
          <a:noFill/>
          <a:ln cap="flat" cmpd="sng" w="50800">
            <a:solidFill>
              <a:srgbClr val="FF0000"/>
            </a:solidFill>
            <a:prstDash val="solid"/>
            <a:miter lim="800000"/>
            <a:headEnd len="med" w="med" type="none"/>
            <a:tailEnd len="med" w="med" type="triangle"/>
          </a:ln>
        </p:spPr>
      </p:cxnSp>
      <p:sp>
        <p:nvSpPr>
          <p:cNvPr id="143" name="Google Shape;143;p9"/>
          <p:cNvSpPr txBox="1"/>
          <p:nvPr/>
        </p:nvSpPr>
        <p:spPr>
          <a:xfrm>
            <a:off x="1714500" y="2500312"/>
            <a:ext cx="985837" cy="8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SAAF</a:t>
            </a:r>
            <a:endParaRPr/>
          </a:p>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Impala</a:t>
            </a:r>
            <a:endParaRPr/>
          </a:p>
        </p:txBody>
      </p:sp>
      <p:sp>
        <p:nvSpPr>
          <p:cNvPr id="144" name="Google Shape;144;p9"/>
          <p:cNvSpPr txBox="1"/>
          <p:nvPr/>
        </p:nvSpPr>
        <p:spPr>
          <a:xfrm>
            <a:off x="1790700" y="4789487"/>
            <a:ext cx="1058862" cy="800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Russian</a:t>
            </a:r>
            <a:endParaRPr/>
          </a:p>
          <a:p>
            <a:pPr indent="0" lvl="0" marL="0" marR="0" rtl="0" algn="ctr">
              <a:lnSpc>
                <a:spcPct val="100000"/>
              </a:lnSpc>
              <a:spcBef>
                <a:spcPts val="0"/>
              </a:spcBef>
              <a:spcAft>
                <a:spcPts val="0"/>
              </a:spcAft>
              <a:buClr>
                <a:schemeClr val="dk1"/>
              </a:buClr>
              <a:buSzPts val="2000"/>
              <a:buFont typeface="Comic Sans MS"/>
              <a:buNone/>
            </a:pPr>
            <a:r>
              <a:rPr b="0" i="0" lang="en-US" sz="2000" u="none">
                <a:solidFill>
                  <a:schemeClr val="dk1"/>
                </a:solidFill>
                <a:latin typeface="Comic Sans MS"/>
                <a:ea typeface="Comic Sans MS"/>
                <a:cs typeface="Comic Sans MS"/>
                <a:sym typeface="Comic Sans MS"/>
              </a:rPr>
              <a:t>MiG</a:t>
            </a:r>
            <a:endParaRPr/>
          </a:p>
        </p:txBody>
      </p:sp>
      <p:pic>
        <p:nvPicPr>
          <p:cNvPr id="145" name="Google Shape;145;p9"/>
          <p:cNvPicPr preferRelativeResize="0"/>
          <p:nvPr/>
        </p:nvPicPr>
        <p:blipFill rotWithShape="1">
          <a:blip r:embed="rId3">
            <a:alphaModFix/>
          </a:blip>
          <a:srcRect b="0" l="0" r="0" t="0"/>
          <a:stretch/>
        </p:blipFill>
        <p:spPr>
          <a:xfrm>
            <a:off x="1485900" y="1852612"/>
            <a:ext cx="1636712" cy="617537"/>
          </a:xfrm>
          <a:prstGeom prst="rect">
            <a:avLst/>
          </a:prstGeom>
          <a:noFill/>
          <a:ln>
            <a:noFill/>
          </a:ln>
        </p:spPr>
      </p:pic>
      <p:pic>
        <p:nvPicPr>
          <p:cNvPr id="146" name="Google Shape;146;p9"/>
          <p:cNvPicPr preferRelativeResize="0"/>
          <p:nvPr/>
        </p:nvPicPr>
        <p:blipFill rotWithShape="1">
          <a:blip r:embed="rId4">
            <a:alphaModFix/>
          </a:blip>
          <a:srcRect b="0" l="0" r="0" t="0"/>
          <a:stretch/>
        </p:blipFill>
        <p:spPr>
          <a:xfrm>
            <a:off x="1714500" y="3929062"/>
            <a:ext cx="1295400" cy="860425"/>
          </a:xfrm>
          <a:prstGeom prst="rect">
            <a:avLst/>
          </a:prstGeom>
          <a:noFill/>
          <a:ln>
            <a:noFill/>
          </a:ln>
        </p:spPr>
      </p:pic>
      <p:pic>
        <p:nvPicPr>
          <p:cNvPr id="147" name="Google Shape;147;p9"/>
          <p:cNvPicPr preferRelativeResize="0"/>
          <p:nvPr/>
        </p:nvPicPr>
        <p:blipFill rotWithShape="1">
          <a:blip r:embed="rId5">
            <a:alphaModFix/>
          </a:blip>
          <a:srcRect b="0" l="0" r="0" t="0"/>
          <a:stretch/>
        </p:blipFill>
        <p:spPr>
          <a:xfrm>
            <a:off x="7643812" y="5143500"/>
            <a:ext cx="823912" cy="965200"/>
          </a:xfrm>
          <a:prstGeom prst="rect">
            <a:avLst/>
          </a:prstGeom>
          <a:noFill/>
          <a:ln>
            <a:noFill/>
          </a:ln>
        </p:spPr>
      </p:pic>
      <p:pic>
        <p:nvPicPr>
          <p:cNvPr id="148" name="Google Shape;148;p9"/>
          <p:cNvPicPr preferRelativeResize="0"/>
          <p:nvPr/>
        </p:nvPicPr>
        <p:blipFill rotWithShape="1">
          <a:blip r:embed="rId5">
            <a:alphaModFix/>
          </a:blip>
          <a:srcRect b="0" l="0" r="0" t="0"/>
          <a:stretch/>
        </p:blipFill>
        <p:spPr>
          <a:xfrm>
            <a:off x="7572375" y="2428875"/>
            <a:ext cx="823912" cy="965200"/>
          </a:xfrm>
          <a:prstGeom prst="rect">
            <a:avLst/>
          </a:prstGeom>
          <a:noFill/>
          <a:ln>
            <a:noFill/>
          </a:ln>
        </p:spPr>
      </p:pic>
      <p:sp>
        <p:nvSpPr>
          <p:cNvPr id="149" name="Google Shape;149;p9"/>
          <p:cNvSpPr txBox="1"/>
          <p:nvPr/>
        </p:nvSpPr>
        <p:spPr>
          <a:xfrm>
            <a:off x="928687" y="3714750"/>
            <a:ext cx="7715250" cy="2643187"/>
          </a:xfrm>
          <a:prstGeom prst="rect">
            <a:avLst/>
          </a:prstGeom>
          <a:solidFill>
            <a:schemeClr val="accent1">
              <a:alpha val="8627"/>
            </a:schemeClr>
          </a:solidFill>
          <a:ln cap="rnd" cmpd="sng" w="22225">
            <a:solidFill>
              <a:srgbClr val="360B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ulim"/>
              <a:ea typeface="Gulim"/>
              <a:cs typeface="Gulim"/>
              <a:sym typeface="Guli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0"/>
          <p:cNvSpPr txBox="1"/>
          <p:nvPr>
            <p:ph type="title"/>
          </p:nvPr>
        </p:nvSpPr>
        <p:spPr>
          <a:xfrm>
            <a:off x="928687" y="2428875"/>
            <a:ext cx="7529512" cy="11430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accent2"/>
              </a:buClr>
              <a:buSzPts val="4000"/>
              <a:buFont typeface="Gill Sans"/>
              <a:buNone/>
            </a:pPr>
            <a:r>
              <a:rPr b="0" i="0" lang="en-US" sz="4000" u="none">
                <a:solidFill>
                  <a:schemeClr val="accent2"/>
                </a:solidFill>
                <a:latin typeface="Gill Sans"/>
                <a:ea typeface="Gill Sans"/>
                <a:cs typeface="Gill Sans"/>
                <a:sym typeface="Gill Sans"/>
              </a:rPr>
              <a:t>AUTHENTICATION PROTOCOLS</a:t>
            </a:r>
            <a:endParaRPr/>
          </a:p>
        </p:txBody>
      </p:sp>
      <p:sp>
        <p:nvSpPr>
          <p:cNvPr id="155" name="Google Shape;155;p10"/>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156" name="Google Shape;156;p10"/>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1"/>
          <p:cNvSpPr txBox="1"/>
          <p:nvPr>
            <p:ph type="title"/>
          </p:nvPr>
        </p:nvSpPr>
        <p:spPr>
          <a:xfrm>
            <a:off x="785812" y="501650"/>
            <a:ext cx="7143750" cy="85566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AUTHENTICATION</a:t>
            </a:r>
            <a:endParaRPr/>
          </a:p>
        </p:txBody>
      </p:sp>
      <p:sp>
        <p:nvSpPr>
          <p:cNvPr id="162" name="Google Shape;162;p11"/>
          <p:cNvSpPr txBox="1"/>
          <p:nvPr>
            <p:ph idx="1" type="body"/>
          </p:nvPr>
        </p:nvSpPr>
        <p:spPr>
          <a:xfrm>
            <a:off x="581025" y="1839912"/>
            <a:ext cx="7748587" cy="4325937"/>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90000"/>
              </a:lnSpc>
              <a:spcBef>
                <a:spcPts val="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Alice must prove her identity to Bob</a:t>
            </a:r>
            <a:endParaRPr/>
          </a:p>
          <a:p>
            <a:pPr indent="-304800" lvl="1" marL="628650" marR="0" rtl="0" algn="l">
              <a:lnSpc>
                <a:spcPct val="90000"/>
              </a:lnSpc>
              <a:spcBef>
                <a:spcPts val="1000"/>
              </a:spcBef>
              <a:spcAft>
                <a:spcPts val="0"/>
              </a:spcAft>
              <a:buClr>
                <a:schemeClr val="accent2"/>
              </a:buClr>
              <a:buSzPts val="1840"/>
              <a:buFont typeface="Noto Sans Symbols"/>
              <a:buChar char="◼"/>
            </a:pPr>
            <a:r>
              <a:rPr b="0" i="0" lang="en-US" sz="2000" u="none" cap="none" strike="noStrike">
                <a:solidFill>
                  <a:schemeClr val="dk2"/>
                </a:solidFill>
                <a:latin typeface="Gill Sans"/>
                <a:ea typeface="Gill Sans"/>
                <a:cs typeface="Gill Sans"/>
                <a:sym typeface="Gill Sans"/>
              </a:rPr>
              <a:t>Alice and Bob can be humans or computers</a:t>
            </a:r>
            <a:endParaRPr/>
          </a:p>
          <a:p>
            <a:pPr indent="-304800" lvl="0" marL="30480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May also require Bob to prove he’s Bob (mutual authentication)</a:t>
            </a:r>
            <a:endParaRPr/>
          </a:p>
          <a:p>
            <a:pPr indent="-304800" lvl="0" marL="30480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May also need to establish a session key</a:t>
            </a:r>
            <a:endParaRPr/>
          </a:p>
          <a:p>
            <a:pPr indent="-304800" lvl="0" marL="30480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May have other requirements, such as</a:t>
            </a:r>
            <a:endParaRPr/>
          </a:p>
          <a:p>
            <a:pPr indent="-304800" lvl="1" marL="628650" marR="0" rtl="0" algn="l">
              <a:lnSpc>
                <a:spcPct val="90000"/>
              </a:lnSpc>
              <a:spcBef>
                <a:spcPts val="1000"/>
              </a:spcBef>
              <a:spcAft>
                <a:spcPts val="0"/>
              </a:spcAft>
              <a:buClr>
                <a:schemeClr val="accent2"/>
              </a:buClr>
              <a:buSzPts val="1840"/>
              <a:buFont typeface="Noto Sans Symbols"/>
              <a:buChar char="◼"/>
            </a:pPr>
            <a:r>
              <a:rPr b="0" i="0" lang="en-US" sz="2000" u="none" cap="none" strike="noStrike">
                <a:solidFill>
                  <a:schemeClr val="dk2"/>
                </a:solidFill>
                <a:latin typeface="Gill Sans"/>
                <a:ea typeface="Gill Sans"/>
                <a:cs typeface="Gill Sans"/>
                <a:sym typeface="Gill Sans"/>
              </a:rPr>
              <a:t>Use only public keys</a:t>
            </a:r>
            <a:endParaRPr/>
          </a:p>
          <a:p>
            <a:pPr indent="-304800" lvl="1" marL="628650" marR="0" rtl="0" algn="l">
              <a:lnSpc>
                <a:spcPct val="90000"/>
              </a:lnSpc>
              <a:spcBef>
                <a:spcPts val="1000"/>
              </a:spcBef>
              <a:spcAft>
                <a:spcPts val="0"/>
              </a:spcAft>
              <a:buClr>
                <a:schemeClr val="accent2"/>
              </a:buClr>
              <a:buSzPts val="1840"/>
              <a:buFont typeface="Noto Sans Symbols"/>
              <a:buChar char="◼"/>
            </a:pPr>
            <a:r>
              <a:rPr b="0" i="0" lang="en-US" sz="2000" u="none" cap="none" strike="noStrike">
                <a:solidFill>
                  <a:schemeClr val="dk2"/>
                </a:solidFill>
                <a:latin typeface="Gill Sans"/>
                <a:ea typeface="Gill Sans"/>
                <a:cs typeface="Gill Sans"/>
                <a:sym typeface="Gill Sans"/>
              </a:rPr>
              <a:t>Use only symmetric keys</a:t>
            </a:r>
            <a:endParaRPr/>
          </a:p>
          <a:p>
            <a:pPr indent="-304800" lvl="1" marL="628650" marR="0" rtl="0" algn="l">
              <a:lnSpc>
                <a:spcPct val="90000"/>
              </a:lnSpc>
              <a:spcBef>
                <a:spcPts val="1000"/>
              </a:spcBef>
              <a:spcAft>
                <a:spcPts val="0"/>
              </a:spcAft>
              <a:buClr>
                <a:schemeClr val="accent2"/>
              </a:buClr>
              <a:buSzPts val="1840"/>
              <a:buFont typeface="Noto Sans Symbols"/>
              <a:buChar char="◼"/>
            </a:pPr>
            <a:r>
              <a:rPr b="0" i="0" lang="en-US" sz="2000" u="none" cap="none" strike="noStrike">
                <a:solidFill>
                  <a:schemeClr val="dk2"/>
                </a:solidFill>
                <a:latin typeface="Gill Sans"/>
                <a:ea typeface="Gill Sans"/>
                <a:cs typeface="Gill Sans"/>
                <a:sym typeface="Gill Sans"/>
              </a:rPr>
              <a:t>Use only a hash function</a:t>
            </a:r>
            <a:endParaRPr/>
          </a:p>
          <a:p>
            <a:pPr indent="-304800" lvl="1" marL="628650" marR="0" rtl="0" algn="l">
              <a:lnSpc>
                <a:spcPct val="90000"/>
              </a:lnSpc>
              <a:spcBef>
                <a:spcPts val="1000"/>
              </a:spcBef>
              <a:spcAft>
                <a:spcPts val="0"/>
              </a:spcAft>
              <a:buClr>
                <a:schemeClr val="accent2"/>
              </a:buClr>
              <a:buSzPts val="1840"/>
              <a:buFont typeface="Noto Sans Symbols"/>
              <a:buChar char="◼"/>
            </a:pPr>
            <a:r>
              <a:rPr b="0" i="0" lang="en-US" sz="2000" u="none" cap="none" strike="noStrike">
                <a:solidFill>
                  <a:schemeClr val="dk2"/>
                </a:solidFill>
                <a:latin typeface="Gill Sans"/>
                <a:ea typeface="Gill Sans"/>
                <a:cs typeface="Gill Sans"/>
                <a:sym typeface="Gill Sans"/>
              </a:rPr>
              <a:t>Anonymity, plausible deniability etc., etc.</a:t>
            </a:r>
            <a:endParaRPr/>
          </a:p>
        </p:txBody>
      </p:sp>
      <p:sp>
        <p:nvSpPr>
          <p:cNvPr id="163" name="Google Shape;163;p11"/>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164" name="Google Shape;164;p11"/>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2"/>
          <p:cNvSpPr txBox="1"/>
          <p:nvPr>
            <p:ph type="title"/>
          </p:nvPr>
        </p:nvSpPr>
        <p:spPr>
          <a:xfrm>
            <a:off x="785812" y="563562"/>
            <a:ext cx="7454900" cy="79375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AUTHENTICATION</a:t>
            </a:r>
            <a:endParaRPr/>
          </a:p>
        </p:txBody>
      </p:sp>
      <p:sp>
        <p:nvSpPr>
          <p:cNvPr id="170" name="Google Shape;170;p12"/>
          <p:cNvSpPr txBox="1"/>
          <p:nvPr>
            <p:ph idx="1" type="body"/>
          </p:nvPr>
        </p:nvSpPr>
        <p:spPr>
          <a:xfrm>
            <a:off x="571500" y="1836737"/>
            <a:ext cx="7672387" cy="4457700"/>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75000"/>
              </a:lnSpc>
              <a:spcBef>
                <a:spcPts val="0"/>
              </a:spcBef>
              <a:spcAft>
                <a:spcPts val="0"/>
              </a:spcAft>
              <a:buClr>
                <a:schemeClr val="accent2"/>
              </a:buClr>
              <a:buSzPts val="2576"/>
              <a:buFont typeface="Noto Sans Symbols"/>
              <a:buChar char="◼"/>
            </a:pPr>
            <a:r>
              <a:rPr b="0" i="0" lang="en-US" sz="2800" u="none" cap="none" strike="noStrike">
                <a:solidFill>
                  <a:srgbClr val="0000FF"/>
                </a:solidFill>
                <a:latin typeface="Gill Sans"/>
                <a:ea typeface="Gill Sans"/>
                <a:cs typeface="Gill Sans"/>
                <a:sym typeface="Gill Sans"/>
              </a:rPr>
              <a:t>Authentication on a stand-alone computer is relatively simple</a:t>
            </a:r>
            <a:endParaRPr/>
          </a:p>
          <a:p>
            <a:pPr indent="-304800" lvl="1" marL="628650" marR="0" rtl="0" algn="l">
              <a:lnSpc>
                <a:spcPct val="75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“Secure path” is the primary issue</a:t>
            </a:r>
            <a:endParaRPr/>
          </a:p>
          <a:p>
            <a:pPr indent="-304800" lvl="1" marL="628650" marR="0" rtl="0" algn="l">
              <a:lnSpc>
                <a:spcPct val="75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Main concern is an attack on authentication software (we discuss software attacks later)</a:t>
            </a:r>
            <a:endParaRPr/>
          </a:p>
          <a:p>
            <a:pPr indent="-304800" lvl="0" marL="304800" marR="0" rtl="0" algn="l">
              <a:lnSpc>
                <a:spcPct val="75000"/>
              </a:lnSpc>
              <a:spcBef>
                <a:spcPts val="1160"/>
              </a:spcBef>
              <a:spcAft>
                <a:spcPts val="0"/>
              </a:spcAft>
              <a:buClr>
                <a:schemeClr val="accent2"/>
              </a:buClr>
              <a:buSzPts val="2576"/>
              <a:buFont typeface="Noto Sans Symbols"/>
              <a:buChar char="◼"/>
            </a:pPr>
            <a:r>
              <a:rPr b="0" i="0" lang="en-US" sz="2800" u="none" cap="none" strike="noStrike">
                <a:solidFill>
                  <a:srgbClr val="0000FF"/>
                </a:solidFill>
                <a:latin typeface="Gill Sans"/>
                <a:ea typeface="Gill Sans"/>
                <a:cs typeface="Gill Sans"/>
                <a:sym typeface="Gill Sans"/>
              </a:rPr>
              <a:t>Authentication over a network is much more complex</a:t>
            </a:r>
            <a:endParaRPr/>
          </a:p>
          <a:p>
            <a:pPr indent="-304800" lvl="1" marL="628650" marR="0" rtl="0" algn="l">
              <a:lnSpc>
                <a:spcPct val="75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Attacker can </a:t>
            </a:r>
            <a:r>
              <a:rPr b="0" i="0" lang="en-US" sz="2400" u="none" cap="none" strike="noStrike">
                <a:solidFill>
                  <a:srgbClr val="FF0000"/>
                </a:solidFill>
                <a:latin typeface="Gill Sans"/>
                <a:ea typeface="Gill Sans"/>
                <a:cs typeface="Gill Sans"/>
                <a:sym typeface="Gill Sans"/>
              </a:rPr>
              <a:t>passively observe messages</a:t>
            </a:r>
            <a:endParaRPr/>
          </a:p>
          <a:p>
            <a:pPr indent="-304800" lvl="1" marL="628650" marR="0" rtl="0" algn="l">
              <a:lnSpc>
                <a:spcPct val="75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Attacker can </a:t>
            </a:r>
            <a:r>
              <a:rPr b="0" i="0" lang="en-US" sz="2400" u="none" cap="none" strike="noStrike">
                <a:solidFill>
                  <a:srgbClr val="FF0000"/>
                </a:solidFill>
                <a:latin typeface="Gill Sans"/>
                <a:ea typeface="Gill Sans"/>
                <a:cs typeface="Gill Sans"/>
                <a:sym typeface="Gill Sans"/>
              </a:rPr>
              <a:t>replay messages</a:t>
            </a:r>
            <a:endParaRPr/>
          </a:p>
          <a:p>
            <a:pPr indent="-304800" lvl="1" marL="628650" marR="0" rtl="0" algn="l">
              <a:lnSpc>
                <a:spcPct val="75000"/>
              </a:lnSpc>
              <a:spcBef>
                <a:spcPts val="1080"/>
              </a:spcBef>
              <a:spcAft>
                <a:spcPts val="0"/>
              </a:spcAft>
              <a:buClr>
                <a:schemeClr val="accent2"/>
              </a:buClr>
              <a:buSzPts val="2208"/>
              <a:buFont typeface="Noto Sans Symbols"/>
              <a:buChar char="◼"/>
            </a:pPr>
            <a:r>
              <a:rPr b="0" i="0" lang="en-US" sz="2400" u="none" cap="none" strike="noStrike">
                <a:solidFill>
                  <a:srgbClr val="FF0000"/>
                </a:solidFill>
                <a:latin typeface="Gill Sans"/>
                <a:ea typeface="Gill Sans"/>
                <a:cs typeface="Gill Sans"/>
                <a:sym typeface="Gill Sans"/>
              </a:rPr>
              <a:t>Active attacks </a:t>
            </a:r>
            <a:r>
              <a:rPr b="0" i="0" lang="en-US" sz="2400" u="none" cap="none" strike="noStrike">
                <a:solidFill>
                  <a:schemeClr val="dk2"/>
                </a:solidFill>
                <a:latin typeface="Gill Sans"/>
                <a:ea typeface="Gill Sans"/>
                <a:cs typeface="Gill Sans"/>
                <a:sym typeface="Gill Sans"/>
              </a:rPr>
              <a:t>may be possible (insert, delete, change messages)</a:t>
            </a:r>
            <a:endParaRPr/>
          </a:p>
        </p:txBody>
      </p:sp>
      <p:sp>
        <p:nvSpPr>
          <p:cNvPr id="171" name="Google Shape;171;p12"/>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172" name="Google Shape;172;p12"/>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3"/>
          <p:cNvSpPr txBox="1"/>
          <p:nvPr>
            <p:ph type="title"/>
          </p:nvPr>
        </p:nvSpPr>
        <p:spPr>
          <a:xfrm>
            <a:off x="785812" y="428625"/>
            <a:ext cx="7100887" cy="928687"/>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SIMPLE AUTHENTICATION</a:t>
            </a:r>
            <a:endParaRPr/>
          </a:p>
        </p:txBody>
      </p:sp>
      <p:sp>
        <p:nvSpPr>
          <p:cNvPr id="179" name="Google Shape;179;p13"/>
          <p:cNvSpPr txBox="1"/>
          <p:nvPr>
            <p:ph idx="1" type="body"/>
          </p:nvPr>
        </p:nvSpPr>
        <p:spPr>
          <a:xfrm>
            <a:off x="785812" y="4267200"/>
            <a:ext cx="7977187" cy="2019300"/>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80000"/>
              </a:lnSpc>
              <a:spcBef>
                <a:spcPts val="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Simple and may be OK for standalone system</a:t>
            </a:r>
            <a:endParaRPr/>
          </a:p>
          <a:p>
            <a:pPr indent="-304800" lvl="0" marL="304800" marR="0" rtl="0" algn="l">
              <a:lnSpc>
                <a:spcPct val="80000"/>
              </a:lnSpc>
              <a:spcBef>
                <a:spcPts val="116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But insecure for networked system</a:t>
            </a:r>
            <a:endParaRPr/>
          </a:p>
          <a:p>
            <a:pPr indent="-304800" lvl="1" marL="628650" marR="0" rtl="0" algn="l">
              <a:lnSpc>
                <a:spcPct val="8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Subject to a replay attack (next 2 slides)</a:t>
            </a:r>
            <a:endParaRPr/>
          </a:p>
          <a:p>
            <a:pPr indent="-304800" lvl="1" marL="628650" marR="0" rtl="0" algn="l">
              <a:lnSpc>
                <a:spcPct val="8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Bob must know Alice’s password</a:t>
            </a:r>
            <a:endParaRPr/>
          </a:p>
        </p:txBody>
      </p:sp>
      <p:sp>
        <p:nvSpPr>
          <p:cNvPr id="180" name="Google Shape;180;p13"/>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181" name="Google Shape;181;p13"/>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cxnSp>
        <p:nvCxnSpPr>
          <p:cNvPr id="182" name="Google Shape;182;p13"/>
          <p:cNvCxnSpPr/>
          <p:nvPr/>
        </p:nvCxnSpPr>
        <p:spPr>
          <a:xfrm>
            <a:off x="2286000" y="2325687"/>
            <a:ext cx="46482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183" name="Google Shape;183;p13"/>
          <p:cNvCxnSpPr/>
          <p:nvPr/>
        </p:nvCxnSpPr>
        <p:spPr>
          <a:xfrm rot="10800000">
            <a:off x="2209800" y="2935287"/>
            <a:ext cx="4724400" cy="0"/>
          </a:xfrm>
          <a:prstGeom prst="straightConnector1">
            <a:avLst/>
          </a:prstGeom>
          <a:noFill/>
          <a:ln cap="flat" cmpd="sng" w="50800">
            <a:solidFill>
              <a:schemeClr val="dk1"/>
            </a:solidFill>
            <a:prstDash val="solid"/>
            <a:miter lim="800000"/>
            <a:headEnd len="med" w="med" type="none"/>
            <a:tailEnd len="med" w="med" type="triangle"/>
          </a:ln>
        </p:spPr>
      </p:cxnSp>
      <p:sp>
        <p:nvSpPr>
          <p:cNvPr id="184" name="Google Shape;184;p13"/>
          <p:cNvSpPr txBox="1"/>
          <p:nvPr/>
        </p:nvSpPr>
        <p:spPr>
          <a:xfrm>
            <a:off x="1157287" y="3636962"/>
            <a:ext cx="9001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Alice</a:t>
            </a:r>
            <a:endParaRPr/>
          </a:p>
        </p:txBody>
      </p:sp>
      <p:sp>
        <p:nvSpPr>
          <p:cNvPr id="185" name="Google Shape;185;p13"/>
          <p:cNvSpPr txBox="1"/>
          <p:nvPr/>
        </p:nvSpPr>
        <p:spPr>
          <a:xfrm>
            <a:off x="7207250" y="3597275"/>
            <a:ext cx="7175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a:t>
            </a:r>
            <a:endParaRPr/>
          </a:p>
        </p:txBody>
      </p:sp>
      <p:cxnSp>
        <p:nvCxnSpPr>
          <p:cNvPr id="186" name="Google Shape;186;p13"/>
          <p:cNvCxnSpPr/>
          <p:nvPr/>
        </p:nvCxnSpPr>
        <p:spPr>
          <a:xfrm>
            <a:off x="2286000" y="3621087"/>
            <a:ext cx="4648200" cy="0"/>
          </a:xfrm>
          <a:prstGeom prst="straightConnector1">
            <a:avLst/>
          </a:prstGeom>
          <a:noFill/>
          <a:ln cap="flat" cmpd="sng" w="50800">
            <a:solidFill>
              <a:schemeClr val="dk1"/>
            </a:solidFill>
            <a:prstDash val="solid"/>
            <a:miter lim="800000"/>
            <a:headEnd len="med" w="med" type="none"/>
            <a:tailEnd len="med" w="med" type="triangle"/>
          </a:ln>
        </p:spPr>
      </p:cxnSp>
      <p:sp>
        <p:nvSpPr>
          <p:cNvPr id="187" name="Google Shape;187;p13"/>
          <p:cNvSpPr txBox="1"/>
          <p:nvPr/>
        </p:nvSpPr>
        <p:spPr>
          <a:xfrm>
            <a:off x="3733800" y="1828800"/>
            <a:ext cx="15398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“I’m Alice”</a:t>
            </a:r>
            <a:endParaRPr/>
          </a:p>
        </p:txBody>
      </p:sp>
      <p:sp>
        <p:nvSpPr>
          <p:cNvPr id="188" name="Google Shape;188;p13"/>
          <p:cNvSpPr txBox="1"/>
          <p:nvPr/>
        </p:nvSpPr>
        <p:spPr>
          <a:xfrm>
            <a:off x="3886200" y="2514600"/>
            <a:ext cx="12176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Prove it</a:t>
            </a:r>
            <a:endParaRPr/>
          </a:p>
        </p:txBody>
      </p:sp>
      <p:sp>
        <p:nvSpPr>
          <p:cNvPr id="189" name="Google Shape;189;p13"/>
          <p:cNvSpPr txBox="1"/>
          <p:nvPr/>
        </p:nvSpPr>
        <p:spPr>
          <a:xfrm>
            <a:off x="3048000" y="3140075"/>
            <a:ext cx="3251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My password is “frank”</a:t>
            </a:r>
            <a:endParaRPr/>
          </a:p>
        </p:txBody>
      </p:sp>
      <p:pic>
        <p:nvPicPr>
          <p:cNvPr id="190" name="Google Shape;190;p13"/>
          <p:cNvPicPr preferRelativeResize="0"/>
          <p:nvPr/>
        </p:nvPicPr>
        <p:blipFill rotWithShape="1">
          <a:blip r:embed="rId3">
            <a:alphaModFix/>
          </a:blip>
          <a:srcRect b="0" l="0" r="0" t="0"/>
          <a:stretch/>
        </p:blipFill>
        <p:spPr>
          <a:xfrm>
            <a:off x="1111250" y="2057400"/>
            <a:ext cx="946150" cy="1624012"/>
          </a:xfrm>
          <a:prstGeom prst="rect">
            <a:avLst/>
          </a:prstGeom>
          <a:noFill/>
          <a:ln>
            <a:noFill/>
          </a:ln>
        </p:spPr>
      </p:pic>
      <p:pic>
        <p:nvPicPr>
          <p:cNvPr id="191" name="Google Shape;191;p13"/>
          <p:cNvPicPr preferRelativeResize="0"/>
          <p:nvPr/>
        </p:nvPicPr>
        <p:blipFill rotWithShape="1">
          <a:blip r:embed="rId4">
            <a:alphaModFix/>
          </a:blip>
          <a:srcRect b="0" l="0" r="0" t="0"/>
          <a:stretch/>
        </p:blipFill>
        <p:spPr>
          <a:xfrm>
            <a:off x="7086600" y="1916112"/>
            <a:ext cx="1076325" cy="16652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2"/>
                                        </p:tgtEl>
                                        <p:attrNameLst>
                                          <p:attrName>style.visibility</p:attrName>
                                        </p:attrNameLst>
                                      </p:cBhvr>
                                      <p:to>
                                        <p:strVal val="visible"/>
                                      </p:to>
                                    </p:set>
                                    <p:anim calcmode="lin" valueType="num">
                                      <p:cBhvr additive="base">
                                        <p:cTn dur="500"/>
                                        <p:tgtEl>
                                          <p:spTgt spid="182"/>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83"/>
                                        </p:tgtEl>
                                        <p:attrNameLst>
                                          <p:attrName>style.visibility</p:attrName>
                                        </p:attrNameLst>
                                      </p:cBhvr>
                                      <p:to>
                                        <p:strVal val="visible"/>
                                      </p:to>
                                    </p:set>
                                    <p:anim calcmode="lin" valueType="num">
                                      <p:cBhvr additive="base">
                                        <p:cTn dur="500"/>
                                        <p:tgtEl>
                                          <p:spTgt spid="183"/>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500"/>
                                        <p:tgtEl>
                                          <p:spTgt spid="186"/>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0" st="0"/>
                                            </p:txEl>
                                          </p:spTgt>
                                        </p:tgtEl>
                                        <p:attrNameLst>
                                          <p:attrName>style.visibility</p:attrName>
                                        </p:attrNameLst>
                                      </p:cBhvr>
                                      <p:to>
                                        <p:strVal val="visible"/>
                                      </p:to>
                                    </p:set>
                                    <p:animEffect filter="fade" transition="in">
                                      <p:cBhvr>
                                        <p:cTn dur="500"/>
                                        <p:tgtEl>
                                          <p:spTgt spid="17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1" st="1"/>
                                            </p:txEl>
                                          </p:spTgt>
                                        </p:tgtEl>
                                        <p:attrNameLst>
                                          <p:attrName>style.visibility</p:attrName>
                                        </p:attrNameLst>
                                      </p:cBhvr>
                                      <p:to>
                                        <p:strVal val="visible"/>
                                      </p:to>
                                    </p:set>
                                    <p:animEffect filter="fade" transition="in">
                                      <p:cBhvr>
                                        <p:cTn dur="500"/>
                                        <p:tgtEl>
                                          <p:spTgt spid="17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2" st="2"/>
                                            </p:txEl>
                                          </p:spTgt>
                                        </p:tgtEl>
                                        <p:attrNameLst>
                                          <p:attrName>style.visibility</p:attrName>
                                        </p:attrNameLst>
                                      </p:cBhvr>
                                      <p:to>
                                        <p:strVal val="visible"/>
                                      </p:to>
                                    </p:set>
                                    <p:animEffect filter="fade" transition="in">
                                      <p:cBhvr>
                                        <p:cTn dur="500"/>
                                        <p:tgtEl>
                                          <p:spTgt spid="17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xEl>
                                              <p:pRg end="3" st="3"/>
                                            </p:txEl>
                                          </p:spTgt>
                                        </p:tgtEl>
                                        <p:attrNameLst>
                                          <p:attrName>style.visibility</p:attrName>
                                        </p:attrNameLst>
                                      </p:cBhvr>
                                      <p:to>
                                        <p:strVal val="visible"/>
                                      </p:to>
                                    </p:set>
                                    <p:animEffect filter="fade" transition="in">
                                      <p:cBhvr>
                                        <p:cTn dur="500"/>
                                        <p:tgtEl>
                                          <p:spTgt spid="179">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4"/>
          <p:cNvSpPr txBox="1"/>
          <p:nvPr>
            <p:ph type="title"/>
          </p:nvPr>
        </p:nvSpPr>
        <p:spPr>
          <a:xfrm>
            <a:off x="785812" y="609600"/>
            <a:ext cx="7143750" cy="7477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AUTHENTICATION ATTACK</a:t>
            </a:r>
            <a:endParaRPr/>
          </a:p>
        </p:txBody>
      </p:sp>
      <p:sp>
        <p:nvSpPr>
          <p:cNvPr id="198" name="Google Shape;198;p14"/>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199" name="Google Shape;199;p14"/>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cxnSp>
        <p:nvCxnSpPr>
          <p:cNvPr id="200" name="Google Shape;200;p14"/>
          <p:cNvCxnSpPr/>
          <p:nvPr/>
        </p:nvCxnSpPr>
        <p:spPr>
          <a:xfrm>
            <a:off x="2286000" y="2325687"/>
            <a:ext cx="46482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201" name="Google Shape;201;p14"/>
          <p:cNvCxnSpPr/>
          <p:nvPr/>
        </p:nvCxnSpPr>
        <p:spPr>
          <a:xfrm rot="10800000">
            <a:off x="2209800" y="2935287"/>
            <a:ext cx="4724400" cy="0"/>
          </a:xfrm>
          <a:prstGeom prst="straightConnector1">
            <a:avLst/>
          </a:prstGeom>
          <a:noFill/>
          <a:ln cap="flat" cmpd="sng" w="50800">
            <a:solidFill>
              <a:schemeClr val="dk1"/>
            </a:solidFill>
            <a:prstDash val="solid"/>
            <a:miter lim="800000"/>
            <a:headEnd len="med" w="med" type="none"/>
            <a:tailEnd len="med" w="med" type="triangle"/>
          </a:ln>
        </p:spPr>
      </p:cxnSp>
      <p:sp>
        <p:nvSpPr>
          <p:cNvPr id="202" name="Google Shape;202;p14"/>
          <p:cNvSpPr txBox="1"/>
          <p:nvPr/>
        </p:nvSpPr>
        <p:spPr>
          <a:xfrm>
            <a:off x="1219200" y="3636962"/>
            <a:ext cx="9001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Alice</a:t>
            </a:r>
            <a:endParaRPr/>
          </a:p>
        </p:txBody>
      </p:sp>
      <p:sp>
        <p:nvSpPr>
          <p:cNvPr id="203" name="Google Shape;203;p14"/>
          <p:cNvSpPr txBox="1"/>
          <p:nvPr/>
        </p:nvSpPr>
        <p:spPr>
          <a:xfrm>
            <a:off x="7315200" y="3597275"/>
            <a:ext cx="7175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a:t>
            </a:r>
            <a:endParaRPr/>
          </a:p>
        </p:txBody>
      </p:sp>
      <p:cxnSp>
        <p:nvCxnSpPr>
          <p:cNvPr id="204" name="Google Shape;204;p14"/>
          <p:cNvCxnSpPr/>
          <p:nvPr/>
        </p:nvCxnSpPr>
        <p:spPr>
          <a:xfrm>
            <a:off x="2286000" y="3621087"/>
            <a:ext cx="4648200" cy="0"/>
          </a:xfrm>
          <a:prstGeom prst="straightConnector1">
            <a:avLst/>
          </a:prstGeom>
          <a:noFill/>
          <a:ln cap="flat" cmpd="sng" w="50800">
            <a:solidFill>
              <a:schemeClr val="dk1"/>
            </a:solidFill>
            <a:prstDash val="solid"/>
            <a:miter lim="800000"/>
            <a:headEnd len="med" w="med" type="none"/>
            <a:tailEnd len="med" w="med" type="triangle"/>
          </a:ln>
        </p:spPr>
      </p:cxnSp>
      <p:sp>
        <p:nvSpPr>
          <p:cNvPr id="205" name="Google Shape;205;p14"/>
          <p:cNvSpPr txBox="1"/>
          <p:nvPr/>
        </p:nvSpPr>
        <p:spPr>
          <a:xfrm>
            <a:off x="3733800" y="1828800"/>
            <a:ext cx="15398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“I’m Alice”</a:t>
            </a:r>
            <a:endParaRPr/>
          </a:p>
        </p:txBody>
      </p:sp>
      <p:sp>
        <p:nvSpPr>
          <p:cNvPr id="206" name="Google Shape;206;p14"/>
          <p:cNvSpPr txBox="1"/>
          <p:nvPr/>
        </p:nvSpPr>
        <p:spPr>
          <a:xfrm>
            <a:off x="3886200" y="2530475"/>
            <a:ext cx="12176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Prove it</a:t>
            </a:r>
            <a:endParaRPr/>
          </a:p>
        </p:txBody>
      </p:sp>
      <p:sp>
        <p:nvSpPr>
          <p:cNvPr id="207" name="Google Shape;207;p14"/>
          <p:cNvSpPr txBox="1"/>
          <p:nvPr/>
        </p:nvSpPr>
        <p:spPr>
          <a:xfrm>
            <a:off x="2895600" y="3140075"/>
            <a:ext cx="3251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My password is “frank”</a:t>
            </a:r>
            <a:endParaRPr/>
          </a:p>
        </p:txBody>
      </p:sp>
      <p:sp>
        <p:nvSpPr>
          <p:cNvPr id="208" name="Google Shape;208;p14"/>
          <p:cNvSpPr txBox="1"/>
          <p:nvPr/>
        </p:nvSpPr>
        <p:spPr>
          <a:xfrm>
            <a:off x="3919537" y="5715000"/>
            <a:ext cx="10350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Trudy</a:t>
            </a:r>
            <a:endParaRPr/>
          </a:p>
        </p:txBody>
      </p:sp>
      <p:cxnSp>
        <p:nvCxnSpPr>
          <p:cNvPr id="209" name="Google Shape;209;p14"/>
          <p:cNvCxnSpPr/>
          <p:nvPr/>
        </p:nvCxnSpPr>
        <p:spPr>
          <a:xfrm>
            <a:off x="4419600" y="3657600"/>
            <a:ext cx="0" cy="609600"/>
          </a:xfrm>
          <a:prstGeom prst="straightConnector1">
            <a:avLst/>
          </a:prstGeom>
          <a:noFill/>
          <a:ln cap="flat" cmpd="sng" w="50800">
            <a:solidFill>
              <a:srgbClr val="FF0000"/>
            </a:solidFill>
            <a:prstDash val="solid"/>
            <a:miter lim="800000"/>
            <a:headEnd len="med" w="med" type="triangle"/>
            <a:tailEnd len="med" w="med" type="triangle"/>
          </a:ln>
        </p:spPr>
      </p:cxnSp>
      <p:pic>
        <p:nvPicPr>
          <p:cNvPr id="210" name="Google Shape;210;p14"/>
          <p:cNvPicPr preferRelativeResize="0"/>
          <p:nvPr/>
        </p:nvPicPr>
        <p:blipFill rotWithShape="1">
          <a:blip r:embed="rId3">
            <a:alphaModFix/>
          </a:blip>
          <a:srcRect b="0" l="0" r="0" t="0"/>
          <a:stretch/>
        </p:blipFill>
        <p:spPr>
          <a:xfrm>
            <a:off x="1111250" y="2033587"/>
            <a:ext cx="946150" cy="1624012"/>
          </a:xfrm>
          <a:prstGeom prst="rect">
            <a:avLst/>
          </a:prstGeom>
          <a:noFill/>
          <a:ln>
            <a:noFill/>
          </a:ln>
        </p:spPr>
      </p:pic>
      <p:pic>
        <p:nvPicPr>
          <p:cNvPr id="211" name="Google Shape;211;p14"/>
          <p:cNvPicPr preferRelativeResize="0"/>
          <p:nvPr/>
        </p:nvPicPr>
        <p:blipFill rotWithShape="1">
          <a:blip r:embed="rId4">
            <a:alphaModFix/>
          </a:blip>
          <a:srcRect b="0" l="0" r="0" t="0"/>
          <a:stretch/>
        </p:blipFill>
        <p:spPr>
          <a:xfrm>
            <a:off x="7153275" y="1992312"/>
            <a:ext cx="1076325" cy="1665287"/>
          </a:xfrm>
          <a:prstGeom prst="rect">
            <a:avLst/>
          </a:prstGeom>
          <a:noFill/>
          <a:ln>
            <a:noFill/>
          </a:ln>
        </p:spPr>
      </p:pic>
      <p:pic>
        <p:nvPicPr>
          <p:cNvPr id="212" name="Google Shape;212;p14"/>
          <p:cNvPicPr preferRelativeResize="0"/>
          <p:nvPr/>
        </p:nvPicPr>
        <p:blipFill rotWithShape="1">
          <a:blip r:embed="rId5">
            <a:alphaModFix/>
          </a:blip>
          <a:srcRect b="0" l="0" r="0" t="0"/>
          <a:stretch/>
        </p:blipFill>
        <p:spPr>
          <a:xfrm>
            <a:off x="3886200" y="4343400"/>
            <a:ext cx="1112837" cy="1371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1"/>
                                        <p:tgtEl>
                                          <p:spTgt spid="2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500"/>
                                        <p:tgtEl>
                                          <p:spTgt spid="200"/>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1"/>
                                        <p:tgtEl>
                                          <p:spTgt spid="201"/>
                                        </p:tgtEl>
                                      </p:cBhvr>
                                    </p:animEffec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500"/>
                                        <p:tgtEl>
                                          <p:spTgt spid="204"/>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5"/>
          <p:cNvSpPr txBox="1"/>
          <p:nvPr>
            <p:ph type="title"/>
          </p:nvPr>
        </p:nvSpPr>
        <p:spPr>
          <a:xfrm>
            <a:off x="785812" y="609600"/>
            <a:ext cx="7143750" cy="7477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AUTHENTICATION ATTACK</a:t>
            </a:r>
            <a:endParaRPr/>
          </a:p>
        </p:txBody>
      </p:sp>
      <p:sp>
        <p:nvSpPr>
          <p:cNvPr id="218" name="Google Shape;218;p15"/>
          <p:cNvSpPr txBox="1"/>
          <p:nvPr>
            <p:ph idx="1" type="body"/>
          </p:nvPr>
        </p:nvSpPr>
        <p:spPr>
          <a:xfrm>
            <a:off x="785812" y="4643437"/>
            <a:ext cx="7743825" cy="1176337"/>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90000"/>
              </a:lnSpc>
              <a:spcBef>
                <a:spcPts val="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This is a </a:t>
            </a:r>
            <a:r>
              <a:rPr b="1" i="0" lang="en-US" sz="2800" u="none" cap="none" strike="noStrike">
                <a:solidFill>
                  <a:srgbClr val="FF0000"/>
                </a:solidFill>
                <a:latin typeface="Gill Sans"/>
                <a:ea typeface="Gill Sans"/>
                <a:cs typeface="Gill Sans"/>
                <a:sym typeface="Gill Sans"/>
              </a:rPr>
              <a:t>replay</a:t>
            </a:r>
            <a:r>
              <a:rPr b="0" i="0" lang="en-US" sz="2800" u="none" cap="none" strike="noStrike">
                <a:solidFill>
                  <a:srgbClr val="FF0000"/>
                </a:solidFill>
                <a:latin typeface="Gill Sans"/>
                <a:ea typeface="Gill Sans"/>
                <a:cs typeface="Gill Sans"/>
                <a:sym typeface="Gill Sans"/>
              </a:rPr>
              <a:t> attack</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How can we prevent a replay?</a:t>
            </a:r>
            <a:endParaRPr/>
          </a:p>
        </p:txBody>
      </p:sp>
      <p:sp>
        <p:nvSpPr>
          <p:cNvPr id="219" name="Google Shape;219;p15"/>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220" name="Google Shape;220;p15"/>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cxnSp>
        <p:nvCxnSpPr>
          <p:cNvPr id="221" name="Google Shape;221;p15"/>
          <p:cNvCxnSpPr/>
          <p:nvPr/>
        </p:nvCxnSpPr>
        <p:spPr>
          <a:xfrm>
            <a:off x="2286000" y="2554287"/>
            <a:ext cx="46482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222" name="Google Shape;222;p15"/>
          <p:cNvCxnSpPr/>
          <p:nvPr/>
        </p:nvCxnSpPr>
        <p:spPr>
          <a:xfrm rot="10800000">
            <a:off x="2209800" y="3163887"/>
            <a:ext cx="4724400" cy="0"/>
          </a:xfrm>
          <a:prstGeom prst="straightConnector1">
            <a:avLst/>
          </a:prstGeom>
          <a:noFill/>
          <a:ln cap="flat" cmpd="sng" w="50800">
            <a:solidFill>
              <a:schemeClr val="dk1"/>
            </a:solidFill>
            <a:prstDash val="solid"/>
            <a:miter lim="800000"/>
            <a:headEnd len="med" w="med" type="none"/>
            <a:tailEnd len="med" w="med" type="triangle"/>
          </a:ln>
        </p:spPr>
      </p:cxnSp>
      <p:sp>
        <p:nvSpPr>
          <p:cNvPr id="223" name="Google Shape;223;p15"/>
          <p:cNvSpPr txBox="1"/>
          <p:nvPr/>
        </p:nvSpPr>
        <p:spPr>
          <a:xfrm>
            <a:off x="7239000" y="3810000"/>
            <a:ext cx="7175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a:t>
            </a:r>
            <a:endParaRPr/>
          </a:p>
        </p:txBody>
      </p:sp>
      <p:cxnSp>
        <p:nvCxnSpPr>
          <p:cNvPr id="224" name="Google Shape;224;p15"/>
          <p:cNvCxnSpPr/>
          <p:nvPr/>
        </p:nvCxnSpPr>
        <p:spPr>
          <a:xfrm>
            <a:off x="2286000" y="3849687"/>
            <a:ext cx="4648200" cy="0"/>
          </a:xfrm>
          <a:prstGeom prst="straightConnector1">
            <a:avLst/>
          </a:prstGeom>
          <a:noFill/>
          <a:ln cap="flat" cmpd="sng" w="50800">
            <a:solidFill>
              <a:schemeClr val="dk1"/>
            </a:solidFill>
            <a:prstDash val="solid"/>
            <a:miter lim="800000"/>
            <a:headEnd len="med" w="med" type="none"/>
            <a:tailEnd len="med" w="med" type="triangle"/>
          </a:ln>
        </p:spPr>
      </p:cxnSp>
      <p:sp>
        <p:nvSpPr>
          <p:cNvPr id="225" name="Google Shape;225;p15"/>
          <p:cNvSpPr txBox="1"/>
          <p:nvPr/>
        </p:nvSpPr>
        <p:spPr>
          <a:xfrm>
            <a:off x="3733800" y="2057400"/>
            <a:ext cx="15398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“I’m Alice”</a:t>
            </a:r>
            <a:endParaRPr/>
          </a:p>
        </p:txBody>
      </p:sp>
      <p:sp>
        <p:nvSpPr>
          <p:cNvPr id="226" name="Google Shape;226;p15"/>
          <p:cNvSpPr txBox="1"/>
          <p:nvPr/>
        </p:nvSpPr>
        <p:spPr>
          <a:xfrm>
            <a:off x="3886200" y="2759075"/>
            <a:ext cx="12176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Prove it</a:t>
            </a:r>
            <a:endParaRPr/>
          </a:p>
        </p:txBody>
      </p:sp>
      <p:sp>
        <p:nvSpPr>
          <p:cNvPr id="227" name="Google Shape;227;p15"/>
          <p:cNvSpPr txBox="1"/>
          <p:nvPr/>
        </p:nvSpPr>
        <p:spPr>
          <a:xfrm>
            <a:off x="2895600" y="3368675"/>
            <a:ext cx="32512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My password is “frank”</a:t>
            </a:r>
            <a:endParaRPr/>
          </a:p>
        </p:txBody>
      </p:sp>
      <p:sp>
        <p:nvSpPr>
          <p:cNvPr id="228" name="Google Shape;228;p15"/>
          <p:cNvSpPr txBox="1"/>
          <p:nvPr/>
        </p:nvSpPr>
        <p:spPr>
          <a:xfrm>
            <a:off x="1023937" y="3810000"/>
            <a:ext cx="10350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Trudy</a:t>
            </a:r>
            <a:endParaRPr/>
          </a:p>
        </p:txBody>
      </p:sp>
      <p:pic>
        <p:nvPicPr>
          <p:cNvPr id="229" name="Google Shape;229;p15"/>
          <p:cNvPicPr preferRelativeResize="0"/>
          <p:nvPr/>
        </p:nvPicPr>
        <p:blipFill rotWithShape="1">
          <a:blip r:embed="rId3">
            <a:alphaModFix/>
          </a:blip>
          <a:srcRect b="0" l="0" r="0" t="0"/>
          <a:stretch/>
        </p:blipFill>
        <p:spPr>
          <a:xfrm>
            <a:off x="7086600" y="2133600"/>
            <a:ext cx="1076325" cy="1665287"/>
          </a:xfrm>
          <a:prstGeom prst="rect">
            <a:avLst/>
          </a:prstGeom>
          <a:noFill/>
          <a:ln>
            <a:noFill/>
          </a:ln>
        </p:spPr>
      </p:pic>
      <p:pic>
        <p:nvPicPr>
          <p:cNvPr id="230" name="Google Shape;230;p15"/>
          <p:cNvPicPr preferRelativeResize="0"/>
          <p:nvPr/>
        </p:nvPicPr>
        <p:blipFill rotWithShape="1">
          <a:blip r:embed="rId4">
            <a:alphaModFix/>
          </a:blip>
          <a:srcRect b="0" l="0" r="0" t="0"/>
          <a:stretch/>
        </p:blipFill>
        <p:spPr>
          <a:xfrm>
            <a:off x="990600" y="2438400"/>
            <a:ext cx="1112837" cy="1371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500"/>
                                        <p:tgtEl>
                                          <p:spTgt spid="221"/>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1"/>
                                        <p:tgtEl>
                                          <p:spTgt spid="222"/>
                                        </p:tgtEl>
                                      </p:cBhvr>
                                    </p:animEffec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500"/>
                                        <p:tgtEl>
                                          <p:spTgt spid="224"/>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0" st="0"/>
                                            </p:txEl>
                                          </p:spTgt>
                                        </p:tgtEl>
                                        <p:attrNameLst>
                                          <p:attrName>style.visibility</p:attrName>
                                        </p:attrNameLst>
                                      </p:cBhvr>
                                      <p:to>
                                        <p:strVal val="visible"/>
                                      </p:to>
                                    </p:set>
                                    <p:animEffect filter="fade" transition="in">
                                      <p:cBhvr>
                                        <p:cTn dur="500"/>
                                        <p:tgtEl>
                                          <p:spTgt spid="2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1" st="1"/>
                                            </p:txEl>
                                          </p:spTgt>
                                        </p:tgtEl>
                                        <p:attrNameLst>
                                          <p:attrName>style.visibility</p:attrName>
                                        </p:attrNameLst>
                                      </p:cBhvr>
                                      <p:to>
                                        <p:strVal val="visible"/>
                                      </p:to>
                                    </p:set>
                                    <p:animEffect filter="fade" transition="in">
                                      <p:cBhvr>
                                        <p:cTn dur="500"/>
                                        <p:tgtEl>
                                          <p:spTgt spid="218">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6"/>
          <p:cNvSpPr txBox="1"/>
          <p:nvPr>
            <p:ph type="title"/>
          </p:nvPr>
        </p:nvSpPr>
        <p:spPr>
          <a:xfrm>
            <a:off x="785812" y="500062"/>
            <a:ext cx="7215187" cy="85725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SIMPLE AUTHENTICATION</a:t>
            </a:r>
            <a:endParaRPr/>
          </a:p>
        </p:txBody>
      </p:sp>
      <p:sp>
        <p:nvSpPr>
          <p:cNvPr id="236" name="Google Shape;236;p16"/>
          <p:cNvSpPr txBox="1"/>
          <p:nvPr>
            <p:ph idx="1" type="body"/>
          </p:nvPr>
        </p:nvSpPr>
        <p:spPr>
          <a:xfrm>
            <a:off x="785812" y="4714875"/>
            <a:ext cx="7772400" cy="1500187"/>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90000"/>
              </a:lnSpc>
              <a:spcBef>
                <a:spcPts val="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More efficient…</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But same problem as previous version</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rgbClr val="FF0000"/>
                </a:solidFill>
                <a:latin typeface="Gill Sans"/>
                <a:ea typeface="Gill Sans"/>
                <a:cs typeface="Gill Sans"/>
                <a:sym typeface="Gill Sans"/>
              </a:rPr>
              <a:t>Replay attack </a:t>
            </a:r>
            <a:endParaRPr/>
          </a:p>
        </p:txBody>
      </p:sp>
      <p:sp>
        <p:nvSpPr>
          <p:cNvPr id="237" name="Google Shape;237;p16"/>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238" name="Google Shape;238;p16"/>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239" name="Google Shape;239;p16"/>
          <p:cNvSpPr txBox="1"/>
          <p:nvPr/>
        </p:nvSpPr>
        <p:spPr>
          <a:xfrm>
            <a:off x="1065212" y="4017962"/>
            <a:ext cx="9001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Alice</a:t>
            </a:r>
            <a:endParaRPr/>
          </a:p>
        </p:txBody>
      </p:sp>
      <p:sp>
        <p:nvSpPr>
          <p:cNvPr id="240" name="Google Shape;240;p16"/>
          <p:cNvSpPr txBox="1"/>
          <p:nvPr/>
        </p:nvSpPr>
        <p:spPr>
          <a:xfrm>
            <a:off x="7391400" y="3978275"/>
            <a:ext cx="7175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a:t>
            </a:r>
            <a:endParaRPr/>
          </a:p>
        </p:txBody>
      </p:sp>
      <p:cxnSp>
        <p:nvCxnSpPr>
          <p:cNvPr id="241" name="Google Shape;241;p16"/>
          <p:cNvCxnSpPr/>
          <p:nvPr/>
        </p:nvCxnSpPr>
        <p:spPr>
          <a:xfrm>
            <a:off x="2209800" y="3429000"/>
            <a:ext cx="4800600" cy="0"/>
          </a:xfrm>
          <a:prstGeom prst="straightConnector1">
            <a:avLst/>
          </a:prstGeom>
          <a:noFill/>
          <a:ln cap="flat" cmpd="sng" w="50800">
            <a:solidFill>
              <a:schemeClr val="dk1"/>
            </a:solidFill>
            <a:prstDash val="solid"/>
            <a:miter lim="800000"/>
            <a:headEnd len="med" w="med" type="none"/>
            <a:tailEnd len="med" w="med" type="triangle"/>
          </a:ln>
        </p:spPr>
      </p:cxnSp>
      <p:sp>
        <p:nvSpPr>
          <p:cNvPr id="242" name="Google Shape;242;p16"/>
          <p:cNvSpPr txBox="1"/>
          <p:nvPr/>
        </p:nvSpPr>
        <p:spPr>
          <a:xfrm>
            <a:off x="2286000" y="2895600"/>
            <a:ext cx="4572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I’m Alice, My password is “frank”</a:t>
            </a:r>
            <a:endParaRPr/>
          </a:p>
        </p:txBody>
      </p:sp>
      <p:pic>
        <p:nvPicPr>
          <p:cNvPr id="243" name="Google Shape;243;p16"/>
          <p:cNvPicPr preferRelativeResize="0"/>
          <p:nvPr/>
        </p:nvPicPr>
        <p:blipFill rotWithShape="1">
          <a:blip r:embed="rId3">
            <a:alphaModFix/>
          </a:blip>
          <a:srcRect b="0" l="0" r="0" t="0"/>
          <a:stretch/>
        </p:blipFill>
        <p:spPr>
          <a:xfrm>
            <a:off x="990600" y="2438400"/>
            <a:ext cx="946150" cy="1624012"/>
          </a:xfrm>
          <a:prstGeom prst="rect">
            <a:avLst/>
          </a:prstGeom>
          <a:noFill/>
          <a:ln>
            <a:noFill/>
          </a:ln>
        </p:spPr>
      </p:pic>
      <p:pic>
        <p:nvPicPr>
          <p:cNvPr id="244" name="Google Shape;244;p16"/>
          <p:cNvPicPr preferRelativeResize="0"/>
          <p:nvPr/>
        </p:nvPicPr>
        <p:blipFill rotWithShape="1">
          <a:blip r:embed="rId4">
            <a:alphaModFix/>
          </a:blip>
          <a:srcRect b="0" l="0" r="0" t="0"/>
          <a:stretch/>
        </p:blipFill>
        <p:spPr>
          <a:xfrm>
            <a:off x="7162800" y="2373312"/>
            <a:ext cx="1076325" cy="16652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41"/>
                                        </p:tgtEl>
                                        <p:attrNameLst>
                                          <p:attrName>style.visibility</p:attrName>
                                        </p:attrNameLst>
                                      </p:cBhvr>
                                      <p:to>
                                        <p:strVal val="visible"/>
                                      </p:to>
                                    </p:set>
                                    <p:anim calcmode="lin" valueType="num">
                                      <p:cBhvr additive="base">
                                        <p:cTn dur="500"/>
                                        <p:tgtEl>
                                          <p:spTgt spid="241"/>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xEl>
                                              <p:pRg end="0" st="0"/>
                                            </p:txEl>
                                          </p:spTgt>
                                        </p:tgtEl>
                                        <p:attrNameLst>
                                          <p:attrName>style.visibility</p:attrName>
                                        </p:attrNameLst>
                                      </p:cBhvr>
                                      <p:to>
                                        <p:strVal val="visible"/>
                                      </p:to>
                                    </p:set>
                                    <p:animEffect filter="fade" transition="in">
                                      <p:cBhvr>
                                        <p:cTn dur="500"/>
                                        <p:tgtEl>
                                          <p:spTgt spid="2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xEl>
                                              <p:pRg end="1" st="1"/>
                                            </p:txEl>
                                          </p:spTgt>
                                        </p:tgtEl>
                                        <p:attrNameLst>
                                          <p:attrName>style.visibility</p:attrName>
                                        </p:attrNameLst>
                                      </p:cBhvr>
                                      <p:to>
                                        <p:strVal val="visible"/>
                                      </p:to>
                                    </p:set>
                                    <p:animEffect filter="fade" transition="in">
                                      <p:cBhvr>
                                        <p:cTn dur="500"/>
                                        <p:tgtEl>
                                          <p:spTgt spid="23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xEl>
                                              <p:pRg end="2" st="2"/>
                                            </p:txEl>
                                          </p:spTgt>
                                        </p:tgtEl>
                                        <p:attrNameLst>
                                          <p:attrName>style.visibility</p:attrName>
                                        </p:attrNameLst>
                                      </p:cBhvr>
                                      <p:to>
                                        <p:strVal val="visible"/>
                                      </p:to>
                                    </p:set>
                                    <p:animEffect filter="fade" transition="in">
                                      <p:cBhvr>
                                        <p:cTn dur="500"/>
                                        <p:tgtEl>
                                          <p:spTgt spid="236">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7"/>
          <p:cNvSpPr txBox="1"/>
          <p:nvPr>
            <p:ph type="title"/>
          </p:nvPr>
        </p:nvSpPr>
        <p:spPr>
          <a:xfrm>
            <a:off x="785812" y="428625"/>
            <a:ext cx="7072312" cy="928687"/>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BETTER AUTHENTICATION</a:t>
            </a:r>
            <a:endParaRPr/>
          </a:p>
        </p:txBody>
      </p:sp>
      <p:sp>
        <p:nvSpPr>
          <p:cNvPr id="251" name="Google Shape;251;p17"/>
          <p:cNvSpPr txBox="1"/>
          <p:nvPr>
            <p:ph idx="1" type="body"/>
          </p:nvPr>
        </p:nvSpPr>
        <p:spPr>
          <a:xfrm>
            <a:off x="785812" y="4357687"/>
            <a:ext cx="7527925" cy="1528762"/>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90000"/>
              </a:lnSpc>
              <a:spcBef>
                <a:spcPts val="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Better since it hides Alice’s password</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From both Bob and attackers</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0" i="0" lang="en-US" sz="2800" u="none" cap="none" strike="noStrike">
                <a:solidFill>
                  <a:srgbClr val="FF0000"/>
                </a:solidFill>
                <a:latin typeface="Gill Sans"/>
                <a:ea typeface="Gill Sans"/>
                <a:cs typeface="Gill Sans"/>
                <a:sym typeface="Gill Sans"/>
              </a:rPr>
              <a:t>But still subject to replay</a:t>
            </a:r>
            <a:endParaRPr/>
          </a:p>
        </p:txBody>
      </p:sp>
      <p:sp>
        <p:nvSpPr>
          <p:cNvPr id="252" name="Google Shape;252;p17"/>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253" name="Google Shape;253;p17"/>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cxnSp>
        <p:nvCxnSpPr>
          <p:cNvPr id="254" name="Google Shape;254;p17"/>
          <p:cNvCxnSpPr/>
          <p:nvPr/>
        </p:nvCxnSpPr>
        <p:spPr>
          <a:xfrm>
            <a:off x="2286000" y="2325687"/>
            <a:ext cx="46482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255" name="Google Shape;255;p17"/>
          <p:cNvCxnSpPr/>
          <p:nvPr/>
        </p:nvCxnSpPr>
        <p:spPr>
          <a:xfrm rot="10800000">
            <a:off x="2209800" y="2935287"/>
            <a:ext cx="4724400" cy="0"/>
          </a:xfrm>
          <a:prstGeom prst="straightConnector1">
            <a:avLst/>
          </a:prstGeom>
          <a:noFill/>
          <a:ln cap="flat" cmpd="sng" w="50800">
            <a:solidFill>
              <a:schemeClr val="dk1"/>
            </a:solidFill>
            <a:prstDash val="solid"/>
            <a:miter lim="800000"/>
            <a:headEnd len="med" w="med" type="none"/>
            <a:tailEnd len="med" w="med" type="triangle"/>
          </a:ln>
        </p:spPr>
      </p:cxnSp>
      <p:sp>
        <p:nvSpPr>
          <p:cNvPr id="256" name="Google Shape;256;p17"/>
          <p:cNvSpPr txBox="1"/>
          <p:nvPr/>
        </p:nvSpPr>
        <p:spPr>
          <a:xfrm>
            <a:off x="1143000" y="3636962"/>
            <a:ext cx="9001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Alice</a:t>
            </a:r>
            <a:endParaRPr/>
          </a:p>
        </p:txBody>
      </p:sp>
      <p:sp>
        <p:nvSpPr>
          <p:cNvPr id="257" name="Google Shape;257;p17"/>
          <p:cNvSpPr txBox="1"/>
          <p:nvPr/>
        </p:nvSpPr>
        <p:spPr>
          <a:xfrm>
            <a:off x="7315200" y="3597275"/>
            <a:ext cx="7175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a:t>
            </a:r>
            <a:endParaRPr/>
          </a:p>
        </p:txBody>
      </p:sp>
      <p:cxnSp>
        <p:nvCxnSpPr>
          <p:cNvPr id="258" name="Google Shape;258;p17"/>
          <p:cNvCxnSpPr/>
          <p:nvPr/>
        </p:nvCxnSpPr>
        <p:spPr>
          <a:xfrm>
            <a:off x="2286000" y="3621087"/>
            <a:ext cx="4648200" cy="0"/>
          </a:xfrm>
          <a:prstGeom prst="straightConnector1">
            <a:avLst/>
          </a:prstGeom>
          <a:noFill/>
          <a:ln cap="flat" cmpd="sng" w="50800">
            <a:solidFill>
              <a:schemeClr val="dk1"/>
            </a:solidFill>
            <a:prstDash val="solid"/>
            <a:miter lim="800000"/>
            <a:headEnd len="med" w="med" type="none"/>
            <a:tailEnd len="med" w="med" type="triangle"/>
          </a:ln>
        </p:spPr>
      </p:cxnSp>
      <p:sp>
        <p:nvSpPr>
          <p:cNvPr id="259" name="Google Shape;259;p17"/>
          <p:cNvSpPr txBox="1"/>
          <p:nvPr/>
        </p:nvSpPr>
        <p:spPr>
          <a:xfrm>
            <a:off x="3810000" y="1828800"/>
            <a:ext cx="15398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“I’m Alice”</a:t>
            </a:r>
            <a:endParaRPr/>
          </a:p>
        </p:txBody>
      </p:sp>
      <p:sp>
        <p:nvSpPr>
          <p:cNvPr id="260" name="Google Shape;260;p17"/>
          <p:cNvSpPr txBox="1"/>
          <p:nvPr/>
        </p:nvSpPr>
        <p:spPr>
          <a:xfrm>
            <a:off x="3886200" y="2514600"/>
            <a:ext cx="12176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Prove it</a:t>
            </a:r>
            <a:endParaRPr/>
          </a:p>
        </p:txBody>
      </p:sp>
      <p:sp>
        <p:nvSpPr>
          <p:cNvPr id="261" name="Google Shape;261;p17"/>
          <p:cNvSpPr txBox="1"/>
          <p:nvPr/>
        </p:nvSpPr>
        <p:spPr>
          <a:xfrm>
            <a:off x="3200400" y="3140075"/>
            <a:ext cx="28305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h(Alice’s password)</a:t>
            </a:r>
            <a:endParaRPr/>
          </a:p>
        </p:txBody>
      </p:sp>
      <p:pic>
        <p:nvPicPr>
          <p:cNvPr id="262" name="Google Shape;262;p17"/>
          <p:cNvPicPr preferRelativeResize="0"/>
          <p:nvPr/>
        </p:nvPicPr>
        <p:blipFill rotWithShape="1">
          <a:blip r:embed="rId3">
            <a:alphaModFix/>
          </a:blip>
          <a:srcRect b="0" l="0" r="0" t="0"/>
          <a:stretch/>
        </p:blipFill>
        <p:spPr>
          <a:xfrm>
            <a:off x="1066800" y="2033587"/>
            <a:ext cx="946150" cy="1624012"/>
          </a:xfrm>
          <a:prstGeom prst="rect">
            <a:avLst/>
          </a:prstGeom>
          <a:noFill/>
          <a:ln>
            <a:noFill/>
          </a:ln>
        </p:spPr>
      </p:pic>
      <p:pic>
        <p:nvPicPr>
          <p:cNvPr id="263" name="Google Shape;263;p17"/>
          <p:cNvPicPr preferRelativeResize="0"/>
          <p:nvPr/>
        </p:nvPicPr>
        <p:blipFill rotWithShape="1">
          <a:blip r:embed="rId4">
            <a:alphaModFix/>
          </a:blip>
          <a:srcRect b="0" l="0" r="0" t="0"/>
          <a:stretch/>
        </p:blipFill>
        <p:spPr>
          <a:xfrm>
            <a:off x="7162800" y="1916112"/>
            <a:ext cx="1076325" cy="16652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54"/>
                                        </p:tgtEl>
                                        <p:attrNameLst>
                                          <p:attrName>style.visibility</p:attrName>
                                        </p:attrNameLst>
                                      </p:cBhvr>
                                      <p:to>
                                        <p:strVal val="visible"/>
                                      </p:to>
                                    </p:set>
                                    <p:anim calcmode="lin" valueType="num">
                                      <p:cBhvr additive="base">
                                        <p:cTn dur="500"/>
                                        <p:tgtEl>
                                          <p:spTgt spid="254"/>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55"/>
                                        </p:tgtEl>
                                        <p:attrNameLst>
                                          <p:attrName>style.visibility</p:attrName>
                                        </p:attrNameLst>
                                      </p:cBhvr>
                                      <p:to>
                                        <p:strVal val="visible"/>
                                      </p:to>
                                    </p:set>
                                    <p:anim calcmode="lin" valueType="num">
                                      <p:cBhvr additive="base">
                                        <p:cTn dur="500"/>
                                        <p:tgtEl>
                                          <p:spTgt spid="255"/>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58"/>
                                        </p:tgtEl>
                                        <p:attrNameLst>
                                          <p:attrName>style.visibility</p:attrName>
                                        </p:attrNameLst>
                                      </p:cBhvr>
                                      <p:to>
                                        <p:strVal val="visible"/>
                                      </p:to>
                                    </p:set>
                                    <p:anim calcmode="lin" valueType="num">
                                      <p:cBhvr additive="base">
                                        <p:cTn dur="500"/>
                                        <p:tgtEl>
                                          <p:spTgt spid="258"/>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0" st="0"/>
                                            </p:txEl>
                                          </p:spTgt>
                                        </p:tgtEl>
                                        <p:attrNameLst>
                                          <p:attrName>style.visibility</p:attrName>
                                        </p:attrNameLst>
                                      </p:cBhvr>
                                      <p:to>
                                        <p:strVal val="visible"/>
                                      </p:to>
                                    </p:set>
                                    <p:animEffect filter="fade" transition="in">
                                      <p:cBhvr>
                                        <p:cTn dur="500"/>
                                        <p:tgtEl>
                                          <p:spTgt spid="2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1" st="1"/>
                                            </p:txEl>
                                          </p:spTgt>
                                        </p:tgtEl>
                                        <p:attrNameLst>
                                          <p:attrName>style.visibility</p:attrName>
                                        </p:attrNameLst>
                                      </p:cBhvr>
                                      <p:to>
                                        <p:strVal val="visible"/>
                                      </p:to>
                                    </p:set>
                                    <p:animEffect filter="fade" transition="in">
                                      <p:cBhvr>
                                        <p:cTn dur="500"/>
                                        <p:tgtEl>
                                          <p:spTgt spid="2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2" st="2"/>
                                            </p:txEl>
                                          </p:spTgt>
                                        </p:tgtEl>
                                        <p:attrNameLst>
                                          <p:attrName>style.visibility</p:attrName>
                                        </p:attrNameLst>
                                      </p:cBhvr>
                                      <p:to>
                                        <p:strVal val="visible"/>
                                      </p:to>
                                    </p:set>
                                    <p:animEffect filter="fade" transition="in">
                                      <p:cBhvr>
                                        <p:cTn dur="500"/>
                                        <p:tgtEl>
                                          <p:spTgt spid="251">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8"/>
          <p:cNvSpPr txBox="1"/>
          <p:nvPr>
            <p:ph type="title"/>
          </p:nvPr>
        </p:nvSpPr>
        <p:spPr>
          <a:xfrm>
            <a:off x="785812" y="428625"/>
            <a:ext cx="7143750" cy="928687"/>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CHALLENGE-RESPONSE</a:t>
            </a:r>
            <a:endParaRPr/>
          </a:p>
        </p:txBody>
      </p:sp>
      <p:sp>
        <p:nvSpPr>
          <p:cNvPr id="269" name="Google Shape;269;p18"/>
          <p:cNvSpPr txBox="1"/>
          <p:nvPr>
            <p:ph idx="1" type="body"/>
          </p:nvPr>
        </p:nvSpPr>
        <p:spPr>
          <a:xfrm>
            <a:off x="785812" y="1955800"/>
            <a:ext cx="7900987" cy="4416425"/>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130000"/>
              </a:lnSpc>
              <a:spcBef>
                <a:spcPts val="0"/>
              </a:spcBef>
              <a:spcAft>
                <a:spcPts val="0"/>
              </a:spcAft>
              <a:buClr>
                <a:schemeClr val="accent2"/>
              </a:buClr>
              <a:buSzPts val="2024"/>
              <a:buFont typeface="Noto Sans Symbols"/>
              <a:buChar char="◼"/>
            </a:pPr>
            <a:r>
              <a:rPr b="0" i="0" lang="en-US" sz="2200" u="none" cap="none" strike="noStrike">
                <a:solidFill>
                  <a:schemeClr val="dk2"/>
                </a:solidFill>
                <a:latin typeface="Gill Sans"/>
                <a:ea typeface="Gill Sans"/>
                <a:cs typeface="Gill Sans"/>
                <a:sym typeface="Gill Sans"/>
              </a:rPr>
              <a:t>To prevent replay, use </a:t>
            </a:r>
            <a:r>
              <a:rPr b="0" i="0" lang="en-US" sz="2200" u="none" cap="none" strike="noStrike">
                <a:solidFill>
                  <a:srgbClr val="0000FF"/>
                </a:solidFill>
                <a:latin typeface="Gill Sans"/>
                <a:ea typeface="Gill Sans"/>
                <a:cs typeface="Gill Sans"/>
                <a:sym typeface="Gill Sans"/>
              </a:rPr>
              <a:t>challenge-response</a:t>
            </a:r>
            <a:endParaRPr/>
          </a:p>
          <a:p>
            <a:pPr indent="-304800" lvl="1" marL="628650" marR="0" rtl="0" algn="l">
              <a:lnSpc>
                <a:spcPct val="130000"/>
              </a:lnSpc>
              <a:spcBef>
                <a:spcPts val="980"/>
              </a:spcBef>
              <a:spcAft>
                <a:spcPts val="0"/>
              </a:spcAft>
              <a:buClr>
                <a:schemeClr val="accent2"/>
              </a:buClr>
              <a:buSzPts val="1748"/>
              <a:buFont typeface="Noto Sans Symbols"/>
              <a:buChar char="◼"/>
            </a:pPr>
            <a:r>
              <a:rPr b="0" i="0" lang="en-US" sz="1900" u="none" cap="none" strike="noStrike">
                <a:solidFill>
                  <a:schemeClr val="dk2"/>
                </a:solidFill>
                <a:latin typeface="Gill Sans"/>
                <a:ea typeface="Gill Sans"/>
                <a:cs typeface="Gill Sans"/>
                <a:sym typeface="Gill Sans"/>
              </a:rPr>
              <a:t>Goal is to ensure freshness”</a:t>
            </a:r>
            <a:endParaRPr/>
          </a:p>
          <a:p>
            <a:pPr indent="-304800" lvl="0" marL="304800" marR="0" rtl="0" algn="l">
              <a:lnSpc>
                <a:spcPct val="130000"/>
              </a:lnSpc>
              <a:spcBef>
                <a:spcPts val="1040"/>
              </a:spcBef>
              <a:spcAft>
                <a:spcPts val="0"/>
              </a:spcAft>
              <a:buClr>
                <a:schemeClr val="accent2"/>
              </a:buClr>
              <a:buSzPts val="2024"/>
              <a:buFont typeface="Noto Sans Symbols"/>
              <a:buChar char="◼"/>
            </a:pPr>
            <a:r>
              <a:rPr b="0" i="0" lang="en-US" sz="2200" u="none" cap="none" strike="noStrike">
                <a:solidFill>
                  <a:schemeClr val="dk2"/>
                </a:solidFill>
                <a:latin typeface="Gill Sans"/>
                <a:ea typeface="Gill Sans"/>
                <a:cs typeface="Gill Sans"/>
                <a:sym typeface="Gill Sans"/>
              </a:rPr>
              <a:t>Suppose Bob wants to authenticate Alice</a:t>
            </a:r>
            <a:endParaRPr/>
          </a:p>
          <a:p>
            <a:pPr indent="-304800" lvl="1" marL="628650" marR="0" rtl="0" algn="l">
              <a:lnSpc>
                <a:spcPct val="130000"/>
              </a:lnSpc>
              <a:spcBef>
                <a:spcPts val="980"/>
              </a:spcBef>
              <a:spcAft>
                <a:spcPts val="0"/>
              </a:spcAft>
              <a:buClr>
                <a:schemeClr val="accent2"/>
              </a:buClr>
              <a:buSzPts val="1748"/>
              <a:buFont typeface="Noto Sans Symbols"/>
              <a:buChar char="◼"/>
            </a:pPr>
            <a:r>
              <a:rPr b="0" i="1" lang="en-US" sz="1900" u="none" cap="none" strike="noStrike">
                <a:solidFill>
                  <a:srgbClr val="0000FF"/>
                </a:solidFill>
                <a:latin typeface="Gill Sans"/>
                <a:ea typeface="Gill Sans"/>
                <a:cs typeface="Gill Sans"/>
                <a:sym typeface="Gill Sans"/>
              </a:rPr>
              <a:t>Challenge</a:t>
            </a:r>
            <a:r>
              <a:rPr b="0" i="0" lang="en-US" sz="1900" u="none" cap="none" strike="noStrike">
                <a:solidFill>
                  <a:schemeClr val="dk2"/>
                </a:solidFill>
                <a:latin typeface="Gill Sans"/>
                <a:ea typeface="Gill Sans"/>
                <a:cs typeface="Gill Sans"/>
                <a:sym typeface="Gill Sans"/>
              </a:rPr>
              <a:t> sent from Bob to Alice</a:t>
            </a:r>
            <a:endParaRPr/>
          </a:p>
          <a:p>
            <a:pPr indent="-304800" lvl="0" marL="304800" marR="0" rtl="0" algn="l">
              <a:lnSpc>
                <a:spcPct val="130000"/>
              </a:lnSpc>
              <a:spcBef>
                <a:spcPts val="1040"/>
              </a:spcBef>
              <a:spcAft>
                <a:spcPts val="0"/>
              </a:spcAft>
              <a:buClr>
                <a:schemeClr val="accent2"/>
              </a:buClr>
              <a:buSzPts val="2024"/>
              <a:buFont typeface="Noto Sans Symbols"/>
              <a:buChar char="◼"/>
            </a:pPr>
            <a:r>
              <a:rPr b="0" i="0" lang="en-US" sz="2200" u="none" cap="none" strike="noStrike">
                <a:solidFill>
                  <a:schemeClr val="dk2"/>
                </a:solidFill>
                <a:latin typeface="Gill Sans"/>
                <a:ea typeface="Gill Sans"/>
                <a:cs typeface="Gill Sans"/>
                <a:sym typeface="Gill Sans"/>
              </a:rPr>
              <a:t>Challenge is chosen so that</a:t>
            </a:r>
            <a:endParaRPr/>
          </a:p>
          <a:p>
            <a:pPr indent="-304800" lvl="1" marL="628650" marR="0" rtl="0" algn="l">
              <a:lnSpc>
                <a:spcPct val="130000"/>
              </a:lnSpc>
              <a:spcBef>
                <a:spcPts val="980"/>
              </a:spcBef>
              <a:spcAft>
                <a:spcPts val="0"/>
              </a:spcAft>
              <a:buClr>
                <a:schemeClr val="accent2"/>
              </a:buClr>
              <a:buSzPts val="1748"/>
              <a:buFont typeface="Noto Sans Symbols"/>
              <a:buChar char="◼"/>
            </a:pPr>
            <a:r>
              <a:rPr b="0" i="0" lang="en-US" sz="1900" u="none" cap="none" strike="noStrike">
                <a:solidFill>
                  <a:schemeClr val="dk2"/>
                </a:solidFill>
                <a:latin typeface="Gill Sans"/>
                <a:ea typeface="Gill Sans"/>
                <a:cs typeface="Gill Sans"/>
                <a:sym typeface="Gill Sans"/>
              </a:rPr>
              <a:t>Replay is not possible</a:t>
            </a:r>
            <a:endParaRPr/>
          </a:p>
          <a:p>
            <a:pPr indent="-304800" lvl="1" marL="628650" marR="0" rtl="0" algn="l">
              <a:lnSpc>
                <a:spcPct val="130000"/>
              </a:lnSpc>
              <a:spcBef>
                <a:spcPts val="980"/>
              </a:spcBef>
              <a:spcAft>
                <a:spcPts val="0"/>
              </a:spcAft>
              <a:buClr>
                <a:schemeClr val="accent2"/>
              </a:buClr>
              <a:buSzPts val="1748"/>
              <a:buFont typeface="Noto Sans Symbols"/>
              <a:buChar char="◼"/>
            </a:pPr>
            <a:r>
              <a:rPr b="0" i="0" lang="en-US" sz="1900" u="none" cap="none" strike="noStrike">
                <a:solidFill>
                  <a:schemeClr val="dk2"/>
                </a:solidFill>
                <a:latin typeface="Gill Sans"/>
                <a:ea typeface="Gill Sans"/>
                <a:cs typeface="Gill Sans"/>
                <a:sym typeface="Gill Sans"/>
              </a:rPr>
              <a:t>Only Alice can provide the correct </a:t>
            </a:r>
            <a:r>
              <a:rPr b="0" i="1" lang="en-US" sz="1900" u="none" cap="none" strike="noStrike">
                <a:solidFill>
                  <a:srgbClr val="0000FF"/>
                </a:solidFill>
                <a:latin typeface="Gill Sans"/>
                <a:ea typeface="Gill Sans"/>
                <a:cs typeface="Gill Sans"/>
                <a:sym typeface="Gill Sans"/>
              </a:rPr>
              <a:t>response</a:t>
            </a:r>
            <a:endParaRPr/>
          </a:p>
          <a:p>
            <a:pPr indent="-304800" lvl="1" marL="628650" marR="0" rtl="0" algn="l">
              <a:lnSpc>
                <a:spcPct val="130000"/>
              </a:lnSpc>
              <a:spcBef>
                <a:spcPts val="980"/>
              </a:spcBef>
              <a:spcAft>
                <a:spcPts val="0"/>
              </a:spcAft>
              <a:buClr>
                <a:schemeClr val="accent2"/>
              </a:buClr>
              <a:buSzPts val="1748"/>
              <a:buFont typeface="Noto Sans Symbols"/>
              <a:buChar char="◼"/>
            </a:pPr>
            <a:r>
              <a:rPr b="0" i="0" lang="en-US" sz="1900" u="none" cap="none" strike="noStrike">
                <a:solidFill>
                  <a:schemeClr val="dk2"/>
                </a:solidFill>
                <a:latin typeface="Gill Sans"/>
                <a:ea typeface="Gill Sans"/>
                <a:cs typeface="Gill Sans"/>
                <a:sym typeface="Gill Sans"/>
              </a:rPr>
              <a:t>Bob can verify the response</a:t>
            </a:r>
            <a:endParaRPr/>
          </a:p>
        </p:txBody>
      </p:sp>
      <p:sp>
        <p:nvSpPr>
          <p:cNvPr id="270" name="Google Shape;270;p18"/>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271" name="Google Shape;271;p18"/>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9"/>
          <p:cNvSpPr txBox="1"/>
          <p:nvPr>
            <p:ph type="title"/>
          </p:nvPr>
        </p:nvSpPr>
        <p:spPr>
          <a:xfrm>
            <a:off x="755650" y="404812"/>
            <a:ext cx="7129462" cy="1023937"/>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NONCE</a:t>
            </a:r>
            <a:endParaRPr/>
          </a:p>
        </p:txBody>
      </p:sp>
      <p:sp>
        <p:nvSpPr>
          <p:cNvPr id="277" name="Google Shape;277;p19"/>
          <p:cNvSpPr txBox="1"/>
          <p:nvPr>
            <p:ph idx="1" type="body"/>
          </p:nvPr>
        </p:nvSpPr>
        <p:spPr>
          <a:xfrm>
            <a:off x="755650" y="1719262"/>
            <a:ext cx="7931150" cy="4411662"/>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90000"/>
              </a:lnSpc>
              <a:spcBef>
                <a:spcPts val="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To ensure freshness, can employ a </a:t>
            </a:r>
            <a:r>
              <a:rPr b="1" i="0" lang="en-US" sz="2800" u="none" cap="none" strike="noStrike">
                <a:solidFill>
                  <a:schemeClr val="hlink"/>
                </a:solidFill>
                <a:latin typeface="Gill Sans"/>
                <a:ea typeface="Gill Sans"/>
                <a:cs typeface="Gill Sans"/>
                <a:sym typeface="Gill Sans"/>
              </a:rPr>
              <a:t>nonce</a:t>
            </a:r>
            <a:endParaRPr b="0" i="0" sz="2800" u="none" cap="none" strike="noStrike">
              <a:solidFill>
                <a:schemeClr val="dk2"/>
              </a:solidFill>
              <a:latin typeface="Gill Sans"/>
              <a:ea typeface="Gill Sans"/>
              <a:cs typeface="Gill Sans"/>
              <a:sym typeface="Gill Sans"/>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Nonce == </a:t>
            </a:r>
            <a:r>
              <a:rPr b="1" i="0" lang="en-US" sz="2400" u="none" cap="none" strike="noStrike">
                <a:solidFill>
                  <a:schemeClr val="hlink"/>
                </a:solidFill>
                <a:latin typeface="Gill Sans"/>
                <a:ea typeface="Gill Sans"/>
                <a:cs typeface="Gill Sans"/>
                <a:sym typeface="Gill Sans"/>
              </a:rPr>
              <a:t>n</a:t>
            </a:r>
            <a:r>
              <a:rPr b="0" i="0" lang="en-US" sz="2400" u="none" cap="none" strike="noStrike">
                <a:solidFill>
                  <a:schemeClr val="dk2"/>
                </a:solidFill>
                <a:latin typeface="Gill Sans"/>
                <a:ea typeface="Gill Sans"/>
                <a:cs typeface="Gill Sans"/>
                <a:sym typeface="Gill Sans"/>
              </a:rPr>
              <a:t>umber used </a:t>
            </a:r>
            <a:r>
              <a:rPr b="1" i="0" lang="en-US" sz="2400" u="none" cap="none" strike="noStrike">
                <a:solidFill>
                  <a:schemeClr val="hlink"/>
                </a:solidFill>
                <a:latin typeface="Gill Sans"/>
                <a:ea typeface="Gill Sans"/>
                <a:cs typeface="Gill Sans"/>
                <a:sym typeface="Gill Sans"/>
              </a:rPr>
              <a:t>once</a:t>
            </a:r>
            <a:r>
              <a:rPr b="0" i="0" lang="en-US" sz="2400" u="none" cap="none" strike="noStrike">
                <a:solidFill>
                  <a:schemeClr val="dk2"/>
                </a:solidFill>
                <a:latin typeface="Gill Sans"/>
                <a:ea typeface="Gill Sans"/>
                <a:cs typeface="Gill Sans"/>
                <a:sym typeface="Gill Sans"/>
              </a:rPr>
              <a:t> </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What to use for nonces?</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That is, what is the challenge?</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What should Alice do with the nonce?</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That is, how to compute the response?</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How can Bob verify the response?</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Should we rely on passwords or keys?</a:t>
            </a:r>
            <a:endParaRPr/>
          </a:p>
        </p:txBody>
      </p:sp>
      <p:sp>
        <p:nvSpPr>
          <p:cNvPr id="278" name="Google Shape;278;p19"/>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279" name="Google Shape;279;p19"/>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0"/>
          <p:cNvSpPr txBox="1"/>
          <p:nvPr>
            <p:ph type="title"/>
          </p:nvPr>
        </p:nvSpPr>
        <p:spPr>
          <a:xfrm>
            <a:off x="785812" y="381000"/>
            <a:ext cx="7143750" cy="9763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CHALLENGE-RESPONSE</a:t>
            </a:r>
            <a:endParaRPr/>
          </a:p>
        </p:txBody>
      </p:sp>
      <p:sp>
        <p:nvSpPr>
          <p:cNvPr id="286" name="Google Shape;286;p20"/>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287" name="Google Shape;287;p20"/>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cxnSp>
        <p:nvCxnSpPr>
          <p:cNvPr id="288" name="Google Shape;288;p20"/>
          <p:cNvCxnSpPr/>
          <p:nvPr/>
        </p:nvCxnSpPr>
        <p:spPr>
          <a:xfrm>
            <a:off x="2251075" y="2382837"/>
            <a:ext cx="46482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289" name="Google Shape;289;p20"/>
          <p:cNvCxnSpPr/>
          <p:nvPr/>
        </p:nvCxnSpPr>
        <p:spPr>
          <a:xfrm rot="10800000">
            <a:off x="2174875" y="2992437"/>
            <a:ext cx="4724400" cy="0"/>
          </a:xfrm>
          <a:prstGeom prst="straightConnector1">
            <a:avLst/>
          </a:prstGeom>
          <a:noFill/>
          <a:ln cap="flat" cmpd="sng" w="50800">
            <a:solidFill>
              <a:schemeClr val="dk1"/>
            </a:solidFill>
            <a:prstDash val="solid"/>
            <a:miter lim="800000"/>
            <a:headEnd len="med" w="med" type="none"/>
            <a:tailEnd len="med" w="med" type="triangle"/>
          </a:ln>
        </p:spPr>
      </p:cxnSp>
      <p:sp>
        <p:nvSpPr>
          <p:cNvPr id="290" name="Google Shape;290;p20"/>
          <p:cNvSpPr txBox="1"/>
          <p:nvPr/>
        </p:nvSpPr>
        <p:spPr>
          <a:xfrm>
            <a:off x="7280275" y="3578225"/>
            <a:ext cx="7175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a:t>
            </a:r>
            <a:endParaRPr/>
          </a:p>
        </p:txBody>
      </p:sp>
      <p:cxnSp>
        <p:nvCxnSpPr>
          <p:cNvPr id="291" name="Google Shape;291;p20"/>
          <p:cNvCxnSpPr/>
          <p:nvPr/>
        </p:nvCxnSpPr>
        <p:spPr>
          <a:xfrm>
            <a:off x="2251075" y="3678237"/>
            <a:ext cx="4648200" cy="0"/>
          </a:xfrm>
          <a:prstGeom prst="straightConnector1">
            <a:avLst/>
          </a:prstGeom>
          <a:noFill/>
          <a:ln cap="flat" cmpd="sng" w="50800">
            <a:solidFill>
              <a:schemeClr val="dk1"/>
            </a:solidFill>
            <a:prstDash val="solid"/>
            <a:miter lim="800000"/>
            <a:headEnd len="med" w="med" type="none"/>
            <a:tailEnd len="med" w="med" type="triangle"/>
          </a:ln>
        </p:spPr>
      </p:cxnSp>
      <p:sp>
        <p:nvSpPr>
          <p:cNvPr id="292" name="Google Shape;292;p20"/>
          <p:cNvSpPr txBox="1"/>
          <p:nvPr/>
        </p:nvSpPr>
        <p:spPr>
          <a:xfrm>
            <a:off x="3775075" y="1885950"/>
            <a:ext cx="15398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“I’m Alice”</a:t>
            </a:r>
            <a:endParaRPr/>
          </a:p>
        </p:txBody>
      </p:sp>
      <p:sp>
        <p:nvSpPr>
          <p:cNvPr id="293" name="Google Shape;293;p20"/>
          <p:cNvSpPr txBox="1"/>
          <p:nvPr/>
        </p:nvSpPr>
        <p:spPr>
          <a:xfrm>
            <a:off x="3929062" y="2571750"/>
            <a:ext cx="1066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Nonce</a:t>
            </a:r>
            <a:endParaRPr/>
          </a:p>
        </p:txBody>
      </p:sp>
      <p:sp>
        <p:nvSpPr>
          <p:cNvPr id="294" name="Google Shape;294;p20"/>
          <p:cNvSpPr txBox="1"/>
          <p:nvPr/>
        </p:nvSpPr>
        <p:spPr>
          <a:xfrm>
            <a:off x="2640012" y="3197225"/>
            <a:ext cx="38814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h(Alice’s password, Nonce)</a:t>
            </a:r>
            <a:endParaRPr/>
          </a:p>
        </p:txBody>
      </p:sp>
      <p:sp>
        <p:nvSpPr>
          <p:cNvPr id="295" name="Google Shape;295;p20"/>
          <p:cNvSpPr txBox="1"/>
          <p:nvPr/>
        </p:nvSpPr>
        <p:spPr>
          <a:xfrm>
            <a:off x="785812" y="4214812"/>
            <a:ext cx="7715250" cy="1938337"/>
          </a:xfrm>
          <a:prstGeom prst="rect">
            <a:avLst/>
          </a:prstGeom>
          <a:noFill/>
          <a:ln>
            <a:noFill/>
          </a:ln>
        </p:spPr>
        <p:txBody>
          <a:bodyPr anchorCtr="0" anchor="t" bIns="45700" lIns="91425" spcFirstLastPara="1" rIns="91425" wrap="square" tIns="45700">
            <a:spAutoFit/>
          </a:bodyPr>
          <a:lstStyle/>
          <a:p>
            <a:pPr indent="-358775" lvl="0" marL="358775" marR="0" rtl="0" algn="l">
              <a:lnSpc>
                <a:spcPct val="100000"/>
              </a:lnSpc>
              <a:spcBef>
                <a:spcPts val="0"/>
              </a:spcBef>
              <a:spcAft>
                <a:spcPts val="0"/>
              </a:spcAft>
              <a:buClr>
                <a:schemeClr val="dk1"/>
              </a:buClr>
              <a:buSzPts val="1680"/>
              <a:buFont typeface="Noto Sans Symbols"/>
              <a:buChar char="●"/>
            </a:pPr>
            <a:r>
              <a:rPr b="0" i="0" lang="en-US" sz="2400" u="none">
                <a:solidFill>
                  <a:schemeClr val="dk1"/>
                </a:solidFill>
                <a:latin typeface="Comic Sans MS"/>
                <a:ea typeface="Comic Sans MS"/>
                <a:cs typeface="Comic Sans MS"/>
                <a:sym typeface="Comic Sans MS"/>
              </a:rPr>
              <a:t> </a:t>
            </a:r>
            <a:r>
              <a:rPr b="0" i="0" lang="en-US" sz="2400" u="none">
                <a:solidFill>
                  <a:srgbClr val="0000FF"/>
                </a:solidFill>
                <a:latin typeface="Comic Sans MS"/>
                <a:ea typeface="Comic Sans MS"/>
                <a:cs typeface="Comic Sans MS"/>
                <a:sym typeface="Comic Sans MS"/>
              </a:rPr>
              <a:t>Nonce</a:t>
            </a:r>
            <a:r>
              <a:rPr b="0" i="0" lang="en-US" sz="2400" u="none">
                <a:solidFill>
                  <a:schemeClr val="dk1"/>
                </a:solidFill>
                <a:latin typeface="Comic Sans MS"/>
                <a:ea typeface="Comic Sans MS"/>
                <a:cs typeface="Comic Sans MS"/>
                <a:sym typeface="Comic Sans MS"/>
              </a:rPr>
              <a:t> is the </a:t>
            </a:r>
            <a:r>
              <a:rPr b="1" i="0" lang="en-US" sz="2400" u="none">
                <a:solidFill>
                  <a:srgbClr val="FF0000"/>
                </a:solidFill>
                <a:latin typeface="Comic Sans MS"/>
                <a:ea typeface="Comic Sans MS"/>
                <a:cs typeface="Comic Sans MS"/>
                <a:sym typeface="Comic Sans MS"/>
              </a:rPr>
              <a:t>challenge</a:t>
            </a:r>
            <a:endParaRPr/>
          </a:p>
          <a:p>
            <a:pPr indent="-358775" lvl="0" marL="358775" marR="0" rtl="0" algn="l">
              <a:lnSpc>
                <a:spcPct val="100000"/>
              </a:lnSpc>
              <a:spcBef>
                <a:spcPts val="0"/>
              </a:spcBef>
              <a:spcAft>
                <a:spcPts val="0"/>
              </a:spcAft>
              <a:buClr>
                <a:schemeClr val="dk1"/>
              </a:buClr>
              <a:buSzPts val="1680"/>
              <a:buFont typeface="Noto Sans Symbols"/>
              <a:buChar char="●"/>
            </a:pPr>
            <a:r>
              <a:rPr b="0" i="0" lang="en-US" sz="2400" u="none">
                <a:solidFill>
                  <a:schemeClr val="dk1"/>
                </a:solidFill>
                <a:latin typeface="Comic Sans MS"/>
                <a:ea typeface="Comic Sans MS"/>
                <a:cs typeface="Comic Sans MS"/>
                <a:sym typeface="Comic Sans MS"/>
              </a:rPr>
              <a:t> The </a:t>
            </a:r>
            <a:r>
              <a:rPr b="0" i="0" lang="en-US" sz="2400" u="none">
                <a:solidFill>
                  <a:srgbClr val="0000FF"/>
                </a:solidFill>
                <a:latin typeface="Comic Sans MS"/>
                <a:ea typeface="Comic Sans MS"/>
                <a:cs typeface="Comic Sans MS"/>
                <a:sym typeface="Comic Sans MS"/>
              </a:rPr>
              <a:t>hash</a:t>
            </a:r>
            <a:r>
              <a:rPr b="0" i="0" lang="en-US" sz="2400" u="none">
                <a:solidFill>
                  <a:schemeClr val="dk1"/>
                </a:solidFill>
                <a:latin typeface="Comic Sans MS"/>
                <a:ea typeface="Comic Sans MS"/>
                <a:cs typeface="Comic Sans MS"/>
                <a:sym typeface="Comic Sans MS"/>
              </a:rPr>
              <a:t> is the </a:t>
            </a:r>
            <a:r>
              <a:rPr b="1" i="0" lang="en-US" sz="2400" u="none">
                <a:solidFill>
                  <a:srgbClr val="FF0000"/>
                </a:solidFill>
                <a:latin typeface="Comic Sans MS"/>
                <a:ea typeface="Comic Sans MS"/>
                <a:cs typeface="Comic Sans MS"/>
                <a:sym typeface="Comic Sans MS"/>
              </a:rPr>
              <a:t>response</a:t>
            </a:r>
            <a:endParaRPr/>
          </a:p>
          <a:p>
            <a:pPr indent="-358775" lvl="0" marL="358775" marR="0" rtl="0" algn="l">
              <a:lnSpc>
                <a:spcPct val="100000"/>
              </a:lnSpc>
              <a:spcBef>
                <a:spcPts val="0"/>
              </a:spcBef>
              <a:spcAft>
                <a:spcPts val="0"/>
              </a:spcAft>
              <a:buClr>
                <a:schemeClr val="dk1"/>
              </a:buClr>
              <a:buSzPts val="1680"/>
              <a:buFont typeface="Noto Sans Symbols"/>
              <a:buChar char="●"/>
            </a:pPr>
            <a:r>
              <a:rPr b="0" i="0" lang="en-US" sz="2400" u="none">
                <a:solidFill>
                  <a:schemeClr val="dk1"/>
                </a:solidFill>
                <a:latin typeface="Comic Sans MS"/>
                <a:ea typeface="Comic Sans MS"/>
                <a:cs typeface="Comic Sans MS"/>
                <a:sym typeface="Comic Sans MS"/>
              </a:rPr>
              <a:t> Nonce prevents replay, ensures</a:t>
            </a:r>
            <a:r>
              <a:rPr b="0" i="0" lang="en-US" sz="1400" u="none">
                <a:solidFill>
                  <a:schemeClr val="dk1"/>
                </a:solidFill>
                <a:latin typeface="Comic Sans MS"/>
                <a:ea typeface="Comic Sans MS"/>
                <a:cs typeface="Comic Sans MS"/>
                <a:sym typeface="Comic Sans MS"/>
              </a:rPr>
              <a:t> </a:t>
            </a:r>
            <a:r>
              <a:rPr b="0" i="0" lang="en-US" sz="2400" u="none">
                <a:solidFill>
                  <a:schemeClr val="dk1"/>
                </a:solidFill>
                <a:latin typeface="Comic Sans MS"/>
                <a:ea typeface="Comic Sans MS"/>
                <a:cs typeface="Comic Sans MS"/>
                <a:sym typeface="Comic Sans MS"/>
              </a:rPr>
              <a:t> freshness</a:t>
            </a:r>
            <a:endParaRPr/>
          </a:p>
          <a:p>
            <a:pPr indent="-358775" lvl="0" marL="358775" marR="0" rtl="0" algn="l">
              <a:lnSpc>
                <a:spcPct val="100000"/>
              </a:lnSpc>
              <a:spcBef>
                <a:spcPts val="0"/>
              </a:spcBef>
              <a:spcAft>
                <a:spcPts val="0"/>
              </a:spcAft>
              <a:buClr>
                <a:schemeClr val="dk1"/>
              </a:buClr>
              <a:buSzPts val="1680"/>
              <a:buFont typeface="Noto Sans Symbols"/>
              <a:buChar char="●"/>
            </a:pPr>
            <a:r>
              <a:rPr b="0" i="0" lang="en-US" sz="2400" u="none">
                <a:solidFill>
                  <a:schemeClr val="dk1"/>
                </a:solidFill>
                <a:latin typeface="Comic Sans MS"/>
                <a:ea typeface="Comic Sans MS"/>
                <a:cs typeface="Comic Sans MS"/>
                <a:sym typeface="Comic Sans MS"/>
              </a:rPr>
              <a:t> Password is something Alice knows</a:t>
            </a:r>
            <a:endParaRPr/>
          </a:p>
          <a:p>
            <a:pPr indent="-358775" lvl="1" marL="815975" marR="0" rtl="0" algn="l">
              <a:lnSpc>
                <a:spcPct val="100000"/>
              </a:lnSpc>
              <a:spcBef>
                <a:spcPts val="0"/>
              </a:spcBef>
              <a:spcAft>
                <a:spcPts val="0"/>
              </a:spcAft>
              <a:buClr>
                <a:schemeClr val="dk1"/>
              </a:buClr>
              <a:buSzPts val="1400"/>
              <a:buFont typeface="Noto Sans Symbols"/>
              <a:buChar char="●"/>
            </a:pPr>
            <a:r>
              <a:rPr b="0" i="0" lang="en-US" sz="2000" u="none" cap="none" strike="noStrike">
                <a:solidFill>
                  <a:schemeClr val="dk1"/>
                </a:solidFill>
                <a:latin typeface="Comic Sans MS"/>
                <a:ea typeface="Comic Sans MS"/>
                <a:cs typeface="Comic Sans MS"/>
                <a:sym typeface="Comic Sans MS"/>
              </a:rPr>
              <a:t> Note that Bob must know Alice’s password</a:t>
            </a:r>
            <a:endParaRPr/>
          </a:p>
        </p:txBody>
      </p:sp>
      <p:sp>
        <p:nvSpPr>
          <p:cNvPr id="296" name="Google Shape;296;p20"/>
          <p:cNvSpPr txBox="1"/>
          <p:nvPr/>
        </p:nvSpPr>
        <p:spPr>
          <a:xfrm>
            <a:off x="1108075" y="3605212"/>
            <a:ext cx="9001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Alice</a:t>
            </a:r>
            <a:endParaRPr/>
          </a:p>
        </p:txBody>
      </p:sp>
      <p:pic>
        <p:nvPicPr>
          <p:cNvPr id="297" name="Google Shape;297;p20"/>
          <p:cNvPicPr preferRelativeResize="0"/>
          <p:nvPr/>
        </p:nvPicPr>
        <p:blipFill rotWithShape="1">
          <a:blip r:embed="rId3">
            <a:alphaModFix/>
          </a:blip>
          <a:srcRect b="0" l="0" r="0" t="0"/>
          <a:stretch/>
        </p:blipFill>
        <p:spPr>
          <a:xfrm>
            <a:off x="1031875" y="2038350"/>
            <a:ext cx="946150" cy="1624012"/>
          </a:xfrm>
          <a:prstGeom prst="rect">
            <a:avLst/>
          </a:prstGeom>
          <a:noFill/>
          <a:ln>
            <a:noFill/>
          </a:ln>
        </p:spPr>
      </p:pic>
      <p:pic>
        <p:nvPicPr>
          <p:cNvPr id="298" name="Google Shape;298;p20"/>
          <p:cNvPicPr preferRelativeResize="0"/>
          <p:nvPr/>
        </p:nvPicPr>
        <p:blipFill rotWithShape="1">
          <a:blip r:embed="rId4">
            <a:alphaModFix/>
          </a:blip>
          <a:srcRect b="0" l="0" r="0" t="0"/>
          <a:stretch/>
        </p:blipFill>
        <p:spPr>
          <a:xfrm>
            <a:off x="7127875" y="1885950"/>
            <a:ext cx="1076325" cy="16652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88"/>
                                        </p:tgtEl>
                                        <p:attrNameLst>
                                          <p:attrName>style.visibility</p:attrName>
                                        </p:attrNameLst>
                                      </p:cBhvr>
                                      <p:to>
                                        <p:strVal val="visible"/>
                                      </p:to>
                                    </p:set>
                                    <p:anim calcmode="lin" valueType="num">
                                      <p:cBhvr additive="base">
                                        <p:cTn dur="500"/>
                                        <p:tgtEl>
                                          <p:spTgt spid="288"/>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89"/>
                                        </p:tgtEl>
                                        <p:attrNameLst>
                                          <p:attrName>style.visibility</p:attrName>
                                        </p:attrNameLst>
                                      </p:cBhvr>
                                      <p:to>
                                        <p:strVal val="visible"/>
                                      </p:to>
                                    </p:set>
                                    <p:anim calcmode="lin" valueType="num">
                                      <p:cBhvr additive="base">
                                        <p:cTn dur="500"/>
                                        <p:tgtEl>
                                          <p:spTgt spid="289"/>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91"/>
                                        </p:tgtEl>
                                        <p:attrNameLst>
                                          <p:attrName>style.visibility</p:attrName>
                                        </p:attrNameLst>
                                      </p:cBhvr>
                                      <p:to>
                                        <p:strVal val="visible"/>
                                      </p:to>
                                    </p:set>
                                    <p:anim calcmode="lin" valueType="num">
                                      <p:cBhvr additive="base">
                                        <p:cTn dur="500"/>
                                        <p:tgtEl>
                                          <p:spTgt spid="291"/>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0" st="0"/>
                                            </p:txEl>
                                          </p:spTgt>
                                        </p:tgtEl>
                                        <p:attrNameLst>
                                          <p:attrName>style.visibility</p:attrName>
                                        </p:attrNameLst>
                                      </p:cBhvr>
                                      <p:to>
                                        <p:strVal val="visible"/>
                                      </p:to>
                                    </p:set>
                                    <p:animEffect filter="fade" transition="in">
                                      <p:cBhvr>
                                        <p:cTn dur="500"/>
                                        <p:tgtEl>
                                          <p:spTgt spid="29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1" st="1"/>
                                            </p:txEl>
                                          </p:spTgt>
                                        </p:tgtEl>
                                        <p:attrNameLst>
                                          <p:attrName>style.visibility</p:attrName>
                                        </p:attrNameLst>
                                      </p:cBhvr>
                                      <p:to>
                                        <p:strVal val="visible"/>
                                      </p:to>
                                    </p:set>
                                    <p:animEffect filter="fade" transition="in">
                                      <p:cBhvr>
                                        <p:cTn dur="500"/>
                                        <p:tgtEl>
                                          <p:spTgt spid="29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2" st="2"/>
                                            </p:txEl>
                                          </p:spTgt>
                                        </p:tgtEl>
                                        <p:attrNameLst>
                                          <p:attrName>style.visibility</p:attrName>
                                        </p:attrNameLst>
                                      </p:cBhvr>
                                      <p:to>
                                        <p:strVal val="visible"/>
                                      </p:to>
                                    </p:set>
                                    <p:animEffect filter="fade" transition="in">
                                      <p:cBhvr>
                                        <p:cTn dur="500"/>
                                        <p:tgtEl>
                                          <p:spTgt spid="29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3" st="3"/>
                                            </p:txEl>
                                          </p:spTgt>
                                        </p:tgtEl>
                                        <p:attrNameLst>
                                          <p:attrName>style.visibility</p:attrName>
                                        </p:attrNameLst>
                                      </p:cBhvr>
                                      <p:to>
                                        <p:strVal val="visible"/>
                                      </p:to>
                                    </p:set>
                                    <p:animEffect filter="fade" transition="in">
                                      <p:cBhvr>
                                        <p:cTn dur="500"/>
                                        <p:tgtEl>
                                          <p:spTgt spid="29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4" st="4"/>
                                            </p:txEl>
                                          </p:spTgt>
                                        </p:tgtEl>
                                        <p:attrNameLst>
                                          <p:attrName>style.visibility</p:attrName>
                                        </p:attrNameLst>
                                      </p:cBhvr>
                                      <p:to>
                                        <p:strVal val="visible"/>
                                      </p:to>
                                    </p:set>
                                    <p:animEffect filter="fade" transition="in">
                                      <p:cBhvr>
                                        <p:cTn dur="500"/>
                                        <p:tgtEl>
                                          <p:spTgt spid="295">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1"/>
          <p:cNvSpPr txBox="1"/>
          <p:nvPr>
            <p:ph type="title"/>
          </p:nvPr>
        </p:nvSpPr>
        <p:spPr>
          <a:xfrm>
            <a:off x="785812" y="609600"/>
            <a:ext cx="7143750" cy="7477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GENERIC CHALLENGE-RESPONSE</a:t>
            </a:r>
            <a:endParaRPr/>
          </a:p>
        </p:txBody>
      </p:sp>
      <p:sp>
        <p:nvSpPr>
          <p:cNvPr id="305" name="Google Shape;305;p21"/>
          <p:cNvSpPr txBox="1"/>
          <p:nvPr>
            <p:ph idx="1" type="body"/>
          </p:nvPr>
        </p:nvSpPr>
        <p:spPr>
          <a:xfrm>
            <a:off x="785812" y="4581525"/>
            <a:ext cx="7673975" cy="1477962"/>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80000"/>
              </a:lnSpc>
              <a:spcBef>
                <a:spcPts val="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In practice, how to achieve this?</a:t>
            </a:r>
            <a:endParaRPr/>
          </a:p>
          <a:p>
            <a:pPr indent="-304800" lvl="0" marL="304800" marR="0" rtl="0" algn="l">
              <a:lnSpc>
                <a:spcPct val="80000"/>
              </a:lnSpc>
              <a:spcBef>
                <a:spcPts val="116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Hashed pwd works</a:t>
            </a:r>
            <a:endParaRPr/>
          </a:p>
          <a:p>
            <a:pPr indent="-304800" lvl="0" marL="304800" marR="0" rtl="0" algn="l">
              <a:lnSpc>
                <a:spcPct val="80000"/>
              </a:lnSpc>
              <a:spcBef>
                <a:spcPts val="116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Maybe crypto is better, Why?</a:t>
            </a:r>
            <a:endParaRPr/>
          </a:p>
        </p:txBody>
      </p:sp>
      <p:sp>
        <p:nvSpPr>
          <p:cNvPr id="306" name="Google Shape;306;p21"/>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307" name="Google Shape;307;p21"/>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cxnSp>
        <p:nvCxnSpPr>
          <p:cNvPr id="308" name="Google Shape;308;p21"/>
          <p:cNvCxnSpPr/>
          <p:nvPr/>
        </p:nvCxnSpPr>
        <p:spPr>
          <a:xfrm>
            <a:off x="2257425" y="2311400"/>
            <a:ext cx="46482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309" name="Google Shape;309;p21"/>
          <p:cNvCxnSpPr/>
          <p:nvPr/>
        </p:nvCxnSpPr>
        <p:spPr>
          <a:xfrm rot="10800000">
            <a:off x="2181225" y="2921000"/>
            <a:ext cx="4724400" cy="0"/>
          </a:xfrm>
          <a:prstGeom prst="straightConnector1">
            <a:avLst/>
          </a:prstGeom>
          <a:noFill/>
          <a:ln cap="flat" cmpd="sng" w="50800">
            <a:solidFill>
              <a:schemeClr val="dk1"/>
            </a:solidFill>
            <a:prstDash val="solid"/>
            <a:miter lim="800000"/>
            <a:headEnd len="med" w="med" type="none"/>
            <a:tailEnd len="med" w="med" type="triangle"/>
          </a:ln>
        </p:spPr>
      </p:cxnSp>
      <p:sp>
        <p:nvSpPr>
          <p:cNvPr id="310" name="Google Shape;310;p21"/>
          <p:cNvSpPr txBox="1"/>
          <p:nvPr/>
        </p:nvSpPr>
        <p:spPr>
          <a:xfrm>
            <a:off x="7286625" y="3567112"/>
            <a:ext cx="7175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a:t>
            </a:r>
            <a:endParaRPr/>
          </a:p>
        </p:txBody>
      </p:sp>
      <p:cxnSp>
        <p:nvCxnSpPr>
          <p:cNvPr id="311" name="Google Shape;311;p21"/>
          <p:cNvCxnSpPr/>
          <p:nvPr/>
        </p:nvCxnSpPr>
        <p:spPr>
          <a:xfrm>
            <a:off x="2257425" y="3606800"/>
            <a:ext cx="4648200" cy="0"/>
          </a:xfrm>
          <a:prstGeom prst="straightConnector1">
            <a:avLst/>
          </a:prstGeom>
          <a:noFill/>
          <a:ln cap="flat" cmpd="sng" w="50800">
            <a:solidFill>
              <a:schemeClr val="dk1"/>
            </a:solidFill>
            <a:prstDash val="solid"/>
            <a:miter lim="800000"/>
            <a:headEnd len="med" w="med" type="none"/>
            <a:tailEnd len="med" w="med" type="triangle"/>
          </a:ln>
        </p:spPr>
      </p:cxnSp>
      <p:sp>
        <p:nvSpPr>
          <p:cNvPr id="312" name="Google Shape;312;p21"/>
          <p:cNvSpPr txBox="1"/>
          <p:nvPr/>
        </p:nvSpPr>
        <p:spPr>
          <a:xfrm>
            <a:off x="3705225" y="1814512"/>
            <a:ext cx="15382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“I’m Alice”</a:t>
            </a:r>
            <a:endParaRPr/>
          </a:p>
        </p:txBody>
      </p:sp>
      <p:sp>
        <p:nvSpPr>
          <p:cNvPr id="313" name="Google Shape;313;p21"/>
          <p:cNvSpPr txBox="1"/>
          <p:nvPr/>
        </p:nvSpPr>
        <p:spPr>
          <a:xfrm>
            <a:off x="3857625" y="2500312"/>
            <a:ext cx="10652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Nonce</a:t>
            </a:r>
            <a:endParaRPr/>
          </a:p>
        </p:txBody>
      </p:sp>
      <p:sp>
        <p:nvSpPr>
          <p:cNvPr id="314" name="Google Shape;314;p21"/>
          <p:cNvSpPr txBox="1"/>
          <p:nvPr/>
        </p:nvSpPr>
        <p:spPr>
          <a:xfrm>
            <a:off x="2143125" y="3125787"/>
            <a:ext cx="4357687"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400"/>
              <a:buFont typeface="Comic Sans MS"/>
              <a:buNone/>
            </a:pPr>
            <a:r>
              <a:rPr b="0" i="0" lang="en-US" sz="2400" u="none">
                <a:solidFill>
                  <a:srgbClr val="0000FF"/>
                </a:solidFill>
                <a:latin typeface="Comic Sans MS"/>
                <a:ea typeface="Comic Sans MS"/>
                <a:cs typeface="Comic Sans MS"/>
                <a:sym typeface="Comic Sans MS"/>
              </a:rPr>
              <a:t>Something that could only be</a:t>
            </a:r>
            <a:endParaRPr/>
          </a:p>
        </p:txBody>
      </p:sp>
      <p:sp>
        <p:nvSpPr>
          <p:cNvPr id="315" name="Google Shape;315;p21"/>
          <p:cNvSpPr txBox="1"/>
          <p:nvPr/>
        </p:nvSpPr>
        <p:spPr>
          <a:xfrm>
            <a:off x="1052512" y="3622675"/>
            <a:ext cx="9001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Alice</a:t>
            </a:r>
            <a:endParaRPr/>
          </a:p>
        </p:txBody>
      </p:sp>
      <p:sp>
        <p:nvSpPr>
          <p:cNvPr id="316" name="Google Shape;316;p21"/>
          <p:cNvSpPr txBox="1"/>
          <p:nvPr/>
        </p:nvSpPr>
        <p:spPr>
          <a:xfrm>
            <a:off x="2162175" y="3582987"/>
            <a:ext cx="467995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400"/>
              <a:buFont typeface="Comic Sans MS"/>
              <a:buNone/>
            </a:pPr>
            <a:r>
              <a:rPr b="0" i="0" lang="en-US" sz="2400" u="none">
                <a:solidFill>
                  <a:srgbClr val="0000FF"/>
                </a:solidFill>
                <a:latin typeface="Comic Sans MS"/>
                <a:ea typeface="Comic Sans MS"/>
                <a:cs typeface="Comic Sans MS"/>
                <a:sym typeface="Comic Sans MS"/>
              </a:rPr>
              <a:t>from Alice (and Bob can verify)</a:t>
            </a:r>
            <a:endParaRPr/>
          </a:p>
        </p:txBody>
      </p:sp>
      <p:sp>
        <p:nvSpPr>
          <p:cNvPr id="317" name="Google Shape;317;p21"/>
          <p:cNvSpPr txBox="1"/>
          <p:nvPr/>
        </p:nvSpPr>
        <p:spPr>
          <a:xfrm>
            <a:off x="2941637" y="5332412"/>
            <a:ext cx="1841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Gulim"/>
              <a:ea typeface="Gulim"/>
              <a:cs typeface="Gulim"/>
              <a:sym typeface="Gulim"/>
            </a:endParaRPr>
          </a:p>
        </p:txBody>
      </p:sp>
      <p:pic>
        <p:nvPicPr>
          <p:cNvPr id="318" name="Google Shape;318;p21"/>
          <p:cNvPicPr preferRelativeResize="0"/>
          <p:nvPr/>
        </p:nvPicPr>
        <p:blipFill rotWithShape="1">
          <a:blip r:embed="rId3">
            <a:alphaModFix/>
          </a:blip>
          <a:srcRect b="0" l="0" r="0" t="0"/>
          <a:stretch/>
        </p:blipFill>
        <p:spPr>
          <a:xfrm>
            <a:off x="1038225" y="2043112"/>
            <a:ext cx="946150" cy="1624012"/>
          </a:xfrm>
          <a:prstGeom prst="rect">
            <a:avLst/>
          </a:prstGeom>
          <a:noFill/>
          <a:ln>
            <a:noFill/>
          </a:ln>
        </p:spPr>
      </p:pic>
      <p:pic>
        <p:nvPicPr>
          <p:cNvPr id="319" name="Google Shape;319;p21"/>
          <p:cNvPicPr preferRelativeResize="0"/>
          <p:nvPr/>
        </p:nvPicPr>
        <p:blipFill rotWithShape="1">
          <a:blip r:embed="rId4">
            <a:alphaModFix/>
          </a:blip>
          <a:srcRect b="0" l="0" r="0" t="0"/>
          <a:stretch/>
        </p:blipFill>
        <p:spPr>
          <a:xfrm>
            <a:off x="7134225" y="1890712"/>
            <a:ext cx="1076325" cy="16652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500"/>
                                        <p:tgtEl>
                                          <p:spTgt spid="308"/>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
                                        </p:tgtEl>
                                        <p:attrNameLst>
                                          <p:attrName>style.visibility</p:attrName>
                                        </p:attrNameLst>
                                      </p:cBhvr>
                                      <p:to>
                                        <p:strVal val="visible"/>
                                      </p:to>
                                    </p:set>
                                    <p:animEffect filter="fade" transition="in">
                                      <p:cBhvr>
                                        <p:cTn dur="1"/>
                                        <p:tgtEl>
                                          <p:spTgt spid="309"/>
                                        </p:tgtEl>
                                      </p:cBhvr>
                                    </p:animEffec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3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500"/>
                                        <p:tgtEl>
                                          <p:spTgt spid="311"/>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xEl>
                                              <p:pRg end="0" st="0"/>
                                            </p:txEl>
                                          </p:spTgt>
                                        </p:tgtEl>
                                        <p:attrNameLst>
                                          <p:attrName>style.visibility</p:attrName>
                                        </p:attrNameLst>
                                      </p:cBhvr>
                                      <p:to>
                                        <p:strVal val="visible"/>
                                      </p:to>
                                    </p:set>
                                    <p:animEffect filter="fade" transition="in">
                                      <p:cBhvr>
                                        <p:cTn dur="500"/>
                                        <p:tgtEl>
                                          <p:spTgt spid="30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xEl>
                                              <p:pRg end="1" st="1"/>
                                            </p:txEl>
                                          </p:spTgt>
                                        </p:tgtEl>
                                        <p:attrNameLst>
                                          <p:attrName>style.visibility</p:attrName>
                                        </p:attrNameLst>
                                      </p:cBhvr>
                                      <p:to>
                                        <p:strVal val="visible"/>
                                      </p:to>
                                    </p:set>
                                    <p:animEffect filter="fade" transition="in">
                                      <p:cBhvr>
                                        <p:cTn dur="500"/>
                                        <p:tgtEl>
                                          <p:spTgt spid="30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xEl>
                                              <p:pRg end="2" st="2"/>
                                            </p:txEl>
                                          </p:spTgt>
                                        </p:tgtEl>
                                        <p:attrNameLst>
                                          <p:attrName>style.visibility</p:attrName>
                                        </p:attrNameLst>
                                      </p:cBhvr>
                                      <p:to>
                                        <p:strVal val="visible"/>
                                      </p:to>
                                    </p:set>
                                    <p:animEffect filter="fade" transition="in">
                                      <p:cBhvr>
                                        <p:cTn dur="500"/>
                                        <p:tgtEl>
                                          <p:spTgt spid="305">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2"/>
          <p:cNvSpPr txBox="1"/>
          <p:nvPr>
            <p:ph type="title"/>
          </p:nvPr>
        </p:nvSpPr>
        <p:spPr>
          <a:xfrm>
            <a:off x="581025" y="687387"/>
            <a:ext cx="7989887" cy="1082675"/>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None/>
            </a:pPr>
            <a:r>
              <a:t/>
            </a:r>
            <a:endParaRPr sz="2800" cap="none">
              <a:solidFill>
                <a:schemeClr val="lt1"/>
              </a:solidFill>
              <a:latin typeface="Gill Sans"/>
              <a:ea typeface="Gill Sans"/>
              <a:cs typeface="Gill Sans"/>
              <a:sym typeface="Gill Sans"/>
            </a:endParaRPr>
          </a:p>
        </p:txBody>
      </p:sp>
      <p:sp>
        <p:nvSpPr>
          <p:cNvPr id="325" name="Google Shape;325;p22"/>
          <p:cNvSpPr txBox="1"/>
          <p:nvPr>
            <p:ph idx="1" type="body"/>
          </p:nvPr>
        </p:nvSpPr>
        <p:spPr>
          <a:xfrm>
            <a:off x="581025" y="2227262"/>
            <a:ext cx="7989887" cy="3632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3680"/>
              <a:buFont typeface="Noto Sans Symbols"/>
              <a:buNone/>
            </a:pPr>
            <a:r>
              <a:rPr b="0" i="0" lang="en-US" sz="4000" u="none" cap="none" strike="noStrike">
                <a:solidFill>
                  <a:schemeClr val="dk2"/>
                </a:solidFill>
                <a:latin typeface="Gill Sans"/>
                <a:ea typeface="Gill Sans"/>
                <a:cs typeface="Gill Sans"/>
                <a:sym typeface="Gill Sans"/>
              </a:rPr>
              <a:t>Authentication: Symmetric Key</a:t>
            </a:r>
            <a:endParaRPr/>
          </a:p>
        </p:txBody>
      </p:sp>
      <p:sp>
        <p:nvSpPr>
          <p:cNvPr id="326" name="Google Shape;326;p22"/>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ulim"/>
              <a:buNone/>
            </a:pPr>
            <a:r>
              <a:rPr b="0" i="0" lang="en-US" sz="900" u="none">
                <a:solidFill>
                  <a:schemeClr val="accent2"/>
                </a:solidFill>
                <a:latin typeface="Gulim"/>
                <a:ea typeface="Gulim"/>
                <a:cs typeface="Gulim"/>
                <a:sym typeface="Gulim"/>
              </a:rPr>
              <a:t>CHAPTER 9  SIMPLE AUTHENTICATION PROTOCOLS             PREPARED BY: DR. MUHAMMAD IQBAL HOSSAIN</a:t>
            </a:r>
            <a:endParaRPr/>
          </a:p>
        </p:txBody>
      </p:sp>
      <p:sp>
        <p:nvSpPr>
          <p:cNvPr id="327" name="Google Shape;327;p22"/>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ulim"/>
              <a:buNone/>
            </a:pPr>
            <a:fld id="{00000000-1234-1234-1234-123412341234}" type="slidenum">
              <a:rPr b="0" i="0" lang="en-US" sz="900" u="none">
                <a:solidFill>
                  <a:schemeClr val="accent2"/>
                </a:solidFill>
                <a:latin typeface="Gulim"/>
                <a:ea typeface="Gulim"/>
                <a:cs typeface="Gulim"/>
                <a:sym typeface="Gulim"/>
              </a:rPr>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3"/>
          <p:cNvSpPr txBox="1"/>
          <p:nvPr>
            <p:ph type="title"/>
          </p:nvPr>
        </p:nvSpPr>
        <p:spPr>
          <a:xfrm>
            <a:off x="785812" y="122237"/>
            <a:ext cx="7215187" cy="123507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SYMMETRIC KEY NOTATION</a:t>
            </a:r>
            <a:endParaRPr/>
          </a:p>
        </p:txBody>
      </p:sp>
      <p:sp>
        <p:nvSpPr>
          <p:cNvPr id="333" name="Google Shape;333;p23"/>
          <p:cNvSpPr txBox="1"/>
          <p:nvPr>
            <p:ph idx="1" type="body"/>
          </p:nvPr>
        </p:nvSpPr>
        <p:spPr>
          <a:xfrm>
            <a:off x="785812" y="1719262"/>
            <a:ext cx="7900987" cy="4411662"/>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130000"/>
              </a:lnSpc>
              <a:spcBef>
                <a:spcPts val="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Encrypt plaintext </a:t>
            </a:r>
            <a:r>
              <a:rPr b="0" i="0" lang="en-US" sz="2400" u="none" cap="none" strike="noStrike">
                <a:solidFill>
                  <a:schemeClr val="dk2"/>
                </a:solidFill>
                <a:latin typeface="Times"/>
                <a:ea typeface="Times"/>
                <a:cs typeface="Times"/>
                <a:sym typeface="Times"/>
              </a:rPr>
              <a:t>P</a:t>
            </a:r>
            <a:r>
              <a:rPr b="0" i="0" lang="en-US" sz="2400" u="none" cap="none" strike="noStrike">
                <a:solidFill>
                  <a:schemeClr val="dk2"/>
                </a:solidFill>
                <a:latin typeface="Gill Sans"/>
                <a:ea typeface="Gill Sans"/>
                <a:cs typeface="Gill Sans"/>
                <a:sym typeface="Gill Sans"/>
              </a:rPr>
              <a:t> with key </a:t>
            </a:r>
            <a:r>
              <a:rPr b="0" i="0" lang="en-US" sz="2400" u="none" cap="none" strike="noStrike">
                <a:solidFill>
                  <a:schemeClr val="dk2"/>
                </a:solidFill>
                <a:latin typeface="Times"/>
                <a:ea typeface="Times"/>
                <a:cs typeface="Times"/>
                <a:sym typeface="Times"/>
              </a:rPr>
              <a:t>K</a:t>
            </a:r>
            <a:endParaRPr b="0" i="0" sz="2400" u="none" cap="none" strike="noStrike">
              <a:solidFill>
                <a:schemeClr val="dk2"/>
              </a:solidFill>
              <a:latin typeface="Gill Sans"/>
              <a:ea typeface="Gill Sans"/>
              <a:cs typeface="Gill Sans"/>
              <a:sym typeface="Gill Sans"/>
            </a:endParaRPr>
          </a:p>
          <a:p>
            <a:pPr indent="-304800" lvl="0" marL="304800" marR="0" rtl="0" algn="l">
              <a:lnSpc>
                <a:spcPct val="130000"/>
              </a:lnSpc>
              <a:spcBef>
                <a:spcPts val="1080"/>
              </a:spcBef>
              <a:spcAft>
                <a:spcPts val="0"/>
              </a:spcAft>
              <a:buClr>
                <a:schemeClr val="accent2"/>
              </a:buClr>
              <a:buSzPts val="2208"/>
              <a:buFont typeface="Noto Sans Symbols"/>
              <a:buNone/>
            </a:pPr>
            <a:r>
              <a:rPr b="0" i="0" lang="en-US" sz="2400" u="none" cap="none" strike="noStrike">
                <a:solidFill>
                  <a:schemeClr val="dk2"/>
                </a:solidFill>
                <a:latin typeface="Gill Sans"/>
                <a:ea typeface="Gill Sans"/>
                <a:cs typeface="Gill Sans"/>
                <a:sym typeface="Gill Sans"/>
              </a:rPr>
              <a:t>		 </a:t>
            </a:r>
            <a:r>
              <a:rPr b="0" i="0" lang="en-US" sz="2400" u="none" cap="none" strike="noStrike">
                <a:solidFill>
                  <a:schemeClr val="dk2"/>
                </a:solidFill>
                <a:latin typeface="Times"/>
                <a:ea typeface="Times"/>
                <a:cs typeface="Times"/>
                <a:sym typeface="Times"/>
              </a:rPr>
              <a:t>C = E(P,K)</a:t>
            </a:r>
            <a:endParaRPr b="0" i="0" sz="2400" u="none" cap="none" strike="noStrike">
              <a:solidFill>
                <a:schemeClr val="dk2"/>
              </a:solidFill>
              <a:latin typeface="Gill Sans"/>
              <a:ea typeface="Gill Sans"/>
              <a:cs typeface="Gill Sans"/>
              <a:sym typeface="Gill Sans"/>
            </a:endParaRPr>
          </a:p>
          <a:p>
            <a:pPr indent="-304800" lvl="0" marL="304800" marR="0" rtl="0" algn="l">
              <a:lnSpc>
                <a:spcPct val="13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Decrypt ciphertext </a:t>
            </a:r>
            <a:r>
              <a:rPr b="0" i="0" lang="en-US" sz="2400" u="none" cap="none" strike="noStrike">
                <a:solidFill>
                  <a:schemeClr val="dk2"/>
                </a:solidFill>
                <a:latin typeface="Times"/>
                <a:ea typeface="Times"/>
                <a:cs typeface="Times"/>
                <a:sym typeface="Times"/>
              </a:rPr>
              <a:t>C</a:t>
            </a:r>
            <a:r>
              <a:rPr b="0" i="0" lang="en-US" sz="2400" u="none" cap="none" strike="noStrike">
                <a:solidFill>
                  <a:schemeClr val="dk2"/>
                </a:solidFill>
                <a:latin typeface="Gill Sans"/>
                <a:ea typeface="Gill Sans"/>
                <a:cs typeface="Gill Sans"/>
                <a:sym typeface="Gill Sans"/>
              </a:rPr>
              <a:t> with key </a:t>
            </a:r>
            <a:r>
              <a:rPr b="0" i="0" lang="en-US" sz="2400" u="none" cap="none" strike="noStrike">
                <a:solidFill>
                  <a:schemeClr val="dk2"/>
                </a:solidFill>
                <a:latin typeface="Times"/>
                <a:ea typeface="Times"/>
                <a:cs typeface="Times"/>
                <a:sym typeface="Times"/>
              </a:rPr>
              <a:t>K</a:t>
            </a:r>
            <a:endParaRPr b="0" i="0" sz="2400" u="none" cap="none" strike="noStrike">
              <a:solidFill>
                <a:schemeClr val="dk2"/>
              </a:solidFill>
              <a:latin typeface="Gill Sans"/>
              <a:ea typeface="Gill Sans"/>
              <a:cs typeface="Gill Sans"/>
              <a:sym typeface="Gill Sans"/>
            </a:endParaRPr>
          </a:p>
          <a:p>
            <a:pPr indent="-304800" lvl="0" marL="304800" marR="0" rtl="0" algn="l">
              <a:lnSpc>
                <a:spcPct val="130000"/>
              </a:lnSpc>
              <a:spcBef>
                <a:spcPts val="1080"/>
              </a:spcBef>
              <a:spcAft>
                <a:spcPts val="0"/>
              </a:spcAft>
              <a:buClr>
                <a:schemeClr val="accent2"/>
              </a:buClr>
              <a:buSzPts val="2208"/>
              <a:buFont typeface="Noto Sans Symbols"/>
              <a:buNone/>
            </a:pPr>
            <a:r>
              <a:rPr b="0" i="0" lang="en-US" sz="2400" u="none" cap="none" strike="noStrike">
                <a:solidFill>
                  <a:schemeClr val="dk2"/>
                </a:solidFill>
                <a:latin typeface="Gill Sans"/>
                <a:ea typeface="Gill Sans"/>
                <a:cs typeface="Gill Sans"/>
                <a:sym typeface="Gill Sans"/>
              </a:rPr>
              <a:t>		 </a:t>
            </a:r>
            <a:r>
              <a:rPr b="0" i="0" lang="en-US" sz="2400" u="none" cap="none" strike="noStrike">
                <a:solidFill>
                  <a:schemeClr val="dk2"/>
                </a:solidFill>
                <a:latin typeface="Times"/>
                <a:ea typeface="Times"/>
                <a:cs typeface="Times"/>
                <a:sym typeface="Times"/>
              </a:rPr>
              <a:t>P = D(C,K)</a:t>
            </a:r>
            <a:endParaRPr b="0" i="0" sz="2400" u="none" cap="none" strike="noStrike">
              <a:solidFill>
                <a:schemeClr val="dk2"/>
              </a:solidFill>
              <a:latin typeface="Gill Sans"/>
              <a:ea typeface="Gill Sans"/>
              <a:cs typeface="Gill Sans"/>
              <a:sym typeface="Gill Sans"/>
            </a:endParaRPr>
          </a:p>
          <a:p>
            <a:pPr indent="-304800" lvl="0" marL="304800" marR="0" rtl="0" algn="l">
              <a:lnSpc>
                <a:spcPct val="13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Here, we are concerned with attacks on </a:t>
            </a:r>
            <a:r>
              <a:rPr b="1" i="0" lang="en-US" sz="2400" u="none" cap="none" strike="noStrike">
                <a:solidFill>
                  <a:srgbClr val="FF0000"/>
                </a:solidFill>
                <a:latin typeface="Gill Sans"/>
                <a:ea typeface="Gill Sans"/>
                <a:cs typeface="Gill Sans"/>
                <a:sym typeface="Gill Sans"/>
              </a:rPr>
              <a:t>protocols</a:t>
            </a:r>
            <a:r>
              <a:rPr b="0" i="0" lang="en-US" sz="2400" u="none" cap="none" strike="noStrike">
                <a:solidFill>
                  <a:schemeClr val="dk2"/>
                </a:solidFill>
                <a:latin typeface="Gill Sans"/>
                <a:ea typeface="Gill Sans"/>
                <a:cs typeface="Gill Sans"/>
                <a:sym typeface="Gill Sans"/>
              </a:rPr>
              <a:t>, not attacks on crypto</a:t>
            </a:r>
            <a:endParaRPr/>
          </a:p>
          <a:p>
            <a:pPr indent="-304800" lvl="0" marL="304800" marR="0" rtl="0" algn="l">
              <a:lnSpc>
                <a:spcPct val="130000"/>
              </a:lnSpc>
              <a:spcBef>
                <a:spcPts val="1080"/>
              </a:spcBef>
              <a:spcAft>
                <a:spcPts val="0"/>
              </a:spcAft>
              <a:buClr>
                <a:schemeClr val="accent2"/>
              </a:buClr>
              <a:buSzPts val="2208"/>
              <a:buFont typeface="Noto Sans Symbols"/>
              <a:buChar char="◼"/>
            </a:pPr>
            <a:r>
              <a:rPr b="0" i="0" lang="en-US" sz="2400" u="none" cap="none" strike="noStrike">
                <a:solidFill>
                  <a:srgbClr val="0000FF"/>
                </a:solidFill>
                <a:latin typeface="Gill Sans"/>
                <a:ea typeface="Gill Sans"/>
                <a:cs typeface="Gill Sans"/>
                <a:sym typeface="Gill Sans"/>
              </a:rPr>
              <a:t>So, we assume that crypto algorithm is secure</a:t>
            </a:r>
            <a:endParaRPr/>
          </a:p>
        </p:txBody>
      </p:sp>
      <p:sp>
        <p:nvSpPr>
          <p:cNvPr id="334" name="Google Shape;334;p23"/>
          <p:cNvSpPr txBox="1"/>
          <p:nvPr/>
        </p:nvSpPr>
        <p:spPr>
          <a:xfrm>
            <a:off x="581025" y="6372225"/>
            <a:ext cx="7419900" cy="365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335" name="Google Shape;335;p23"/>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4"/>
          <p:cNvSpPr txBox="1"/>
          <p:nvPr>
            <p:ph type="title"/>
          </p:nvPr>
        </p:nvSpPr>
        <p:spPr>
          <a:xfrm>
            <a:off x="785812" y="476250"/>
            <a:ext cx="7786687" cy="88106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AUTHENTICATION: SYMMETRIC KEY</a:t>
            </a:r>
            <a:endParaRPr/>
          </a:p>
        </p:txBody>
      </p:sp>
      <p:sp>
        <p:nvSpPr>
          <p:cNvPr id="341" name="Google Shape;341;p24"/>
          <p:cNvSpPr txBox="1"/>
          <p:nvPr>
            <p:ph idx="1" type="body"/>
          </p:nvPr>
        </p:nvSpPr>
        <p:spPr>
          <a:xfrm>
            <a:off x="581025" y="1601787"/>
            <a:ext cx="7747000" cy="4522787"/>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100000"/>
              </a:lnSpc>
              <a:spcBef>
                <a:spcPts val="0"/>
              </a:spcBef>
              <a:spcAft>
                <a:spcPts val="0"/>
              </a:spcAft>
              <a:buClr>
                <a:schemeClr val="accent2"/>
              </a:buClr>
              <a:buSzPts val="2208"/>
              <a:buFont typeface="Noto Sans Symbols"/>
              <a:buChar char="◼"/>
            </a:pPr>
            <a:r>
              <a:rPr b="0" i="0" lang="en-US" sz="2400" u="none" cap="none" strike="noStrike">
                <a:solidFill>
                  <a:srgbClr val="0000FF"/>
                </a:solidFill>
                <a:latin typeface="Gill Sans"/>
                <a:ea typeface="Gill Sans"/>
                <a:cs typeface="Gill Sans"/>
                <a:sym typeface="Gill Sans"/>
              </a:rPr>
              <a:t>Alice and Bob share symmetric key </a:t>
            </a:r>
            <a:r>
              <a:rPr b="0" i="0" lang="en-US" sz="2400" u="none" cap="none" strike="noStrike">
                <a:solidFill>
                  <a:srgbClr val="0000FF"/>
                </a:solidFill>
                <a:latin typeface="Times"/>
                <a:ea typeface="Times"/>
                <a:cs typeface="Times"/>
                <a:sym typeface="Times"/>
              </a:rPr>
              <a:t>K</a:t>
            </a:r>
            <a:r>
              <a:rPr b="0" baseline="-25000" i="0" lang="en-US" sz="2400" u="none" cap="none" strike="noStrike">
                <a:solidFill>
                  <a:srgbClr val="0000FF"/>
                </a:solidFill>
                <a:latin typeface="Times"/>
                <a:ea typeface="Times"/>
                <a:cs typeface="Times"/>
                <a:sym typeface="Times"/>
              </a:rPr>
              <a:t>AB</a:t>
            </a:r>
            <a:endParaRPr/>
          </a:p>
          <a:p>
            <a:pPr indent="-304800" lvl="0" marL="30480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rgbClr val="0000FF"/>
                </a:solidFill>
                <a:latin typeface="Gill Sans"/>
                <a:ea typeface="Gill Sans"/>
                <a:cs typeface="Gill Sans"/>
                <a:sym typeface="Gill Sans"/>
              </a:rPr>
              <a:t>Key </a:t>
            </a:r>
            <a:r>
              <a:rPr b="0" i="0" lang="en-US" sz="2400" u="none" cap="none" strike="noStrike">
                <a:solidFill>
                  <a:srgbClr val="0000FF"/>
                </a:solidFill>
                <a:latin typeface="Times"/>
                <a:ea typeface="Times"/>
                <a:cs typeface="Times"/>
                <a:sym typeface="Times"/>
              </a:rPr>
              <a:t>K</a:t>
            </a:r>
            <a:r>
              <a:rPr b="0" baseline="-25000" i="0" lang="en-US" sz="2400" u="none" cap="none" strike="noStrike">
                <a:solidFill>
                  <a:srgbClr val="0000FF"/>
                </a:solidFill>
                <a:latin typeface="Times"/>
                <a:ea typeface="Times"/>
                <a:cs typeface="Times"/>
                <a:sym typeface="Times"/>
              </a:rPr>
              <a:t>AB</a:t>
            </a:r>
            <a:r>
              <a:rPr b="0" i="0" lang="en-US" sz="2400" u="none" cap="none" strike="noStrike">
                <a:solidFill>
                  <a:srgbClr val="0000FF"/>
                </a:solidFill>
                <a:latin typeface="Gill Sans"/>
                <a:ea typeface="Gill Sans"/>
                <a:cs typeface="Gill Sans"/>
                <a:sym typeface="Gill Sans"/>
              </a:rPr>
              <a:t> known only to Alice and Bob</a:t>
            </a:r>
            <a:endParaRPr/>
          </a:p>
          <a:p>
            <a:pPr indent="-304800" lvl="0" marL="30480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Authenticate by proving knowledge of shared symmetric key</a:t>
            </a:r>
            <a:endParaRPr/>
          </a:p>
          <a:p>
            <a:pPr indent="-304800" lvl="0" marL="30480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How to accomplish this with the following conditions?</a:t>
            </a:r>
            <a:endParaRPr/>
          </a:p>
          <a:p>
            <a:pPr indent="-304800" lvl="1" marL="628650" marR="0" rtl="0" algn="l">
              <a:lnSpc>
                <a:spcPct val="100000"/>
              </a:lnSpc>
              <a:spcBef>
                <a:spcPts val="1000"/>
              </a:spcBef>
              <a:spcAft>
                <a:spcPts val="0"/>
              </a:spcAft>
              <a:buClr>
                <a:schemeClr val="accent2"/>
              </a:buClr>
              <a:buSzPts val="1840"/>
              <a:buFont typeface="Noto Sans Symbols"/>
              <a:buChar char="◼"/>
            </a:pPr>
            <a:r>
              <a:rPr b="0" i="0" lang="en-US" sz="2000" u="none" cap="none" strike="noStrike">
                <a:solidFill>
                  <a:srgbClr val="FF0000"/>
                </a:solidFill>
                <a:latin typeface="Gill Sans"/>
                <a:ea typeface="Gill Sans"/>
                <a:cs typeface="Gill Sans"/>
                <a:sym typeface="Gill Sans"/>
              </a:rPr>
              <a:t>Must not reveal key</a:t>
            </a:r>
            <a:endParaRPr/>
          </a:p>
          <a:p>
            <a:pPr indent="-304800" lvl="1" marL="628650" marR="0" rtl="0" algn="l">
              <a:lnSpc>
                <a:spcPct val="100000"/>
              </a:lnSpc>
              <a:spcBef>
                <a:spcPts val="1000"/>
              </a:spcBef>
              <a:spcAft>
                <a:spcPts val="0"/>
              </a:spcAft>
              <a:buClr>
                <a:schemeClr val="accent2"/>
              </a:buClr>
              <a:buSzPts val="1840"/>
              <a:buFont typeface="Noto Sans Symbols"/>
              <a:buChar char="◼"/>
            </a:pPr>
            <a:r>
              <a:rPr b="0" i="0" lang="en-US" sz="2000" u="none" cap="none" strike="noStrike">
                <a:solidFill>
                  <a:srgbClr val="FF0000"/>
                </a:solidFill>
                <a:latin typeface="Gill Sans"/>
                <a:ea typeface="Gill Sans"/>
                <a:cs typeface="Gill Sans"/>
                <a:sym typeface="Gill Sans"/>
              </a:rPr>
              <a:t>Must not allow replay attack</a:t>
            </a:r>
            <a:endParaRPr/>
          </a:p>
          <a:p>
            <a:pPr indent="-304800" lvl="1" marL="628650" marR="0" rtl="0" algn="l">
              <a:lnSpc>
                <a:spcPct val="100000"/>
              </a:lnSpc>
              <a:spcBef>
                <a:spcPts val="1000"/>
              </a:spcBef>
              <a:spcAft>
                <a:spcPts val="0"/>
              </a:spcAft>
              <a:buClr>
                <a:schemeClr val="accent2"/>
              </a:buClr>
              <a:buSzPts val="1840"/>
              <a:buFont typeface="Noto Sans Symbols"/>
              <a:buChar char="◼"/>
            </a:pPr>
            <a:r>
              <a:rPr b="0" i="0" lang="en-US" sz="2000" u="none" cap="none" strike="noStrike">
                <a:solidFill>
                  <a:srgbClr val="FF0000"/>
                </a:solidFill>
                <a:latin typeface="Gill Sans"/>
                <a:ea typeface="Gill Sans"/>
                <a:cs typeface="Gill Sans"/>
                <a:sym typeface="Gill Sans"/>
              </a:rPr>
              <a:t>Must be verifiable, …</a:t>
            </a:r>
            <a:endParaRPr/>
          </a:p>
        </p:txBody>
      </p:sp>
      <p:sp>
        <p:nvSpPr>
          <p:cNvPr id="342" name="Google Shape;342;p24"/>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343" name="Google Shape;343;p24"/>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5"/>
          <p:cNvSpPr txBox="1"/>
          <p:nvPr>
            <p:ph type="title"/>
          </p:nvPr>
        </p:nvSpPr>
        <p:spPr>
          <a:xfrm>
            <a:off x="785812" y="357187"/>
            <a:ext cx="7572375" cy="100012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AUTHENTICATION WITH SYM KEY</a:t>
            </a:r>
            <a:endParaRPr/>
          </a:p>
        </p:txBody>
      </p:sp>
      <p:sp>
        <p:nvSpPr>
          <p:cNvPr id="350" name="Google Shape;350;p25"/>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351" name="Google Shape;351;p25"/>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cxnSp>
        <p:nvCxnSpPr>
          <p:cNvPr id="352" name="Google Shape;352;p25"/>
          <p:cNvCxnSpPr/>
          <p:nvPr/>
        </p:nvCxnSpPr>
        <p:spPr>
          <a:xfrm>
            <a:off x="2286000" y="2855912"/>
            <a:ext cx="46482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353" name="Google Shape;353;p25"/>
          <p:cNvCxnSpPr/>
          <p:nvPr/>
        </p:nvCxnSpPr>
        <p:spPr>
          <a:xfrm rot="10800000">
            <a:off x="2209800" y="3352800"/>
            <a:ext cx="4724400" cy="0"/>
          </a:xfrm>
          <a:prstGeom prst="straightConnector1">
            <a:avLst/>
          </a:prstGeom>
          <a:noFill/>
          <a:ln cap="flat" cmpd="sng" w="50800">
            <a:solidFill>
              <a:schemeClr val="dk1"/>
            </a:solidFill>
            <a:prstDash val="solid"/>
            <a:miter lim="800000"/>
            <a:headEnd len="med" w="med" type="none"/>
            <a:tailEnd len="med" w="med" type="triangle"/>
          </a:ln>
        </p:spPr>
      </p:cxnSp>
      <p:sp>
        <p:nvSpPr>
          <p:cNvPr id="354" name="Google Shape;354;p25"/>
          <p:cNvSpPr txBox="1"/>
          <p:nvPr/>
        </p:nvSpPr>
        <p:spPr>
          <a:xfrm>
            <a:off x="762000" y="3825875"/>
            <a:ext cx="154940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Alice, </a:t>
            </a:r>
            <a:r>
              <a:rPr b="0" i="0" lang="en-US" sz="2400" u="none">
                <a:solidFill>
                  <a:schemeClr val="dk1"/>
                </a:solidFill>
                <a:latin typeface="Times"/>
                <a:ea typeface="Times"/>
                <a:cs typeface="Times"/>
                <a:sym typeface="Times"/>
              </a:rPr>
              <a:t>K</a:t>
            </a:r>
            <a:r>
              <a:rPr b="0" baseline="-25000" i="0" lang="en-US" sz="2400" u="none">
                <a:solidFill>
                  <a:schemeClr val="dk1"/>
                </a:solidFill>
                <a:latin typeface="Times"/>
                <a:ea typeface="Times"/>
                <a:cs typeface="Times"/>
                <a:sym typeface="Times"/>
              </a:rPr>
              <a:t>AB</a:t>
            </a:r>
            <a:endParaRPr/>
          </a:p>
        </p:txBody>
      </p:sp>
      <p:sp>
        <p:nvSpPr>
          <p:cNvPr id="355" name="Google Shape;355;p25"/>
          <p:cNvSpPr txBox="1"/>
          <p:nvPr/>
        </p:nvSpPr>
        <p:spPr>
          <a:xfrm>
            <a:off x="7162800" y="3749675"/>
            <a:ext cx="1366837"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 </a:t>
            </a:r>
            <a:r>
              <a:rPr b="0" i="0" lang="en-US" sz="2400" u="none">
                <a:solidFill>
                  <a:schemeClr val="dk1"/>
                </a:solidFill>
                <a:latin typeface="Times"/>
                <a:ea typeface="Times"/>
                <a:cs typeface="Times"/>
                <a:sym typeface="Times"/>
              </a:rPr>
              <a:t>K</a:t>
            </a:r>
            <a:r>
              <a:rPr b="0" baseline="-25000" i="0" lang="en-US" sz="2400" u="none">
                <a:solidFill>
                  <a:schemeClr val="dk1"/>
                </a:solidFill>
                <a:latin typeface="Times"/>
                <a:ea typeface="Times"/>
                <a:cs typeface="Times"/>
                <a:sym typeface="Times"/>
              </a:rPr>
              <a:t>AB</a:t>
            </a:r>
            <a:endParaRPr/>
          </a:p>
        </p:txBody>
      </p:sp>
      <p:sp>
        <p:nvSpPr>
          <p:cNvPr id="356" name="Google Shape;356;p25"/>
          <p:cNvSpPr txBox="1"/>
          <p:nvPr/>
        </p:nvSpPr>
        <p:spPr>
          <a:xfrm>
            <a:off x="3733800" y="2359025"/>
            <a:ext cx="2261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“I’m Alice”</a:t>
            </a:r>
            <a:endParaRPr/>
          </a:p>
        </p:txBody>
      </p:sp>
      <p:sp>
        <p:nvSpPr>
          <p:cNvPr id="357" name="Google Shape;357;p25"/>
          <p:cNvSpPr txBox="1"/>
          <p:nvPr/>
        </p:nvSpPr>
        <p:spPr>
          <a:xfrm>
            <a:off x="3810000" y="3463925"/>
            <a:ext cx="13700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E(R,K</a:t>
            </a:r>
            <a:r>
              <a:rPr b="0" baseline="-25000" i="0" lang="en-US" sz="2400" u="none">
                <a:solidFill>
                  <a:schemeClr val="dk1"/>
                </a:solidFill>
                <a:latin typeface="Times"/>
                <a:ea typeface="Times"/>
                <a:cs typeface="Times"/>
                <a:sym typeface="Times"/>
              </a:rPr>
              <a:t>AB</a:t>
            </a:r>
            <a:r>
              <a:rPr b="0" i="0" lang="en-US" sz="2400" u="none">
                <a:solidFill>
                  <a:schemeClr val="dk1"/>
                </a:solidFill>
                <a:latin typeface="Times"/>
                <a:ea typeface="Times"/>
                <a:cs typeface="Times"/>
                <a:sym typeface="Times"/>
              </a:rPr>
              <a:t>)</a:t>
            </a:r>
            <a:endParaRPr/>
          </a:p>
        </p:txBody>
      </p:sp>
      <p:sp>
        <p:nvSpPr>
          <p:cNvPr id="358" name="Google Shape;358;p25"/>
          <p:cNvSpPr txBox="1"/>
          <p:nvPr/>
        </p:nvSpPr>
        <p:spPr>
          <a:xfrm>
            <a:off x="785812" y="4572000"/>
            <a:ext cx="7902575" cy="1292225"/>
          </a:xfrm>
          <a:prstGeom prst="rect">
            <a:avLst/>
          </a:prstGeom>
          <a:noFill/>
          <a:ln>
            <a:noFill/>
          </a:ln>
        </p:spPr>
        <p:txBody>
          <a:bodyPr anchorCtr="0" anchor="t" bIns="45700" lIns="91425" spcFirstLastPara="1" rIns="91425" wrap="square" tIns="45700">
            <a:spAutoFit/>
          </a:bodyPr>
          <a:lstStyle/>
          <a:p>
            <a:pPr indent="-358775" lvl="0" marL="358775" marR="0" rtl="0" algn="l">
              <a:lnSpc>
                <a:spcPct val="100000"/>
              </a:lnSpc>
              <a:spcBef>
                <a:spcPts val="0"/>
              </a:spcBef>
              <a:spcAft>
                <a:spcPts val="0"/>
              </a:spcAft>
              <a:buClr>
                <a:schemeClr val="dk1"/>
              </a:buClr>
              <a:buSzPts val="1820"/>
              <a:buFont typeface="Noto Sans Symbols"/>
              <a:buChar char="●"/>
            </a:pPr>
            <a:r>
              <a:rPr b="0" i="0" lang="en-US" sz="2600" u="none">
                <a:solidFill>
                  <a:schemeClr val="dk1"/>
                </a:solidFill>
                <a:latin typeface="Comic Sans MS"/>
                <a:ea typeface="Comic Sans MS"/>
                <a:cs typeface="Comic Sans MS"/>
                <a:sym typeface="Comic Sans MS"/>
              </a:rPr>
              <a:t>Secure method for Bob to authenticate Alice</a:t>
            </a:r>
            <a:endParaRPr/>
          </a:p>
          <a:p>
            <a:pPr indent="-358775" lvl="0" marL="358775" marR="0" rtl="0" algn="l">
              <a:lnSpc>
                <a:spcPct val="100000"/>
              </a:lnSpc>
              <a:spcBef>
                <a:spcPts val="0"/>
              </a:spcBef>
              <a:spcAft>
                <a:spcPts val="0"/>
              </a:spcAft>
              <a:buClr>
                <a:srgbClr val="FF0000"/>
              </a:buClr>
              <a:buSzPts val="1820"/>
              <a:buFont typeface="Noto Sans Symbols"/>
              <a:buChar char="●"/>
            </a:pPr>
            <a:r>
              <a:rPr b="0" i="0" lang="en-US" sz="2600" u="none">
                <a:solidFill>
                  <a:srgbClr val="FF0000"/>
                </a:solidFill>
                <a:latin typeface="Comic Sans MS"/>
                <a:ea typeface="Comic Sans MS"/>
                <a:cs typeface="Comic Sans MS"/>
                <a:sym typeface="Comic Sans MS"/>
              </a:rPr>
              <a:t>Alice does not authenticate Bob</a:t>
            </a:r>
            <a:endParaRPr/>
          </a:p>
          <a:p>
            <a:pPr indent="-358775" lvl="0" marL="358775" marR="0" rtl="0" algn="l">
              <a:lnSpc>
                <a:spcPct val="100000"/>
              </a:lnSpc>
              <a:spcBef>
                <a:spcPts val="0"/>
              </a:spcBef>
              <a:spcAft>
                <a:spcPts val="0"/>
              </a:spcAft>
              <a:buClr>
                <a:schemeClr val="dk1"/>
              </a:buClr>
              <a:buSzPts val="1820"/>
              <a:buFont typeface="Noto Sans Symbols"/>
              <a:buChar char="●"/>
            </a:pPr>
            <a:r>
              <a:rPr b="0" i="0" lang="en-US" sz="2600" u="none">
                <a:solidFill>
                  <a:schemeClr val="dk1"/>
                </a:solidFill>
                <a:latin typeface="Comic Sans MS"/>
                <a:ea typeface="Comic Sans MS"/>
                <a:cs typeface="Comic Sans MS"/>
                <a:sym typeface="Comic Sans MS"/>
              </a:rPr>
              <a:t>Can we achieve mutual authentication?</a:t>
            </a:r>
            <a:endParaRPr/>
          </a:p>
        </p:txBody>
      </p:sp>
      <p:cxnSp>
        <p:nvCxnSpPr>
          <p:cNvPr id="359" name="Google Shape;359;p25"/>
          <p:cNvCxnSpPr/>
          <p:nvPr/>
        </p:nvCxnSpPr>
        <p:spPr>
          <a:xfrm>
            <a:off x="2286000" y="3962400"/>
            <a:ext cx="4648200" cy="0"/>
          </a:xfrm>
          <a:prstGeom prst="straightConnector1">
            <a:avLst/>
          </a:prstGeom>
          <a:noFill/>
          <a:ln cap="flat" cmpd="sng" w="50800">
            <a:solidFill>
              <a:schemeClr val="dk1"/>
            </a:solidFill>
            <a:prstDash val="solid"/>
            <a:miter lim="800000"/>
            <a:headEnd len="med" w="med" type="none"/>
            <a:tailEnd len="med" w="med" type="triangle"/>
          </a:ln>
        </p:spPr>
      </p:cxnSp>
      <p:sp>
        <p:nvSpPr>
          <p:cNvPr id="360" name="Google Shape;360;p25"/>
          <p:cNvSpPr txBox="1"/>
          <p:nvPr/>
        </p:nvSpPr>
        <p:spPr>
          <a:xfrm>
            <a:off x="4243387" y="2895600"/>
            <a:ext cx="4048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R</a:t>
            </a:r>
            <a:endParaRPr/>
          </a:p>
        </p:txBody>
      </p:sp>
      <p:pic>
        <p:nvPicPr>
          <p:cNvPr id="361" name="Google Shape;361;p25"/>
          <p:cNvPicPr preferRelativeResize="0"/>
          <p:nvPr/>
        </p:nvPicPr>
        <p:blipFill rotWithShape="1">
          <a:blip r:embed="rId3">
            <a:alphaModFix/>
          </a:blip>
          <a:srcRect b="0" l="0" r="0" t="0"/>
          <a:stretch/>
        </p:blipFill>
        <p:spPr>
          <a:xfrm>
            <a:off x="990600" y="2286000"/>
            <a:ext cx="946150" cy="1624012"/>
          </a:xfrm>
          <a:prstGeom prst="rect">
            <a:avLst/>
          </a:prstGeom>
          <a:noFill/>
          <a:ln>
            <a:noFill/>
          </a:ln>
        </p:spPr>
      </p:pic>
      <p:pic>
        <p:nvPicPr>
          <p:cNvPr id="362" name="Google Shape;362;p25"/>
          <p:cNvPicPr preferRelativeResize="0"/>
          <p:nvPr/>
        </p:nvPicPr>
        <p:blipFill rotWithShape="1">
          <a:blip r:embed="rId4">
            <a:alphaModFix/>
          </a:blip>
          <a:srcRect b="0" l="0" r="0" t="0"/>
          <a:stretch/>
        </p:blipFill>
        <p:spPr>
          <a:xfrm>
            <a:off x="7239000" y="2133600"/>
            <a:ext cx="1076325" cy="16652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500"/>
                                        <p:tgtEl>
                                          <p:spTgt spid="352"/>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1"/>
                                        <p:tgtEl>
                                          <p:spTgt spid="353"/>
                                        </p:tgtEl>
                                      </p:cBhvr>
                                    </p:animEffec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3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500"/>
                                        <p:tgtEl>
                                          <p:spTgt spid="359"/>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58"/>
                                        </p:tgtEl>
                                        <p:attrNameLst>
                                          <p:attrName>style.visibility</p:attrName>
                                        </p:attrNameLst>
                                      </p:cBhvr>
                                      <p:to>
                                        <p:strVal val="visible"/>
                                      </p:to>
                                    </p:set>
                                    <p:anim calcmode="lin" valueType="num">
                                      <p:cBhvr additive="base">
                                        <p:cTn dur="500"/>
                                        <p:tgtEl>
                                          <p:spTgt spid="35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26"/>
          <p:cNvSpPr txBox="1"/>
          <p:nvPr>
            <p:ph type="title"/>
          </p:nvPr>
        </p:nvSpPr>
        <p:spPr>
          <a:xfrm>
            <a:off x="785812" y="457200"/>
            <a:ext cx="7143750" cy="9001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MUTUAL AUTHENTICATION?</a:t>
            </a:r>
            <a:endParaRPr/>
          </a:p>
        </p:txBody>
      </p:sp>
      <p:sp>
        <p:nvSpPr>
          <p:cNvPr id="369" name="Google Shape;369;p26"/>
          <p:cNvSpPr txBox="1"/>
          <p:nvPr>
            <p:ph idx="1" type="body"/>
          </p:nvPr>
        </p:nvSpPr>
        <p:spPr>
          <a:xfrm>
            <a:off x="785812" y="4643437"/>
            <a:ext cx="7700962" cy="1165225"/>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90000"/>
              </a:lnSpc>
              <a:spcBef>
                <a:spcPts val="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What’s wrong with this picture?</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0" i="0" lang="en-US" sz="2800" u="none" cap="none" strike="noStrike">
                <a:solidFill>
                  <a:srgbClr val="FF0000"/>
                </a:solidFill>
                <a:latin typeface="Gill Sans"/>
                <a:ea typeface="Gill Sans"/>
                <a:cs typeface="Gill Sans"/>
                <a:sym typeface="Gill Sans"/>
              </a:rPr>
              <a:t>“Alice” could be Trudy </a:t>
            </a:r>
            <a:r>
              <a:rPr b="0" i="0" lang="en-US" sz="2800" u="none" cap="none" strike="noStrike">
                <a:solidFill>
                  <a:schemeClr val="dk2"/>
                </a:solidFill>
                <a:latin typeface="Gill Sans"/>
                <a:ea typeface="Gill Sans"/>
                <a:cs typeface="Gill Sans"/>
                <a:sym typeface="Gill Sans"/>
              </a:rPr>
              <a:t>(or anybody else)!</a:t>
            </a:r>
            <a:endParaRPr/>
          </a:p>
        </p:txBody>
      </p:sp>
      <p:sp>
        <p:nvSpPr>
          <p:cNvPr id="370" name="Google Shape;370;p26"/>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371" name="Google Shape;371;p26"/>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cxnSp>
        <p:nvCxnSpPr>
          <p:cNvPr id="372" name="Google Shape;372;p26"/>
          <p:cNvCxnSpPr/>
          <p:nvPr/>
        </p:nvCxnSpPr>
        <p:spPr>
          <a:xfrm>
            <a:off x="2286000" y="2706687"/>
            <a:ext cx="46482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373" name="Google Shape;373;p26"/>
          <p:cNvCxnSpPr/>
          <p:nvPr/>
        </p:nvCxnSpPr>
        <p:spPr>
          <a:xfrm rot="10800000">
            <a:off x="2209800" y="3316287"/>
            <a:ext cx="4724400" cy="0"/>
          </a:xfrm>
          <a:prstGeom prst="straightConnector1">
            <a:avLst/>
          </a:prstGeom>
          <a:noFill/>
          <a:ln cap="flat" cmpd="sng" w="50800">
            <a:solidFill>
              <a:schemeClr val="dk1"/>
            </a:solidFill>
            <a:prstDash val="solid"/>
            <a:miter lim="800000"/>
            <a:headEnd len="med" w="med" type="none"/>
            <a:tailEnd len="med" w="med" type="triangle"/>
          </a:ln>
        </p:spPr>
      </p:cxnSp>
      <p:sp>
        <p:nvSpPr>
          <p:cNvPr id="374" name="Google Shape;374;p26"/>
          <p:cNvSpPr txBox="1"/>
          <p:nvPr/>
        </p:nvSpPr>
        <p:spPr>
          <a:xfrm>
            <a:off x="1219200" y="3886200"/>
            <a:ext cx="9001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Alice</a:t>
            </a:r>
            <a:endParaRPr/>
          </a:p>
        </p:txBody>
      </p:sp>
      <p:sp>
        <p:nvSpPr>
          <p:cNvPr id="375" name="Google Shape;375;p26"/>
          <p:cNvSpPr txBox="1"/>
          <p:nvPr/>
        </p:nvSpPr>
        <p:spPr>
          <a:xfrm>
            <a:off x="7315200" y="3902075"/>
            <a:ext cx="7175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a:t>
            </a:r>
            <a:endParaRPr/>
          </a:p>
        </p:txBody>
      </p:sp>
      <p:cxnSp>
        <p:nvCxnSpPr>
          <p:cNvPr id="376" name="Google Shape;376;p26"/>
          <p:cNvCxnSpPr/>
          <p:nvPr/>
        </p:nvCxnSpPr>
        <p:spPr>
          <a:xfrm>
            <a:off x="2286000" y="4002087"/>
            <a:ext cx="4648200" cy="0"/>
          </a:xfrm>
          <a:prstGeom prst="straightConnector1">
            <a:avLst/>
          </a:prstGeom>
          <a:noFill/>
          <a:ln cap="flat" cmpd="sng" w="50800">
            <a:solidFill>
              <a:schemeClr val="dk1"/>
            </a:solidFill>
            <a:prstDash val="solid"/>
            <a:miter lim="800000"/>
            <a:headEnd len="med" w="med" type="none"/>
            <a:tailEnd len="med" w="med" type="triangle"/>
          </a:ln>
        </p:spPr>
      </p:cxnSp>
      <p:sp>
        <p:nvSpPr>
          <p:cNvPr id="377" name="Google Shape;377;p26"/>
          <p:cNvSpPr txBox="1"/>
          <p:nvPr/>
        </p:nvSpPr>
        <p:spPr>
          <a:xfrm>
            <a:off x="3635375" y="2209800"/>
            <a:ext cx="22953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“I’m Alice”, R</a:t>
            </a:r>
            <a:endParaRPr/>
          </a:p>
        </p:txBody>
      </p:sp>
      <p:sp>
        <p:nvSpPr>
          <p:cNvPr id="378" name="Google Shape;378;p26"/>
          <p:cNvSpPr txBox="1"/>
          <p:nvPr/>
        </p:nvSpPr>
        <p:spPr>
          <a:xfrm>
            <a:off x="3886200" y="2819400"/>
            <a:ext cx="13700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E(R,K</a:t>
            </a:r>
            <a:r>
              <a:rPr b="0" baseline="-25000" i="0" lang="en-US" sz="2400" u="none">
                <a:solidFill>
                  <a:schemeClr val="dk1"/>
                </a:solidFill>
                <a:latin typeface="Times"/>
                <a:ea typeface="Times"/>
                <a:cs typeface="Times"/>
                <a:sym typeface="Times"/>
              </a:rPr>
              <a:t>AB</a:t>
            </a:r>
            <a:r>
              <a:rPr b="0" i="0" lang="en-US" sz="2400" u="none">
                <a:solidFill>
                  <a:schemeClr val="dk1"/>
                </a:solidFill>
                <a:latin typeface="Times"/>
                <a:ea typeface="Times"/>
                <a:cs typeface="Times"/>
                <a:sym typeface="Times"/>
              </a:rPr>
              <a:t>)</a:t>
            </a:r>
            <a:endParaRPr/>
          </a:p>
        </p:txBody>
      </p:sp>
      <p:sp>
        <p:nvSpPr>
          <p:cNvPr id="379" name="Google Shape;379;p26"/>
          <p:cNvSpPr txBox="1"/>
          <p:nvPr/>
        </p:nvSpPr>
        <p:spPr>
          <a:xfrm>
            <a:off x="3887787" y="3521075"/>
            <a:ext cx="13700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400"/>
              <a:buFont typeface="Times"/>
              <a:buNone/>
            </a:pPr>
            <a:r>
              <a:rPr b="0" i="0" lang="en-US" sz="2400" u="none">
                <a:solidFill>
                  <a:srgbClr val="FF0000"/>
                </a:solidFill>
                <a:latin typeface="Times"/>
                <a:ea typeface="Times"/>
                <a:cs typeface="Times"/>
                <a:sym typeface="Times"/>
              </a:rPr>
              <a:t>E(R,K</a:t>
            </a:r>
            <a:r>
              <a:rPr b="0" baseline="-25000" i="0" lang="en-US" sz="2400" u="none">
                <a:solidFill>
                  <a:srgbClr val="FF0000"/>
                </a:solidFill>
                <a:latin typeface="Times"/>
                <a:ea typeface="Times"/>
                <a:cs typeface="Times"/>
                <a:sym typeface="Times"/>
              </a:rPr>
              <a:t>AB</a:t>
            </a:r>
            <a:r>
              <a:rPr b="0" i="0" lang="en-US" sz="2400" u="none">
                <a:solidFill>
                  <a:srgbClr val="FF0000"/>
                </a:solidFill>
                <a:latin typeface="Times"/>
                <a:ea typeface="Times"/>
                <a:cs typeface="Times"/>
                <a:sym typeface="Times"/>
              </a:rPr>
              <a:t>)</a:t>
            </a:r>
            <a:endParaRPr/>
          </a:p>
        </p:txBody>
      </p:sp>
      <p:pic>
        <p:nvPicPr>
          <p:cNvPr id="380" name="Google Shape;380;p26"/>
          <p:cNvPicPr preferRelativeResize="0"/>
          <p:nvPr/>
        </p:nvPicPr>
        <p:blipFill rotWithShape="1">
          <a:blip r:embed="rId3">
            <a:alphaModFix/>
          </a:blip>
          <a:srcRect b="0" l="0" r="0" t="0"/>
          <a:stretch/>
        </p:blipFill>
        <p:spPr>
          <a:xfrm>
            <a:off x="1111250" y="2286000"/>
            <a:ext cx="946150" cy="1624012"/>
          </a:xfrm>
          <a:prstGeom prst="rect">
            <a:avLst/>
          </a:prstGeom>
          <a:noFill/>
          <a:ln>
            <a:noFill/>
          </a:ln>
        </p:spPr>
      </p:pic>
      <p:pic>
        <p:nvPicPr>
          <p:cNvPr id="381" name="Google Shape;381;p26"/>
          <p:cNvPicPr preferRelativeResize="0"/>
          <p:nvPr/>
        </p:nvPicPr>
        <p:blipFill rotWithShape="1">
          <a:blip r:embed="rId4">
            <a:alphaModFix/>
          </a:blip>
          <a:srcRect b="0" l="0" r="0" t="0"/>
          <a:stretch/>
        </p:blipFill>
        <p:spPr>
          <a:xfrm>
            <a:off x="7162800" y="2220912"/>
            <a:ext cx="1076325" cy="16652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
                                        </p:tgtEl>
                                        <p:attrNameLst>
                                          <p:attrName>style.visibility</p:attrName>
                                        </p:attrNameLst>
                                      </p:cBhvr>
                                      <p:to>
                                        <p:strVal val="visible"/>
                                      </p:to>
                                    </p:set>
                                    <p:animEffect filter="fade" transition="in">
                                      <p:cBhvr>
                                        <p:cTn dur="500"/>
                                        <p:tgtEl>
                                          <p:spTgt spid="372"/>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1"/>
                                        <p:tgtEl>
                                          <p:spTgt spid="373"/>
                                        </p:tgtEl>
                                      </p:cBhvr>
                                    </p:animEffec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3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500"/>
                                        <p:tgtEl>
                                          <p:spTgt spid="376"/>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0" st="0"/>
                                            </p:txEl>
                                          </p:spTgt>
                                        </p:tgtEl>
                                        <p:attrNameLst>
                                          <p:attrName>style.visibility</p:attrName>
                                        </p:attrNameLst>
                                      </p:cBhvr>
                                      <p:to>
                                        <p:strVal val="visible"/>
                                      </p:to>
                                    </p:set>
                                    <p:animEffect filter="fade" transition="in">
                                      <p:cBhvr>
                                        <p:cTn dur="500"/>
                                        <p:tgtEl>
                                          <p:spTgt spid="3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xEl>
                                              <p:pRg end="1" st="1"/>
                                            </p:txEl>
                                          </p:spTgt>
                                        </p:tgtEl>
                                        <p:attrNameLst>
                                          <p:attrName>style.visibility</p:attrName>
                                        </p:attrNameLst>
                                      </p:cBhvr>
                                      <p:to>
                                        <p:strVal val="visible"/>
                                      </p:to>
                                    </p:set>
                                    <p:animEffect filter="fade" transition="in">
                                      <p:cBhvr>
                                        <p:cTn dur="500"/>
                                        <p:tgtEl>
                                          <p:spTgt spid="369">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27"/>
          <p:cNvSpPr txBox="1"/>
          <p:nvPr>
            <p:ph type="title"/>
          </p:nvPr>
        </p:nvSpPr>
        <p:spPr>
          <a:xfrm>
            <a:off x="785812" y="122237"/>
            <a:ext cx="7215187" cy="123507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MUTUAL AUTHENTICATION</a:t>
            </a:r>
            <a:endParaRPr/>
          </a:p>
        </p:txBody>
      </p:sp>
      <p:sp>
        <p:nvSpPr>
          <p:cNvPr id="388" name="Google Shape;388;p27"/>
          <p:cNvSpPr txBox="1"/>
          <p:nvPr>
            <p:ph idx="1" type="body"/>
          </p:nvPr>
        </p:nvSpPr>
        <p:spPr>
          <a:xfrm>
            <a:off x="785812" y="1719262"/>
            <a:ext cx="7900987" cy="4411662"/>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100000"/>
              </a:lnSpc>
              <a:spcBef>
                <a:spcPts val="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Since we have a secure one-way authentication protocol…</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0" i="0" lang="en-US" sz="2800" u="none" cap="none" strike="noStrike">
                <a:solidFill>
                  <a:srgbClr val="FF0000"/>
                </a:solidFill>
                <a:latin typeface="Gill Sans"/>
                <a:ea typeface="Gill Sans"/>
                <a:cs typeface="Gill Sans"/>
                <a:sym typeface="Gill Sans"/>
              </a:rPr>
              <a:t>The obvious thing to do is to use the protocol twice</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rgbClr val="0000FF"/>
                </a:solidFill>
                <a:latin typeface="Gill Sans"/>
                <a:ea typeface="Gill Sans"/>
                <a:cs typeface="Gill Sans"/>
                <a:sym typeface="Gill Sans"/>
              </a:rPr>
              <a:t>Once for Bob to authenticate Alice</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rgbClr val="0000FF"/>
                </a:solidFill>
                <a:latin typeface="Gill Sans"/>
                <a:ea typeface="Gill Sans"/>
                <a:cs typeface="Gill Sans"/>
                <a:sym typeface="Gill Sans"/>
              </a:rPr>
              <a:t>Once for Alice to authenticate Bob</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0" i="0" lang="en-US" sz="2800" u="none" cap="none" strike="noStrike">
                <a:solidFill>
                  <a:schemeClr val="dk2"/>
                </a:solidFill>
                <a:latin typeface="Gill Sans"/>
                <a:ea typeface="Gill Sans"/>
                <a:cs typeface="Gill Sans"/>
                <a:sym typeface="Gill Sans"/>
              </a:rPr>
              <a:t>This has to work…</a:t>
            </a:r>
            <a:endParaRPr/>
          </a:p>
          <a:p>
            <a:pPr indent="-141224" lvl="0" marL="304800" marR="0" rtl="0" algn="l">
              <a:spcBef>
                <a:spcPts val="1160"/>
              </a:spcBef>
              <a:spcAft>
                <a:spcPts val="0"/>
              </a:spcAft>
              <a:buClr>
                <a:schemeClr val="accent2"/>
              </a:buClr>
              <a:buSzPts val="2576"/>
              <a:buFont typeface="Noto Sans Symbols"/>
              <a:buNone/>
            </a:pPr>
            <a:r>
              <a:t/>
            </a:r>
            <a:endParaRPr b="0" i="0" sz="2800" u="none">
              <a:solidFill>
                <a:schemeClr val="dk2"/>
              </a:solidFill>
              <a:latin typeface="Gill Sans"/>
              <a:ea typeface="Gill Sans"/>
              <a:cs typeface="Gill Sans"/>
              <a:sym typeface="Gill Sans"/>
            </a:endParaRPr>
          </a:p>
        </p:txBody>
      </p:sp>
      <p:sp>
        <p:nvSpPr>
          <p:cNvPr id="389" name="Google Shape;389;p27"/>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390" name="Google Shape;390;p27"/>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28"/>
          <p:cNvSpPr txBox="1"/>
          <p:nvPr>
            <p:ph type="title"/>
          </p:nvPr>
        </p:nvSpPr>
        <p:spPr>
          <a:xfrm>
            <a:off x="785812" y="457200"/>
            <a:ext cx="7143750" cy="9001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MUTUAL AUTHENTICATION</a:t>
            </a:r>
            <a:endParaRPr/>
          </a:p>
        </p:txBody>
      </p:sp>
      <p:sp>
        <p:nvSpPr>
          <p:cNvPr id="397" name="Google Shape;397;p28"/>
          <p:cNvSpPr txBox="1"/>
          <p:nvPr>
            <p:ph idx="1" type="body"/>
          </p:nvPr>
        </p:nvSpPr>
        <p:spPr>
          <a:xfrm>
            <a:off x="785812" y="4572000"/>
            <a:ext cx="7772400" cy="1176337"/>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90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This provides mutual authentication</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0" i="0" lang="en-US" sz="2800" u="none">
                <a:solidFill>
                  <a:srgbClr val="FF0000"/>
                </a:solidFill>
                <a:latin typeface="Gill Sans"/>
                <a:ea typeface="Gill Sans"/>
                <a:cs typeface="Gill Sans"/>
                <a:sym typeface="Gill Sans"/>
              </a:rPr>
              <a:t>Is it secure? See the next slide…</a:t>
            </a:r>
            <a:endParaRPr/>
          </a:p>
        </p:txBody>
      </p:sp>
      <p:sp>
        <p:nvSpPr>
          <p:cNvPr id="398" name="Google Shape;398;p28"/>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399" name="Google Shape;399;p28"/>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cxnSp>
        <p:nvCxnSpPr>
          <p:cNvPr id="400" name="Google Shape;400;p28"/>
          <p:cNvCxnSpPr/>
          <p:nvPr/>
        </p:nvCxnSpPr>
        <p:spPr>
          <a:xfrm>
            <a:off x="2286000" y="2706687"/>
            <a:ext cx="46482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401" name="Google Shape;401;p28"/>
          <p:cNvCxnSpPr/>
          <p:nvPr/>
        </p:nvCxnSpPr>
        <p:spPr>
          <a:xfrm rot="10800000">
            <a:off x="2209800" y="3316287"/>
            <a:ext cx="4724400" cy="0"/>
          </a:xfrm>
          <a:prstGeom prst="straightConnector1">
            <a:avLst/>
          </a:prstGeom>
          <a:noFill/>
          <a:ln cap="flat" cmpd="sng" w="50800">
            <a:solidFill>
              <a:schemeClr val="dk1"/>
            </a:solidFill>
            <a:prstDash val="solid"/>
            <a:miter lim="800000"/>
            <a:headEnd len="med" w="med" type="none"/>
            <a:tailEnd len="med" w="med" type="triangle"/>
          </a:ln>
        </p:spPr>
      </p:cxnSp>
      <p:sp>
        <p:nvSpPr>
          <p:cNvPr id="402" name="Google Shape;402;p28"/>
          <p:cNvSpPr txBox="1"/>
          <p:nvPr/>
        </p:nvSpPr>
        <p:spPr>
          <a:xfrm>
            <a:off x="1219200" y="3902075"/>
            <a:ext cx="9001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Alice</a:t>
            </a:r>
            <a:endParaRPr/>
          </a:p>
        </p:txBody>
      </p:sp>
      <p:sp>
        <p:nvSpPr>
          <p:cNvPr id="403" name="Google Shape;403;p28"/>
          <p:cNvSpPr txBox="1"/>
          <p:nvPr/>
        </p:nvSpPr>
        <p:spPr>
          <a:xfrm>
            <a:off x="7283450" y="3886200"/>
            <a:ext cx="7175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a:t>
            </a:r>
            <a:endParaRPr/>
          </a:p>
        </p:txBody>
      </p:sp>
      <p:cxnSp>
        <p:nvCxnSpPr>
          <p:cNvPr id="404" name="Google Shape;404;p28"/>
          <p:cNvCxnSpPr/>
          <p:nvPr/>
        </p:nvCxnSpPr>
        <p:spPr>
          <a:xfrm>
            <a:off x="2286000" y="4002087"/>
            <a:ext cx="4648200" cy="0"/>
          </a:xfrm>
          <a:prstGeom prst="straightConnector1">
            <a:avLst/>
          </a:prstGeom>
          <a:noFill/>
          <a:ln cap="flat" cmpd="sng" w="50800">
            <a:solidFill>
              <a:schemeClr val="dk1"/>
            </a:solidFill>
            <a:prstDash val="solid"/>
            <a:miter lim="800000"/>
            <a:headEnd len="med" w="med" type="none"/>
            <a:tailEnd len="med" w="med" type="triangle"/>
          </a:ln>
        </p:spPr>
      </p:cxnSp>
      <p:sp>
        <p:nvSpPr>
          <p:cNvPr id="405" name="Google Shape;405;p28"/>
          <p:cNvSpPr txBox="1"/>
          <p:nvPr/>
        </p:nvSpPr>
        <p:spPr>
          <a:xfrm>
            <a:off x="3500423" y="2209800"/>
            <a:ext cx="2446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“I’m Alice”, R</a:t>
            </a:r>
            <a:r>
              <a:rPr b="0" baseline="-25000" i="0" lang="en-US" sz="2400" u="none">
                <a:solidFill>
                  <a:schemeClr val="dk1"/>
                </a:solidFill>
                <a:latin typeface="Times"/>
                <a:ea typeface="Times"/>
                <a:cs typeface="Times"/>
                <a:sym typeface="Times"/>
              </a:rPr>
              <a:t>A</a:t>
            </a:r>
            <a:endParaRPr/>
          </a:p>
        </p:txBody>
      </p:sp>
      <p:sp>
        <p:nvSpPr>
          <p:cNvPr id="406" name="Google Shape;406;p28"/>
          <p:cNvSpPr txBox="1"/>
          <p:nvPr/>
        </p:nvSpPr>
        <p:spPr>
          <a:xfrm>
            <a:off x="3533775" y="2819400"/>
            <a:ext cx="20288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R</a:t>
            </a:r>
            <a:r>
              <a:rPr b="0" baseline="-25000" i="0" lang="en-US" sz="2400" u="none">
                <a:solidFill>
                  <a:schemeClr val="dk1"/>
                </a:solidFill>
                <a:latin typeface="Times"/>
                <a:ea typeface="Times"/>
                <a:cs typeface="Times"/>
                <a:sym typeface="Times"/>
              </a:rPr>
              <a:t>B</a:t>
            </a:r>
            <a:r>
              <a:rPr b="0" i="0" lang="en-US" sz="2400" u="none">
                <a:solidFill>
                  <a:schemeClr val="dk1"/>
                </a:solidFill>
                <a:latin typeface="Times"/>
                <a:ea typeface="Times"/>
                <a:cs typeface="Times"/>
                <a:sym typeface="Times"/>
              </a:rPr>
              <a:t>, E(R</a:t>
            </a:r>
            <a:r>
              <a:rPr b="0" baseline="-25000" i="0" lang="en-US" sz="2400" u="none">
                <a:solidFill>
                  <a:schemeClr val="dk1"/>
                </a:solidFill>
                <a:latin typeface="Times"/>
                <a:ea typeface="Times"/>
                <a:cs typeface="Times"/>
                <a:sym typeface="Times"/>
              </a:rPr>
              <a:t>A</a:t>
            </a:r>
            <a:r>
              <a:rPr b="0" i="0" lang="en-US" sz="2400" u="none">
                <a:solidFill>
                  <a:schemeClr val="dk1"/>
                </a:solidFill>
                <a:latin typeface="Times"/>
                <a:ea typeface="Times"/>
                <a:cs typeface="Times"/>
                <a:sym typeface="Times"/>
              </a:rPr>
              <a:t>,K</a:t>
            </a:r>
            <a:r>
              <a:rPr b="0" baseline="-25000" i="0" lang="en-US" sz="2400" u="none">
                <a:solidFill>
                  <a:schemeClr val="dk1"/>
                </a:solidFill>
                <a:latin typeface="Times"/>
                <a:ea typeface="Times"/>
                <a:cs typeface="Times"/>
                <a:sym typeface="Times"/>
              </a:rPr>
              <a:t>AB</a:t>
            </a:r>
            <a:r>
              <a:rPr b="0" i="0" lang="en-US" sz="2400" u="none">
                <a:solidFill>
                  <a:schemeClr val="dk1"/>
                </a:solidFill>
                <a:latin typeface="Times"/>
                <a:ea typeface="Times"/>
                <a:cs typeface="Times"/>
                <a:sym typeface="Times"/>
              </a:rPr>
              <a:t>)</a:t>
            </a:r>
            <a:endParaRPr/>
          </a:p>
        </p:txBody>
      </p:sp>
      <p:sp>
        <p:nvSpPr>
          <p:cNvPr id="407" name="Google Shape;407;p28"/>
          <p:cNvSpPr txBox="1"/>
          <p:nvPr/>
        </p:nvSpPr>
        <p:spPr>
          <a:xfrm>
            <a:off x="3752850" y="3521075"/>
            <a:ext cx="15049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E(R</a:t>
            </a:r>
            <a:r>
              <a:rPr b="0" baseline="-25000" i="0" lang="en-US" sz="2400" u="none">
                <a:solidFill>
                  <a:schemeClr val="dk1"/>
                </a:solidFill>
                <a:latin typeface="Times"/>
                <a:ea typeface="Times"/>
                <a:cs typeface="Times"/>
                <a:sym typeface="Times"/>
              </a:rPr>
              <a:t>B</a:t>
            </a:r>
            <a:r>
              <a:rPr b="0" i="0" lang="en-US" sz="2400" u="none">
                <a:solidFill>
                  <a:schemeClr val="dk1"/>
                </a:solidFill>
                <a:latin typeface="Times"/>
                <a:ea typeface="Times"/>
                <a:cs typeface="Times"/>
                <a:sym typeface="Times"/>
              </a:rPr>
              <a:t>,K</a:t>
            </a:r>
            <a:r>
              <a:rPr b="0" baseline="-25000" i="0" lang="en-US" sz="2400" u="none">
                <a:solidFill>
                  <a:schemeClr val="dk1"/>
                </a:solidFill>
                <a:latin typeface="Times"/>
                <a:ea typeface="Times"/>
                <a:cs typeface="Times"/>
                <a:sym typeface="Times"/>
              </a:rPr>
              <a:t>AB</a:t>
            </a:r>
            <a:r>
              <a:rPr b="0" i="0" lang="en-US" sz="2400" u="none">
                <a:solidFill>
                  <a:schemeClr val="dk1"/>
                </a:solidFill>
                <a:latin typeface="Times"/>
                <a:ea typeface="Times"/>
                <a:cs typeface="Times"/>
                <a:sym typeface="Times"/>
              </a:rPr>
              <a:t>)</a:t>
            </a:r>
            <a:endParaRPr/>
          </a:p>
        </p:txBody>
      </p:sp>
      <p:sp>
        <p:nvSpPr>
          <p:cNvPr id="408" name="Google Shape;408;p28"/>
          <p:cNvSpPr txBox="1"/>
          <p:nvPr/>
        </p:nvSpPr>
        <p:spPr>
          <a:xfrm>
            <a:off x="3071812" y="5357812"/>
            <a:ext cx="1841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Gulim"/>
              <a:ea typeface="Gulim"/>
              <a:cs typeface="Gulim"/>
              <a:sym typeface="Gulim"/>
            </a:endParaRPr>
          </a:p>
        </p:txBody>
      </p:sp>
      <p:pic>
        <p:nvPicPr>
          <p:cNvPr id="409" name="Google Shape;409;p28"/>
          <p:cNvPicPr preferRelativeResize="0"/>
          <p:nvPr/>
        </p:nvPicPr>
        <p:blipFill rotWithShape="1">
          <a:blip r:embed="rId3">
            <a:alphaModFix/>
          </a:blip>
          <a:srcRect b="0" l="0" r="0" t="0"/>
          <a:stretch/>
        </p:blipFill>
        <p:spPr>
          <a:xfrm>
            <a:off x="1143000" y="2338387"/>
            <a:ext cx="946150" cy="1624012"/>
          </a:xfrm>
          <a:prstGeom prst="rect">
            <a:avLst/>
          </a:prstGeom>
          <a:noFill/>
          <a:ln>
            <a:noFill/>
          </a:ln>
        </p:spPr>
      </p:pic>
      <p:pic>
        <p:nvPicPr>
          <p:cNvPr id="410" name="Google Shape;410;p28"/>
          <p:cNvPicPr preferRelativeResize="0"/>
          <p:nvPr/>
        </p:nvPicPr>
        <p:blipFill rotWithShape="1">
          <a:blip r:embed="rId4">
            <a:alphaModFix/>
          </a:blip>
          <a:srcRect b="0" l="0" r="0" t="0"/>
          <a:stretch/>
        </p:blipFill>
        <p:spPr>
          <a:xfrm>
            <a:off x="7162800" y="2220912"/>
            <a:ext cx="1076325" cy="16652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500"/>
                                        <p:tgtEl>
                                          <p:spTgt spid="400"/>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1"/>
                                        </p:tgtEl>
                                        <p:attrNameLst>
                                          <p:attrName>style.visibility</p:attrName>
                                        </p:attrNameLst>
                                      </p:cBhvr>
                                      <p:to>
                                        <p:strVal val="visible"/>
                                      </p:to>
                                    </p:set>
                                    <p:animEffect filter="fade" transition="in">
                                      <p:cBhvr>
                                        <p:cTn dur="1"/>
                                        <p:tgtEl>
                                          <p:spTgt spid="401"/>
                                        </p:tgtEl>
                                      </p:cBhvr>
                                    </p:animEffec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4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500"/>
                                        <p:tgtEl>
                                          <p:spTgt spid="404"/>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7">
                                            <p:txEl>
                                              <p:pRg end="0" st="0"/>
                                            </p:txEl>
                                          </p:spTgt>
                                        </p:tgtEl>
                                        <p:attrNameLst>
                                          <p:attrName>style.visibility</p:attrName>
                                        </p:attrNameLst>
                                      </p:cBhvr>
                                      <p:to>
                                        <p:strVal val="visible"/>
                                      </p:to>
                                    </p:set>
                                    <p:animEffect filter="fade" transition="in">
                                      <p:cBhvr>
                                        <p:cTn dur="500"/>
                                        <p:tgtEl>
                                          <p:spTgt spid="3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7">
                                            <p:txEl>
                                              <p:pRg end="1" st="1"/>
                                            </p:txEl>
                                          </p:spTgt>
                                        </p:tgtEl>
                                        <p:attrNameLst>
                                          <p:attrName>style.visibility</p:attrName>
                                        </p:attrNameLst>
                                      </p:cBhvr>
                                      <p:to>
                                        <p:strVal val="visible"/>
                                      </p:to>
                                    </p:set>
                                    <p:animEffect filter="fade" transition="in">
                                      <p:cBhvr>
                                        <p:cTn dur="500"/>
                                        <p:tgtEl>
                                          <p:spTgt spid="397">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29"/>
          <p:cNvSpPr txBox="1"/>
          <p:nvPr>
            <p:ph type="title"/>
          </p:nvPr>
        </p:nvSpPr>
        <p:spPr>
          <a:xfrm>
            <a:off x="785812" y="304800"/>
            <a:ext cx="7715250" cy="10525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MUTUAL AUTHENTICATION ATTACK</a:t>
            </a:r>
            <a:endParaRPr/>
          </a:p>
        </p:txBody>
      </p:sp>
      <p:sp>
        <p:nvSpPr>
          <p:cNvPr id="417" name="Google Shape;417;p29"/>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418" name="Google Shape;418;p29"/>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419" name="Google Shape;419;p29"/>
          <p:cNvSpPr txBox="1"/>
          <p:nvPr/>
        </p:nvSpPr>
        <p:spPr>
          <a:xfrm>
            <a:off x="7396162" y="3355975"/>
            <a:ext cx="7175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a:t>
            </a:r>
            <a:endParaRPr/>
          </a:p>
        </p:txBody>
      </p:sp>
      <p:sp>
        <p:nvSpPr>
          <p:cNvPr id="420" name="Google Shape;420;p29"/>
          <p:cNvSpPr txBox="1"/>
          <p:nvPr/>
        </p:nvSpPr>
        <p:spPr>
          <a:xfrm>
            <a:off x="3433746" y="1912925"/>
            <a:ext cx="3280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1. “I’m Alice”, R</a:t>
            </a:r>
            <a:r>
              <a:rPr b="0" baseline="-25000" i="0" lang="en-US" sz="2400" u="none">
                <a:solidFill>
                  <a:schemeClr val="dk1"/>
                </a:solidFill>
                <a:latin typeface="Times"/>
                <a:ea typeface="Times"/>
                <a:cs typeface="Times"/>
                <a:sym typeface="Times"/>
              </a:rPr>
              <a:t>A</a:t>
            </a:r>
            <a:endParaRPr/>
          </a:p>
        </p:txBody>
      </p:sp>
      <p:sp>
        <p:nvSpPr>
          <p:cNvPr id="421" name="Google Shape;421;p29"/>
          <p:cNvSpPr txBox="1"/>
          <p:nvPr/>
        </p:nvSpPr>
        <p:spPr>
          <a:xfrm>
            <a:off x="3429000" y="2439987"/>
            <a:ext cx="236696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2. </a:t>
            </a:r>
            <a:r>
              <a:rPr b="0" i="0" lang="en-US" sz="2400" u="none">
                <a:solidFill>
                  <a:srgbClr val="FF0000"/>
                </a:solidFill>
                <a:latin typeface="Times"/>
                <a:ea typeface="Times"/>
                <a:cs typeface="Times"/>
                <a:sym typeface="Times"/>
              </a:rPr>
              <a:t>R</a:t>
            </a:r>
            <a:r>
              <a:rPr b="0" baseline="-25000" i="0" lang="en-US" sz="2400" u="none">
                <a:solidFill>
                  <a:srgbClr val="FF0000"/>
                </a:solidFill>
                <a:latin typeface="Times"/>
                <a:ea typeface="Times"/>
                <a:cs typeface="Times"/>
                <a:sym typeface="Times"/>
              </a:rPr>
              <a:t>B</a:t>
            </a:r>
            <a:r>
              <a:rPr b="0" i="0" lang="en-US" sz="2400" u="none">
                <a:solidFill>
                  <a:schemeClr val="dk1"/>
                </a:solidFill>
                <a:latin typeface="Times"/>
                <a:ea typeface="Times"/>
                <a:cs typeface="Times"/>
                <a:sym typeface="Times"/>
              </a:rPr>
              <a:t>, E(R</a:t>
            </a:r>
            <a:r>
              <a:rPr b="0" baseline="-25000" i="0" lang="en-US" sz="2400" u="none">
                <a:solidFill>
                  <a:schemeClr val="dk1"/>
                </a:solidFill>
                <a:latin typeface="Times"/>
                <a:ea typeface="Times"/>
                <a:cs typeface="Times"/>
                <a:sym typeface="Times"/>
              </a:rPr>
              <a:t>A</a:t>
            </a:r>
            <a:r>
              <a:rPr b="0" i="0" lang="en-US" sz="2400" u="none">
                <a:solidFill>
                  <a:schemeClr val="dk1"/>
                </a:solidFill>
                <a:latin typeface="Times"/>
                <a:ea typeface="Times"/>
                <a:cs typeface="Times"/>
                <a:sym typeface="Times"/>
              </a:rPr>
              <a:t>,K</a:t>
            </a:r>
            <a:r>
              <a:rPr b="0" baseline="-25000" i="0" lang="en-US" sz="2400" u="none">
                <a:solidFill>
                  <a:schemeClr val="dk1"/>
                </a:solidFill>
                <a:latin typeface="Times"/>
                <a:ea typeface="Times"/>
                <a:cs typeface="Times"/>
                <a:sym typeface="Times"/>
              </a:rPr>
              <a:t>AB</a:t>
            </a:r>
            <a:r>
              <a:rPr b="0" i="0" lang="en-US" sz="2400" u="none">
                <a:solidFill>
                  <a:schemeClr val="dk1"/>
                </a:solidFill>
                <a:latin typeface="Times"/>
                <a:ea typeface="Times"/>
                <a:cs typeface="Times"/>
                <a:sym typeface="Times"/>
              </a:rPr>
              <a:t>)</a:t>
            </a:r>
            <a:endParaRPr/>
          </a:p>
        </p:txBody>
      </p:sp>
      <p:sp>
        <p:nvSpPr>
          <p:cNvPr id="422" name="Google Shape;422;p29"/>
          <p:cNvSpPr txBox="1"/>
          <p:nvPr/>
        </p:nvSpPr>
        <p:spPr>
          <a:xfrm>
            <a:off x="1028700" y="3416300"/>
            <a:ext cx="103346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Trudy</a:t>
            </a:r>
            <a:endParaRPr/>
          </a:p>
        </p:txBody>
      </p:sp>
      <p:cxnSp>
        <p:nvCxnSpPr>
          <p:cNvPr id="423" name="Google Shape;423;p29"/>
          <p:cNvCxnSpPr/>
          <p:nvPr/>
        </p:nvCxnSpPr>
        <p:spPr>
          <a:xfrm flipH="1" rot="10800000">
            <a:off x="2362200" y="4764087"/>
            <a:ext cx="4648200" cy="1587"/>
          </a:xfrm>
          <a:prstGeom prst="straightConnector1">
            <a:avLst/>
          </a:prstGeom>
          <a:noFill/>
          <a:ln cap="flat" cmpd="sng" w="50800">
            <a:solidFill>
              <a:schemeClr val="dk1"/>
            </a:solidFill>
            <a:prstDash val="solid"/>
            <a:miter lim="800000"/>
            <a:headEnd len="med" w="med" type="none"/>
            <a:tailEnd len="med" w="med" type="triangle"/>
          </a:ln>
        </p:spPr>
      </p:cxnSp>
      <p:cxnSp>
        <p:nvCxnSpPr>
          <p:cNvPr id="424" name="Google Shape;424;p29"/>
          <p:cNvCxnSpPr/>
          <p:nvPr/>
        </p:nvCxnSpPr>
        <p:spPr>
          <a:xfrm rot="10800000">
            <a:off x="2286000" y="5413375"/>
            <a:ext cx="4724400" cy="1587"/>
          </a:xfrm>
          <a:prstGeom prst="straightConnector1">
            <a:avLst/>
          </a:prstGeom>
          <a:noFill/>
          <a:ln cap="flat" cmpd="sng" w="50800">
            <a:solidFill>
              <a:schemeClr val="dk1"/>
            </a:solidFill>
            <a:prstDash val="solid"/>
            <a:miter lim="800000"/>
            <a:headEnd len="med" w="med" type="none"/>
            <a:tailEnd len="med" w="med" type="triangle"/>
          </a:ln>
        </p:spPr>
      </p:cxnSp>
      <p:sp>
        <p:nvSpPr>
          <p:cNvPr id="425" name="Google Shape;425;p29"/>
          <p:cNvSpPr txBox="1"/>
          <p:nvPr/>
        </p:nvSpPr>
        <p:spPr>
          <a:xfrm>
            <a:off x="7359650" y="5638800"/>
            <a:ext cx="7175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a:t>
            </a:r>
            <a:endParaRPr/>
          </a:p>
        </p:txBody>
      </p:sp>
      <p:sp>
        <p:nvSpPr>
          <p:cNvPr id="426" name="Google Shape;426;p29"/>
          <p:cNvSpPr txBox="1"/>
          <p:nvPr/>
        </p:nvSpPr>
        <p:spPr>
          <a:xfrm>
            <a:off x="3427397" y="4267200"/>
            <a:ext cx="2916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3. “I’m Alice”, </a:t>
            </a:r>
            <a:r>
              <a:rPr b="0" i="0" lang="en-US" sz="2400" u="none">
                <a:solidFill>
                  <a:srgbClr val="FF0000"/>
                </a:solidFill>
                <a:latin typeface="Times"/>
                <a:ea typeface="Times"/>
                <a:cs typeface="Times"/>
                <a:sym typeface="Times"/>
              </a:rPr>
              <a:t>R</a:t>
            </a:r>
            <a:r>
              <a:rPr b="0" baseline="-25000" i="0" lang="en-US" sz="2400" u="none">
                <a:solidFill>
                  <a:srgbClr val="FF0000"/>
                </a:solidFill>
                <a:latin typeface="Times"/>
                <a:ea typeface="Times"/>
                <a:cs typeface="Times"/>
                <a:sym typeface="Times"/>
              </a:rPr>
              <a:t>B</a:t>
            </a:r>
            <a:endParaRPr/>
          </a:p>
        </p:txBody>
      </p:sp>
      <p:sp>
        <p:nvSpPr>
          <p:cNvPr id="427" name="Google Shape;427;p29"/>
          <p:cNvSpPr txBox="1"/>
          <p:nvPr/>
        </p:nvSpPr>
        <p:spPr>
          <a:xfrm>
            <a:off x="3427412" y="4899025"/>
            <a:ext cx="237966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4. R</a:t>
            </a:r>
            <a:r>
              <a:rPr b="0" baseline="-25000" i="0" lang="en-US" sz="2400" u="none">
                <a:solidFill>
                  <a:schemeClr val="dk1"/>
                </a:solidFill>
                <a:latin typeface="Times"/>
                <a:ea typeface="Times"/>
                <a:cs typeface="Times"/>
                <a:sym typeface="Times"/>
              </a:rPr>
              <a:t>C</a:t>
            </a:r>
            <a:r>
              <a:rPr b="0" i="0" lang="en-US" sz="2400" u="none">
                <a:solidFill>
                  <a:schemeClr val="dk1"/>
                </a:solidFill>
                <a:latin typeface="Times"/>
                <a:ea typeface="Times"/>
                <a:cs typeface="Times"/>
                <a:sym typeface="Times"/>
              </a:rPr>
              <a:t>, </a:t>
            </a:r>
            <a:r>
              <a:rPr b="0" i="0" lang="en-US" sz="2400" u="none">
                <a:solidFill>
                  <a:srgbClr val="FF0000"/>
                </a:solidFill>
                <a:latin typeface="Times"/>
                <a:ea typeface="Times"/>
                <a:cs typeface="Times"/>
                <a:sym typeface="Times"/>
              </a:rPr>
              <a:t>E(R</a:t>
            </a:r>
            <a:r>
              <a:rPr b="0" baseline="-25000" i="0" lang="en-US" sz="2400" u="none">
                <a:solidFill>
                  <a:srgbClr val="FF0000"/>
                </a:solidFill>
                <a:latin typeface="Times"/>
                <a:ea typeface="Times"/>
                <a:cs typeface="Times"/>
                <a:sym typeface="Times"/>
              </a:rPr>
              <a:t>B</a:t>
            </a:r>
            <a:r>
              <a:rPr b="0" i="0" lang="en-US" sz="2400" u="none">
                <a:solidFill>
                  <a:srgbClr val="FF0000"/>
                </a:solidFill>
                <a:latin typeface="Times"/>
                <a:ea typeface="Times"/>
                <a:cs typeface="Times"/>
                <a:sym typeface="Times"/>
              </a:rPr>
              <a:t>,K</a:t>
            </a:r>
            <a:r>
              <a:rPr b="0" baseline="-25000" i="0" lang="en-US" sz="2400" u="none">
                <a:solidFill>
                  <a:srgbClr val="FF0000"/>
                </a:solidFill>
                <a:latin typeface="Times"/>
                <a:ea typeface="Times"/>
                <a:cs typeface="Times"/>
                <a:sym typeface="Times"/>
              </a:rPr>
              <a:t>AB</a:t>
            </a:r>
            <a:r>
              <a:rPr b="0" i="0" lang="en-US" sz="2400" u="none">
                <a:solidFill>
                  <a:srgbClr val="FF0000"/>
                </a:solidFill>
                <a:latin typeface="Times"/>
                <a:ea typeface="Times"/>
                <a:cs typeface="Times"/>
                <a:sym typeface="Times"/>
              </a:rPr>
              <a:t>)</a:t>
            </a:r>
            <a:endParaRPr/>
          </a:p>
        </p:txBody>
      </p:sp>
      <p:sp>
        <p:nvSpPr>
          <p:cNvPr id="428" name="Google Shape;428;p29"/>
          <p:cNvSpPr txBox="1"/>
          <p:nvPr/>
        </p:nvSpPr>
        <p:spPr>
          <a:xfrm>
            <a:off x="1023937" y="5654675"/>
            <a:ext cx="103346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Trudy</a:t>
            </a:r>
            <a:endParaRPr/>
          </a:p>
        </p:txBody>
      </p:sp>
      <p:cxnSp>
        <p:nvCxnSpPr>
          <p:cNvPr id="429" name="Google Shape;429;p29"/>
          <p:cNvCxnSpPr/>
          <p:nvPr/>
        </p:nvCxnSpPr>
        <p:spPr>
          <a:xfrm>
            <a:off x="285750" y="3929062"/>
            <a:ext cx="8534400" cy="0"/>
          </a:xfrm>
          <a:prstGeom prst="straightConnector1">
            <a:avLst/>
          </a:prstGeom>
          <a:noFill/>
          <a:ln cap="flat" cmpd="sng" w="9525">
            <a:solidFill>
              <a:schemeClr val="dk1"/>
            </a:solidFill>
            <a:prstDash val="solid"/>
            <a:miter lim="800000"/>
            <a:headEnd len="med" w="med" type="none"/>
            <a:tailEnd len="med" w="med" type="none"/>
          </a:ln>
        </p:spPr>
      </p:cxnSp>
      <p:sp>
        <p:nvSpPr>
          <p:cNvPr id="430" name="Google Shape;430;p29"/>
          <p:cNvSpPr txBox="1"/>
          <p:nvPr/>
        </p:nvSpPr>
        <p:spPr>
          <a:xfrm>
            <a:off x="3432175" y="3070225"/>
            <a:ext cx="18430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5. </a:t>
            </a:r>
            <a:r>
              <a:rPr b="0" i="0" lang="en-US" sz="2400" u="none">
                <a:solidFill>
                  <a:srgbClr val="FF0000"/>
                </a:solidFill>
                <a:latin typeface="Times"/>
                <a:ea typeface="Times"/>
                <a:cs typeface="Times"/>
                <a:sym typeface="Times"/>
              </a:rPr>
              <a:t>E(R</a:t>
            </a:r>
            <a:r>
              <a:rPr b="0" baseline="-25000" i="0" lang="en-US" sz="2400" u="none">
                <a:solidFill>
                  <a:srgbClr val="FF0000"/>
                </a:solidFill>
                <a:latin typeface="Times"/>
                <a:ea typeface="Times"/>
                <a:cs typeface="Times"/>
                <a:sym typeface="Times"/>
              </a:rPr>
              <a:t>B</a:t>
            </a:r>
            <a:r>
              <a:rPr b="0" i="0" lang="en-US" sz="2400" u="none">
                <a:solidFill>
                  <a:srgbClr val="FF0000"/>
                </a:solidFill>
                <a:latin typeface="Times"/>
                <a:ea typeface="Times"/>
                <a:cs typeface="Times"/>
                <a:sym typeface="Times"/>
              </a:rPr>
              <a:t>,K</a:t>
            </a:r>
            <a:r>
              <a:rPr b="0" baseline="-25000" i="0" lang="en-US" sz="2400" u="none">
                <a:solidFill>
                  <a:srgbClr val="FF0000"/>
                </a:solidFill>
                <a:latin typeface="Times"/>
                <a:ea typeface="Times"/>
                <a:cs typeface="Times"/>
                <a:sym typeface="Times"/>
              </a:rPr>
              <a:t>AB</a:t>
            </a:r>
            <a:r>
              <a:rPr b="0" i="0" lang="en-US" sz="2400" u="none">
                <a:solidFill>
                  <a:srgbClr val="FF0000"/>
                </a:solidFill>
                <a:latin typeface="Times"/>
                <a:ea typeface="Times"/>
                <a:cs typeface="Times"/>
                <a:sym typeface="Times"/>
              </a:rPr>
              <a:t>)</a:t>
            </a:r>
            <a:endParaRPr/>
          </a:p>
        </p:txBody>
      </p:sp>
      <p:cxnSp>
        <p:nvCxnSpPr>
          <p:cNvPr id="431" name="Google Shape;431;p29"/>
          <p:cNvCxnSpPr/>
          <p:nvPr/>
        </p:nvCxnSpPr>
        <p:spPr>
          <a:xfrm>
            <a:off x="2443162" y="3568700"/>
            <a:ext cx="4495800" cy="0"/>
          </a:xfrm>
          <a:prstGeom prst="straightConnector1">
            <a:avLst/>
          </a:prstGeom>
          <a:noFill/>
          <a:ln cap="flat" cmpd="sng" w="50800">
            <a:solidFill>
              <a:srgbClr val="FF0000"/>
            </a:solidFill>
            <a:prstDash val="solid"/>
            <a:miter lim="800000"/>
            <a:headEnd len="med" w="med" type="none"/>
            <a:tailEnd len="med" w="med" type="triangle"/>
          </a:ln>
        </p:spPr>
      </p:cxnSp>
      <p:cxnSp>
        <p:nvCxnSpPr>
          <p:cNvPr id="432" name="Google Shape;432;p29"/>
          <p:cNvCxnSpPr/>
          <p:nvPr/>
        </p:nvCxnSpPr>
        <p:spPr>
          <a:xfrm>
            <a:off x="2366962" y="2349500"/>
            <a:ext cx="45720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433" name="Google Shape;433;p29"/>
          <p:cNvCxnSpPr/>
          <p:nvPr/>
        </p:nvCxnSpPr>
        <p:spPr>
          <a:xfrm rot="10800000">
            <a:off x="2366962" y="2959100"/>
            <a:ext cx="4495800" cy="0"/>
          </a:xfrm>
          <a:prstGeom prst="straightConnector1">
            <a:avLst/>
          </a:prstGeom>
          <a:noFill/>
          <a:ln cap="flat" cmpd="sng" w="50800">
            <a:solidFill>
              <a:schemeClr val="dk1"/>
            </a:solidFill>
            <a:prstDash val="solid"/>
            <a:miter lim="800000"/>
            <a:headEnd len="med" w="med" type="none"/>
            <a:tailEnd len="med" w="med" type="triangle"/>
          </a:ln>
        </p:spPr>
      </p:cxnSp>
      <p:pic>
        <p:nvPicPr>
          <p:cNvPr id="434" name="Google Shape;434;p29"/>
          <p:cNvPicPr preferRelativeResize="0"/>
          <p:nvPr/>
        </p:nvPicPr>
        <p:blipFill rotWithShape="1">
          <a:blip r:embed="rId3">
            <a:alphaModFix/>
          </a:blip>
          <a:srcRect b="0" l="0" r="0" t="0"/>
          <a:stretch/>
        </p:blipFill>
        <p:spPr>
          <a:xfrm>
            <a:off x="7234237" y="1816100"/>
            <a:ext cx="1027112" cy="1589087"/>
          </a:xfrm>
          <a:prstGeom prst="rect">
            <a:avLst/>
          </a:prstGeom>
          <a:noFill/>
          <a:ln>
            <a:noFill/>
          </a:ln>
        </p:spPr>
      </p:pic>
      <p:pic>
        <p:nvPicPr>
          <p:cNvPr id="435" name="Google Shape;435;p29"/>
          <p:cNvPicPr preferRelativeResize="0"/>
          <p:nvPr/>
        </p:nvPicPr>
        <p:blipFill rotWithShape="1">
          <a:blip r:embed="rId3">
            <a:alphaModFix/>
          </a:blip>
          <a:srcRect b="0" l="0" r="0" t="0"/>
          <a:stretch/>
        </p:blipFill>
        <p:spPr>
          <a:xfrm>
            <a:off x="7202487" y="4114800"/>
            <a:ext cx="1027112" cy="1589087"/>
          </a:xfrm>
          <a:prstGeom prst="rect">
            <a:avLst/>
          </a:prstGeom>
          <a:noFill/>
          <a:ln>
            <a:noFill/>
          </a:ln>
        </p:spPr>
      </p:pic>
      <p:pic>
        <p:nvPicPr>
          <p:cNvPr id="436" name="Google Shape;436;p29"/>
          <p:cNvPicPr preferRelativeResize="0"/>
          <p:nvPr/>
        </p:nvPicPr>
        <p:blipFill rotWithShape="1">
          <a:blip r:embed="rId4">
            <a:alphaModFix/>
          </a:blip>
          <a:srcRect b="0" l="0" r="0" t="0"/>
          <a:stretch/>
        </p:blipFill>
        <p:spPr>
          <a:xfrm>
            <a:off x="1073150" y="2197100"/>
            <a:ext cx="989012" cy="1219200"/>
          </a:xfrm>
          <a:prstGeom prst="rect">
            <a:avLst/>
          </a:prstGeom>
          <a:noFill/>
          <a:ln>
            <a:noFill/>
          </a:ln>
        </p:spPr>
      </p:pic>
      <p:pic>
        <p:nvPicPr>
          <p:cNvPr id="437" name="Google Shape;437;p29"/>
          <p:cNvPicPr preferRelativeResize="0"/>
          <p:nvPr/>
        </p:nvPicPr>
        <p:blipFill rotWithShape="1">
          <a:blip r:embed="rId4">
            <a:alphaModFix/>
          </a:blip>
          <a:srcRect b="0" l="0" r="0" t="0"/>
          <a:stretch/>
        </p:blipFill>
        <p:spPr>
          <a:xfrm>
            <a:off x="1066800" y="4432300"/>
            <a:ext cx="989012" cy="1219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32"/>
                                        </p:tgtEl>
                                        <p:attrNameLst>
                                          <p:attrName>style.visibility</p:attrName>
                                        </p:attrNameLst>
                                      </p:cBhvr>
                                      <p:to>
                                        <p:strVal val="visible"/>
                                      </p:to>
                                    </p:set>
                                    <p:anim calcmode="lin" valueType="num">
                                      <p:cBhvr additive="base">
                                        <p:cTn dur="500"/>
                                        <p:tgtEl>
                                          <p:spTgt spid="432"/>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33"/>
                                        </p:tgtEl>
                                        <p:attrNameLst>
                                          <p:attrName>style.visibility</p:attrName>
                                        </p:attrNameLst>
                                      </p:cBhvr>
                                      <p:to>
                                        <p:strVal val="visible"/>
                                      </p:to>
                                    </p:set>
                                    <p:anim calcmode="lin" valueType="num">
                                      <p:cBhvr additive="base">
                                        <p:cTn dur="500"/>
                                        <p:tgtEl>
                                          <p:spTgt spid="433"/>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428"/>
                                        </p:tgtEl>
                                        <p:attrNameLst>
                                          <p:attrName>style.visibility</p:attrName>
                                        </p:attrNameLst>
                                      </p:cBhvr>
                                      <p:to>
                                        <p:strVal val="visible"/>
                                      </p:to>
                                    </p:set>
                                  </p:childTnLst>
                                </p:cTn>
                              </p:par>
                            </p:childTnLst>
                          </p:cTn>
                        </p:par>
                        <p:par>
                          <p:cTn fill="hold">
                            <p:stCondLst>
                              <p:cond delay="2"/>
                            </p:stCondLst>
                            <p:childTnLst>
                              <p:par>
                                <p:cTn fill="hold" nodeType="afterEffect" presetClass="entr" presetID="1" presetSubtype="0">
                                  <p:stCondLst>
                                    <p:cond delay="0"/>
                                  </p:stCondLst>
                                  <p:childTnLst>
                                    <p:set>
                                      <p:cBhvr>
                                        <p:cTn dur="1" fill="hold">
                                          <p:stCondLst>
                                            <p:cond delay="0"/>
                                          </p:stCondLst>
                                        </p:cTn>
                                        <p:tgtEl>
                                          <p:spTgt spid="4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23"/>
                                        </p:tgtEl>
                                        <p:attrNameLst>
                                          <p:attrName>style.visibility</p:attrName>
                                        </p:attrNameLst>
                                      </p:cBhvr>
                                      <p:to>
                                        <p:strVal val="visible"/>
                                      </p:to>
                                    </p:set>
                                    <p:anim calcmode="lin" valueType="num">
                                      <p:cBhvr additive="base">
                                        <p:cTn dur="500"/>
                                        <p:tgtEl>
                                          <p:spTgt spid="423"/>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24"/>
                                        </p:tgtEl>
                                        <p:attrNameLst>
                                          <p:attrName>style.visibility</p:attrName>
                                        </p:attrNameLst>
                                      </p:cBhvr>
                                      <p:to>
                                        <p:strVal val="visible"/>
                                      </p:to>
                                    </p:set>
                                    <p:anim calcmode="lin" valueType="num">
                                      <p:cBhvr additive="base">
                                        <p:cTn dur="500"/>
                                        <p:tgtEl>
                                          <p:spTgt spid="424"/>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31"/>
                                        </p:tgtEl>
                                        <p:attrNameLst>
                                          <p:attrName>style.visibility</p:attrName>
                                        </p:attrNameLst>
                                      </p:cBhvr>
                                      <p:to>
                                        <p:strVal val="visible"/>
                                      </p:to>
                                    </p:set>
                                    <p:anim calcmode="lin" valueType="num">
                                      <p:cBhvr additive="base">
                                        <p:cTn dur="500"/>
                                        <p:tgtEl>
                                          <p:spTgt spid="431"/>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30"/>
          <p:cNvSpPr txBox="1"/>
          <p:nvPr>
            <p:ph type="title"/>
          </p:nvPr>
        </p:nvSpPr>
        <p:spPr>
          <a:xfrm>
            <a:off x="785812" y="122237"/>
            <a:ext cx="7143750" cy="123507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MUTUAL AUTHENTICATION</a:t>
            </a:r>
            <a:endParaRPr/>
          </a:p>
        </p:txBody>
      </p:sp>
      <p:sp>
        <p:nvSpPr>
          <p:cNvPr id="443" name="Google Shape;443;p30"/>
          <p:cNvSpPr txBox="1"/>
          <p:nvPr>
            <p:ph idx="1" type="body"/>
          </p:nvPr>
        </p:nvSpPr>
        <p:spPr>
          <a:xfrm>
            <a:off x="785812" y="1714500"/>
            <a:ext cx="7900987" cy="4416425"/>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130000"/>
              </a:lnSpc>
              <a:spcBef>
                <a:spcPts val="0"/>
              </a:spcBef>
              <a:spcAft>
                <a:spcPts val="0"/>
              </a:spcAft>
              <a:buClr>
                <a:schemeClr val="accent2"/>
              </a:buClr>
              <a:buSzPts val="2208"/>
              <a:buFont typeface="Noto Sans Symbols"/>
              <a:buChar char="◼"/>
            </a:pPr>
            <a:r>
              <a:rPr b="0" i="0" lang="en-US" sz="2400" u="none">
                <a:solidFill>
                  <a:srgbClr val="8B8B8B"/>
                </a:solidFill>
                <a:latin typeface="Gill Sans"/>
                <a:ea typeface="Gill Sans"/>
                <a:cs typeface="Gill Sans"/>
                <a:sym typeface="Gill Sans"/>
              </a:rPr>
              <a:t>Our one-way authentication protocol </a:t>
            </a:r>
            <a:r>
              <a:rPr b="1" i="0" lang="en-US" sz="2400" u="none">
                <a:solidFill>
                  <a:srgbClr val="FF0000"/>
                </a:solidFill>
                <a:latin typeface="Gill Sans"/>
                <a:ea typeface="Gill Sans"/>
                <a:cs typeface="Gill Sans"/>
                <a:sym typeface="Gill Sans"/>
              </a:rPr>
              <a:t>not</a:t>
            </a:r>
            <a:r>
              <a:rPr b="0" i="0" lang="en-US" sz="2400" u="none">
                <a:solidFill>
                  <a:srgbClr val="8B8B8B"/>
                </a:solidFill>
                <a:latin typeface="Gill Sans"/>
                <a:ea typeface="Gill Sans"/>
                <a:cs typeface="Gill Sans"/>
                <a:sym typeface="Gill Sans"/>
              </a:rPr>
              <a:t> secure for mutual authentication </a:t>
            </a:r>
            <a:endParaRPr/>
          </a:p>
          <a:p>
            <a:pPr indent="-304800" lvl="1" marL="628650" marR="0" rtl="0" algn="l">
              <a:lnSpc>
                <a:spcPct val="130000"/>
              </a:lnSpc>
              <a:spcBef>
                <a:spcPts val="1000"/>
              </a:spcBef>
              <a:spcAft>
                <a:spcPts val="0"/>
              </a:spcAft>
              <a:buClr>
                <a:schemeClr val="accent2"/>
              </a:buClr>
              <a:buSzPts val="1840"/>
              <a:buFont typeface="Noto Sans Symbols"/>
              <a:buChar char="◼"/>
            </a:pPr>
            <a:r>
              <a:rPr b="0" i="0" lang="en-US" sz="2000" u="none" cap="none" strike="noStrike">
                <a:solidFill>
                  <a:schemeClr val="dk2"/>
                </a:solidFill>
                <a:latin typeface="Gill Sans"/>
                <a:ea typeface="Gill Sans"/>
                <a:cs typeface="Gill Sans"/>
                <a:sym typeface="Gill Sans"/>
              </a:rPr>
              <a:t>Protocols are subtle!</a:t>
            </a:r>
            <a:endParaRPr/>
          </a:p>
          <a:p>
            <a:pPr indent="-304800" lvl="1" marL="628650" marR="0" rtl="0" algn="l">
              <a:lnSpc>
                <a:spcPct val="130000"/>
              </a:lnSpc>
              <a:spcBef>
                <a:spcPts val="1000"/>
              </a:spcBef>
              <a:spcAft>
                <a:spcPts val="0"/>
              </a:spcAft>
              <a:buClr>
                <a:schemeClr val="accent2"/>
              </a:buClr>
              <a:buSzPts val="1840"/>
              <a:buFont typeface="Noto Sans Symbols"/>
              <a:buChar char="◼"/>
            </a:pPr>
            <a:r>
              <a:rPr b="0" i="0" lang="en-US" sz="2000" u="none" cap="none" strike="noStrike">
                <a:solidFill>
                  <a:schemeClr val="dk2"/>
                </a:solidFill>
                <a:latin typeface="Gill Sans"/>
                <a:ea typeface="Gill Sans"/>
                <a:cs typeface="Gill Sans"/>
                <a:sym typeface="Gill Sans"/>
              </a:rPr>
              <a:t>The “obvious” thing may not be secure</a:t>
            </a:r>
            <a:endParaRPr/>
          </a:p>
          <a:p>
            <a:pPr indent="-304800" lvl="0" marL="304800" marR="0" rtl="0" algn="l">
              <a:lnSpc>
                <a:spcPct val="130000"/>
              </a:lnSpc>
              <a:spcBef>
                <a:spcPts val="1080"/>
              </a:spcBef>
              <a:spcAft>
                <a:spcPts val="0"/>
              </a:spcAft>
              <a:buClr>
                <a:schemeClr val="accent2"/>
              </a:buClr>
              <a:buSzPts val="2208"/>
              <a:buFont typeface="Noto Sans Symbols"/>
              <a:buChar char="◼"/>
            </a:pPr>
            <a:r>
              <a:rPr b="0" i="0" lang="en-US" sz="2400" u="none">
                <a:solidFill>
                  <a:schemeClr val="dk2"/>
                </a:solidFill>
                <a:latin typeface="Gill Sans"/>
                <a:ea typeface="Gill Sans"/>
                <a:cs typeface="Gill Sans"/>
                <a:sym typeface="Gill Sans"/>
              </a:rPr>
              <a:t>Also, </a:t>
            </a:r>
            <a:r>
              <a:rPr b="0" i="0" lang="en-US" sz="2400" u="none">
                <a:solidFill>
                  <a:srgbClr val="FF0000"/>
                </a:solidFill>
                <a:latin typeface="Gill Sans"/>
                <a:ea typeface="Gill Sans"/>
                <a:cs typeface="Gill Sans"/>
                <a:sym typeface="Gill Sans"/>
              </a:rPr>
              <a:t>if assumptions or environment changes, protocol may not work</a:t>
            </a:r>
            <a:endParaRPr/>
          </a:p>
          <a:p>
            <a:pPr indent="-304800" lvl="1" marL="628650" marR="0" rtl="0" algn="l">
              <a:lnSpc>
                <a:spcPct val="130000"/>
              </a:lnSpc>
              <a:spcBef>
                <a:spcPts val="1000"/>
              </a:spcBef>
              <a:spcAft>
                <a:spcPts val="0"/>
              </a:spcAft>
              <a:buClr>
                <a:schemeClr val="accent2"/>
              </a:buClr>
              <a:buSzPts val="1840"/>
              <a:buFont typeface="Noto Sans Symbols"/>
              <a:buChar char="◼"/>
            </a:pPr>
            <a:r>
              <a:rPr b="0" i="0" lang="en-US" sz="2000" u="none" cap="none" strike="noStrike">
                <a:solidFill>
                  <a:schemeClr val="dk2"/>
                </a:solidFill>
                <a:latin typeface="Gill Sans"/>
                <a:ea typeface="Gill Sans"/>
                <a:cs typeface="Gill Sans"/>
                <a:sym typeface="Gill Sans"/>
              </a:rPr>
              <a:t>This is a common source of security failure</a:t>
            </a:r>
            <a:endParaRPr/>
          </a:p>
          <a:p>
            <a:pPr indent="-304800" lvl="1" marL="628650" marR="0" rtl="0" algn="l">
              <a:lnSpc>
                <a:spcPct val="130000"/>
              </a:lnSpc>
              <a:spcBef>
                <a:spcPts val="1000"/>
              </a:spcBef>
              <a:spcAft>
                <a:spcPts val="0"/>
              </a:spcAft>
              <a:buClr>
                <a:schemeClr val="accent2"/>
              </a:buClr>
              <a:buSzPts val="1840"/>
              <a:buFont typeface="Noto Sans Symbols"/>
              <a:buChar char="◼"/>
            </a:pPr>
            <a:r>
              <a:rPr b="0" i="0" lang="en-US" sz="2000" u="none" cap="none" strike="noStrike">
                <a:solidFill>
                  <a:schemeClr val="dk2"/>
                </a:solidFill>
                <a:latin typeface="Gill Sans"/>
                <a:ea typeface="Gill Sans"/>
                <a:cs typeface="Gill Sans"/>
                <a:sym typeface="Gill Sans"/>
              </a:rPr>
              <a:t>For example, Internet protocols</a:t>
            </a:r>
            <a:endParaRPr/>
          </a:p>
        </p:txBody>
      </p:sp>
      <p:sp>
        <p:nvSpPr>
          <p:cNvPr id="444" name="Google Shape;444;p30"/>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445" name="Google Shape;445;p30"/>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31"/>
          <p:cNvSpPr txBox="1"/>
          <p:nvPr>
            <p:ph type="title"/>
          </p:nvPr>
        </p:nvSpPr>
        <p:spPr>
          <a:xfrm>
            <a:off x="785812" y="571500"/>
            <a:ext cx="7858125" cy="7858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SYM KEY MUTUAL AUTHENTICATION</a:t>
            </a:r>
            <a:endParaRPr/>
          </a:p>
        </p:txBody>
      </p:sp>
      <p:sp>
        <p:nvSpPr>
          <p:cNvPr id="451" name="Google Shape;451;p31"/>
          <p:cNvSpPr txBox="1"/>
          <p:nvPr>
            <p:ph idx="1" type="body"/>
          </p:nvPr>
        </p:nvSpPr>
        <p:spPr>
          <a:xfrm>
            <a:off x="785812" y="4786312"/>
            <a:ext cx="7700962" cy="1176337"/>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90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Do these “</a:t>
            </a:r>
            <a:r>
              <a:rPr b="0" i="0" lang="en-US" sz="2800" u="none">
                <a:solidFill>
                  <a:srgbClr val="0000FF"/>
                </a:solidFill>
                <a:latin typeface="Gill Sans"/>
                <a:ea typeface="Gill Sans"/>
                <a:cs typeface="Gill Sans"/>
                <a:sym typeface="Gill Sans"/>
              </a:rPr>
              <a:t>insignificant</a:t>
            </a:r>
            <a:r>
              <a:rPr b="0" i="0" lang="en-US" sz="2800" u="none">
                <a:solidFill>
                  <a:schemeClr val="dk2"/>
                </a:solidFill>
                <a:latin typeface="Gill Sans"/>
                <a:ea typeface="Gill Sans"/>
                <a:cs typeface="Gill Sans"/>
                <a:sym typeface="Gill Sans"/>
              </a:rPr>
              <a:t>” changes help?</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1" i="0" lang="en-US" sz="2800" u="none">
                <a:solidFill>
                  <a:srgbClr val="FF0000"/>
                </a:solidFill>
                <a:latin typeface="Gill Sans"/>
                <a:ea typeface="Gill Sans"/>
                <a:cs typeface="Gill Sans"/>
                <a:sym typeface="Gill Sans"/>
              </a:rPr>
              <a:t>Yes!</a:t>
            </a:r>
            <a:endParaRPr/>
          </a:p>
        </p:txBody>
      </p:sp>
      <p:sp>
        <p:nvSpPr>
          <p:cNvPr id="452" name="Google Shape;452;p31"/>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453" name="Google Shape;453;p31"/>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cxnSp>
        <p:nvCxnSpPr>
          <p:cNvPr id="454" name="Google Shape;454;p31"/>
          <p:cNvCxnSpPr/>
          <p:nvPr/>
        </p:nvCxnSpPr>
        <p:spPr>
          <a:xfrm>
            <a:off x="2286000" y="2706687"/>
            <a:ext cx="46482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455" name="Google Shape;455;p31"/>
          <p:cNvCxnSpPr/>
          <p:nvPr/>
        </p:nvCxnSpPr>
        <p:spPr>
          <a:xfrm rot="10800000">
            <a:off x="2209800" y="3316287"/>
            <a:ext cx="4724400" cy="0"/>
          </a:xfrm>
          <a:prstGeom prst="straightConnector1">
            <a:avLst/>
          </a:prstGeom>
          <a:noFill/>
          <a:ln cap="flat" cmpd="sng" w="50800">
            <a:solidFill>
              <a:schemeClr val="dk1"/>
            </a:solidFill>
            <a:prstDash val="solid"/>
            <a:miter lim="800000"/>
            <a:headEnd len="med" w="med" type="none"/>
            <a:tailEnd len="med" w="med" type="triangle"/>
          </a:ln>
        </p:spPr>
      </p:cxnSp>
      <p:sp>
        <p:nvSpPr>
          <p:cNvPr id="456" name="Google Shape;456;p31"/>
          <p:cNvSpPr txBox="1"/>
          <p:nvPr/>
        </p:nvSpPr>
        <p:spPr>
          <a:xfrm>
            <a:off x="1143000" y="4017962"/>
            <a:ext cx="9001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Alice</a:t>
            </a:r>
            <a:endParaRPr/>
          </a:p>
        </p:txBody>
      </p:sp>
      <p:sp>
        <p:nvSpPr>
          <p:cNvPr id="457" name="Google Shape;457;p31"/>
          <p:cNvSpPr txBox="1"/>
          <p:nvPr/>
        </p:nvSpPr>
        <p:spPr>
          <a:xfrm>
            <a:off x="7315200" y="3978275"/>
            <a:ext cx="7175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a:t>
            </a:r>
            <a:endParaRPr/>
          </a:p>
        </p:txBody>
      </p:sp>
      <p:cxnSp>
        <p:nvCxnSpPr>
          <p:cNvPr id="458" name="Google Shape;458;p31"/>
          <p:cNvCxnSpPr/>
          <p:nvPr/>
        </p:nvCxnSpPr>
        <p:spPr>
          <a:xfrm>
            <a:off x="2286000" y="4002087"/>
            <a:ext cx="4648200" cy="0"/>
          </a:xfrm>
          <a:prstGeom prst="straightConnector1">
            <a:avLst/>
          </a:prstGeom>
          <a:noFill/>
          <a:ln cap="flat" cmpd="sng" w="50800">
            <a:solidFill>
              <a:schemeClr val="dk1"/>
            </a:solidFill>
            <a:prstDash val="solid"/>
            <a:miter lim="800000"/>
            <a:headEnd len="med" w="med" type="none"/>
            <a:tailEnd len="med" w="med" type="triangle"/>
          </a:ln>
        </p:spPr>
      </p:cxnSp>
      <p:sp>
        <p:nvSpPr>
          <p:cNvPr id="459" name="Google Shape;459;p31"/>
          <p:cNvSpPr txBox="1"/>
          <p:nvPr/>
        </p:nvSpPr>
        <p:spPr>
          <a:xfrm>
            <a:off x="3429000" y="2209800"/>
            <a:ext cx="2661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“I’m Alice”, R</a:t>
            </a:r>
            <a:r>
              <a:rPr b="0" baseline="-25000" i="0" lang="en-US" sz="2400" u="none">
                <a:solidFill>
                  <a:schemeClr val="dk1"/>
                </a:solidFill>
                <a:latin typeface="Times"/>
                <a:ea typeface="Times"/>
                <a:cs typeface="Times"/>
                <a:sym typeface="Times"/>
              </a:rPr>
              <a:t>A</a:t>
            </a:r>
            <a:endParaRPr/>
          </a:p>
        </p:txBody>
      </p:sp>
      <p:sp>
        <p:nvSpPr>
          <p:cNvPr id="460" name="Google Shape;460;p31"/>
          <p:cNvSpPr txBox="1"/>
          <p:nvPr/>
        </p:nvSpPr>
        <p:spPr>
          <a:xfrm>
            <a:off x="3124200" y="2819400"/>
            <a:ext cx="28606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R</a:t>
            </a:r>
            <a:r>
              <a:rPr b="0" baseline="-25000" i="0" lang="en-US" sz="2400" u="none">
                <a:solidFill>
                  <a:schemeClr val="dk1"/>
                </a:solidFill>
                <a:latin typeface="Times"/>
                <a:ea typeface="Times"/>
                <a:cs typeface="Times"/>
                <a:sym typeface="Times"/>
              </a:rPr>
              <a:t>B</a:t>
            </a:r>
            <a:r>
              <a:rPr b="0" i="0" lang="en-US" sz="2400" u="none">
                <a:solidFill>
                  <a:schemeClr val="dk1"/>
                </a:solidFill>
                <a:latin typeface="Times"/>
                <a:ea typeface="Times"/>
                <a:cs typeface="Times"/>
                <a:sym typeface="Times"/>
              </a:rPr>
              <a:t>, E(“Bob”,R</a:t>
            </a:r>
            <a:r>
              <a:rPr b="0" baseline="-25000" i="0" lang="en-US" sz="2400" u="none">
                <a:solidFill>
                  <a:schemeClr val="dk1"/>
                </a:solidFill>
                <a:latin typeface="Times"/>
                <a:ea typeface="Times"/>
                <a:cs typeface="Times"/>
                <a:sym typeface="Times"/>
              </a:rPr>
              <a:t>A</a:t>
            </a:r>
            <a:r>
              <a:rPr b="0" i="0" lang="en-US" sz="2400" u="none">
                <a:solidFill>
                  <a:schemeClr val="dk1"/>
                </a:solidFill>
                <a:latin typeface="Times"/>
                <a:ea typeface="Times"/>
                <a:cs typeface="Times"/>
                <a:sym typeface="Times"/>
              </a:rPr>
              <a:t>,K</a:t>
            </a:r>
            <a:r>
              <a:rPr b="0" baseline="-25000" i="0" lang="en-US" sz="2400" u="none">
                <a:solidFill>
                  <a:schemeClr val="dk1"/>
                </a:solidFill>
                <a:latin typeface="Times"/>
                <a:ea typeface="Times"/>
                <a:cs typeface="Times"/>
                <a:sym typeface="Times"/>
              </a:rPr>
              <a:t>AB</a:t>
            </a:r>
            <a:r>
              <a:rPr b="0" i="0" lang="en-US" sz="2400" u="none">
                <a:solidFill>
                  <a:schemeClr val="dk1"/>
                </a:solidFill>
                <a:latin typeface="Times"/>
                <a:ea typeface="Times"/>
                <a:cs typeface="Times"/>
                <a:sym typeface="Times"/>
              </a:rPr>
              <a:t>)</a:t>
            </a:r>
            <a:endParaRPr/>
          </a:p>
        </p:txBody>
      </p:sp>
      <p:sp>
        <p:nvSpPr>
          <p:cNvPr id="461" name="Google Shape;461;p31"/>
          <p:cNvSpPr txBox="1"/>
          <p:nvPr/>
        </p:nvSpPr>
        <p:spPr>
          <a:xfrm>
            <a:off x="3338512" y="3521075"/>
            <a:ext cx="24526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E(“Alice”,R</a:t>
            </a:r>
            <a:r>
              <a:rPr b="0" baseline="-25000" i="0" lang="en-US" sz="2400" u="none">
                <a:solidFill>
                  <a:schemeClr val="dk1"/>
                </a:solidFill>
                <a:latin typeface="Times"/>
                <a:ea typeface="Times"/>
                <a:cs typeface="Times"/>
                <a:sym typeface="Times"/>
              </a:rPr>
              <a:t>B</a:t>
            </a:r>
            <a:r>
              <a:rPr b="0" i="0" lang="en-US" sz="2400" u="none">
                <a:solidFill>
                  <a:schemeClr val="dk1"/>
                </a:solidFill>
                <a:latin typeface="Times"/>
                <a:ea typeface="Times"/>
                <a:cs typeface="Times"/>
                <a:sym typeface="Times"/>
              </a:rPr>
              <a:t>,K</a:t>
            </a:r>
            <a:r>
              <a:rPr b="0" baseline="-25000" i="0" lang="en-US" sz="2400" u="none">
                <a:solidFill>
                  <a:schemeClr val="dk1"/>
                </a:solidFill>
                <a:latin typeface="Times"/>
                <a:ea typeface="Times"/>
                <a:cs typeface="Times"/>
                <a:sym typeface="Times"/>
              </a:rPr>
              <a:t>AB</a:t>
            </a:r>
            <a:r>
              <a:rPr b="0" i="0" lang="en-US" sz="2400" u="none">
                <a:solidFill>
                  <a:schemeClr val="dk1"/>
                </a:solidFill>
                <a:latin typeface="Times"/>
                <a:ea typeface="Times"/>
                <a:cs typeface="Times"/>
                <a:sym typeface="Times"/>
              </a:rPr>
              <a:t>)</a:t>
            </a:r>
            <a:endParaRPr/>
          </a:p>
        </p:txBody>
      </p:sp>
      <p:pic>
        <p:nvPicPr>
          <p:cNvPr id="462" name="Google Shape;462;p31"/>
          <p:cNvPicPr preferRelativeResize="0"/>
          <p:nvPr/>
        </p:nvPicPr>
        <p:blipFill rotWithShape="1">
          <a:blip r:embed="rId3">
            <a:alphaModFix/>
          </a:blip>
          <a:srcRect b="0" l="0" r="0" t="0"/>
          <a:stretch/>
        </p:blipFill>
        <p:spPr>
          <a:xfrm>
            <a:off x="1111250" y="2438400"/>
            <a:ext cx="946150" cy="1624012"/>
          </a:xfrm>
          <a:prstGeom prst="rect">
            <a:avLst/>
          </a:prstGeom>
          <a:noFill/>
          <a:ln>
            <a:noFill/>
          </a:ln>
        </p:spPr>
      </p:pic>
      <p:pic>
        <p:nvPicPr>
          <p:cNvPr id="463" name="Google Shape;463;p31"/>
          <p:cNvPicPr preferRelativeResize="0"/>
          <p:nvPr/>
        </p:nvPicPr>
        <p:blipFill rotWithShape="1">
          <a:blip r:embed="rId4">
            <a:alphaModFix/>
          </a:blip>
          <a:srcRect b="0" l="0" r="0" t="0"/>
          <a:stretch/>
        </p:blipFill>
        <p:spPr>
          <a:xfrm>
            <a:off x="7162800" y="2297112"/>
            <a:ext cx="1076325" cy="16652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
                                        </p:tgtEl>
                                        <p:attrNameLst>
                                          <p:attrName>style.visibility</p:attrName>
                                        </p:attrNameLst>
                                      </p:cBhvr>
                                      <p:to>
                                        <p:strVal val="visible"/>
                                      </p:to>
                                    </p:set>
                                    <p:animEffect filter="fade" transition="in">
                                      <p:cBhvr>
                                        <p:cTn dur="500"/>
                                        <p:tgtEl>
                                          <p:spTgt spid="454"/>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1"/>
                                        <p:tgtEl>
                                          <p:spTgt spid="455"/>
                                        </p:tgtEl>
                                      </p:cBhvr>
                                    </p:animEffec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4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8"/>
                                        </p:tgtEl>
                                        <p:attrNameLst>
                                          <p:attrName>style.visibility</p:attrName>
                                        </p:attrNameLst>
                                      </p:cBhvr>
                                      <p:to>
                                        <p:strVal val="visible"/>
                                      </p:to>
                                    </p:set>
                                    <p:animEffect filter="fade" transition="in">
                                      <p:cBhvr>
                                        <p:cTn dur="500"/>
                                        <p:tgtEl>
                                          <p:spTgt spid="458"/>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
                                            <p:txEl>
                                              <p:pRg end="0" st="0"/>
                                            </p:txEl>
                                          </p:spTgt>
                                        </p:tgtEl>
                                        <p:attrNameLst>
                                          <p:attrName>style.visibility</p:attrName>
                                        </p:attrNameLst>
                                      </p:cBhvr>
                                      <p:to>
                                        <p:strVal val="visible"/>
                                      </p:to>
                                    </p:set>
                                    <p:animEffect filter="fade" transition="in">
                                      <p:cBhvr>
                                        <p:cTn dur="500"/>
                                        <p:tgtEl>
                                          <p:spTgt spid="4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
                                            <p:txEl>
                                              <p:pRg end="1" st="1"/>
                                            </p:txEl>
                                          </p:spTgt>
                                        </p:tgtEl>
                                        <p:attrNameLst>
                                          <p:attrName>style.visibility</p:attrName>
                                        </p:attrNameLst>
                                      </p:cBhvr>
                                      <p:to>
                                        <p:strVal val="visible"/>
                                      </p:to>
                                    </p:set>
                                    <p:animEffect filter="fade" transition="in">
                                      <p:cBhvr>
                                        <p:cTn dur="500"/>
                                        <p:tgtEl>
                                          <p:spTgt spid="451">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g382e846f0cc_0_10"/>
          <p:cNvSpPr txBox="1"/>
          <p:nvPr>
            <p:ph type="title"/>
          </p:nvPr>
        </p:nvSpPr>
        <p:spPr>
          <a:xfrm>
            <a:off x="785812" y="571500"/>
            <a:ext cx="7858200" cy="785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SYM KEY MUTUAL AUTHENTICATION</a:t>
            </a:r>
            <a:endParaRPr/>
          </a:p>
        </p:txBody>
      </p:sp>
      <p:sp>
        <p:nvSpPr>
          <p:cNvPr id="469" name="Google Shape;469;g382e846f0cc_0_10"/>
          <p:cNvSpPr txBox="1"/>
          <p:nvPr>
            <p:ph idx="1" type="body"/>
          </p:nvPr>
        </p:nvSpPr>
        <p:spPr>
          <a:xfrm>
            <a:off x="785812" y="4786312"/>
            <a:ext cx="7701000" cy="1176300"/>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90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Do these “</a:t>
            </a:r>
            <a:r>
              <a:rPr b="0" i="0" lang="en-US" sz="2800" u="none">
                <a:solidFill>
                  <a:srgbClr val="0000FF"/>
                </a:solidFill>
                <a:latin typeface="Gill Sans"/>
                <a:ea typeface="Gill Sans"/>
                <a:cs typeface="Gill Sans"/>
                <a:sym typeface="Gill Sans"/>
              </a:rPr>
              <a:t>insignificant</a:t>
            </a:r>
            <a:r>
              <a:rPr b="0" i="0" lang="en-US" sz="2800" u="none">
                <a:solidFill>
                  <a:schemeClr val="dk2"/>
                </a:solidFill>
                <a:latin typeface="Gill Sans"/>
                <a:ea typeface="Gill Sans"/>
                <a:cs typeface="Gill Sans"/>
                <a:sym typeface="Gill Sans"/>
              </a:rPr>
              <a:t>” changes help?</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1" i="0" lang="en-US" sz="2800" u="none">
                <a:solidFill>
                  <a:srgbClr val="FF0000"/>
                </a:solidFill>
                <a:latin typeface="Gill Sans"/>
                <a:ea typeface="Gill Sans"/>
                <a:cs typeface="Gill Sans"/>
                <a:sym typeface="Gill Sans"/>
              </a:rPr>
              <a:t>Yes!</a:t>
            </a:r>
            <a:endParaRPr/>
          </a:p>
        </p:txBody>
      </p:sp>
      <p:sp>
        <p:nvSpPr>
          <p:cNvPr id="470" name="Google Shape;470;g382e846f0cc_0_10"/>
          <p:cNvSpPr txBox="1"/>
          <p:nvPr/>
        </p:nvSpPr>
        <p:spPr>
          <a:xfrm>
            <a:off x="581025" y="6372225"/>
            <a:ext cx="7086600" cy="365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471" name="Google Shape;471;g382e846f0cc_0_10"/>
          <p:cNvSpPr txBox="1"/>
          <p:nvPr/>
        </p:nvSpPr>
        <p:spPr>
          <a:xfrm>
            <a:off x="7800975" y="6376987"/>
            <a:ext cx="7698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cxnSp>
        <p:nvCxnSpPr>
          <p:cNvPr id="472" name="Google Shape;472;g382e846f0cc_0_10"/>
          <p:cNvCxnSpPr/>
          <p:nvPr/>
        </p:nvCxnSpPr>
        <p:spPr>
          <a:xfrm>
            <a:off x="2286000" y="2706687"/>
            <a:ext cx="46482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473" name="Google Shape;473;g382e846f0cc_0_10"/>
          <p:cNvCxnSpPr/>
          <p:nvPr/>
        </p:nvCxnSpPr>
        <p:spPr>
          <a:xfrm rot="10800000">
            <a:off x="2209800" y="3316287"/>
            <a:ext cx="4724400" cy="0"/>
          </a:xfrm>
          <a:prstGeom prst="straightConnector1">
            <a:avLst/>
          </a:prstGeom>
          <a:noFill/>
          <a:ln cap="flat" cmpd="sng" w="50800">
            <a:solidFill>
              <a:schemeClr val="dk1"/>
            </a:solidFill>
            <a:prstDash val="solid"/>
            <a:miter lim="800000"/>
            <a:headEnd len="med" w="med" type="none"/>
            <a:tailEnd len="med" w="med" type="triangle"/>
          </a:ln>
        </p:spPr>
      </p:cxnSp>
      <p:sp>
        <p:nvSpPr>
          <p:cNvPr id="474" name="Google Shape;474;g382e846f0cc_0_10"/>
          <p:cNvSpPr txBox="1"/>
          <p:nvPr/>
        </p:nvSpPr>
        <p:spPr>
          <a:xfrm>
            <a:off x="1143000" y="4017962"/>
            <a:ext cx="900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Alice</a:t>
            </a:r>
            <a:endParaRPr/>
          </a:p>
        </p:txBody>
      </p:sp>
      <p:sp>
        <p:nvSpPr>
          <p:cNvPr id="475" name="Google Shape;475;g382e846f0cc_0_10"/>
          <p:cNvSpPr txBox="1"/>
          <p:nvPr/>
        </p:nvSpPr>
        <p:spPr>
          <a:xfrm>
            <a:off x="7315200" y="3978275"/>
            <a:ext cx="717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a:t>
            </a:r>
            <a:endParaRPr/>
          </a:p>
        </p:txBody>
      </p:sp>
      <p:cxnSp>
        <p:nvCxnSpPr>
          <p:cNvPr id="476" name="Google Shape;476;g382e846f0cc_0_10"/>
          <p:cNvCxnSpPr/>
          <p:nvPr/>
        </p:nvCxnSpPr>
        <p:spPr>
          <a:xfrm>
            <a:off x="2286000" y="4002087"/>
            <a:ext cx="4648200" cy="0"/>
          </a:xfrm>
          <a:prstGeom prst="straightConnector1">
            <a:avLst/>
          </a:prstGeom>
          <a:noFill/>
          <a:ln cap="flat" cmpd="sng" w="50800">
            <a:solidFill>
              <a:schemeClr val="dk1"/>
            </a:solidFill>
            <a:prstDash val="solid"/>
            <a:miter lim="800000"/>
            <a:headEnd len="med" w="med" type="none"/>
            <a:tailEnd len="med" w="med" type="triangle"/>
          </a:ln>
        </p:spPr>
      </p:cxnSp>
      <p:sp>
        <p:nvSpPr>
          <p:cNvPr id="477" name="Google Shape;477;g382e846f0cc_0_10"/>
          <p:cNvSpPr txBox="1"/>
          <p:nvPr/>
        </p:nvSpPr>
        <p:spPr>
          <a:xfrm>
            <a:off x="3429000" y="2209800"/>
            <a:ext cx="2661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“I’m Alice”, R</a:t>
            </a:r>
            <a:r>
              <a:rPr b="0" baseline="-25000" i="0" lang="en-US" sz="2400" u="none">
                <a:solidFill>
                  <a:schemeClr val="dk1"/>
                </a:solidFill>
                <a:latin typeface="Times"/>
                <a:ea typeface="Times"/>
                <a:cs typeface="Times"/>
                <a:sym typeface="Times"/>
              </a:rPr>
              <a:t>A</a:t>
            </a:r>
            <a:endParaRPr/>
          </a:p>
        </p:txBody>
      </p:sp>
      <p:sp>
        <p:nvSpPr>
          <p:cNvPr id="478" name="Google Shape;478;g382e846f0cc_0_10"/>
          <p:cNvSpPr txBox="1"/>
          <p:nvPr/>
        </p:nvSpPr>
        <p:spPr>
          <a:xfrm>
            <a:off x="3124200" y="2819400"/>
            <a:ext cx="2860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R</a:t>
            </a:r>
            <a:r>
              <a:rPr b="0" baseline="-25000" i="0" lang="en-US" sz="2400" u="none">
                <a:solidFill>
                  <a:schemeClr val="dk1"/>
                </a:solidFill>
                <a:latin typeface="Times"/>
                <a:ea typeface="Times"/>
                <a:cs typeface="Times"/>
                <a:sym typeface="Times"/>
              </a:rPr>
              <a:t>B</a:t>
            </a:r>
            <a:r>
              <a:rPr b="0" i="0" lang="en-US" sz="2400" u="none">
                <a:solidFill>
                  <a:schemeClr val="dk1"/>
                </a:solidFill>
                <a:latin typeface="Times"/>
                <a:ea typeface="Times"/>
                <a:cs typeface="Times"/>
                <a:sym typeface="Times"/>
              </a:rPr>
              <a:t>, E(“Bob”,R</a:t>
            </a:r>
            <a:r>
              <a:rPr b="0" baseline="-25000" i="0" lang="en-US" sz="2400" u="none">
                <a:solidFill>
                  <a:schemeClr val="dk1"/>
                </a:solidFill>
                <a:latin typeface="Times"/>
                <a:ea typeface="Times"/>
                <a:cs typeface="Times"/>
                <a:sym typeface="Times"/>
              </a:rPr>
              <a:t>A</a:t>
            </a:r>
            <a:r>
              <a:rPr b="0" i="0" lang="en-US" sz="2400" u="none">
                <a:solidFill>
                  <a:schemeClr val="dk1"/>
                </a:solidFill>
                <a:latin typeface="Times"/>
                <a:ea typeface="Times"/>
                <a:cs typeface="Times"/>
                <a:sym typeface="Times"/>
              </a:rPr>
              <a:t>,K</a:t>
            </a:r>
            <a:r>
              <a:rPr b="0" baseline="-25000" i="0" lang="en-US" sz="2400" u="none">
                <a:solidFill>
                  <a:schemeClr val="dk1"/>
                </a:solidFill>
                <a:latin typeface="Times"/>
                <a:ea typeface="Times"/>
                <a:cs typeface="Times"/>
                <a:sym typeface="Times"/>
              </a:rPr>
              <a:t>AB</a:t>
            </a:r>
            <a:r>
              <a:rPr b="0" i="0" lang="en-US" sz="2400" u="none">
                <a:solidFill>
                  <a:schemeClr val="dk1"/>
                </a:solidFill>
                <a:latin typeface="Times"/>
                <a:ea typeface="Times"/>
                <a:cs typeface="Times"/>
                <a:sym typeface="Times"/>
              </a:rPr>
              <a:t>)</a:t>
            </a:r>
            <a:endParaRPr/>
          </a:p>
        </p:txBody>
      </p:sp>
      <p:sp>
        <p:nvSpPr>
          <p:cNvPr id="479" name="Google Shape;479;g382e846f0cc_0_10"/>
          <p:cNvSpPr txBox="1"/>
          <p:nvPr/>
        </p:nvSpPr>
        <p:spPr>
          <a:xfrm>
            <a:off x="3338512" y="3521075"/>
            <a:ext cx="2452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E(“Alice”,R</a:t>
            </a:r>
            <a:r>
              <a:rPr b="0" baseline="-25000" i="0" lang="en-US" sz="2400" u="none">
                <a:solidFill>
                  <a:schemeClr val="dk1"/>
                </a:solidFill>
                <a:latin typeface="Times"/>
                <a:ea typeface="Times"/>
                <a:cs typeface="Times"/>
                <a:sym typeface="Times"/>
              </a:rPr>
              <a:t>B</a:t>
            </a:r>
            <a:r>
              <a:rPr b="0" i="0" lang="en-US" sz="2400" u="none">
                <a:solidFill>
                  <a:schemeClr val="dk1"/>
                </a:solidFill>
                <a:latin typeface="Times"/>
                <a:ea typeface="Times"/>
                <a:cs typeface="Times"/>
                <a:sym typeface="Times"/>
              </a:rPr>
              <a:t>,K</a:t>
            </a:r>
            <a:r>
              <a:rPr b="0" baseline="-25000" i="0" lang="en-US" sz="2400" u="none">
                <a:solidFill>
                  <a:schemeClr val="dk1"/>
                </a:solidFill>
                <a:latin typeface="Times"/>
                <a:ea typeface="Times"/>
                <a:cs typeface="Times"/>
                <a:sym typeface="Times"/>
              </a:rPr>
              <a:t>AB</a:t>
            </a:r>
            <a:r>
              <a:rPr b="0" i="0" lang="en-US" sz="2400" u="none">
                <a:solidFill>
                  <a:schemeClr val="dk1"/>
                </a:solidFill>
                <a:latin typeface="Times"/>
                <a:ea typeface="Times"/>
                <a:cs typeface="Times"/>
                <a:sym typeface="Times"/>
              </a:rPr>
              <a:t>)</a:t>
            </a:r>
            <a:endParaRPr/>
          </a:p>
        </p:txBody>
      </p:sp>
      <p:pic>
        <p:nvPicPr>
          <p:cNvPr id="480" name="Google Shape;480;g382e846f0cc_0_10"/>
          <p:cNvPicPr preferRelativeResize="0"/>
          <p:nvPr/>
        </p:nvPicPr>
        <p:blipFill rotWithShape="1">
          <a:blip r:embed="rId3">
            <a:alphaModFix/>
          </a:blip>
          <a:srcRect b="0" l="0" r="0" t="0"/>
          <a:stretch/>
        </p:blipFill>
        <p:spPr>
          <a:xfrm>
            <a:off x="1111250" y="2438400"/>
            <a:ext cx="946150" cy="1624012"/>
          </a:xfrm>
          <a:prstGeom prst="rect">
            <a:avLst/>
          </a:prstGeom>
          <a:noFill/>
          <a:ln>
            <a:noFill/>
          </a:ln>
        </p:spPr>
      </p:pic>
      <p:pic>
        <p:nvPicPr>
          <p:cNvPr id="481" name="Google Shape;481;g382e846f0cc_0_10"/>
          <p:cNvPicPr preferRelativeResize="0"/>
          <p:nvPr/>
        </p:nvPicPr>
        <p:blipFill rotWithShape="1">
          <a:blip r:embed="rId4">
            <a:alphaModFix/>
          </a:blip>
          <a:srcRect b="0" l="0" r="0" t="0"/>
          <a:stretch/>
        </p:blipFill>
        <p:spPr>
          <a:xfrm>
            <a:off x="7162800" y="2297112"/>
            <a:ext cx="1076325" cy="16652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2"/>
                                        </p:tgtEl>
                                        <p:attrNameLst>
                                          <p:attrName>style.visibility</p:attrName>
                                        </p:attrNameLst>
                                      </p:cBhvr>
                                      <p:to>
                                        <p:strVal val="visible"/>
                                      </p:to>
                                    </p:set>
                                    <p:animEffect filter="fade" transition="in">
                                      <p:cBhvr>
                                        <p:cTn dur="500"/>
                                        <p:tgtEl>
                                          <p:spTgt spid="472"/>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3"/>
                                        </p:tgtEl>
                                        <p:attrNameLst>
                                          <p:attrName>style.visibility</p:attrName>
                                        </p:attrNameLst>
                                      </p:cBhvr>
                                      <p:to>
                                        <p:strVal val="visible"/>
                                      </p:to>
                                    </p:set>
                                    <p:animEffect filter="fade" transition="in">
                                      <p:cBhvr>
                                        <p:cTn dur="1"/>
                                        <p:tgtEl>
                                          <p:spTgt spid="473"/>
                                        </p:tgtEl>
                                      </p:cBhvr>
                                    </p:animEffec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4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
                                        </p:tgtEl>
                                        <p:attrNameLst>
                                          <p:attrName>style.visibility</p:attrName>
                                        </p:attrNameLst>
                                      </p:cBhvr>
                                      <p:to>
                                        <p:strVal val="visible"/>
                                      </p:to>
                                    </p:set>
                                    <p:animEffect filter="fade" transition="in">
                                      <p:cBhvr>
                                        <p:cTn dur="500"/>
                                        <p:tgtEl>
                                          <p:spTgt spid="476"/>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4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0" st="0"/>
                                            </p:txEl>
                                          </p:spTgt>
                                        </p:tgtEl>
                                        <p:attrNameLst>
                                          <p:attrName>style.visibility</p:attrName>
                                        </p:attrNameLst>
                                      </p:cBhvr>
                                      <p:to>
                                        <p:strVal val="visible"/>
                                      </p:to>
                                    </p:set>
                                    <p:animEffect filter="fade" transition="in">
                                      <p:cBhvr>
                                        <p:cTn dur="500"/>
                                        <p:tgtEl>
                                          <p:spTgt spid="4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1" st="1"/>
                                            </p:txEl>
                                          </p:spTgt>
                                        </p:tgtEl>
                                        <p:attrNameLst>
                                          <p:attrName>style.visibility</p:attrName>
                                        </p:attrNameLst>
                                      </p:cBhvr>
                                      <p:to>
                                        <p:strVal val="visible"/>
                                      </p:to>
                                    </p:set>
                                    <p:animEffect filter="fade" transition="in">
                                      <p:cBhvr>
                                        <p:cTn dur="500"/>
                                        <p:tgtEl>
                                          <p:spTgt spid="469">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32"/>
          <p:cNvSpPr txBox="1"/>
          <p:nvPr>
            <p:ph type="title"/>
          </p:nvPr>
        </p:nvSpPr>
        <p:spPr>
          <a:xfrm>
            <a:off x="581025" y="687387"/>
            <a:ext cx="7989887" cy="1082675"/>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None/>
            </a:pPr>
            <a:r>
              <a:t/>
            </a:r>
            <a:endParaRPr sz="2800" cap="none">
              <a:solidFill>
                <a:schemeClr val="lt1"/>
              </a:solidFill>
              <a:latin typeface="Gill Sans"/>
              <a:ea typeface="Gill Sans"/>
              <a:cs typeface="Gill Sans"/>
              <a:sym typeface="Gill Sans"/>
            </a:endParaRPr>
          </a:p>
        </p:txBody>
      </p:sp>
      <p:sp>
        <p:nvSpPr>
          <p:cNvPr id="488" name="Google Shape;488;p32"/>
          <p:cNvSpPr txBox="1"/>
          <p:nvPr>
            <p:ph idx="1" type="body"/>
          </p:nvPr>
        </p:nvSpPr>
        <p:spPr>
          <a:xfrm>
            <a:off x="581025" y="2227262"/>
            <a:ext cx="7989887" cy="3632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3312"/>
              <a:buFont typeface="Noto Sans Symbols"/>
              <a:buNone/>
            </a:pPr>
            <a:r>
              <a:rPr b="0" i="0" lang="en-US" sz="3600" u="none">
                <a:solidFill>
                  <a:schemeClr val="dk2"/>
                </a:solidFill>
                <a:latin typeface="Gill Sans"/>
                <a:ea typeface="Gill Sans"/>
                <a:cs typeface="Gill Sans"/>
                <a:sym typeface="Gill Sans"/>
              </a:rPr>
              <a:t>Public Key Authentication</a:t>
            </a:r>
            <a:endParaRPr/>
          </a:p>
        </p:txBody>
      </p:sp>
      <p:sp>
        <p:nvSpPr>
          <p:cNvPr id="489" name="Google Shape;489;p32"/>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ulim"/>
              <a:buNone/>
            </a:pPr>
            <a:r>
              <a:rPr b="0" i="0" lang="en-US" sz="900" u="none">
                <a:solidFill>
                  <a:schemeClr val="accent2"/>
                </a:solidFill>
                <a:latin typeface="Gulim"/>
                <a:ea typeface="Gulim"/>
                <a:cs typeface="Gulim"/>
                <a:sym typeface="Gulim"/>
              </a:rPr>
              <a:t>CHAPTER 9  SIMPLE AUTHENTICATION PROTOCOLS             PREPARED BY: DR. MUHAMMAD IQBAL HOSSAIN</a:t>
            </a:r>
            <a:endParaRPr/>
          </a:p>
        </p:txBody>
      </p:sp>
      <p:sp>
        <p:nvSpPr>
          <p:cNvPr id="490" name="Google Shape;490;p32"/>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ulim"/>
              <a:buNone/>
            </a:pPr>
            <a:fld id="{00000000-1234-1234-1234-123412341234}" type="slidenum">
              <a:rPr b="0" i="0" lang="en-US" sz="900" u="none">
                <a:solidFill>
                  <a:schemeClr val="accent2"/>
                </a:solidFill>
                <a:latin typeface="Gulim"/>
                <a:ea typeface="Gulim"/>
                <a:cs typeface="Gulim"/>
                <a:sym typeface="Gulim"/>
              </a:rPr>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33"/>
          <p:cNvSpPr txBox="1"/>
          <p:nvPr>
            <p:ph type="title"/>
          </p:nvPr>
        </p:nvSpPr>
        <p:spPr>
          <a:xfrm>
            <a:off x="785812" y="428625"/>
            <a:ext cx="7643812" cy="928687"/>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PUBLIC KEY NOTATION</a:t>
            </a:r>
            <a:endParaRPr/>
          </a:p>
        </p:txBody>
      </p:sp>
      <p:sp>
        <p:nvSpPr>
          <p:cNvPr id="496" name="Google Shape;496;p33"/>
          <p:cNvSpPr txBox="1"/>
          <p:nvPr>
            <p:ph idx="1" type="body"/>
          </p:nvPr>
        </p:nvSpPr>
        <p:spPr>
          <a:xfrm>
            <a:off x="785812" y="1714500"/>
            <a:ext cx="7600950" cy="4268787"/>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100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Encrypt </a:t>
            </a:r>
            <a:r>
              <a:rPr b="0" i="0" lang="en-US" sz="2800" u="none">
                <a:solidFill>
                  <a:schemeClr val="dk2"/>
                </a:solidFill>
                <a:latin typeface="Times"/>
                <a:ea typeface="Times"/>
                <a:cs typeface="Times"/>
                <a:sym typeface="Times"/>
              </a:rPr>
              <a:t>M</a:t>
            </a:r>
            <a:r>
              <a:rPr b="0" i="0" lang="en-US" sz="2800" u="none">
                <a:solidFill>
                  <a:schemeClr val="dk2"/>
                </a:solidFill>
                <a:latin typeface="Gill Sans"/>
                <a:ea typeface="Gill Sans"/>
                <a:cs typeface="Gill Sans"/>
                <a:sym typeface="Gill Sans"/>
              </a:rPr>
              <a:t> with Alice’s public key: </a:t>
            </a:r>
            <a:r>
              <a:rPr b="0" i="0" lang="en-US" sz="2800" u="none">
                <a:solidFill>
                  <a:srgbClr val="0000FF"/>
                </a:solidFill>
                <a:latin typeface="Times"/>
                <a:ea typeface="Times"/>
                <a:cs typeface="Times"/>
                <a:sym typeface="Times"/>
              </a:rPr>
              <a:t>{M}</a:t>
            </a:r>
            <a:r>
              <a:rPr b="0" baseline="-25000" i="0" lang="en-US" sz="2800" u="none">
                <a:solidFill>
                  <a:srgbClr val="0000FF"/>
                </a:solidFill>
                <a:latin typeface="Times"/>
                <a:ea typeface="Times"/>
                <a:cs typeface="Times"/>
                <a:sym typeface="Times"/>
              </a:rPr>
              <a:t>Alice</a:t>
            </a:r>
            <a:endParaRPr b="0" i="0" sz="2800" u="none">
              <a:solidFill>
                <a:srgbClr val="0000FF"/>
              </a:solidFill>
              <a:latin typeface="Gill Sans"/>
              <a:ea typeface="Gill Sans"/>
              <a:cs typeface="Gill Sans"/>
              <a:sym typeface="Gill Sans"/>
            </a:endParaRPr>
          </a:p>
          <a:p>
            <a:pPr indent="-304800" lvl="0" marL="304800" marR="0" rtl="0" algn="l">
              <a:lnSpc>
                <a:spcPct val="100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Sign </a:t>
            </a:r>
            <a:r>
              <a:rPr b="0" i="0" lang="en-US" sz="2800" u="none">
                <a:solidFill>
                  <a:schemeClr val="dk2"/>
                </a:solidFill>
                <a:latin typeface="Times"/>
                <a:ea typeface="Times"/>
                <a:cs typeface="Times"/>
                <a:sym typeface="Times"/>
              </a:rPr>
              <a:t>M</a:t>
            </a:r>
            <a:r>
              <a:rPr b="0" i="0" lang="en-US" sz="2800" u="none">
                <a:solidFill>
                  <a:schemeClr val="dk2"/>
                </a:solidFill>
                <a:latin typeface="Gill Sans"/>
                <a:ea typeface="Gill Sans"/>
                <a:cs typeface="Gill Sans"/>
                <a:sym typeface="Gill Sans"/>
              </a:rPr>
              <a:t> with Alice’s private key: </a:t>
            </a:r>
            <a:r>
              <a:rPr b="0" i="0" lang="en-US" sz="2800" u="none">
                <a:solidFill>
                  <a:srgbClr val="0000FF"/>
                </a:solidFill>
                <a:latin typeface="Times"/>
                <a:ea typeface="Times"/>
                <a:cs typeface="Times"/>
                <a:sym typeface="Times"/>
              </a:rPr>
              <a:t>[M]</a:t>
            </a:r>
            <a:r>
              <a:rPr b="0" baseline="-25000" i="0" lang="en-US" sz="2800" u="none">
                <a:solidFill>
                  <a:srgbClr val="0000FF"/>
                </a:solidFill>
                <a:latin typeface="Times"/>
                <a:ea typeface="Times"/>
                <a:cs typeface="Times"/>
                <a:sym typeface="Times"/>
              </a:rPr>
              <a:t>Alice</a:t>
            </a:r>
            <a:endParaRPr b="0" i="0" sz="2800" u="none">
              <a:solidFill>
                <a:srgbClr val="0000FF"/>
              </a:solidFill>
              <a:latin typeface="Gill Sans"/>
              <a:ea typeface="Gill Sans"/>
              <a:cs typeface="Gill Sans"/>
              <a:sym typeface="Gill Sans"/>
            </a:endParaRPr>
          </a:p>
          <a:p>
            <a:pPr indent="-304800" lvl="0" marL="304800" marR="0" rtl="0" algn="l">
              <a:lnSpc>
                <a:spcPct val="100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Then</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 </a:t>
            </a:r>
            <a:r>
              <a:rPr b="0" i="0" lang="en-US" sz="2400" u="none" cap="none" strike="noStrike">
                <a:solidFill>
                  <a:schemeClr val="dk2"/>
                </a:solidFill>
                <a:latin typeface="Times"/>
                <a:ea typeface="Times"/>
                <a:cs typeface="Times"/>
                <a:sym typeface="Times"/>
              </a:rPr>
              <a:t>[{M}</a:t>
            </a:r>
            <a:r>
              <a:rPr b="0" baseline="-25000" i="0" lang="en-US" sz="2400" u="none" cap="none" strike="noStrike">
                <a:solidFill>
                  <a:schemeClr val="dk2"/>
                </a:solidFill>
                <a:latin typeface="Times"/>
                <a:ea typeface="Times"/>
                <a:cs typeface="Times"/>
                <a:sym typeface="Times"/>
              </a:rPr>
              <a:t>Alice </a:t>
            </a:r>
            <a:r>
              <a:rPr b="0" i="0" lang="en-US" sz="2400" u="none" cap="none" strike="noStrike">
                <a:solidFill>
                  <a:schemeClr val="dk2"/>
                </a:solidFill>
                <a:latin typeface="Times"/>
                <a:ea typeface="Times"/>
                <a:cs typeface="Times"/>
                <a:sym typeface="Times"/>
              </a:rPr>
              <a:t>]</a:t>
            </a:r>
            <a:r>
              <a:rPr b="0" baseline="-25000" i="0" lang="en-US" sz="2400" u="none" cap="none" strike="noStrike">
                <a:solidFill>
                  <a:schemeClr val="dk2"/>
                </a:solidFill>
                <a:latin typeface="Times"/>
                <a:ea typeface="Times"/>
                <a:cs typeface="Times"/>
                <a:sym typeface="Times"/>
              </a:rPr>
              <a:t>Alice</a:t>
            </a:r>
            <a:r>
              <a:rPr b="0" i="0" lang="en-US" sz="2400" u="none" cap="none" strike="noStrike">
                <a:solidFill>
                  <a:schemeClr val="dk2"/>
                </a:solidFill>
                <a:latin typeface="Times"/>
                <a:ea typeface="Times"/>
                <a:cs typeface="Times"/>
                <a:sym typeface="Times"/>
              </a:rPr>
              <a:t> = M</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 </a:t>
            </a:r>
            <a:r>
              <a:rPr b="0" i="0" lang="en-US" sz="2400" u="none" cap="none" strike="noStrike">
                <a:solidFill>
                  <a:schemeClr val="dk2"/>
                </a:solidFill>
                <a:latin typeface="Times"/>
                <a:ea typeface="Times"/>
                <a:cs typeface="Times"/>
                <a:sym typeface="Times"/>
              </a:rPr>
              <a:t>{[M]</a:t>
            </a:r>
            <a:r>
              <a:rPr b="0" baseline="-25000" i="0" lang="en-US" sz="2400" u="none" cap="none" strike="noStrike">
                <a:solidFill>
                  <a:schemeClr val="dk2"/>
                </a:solidFill>
                <a:latin typeface="Times"/>
                <a:ea typeface="Times"/>
                <a:cs typeface="Times"/>
                <a:sym typeface="Times"/>
              </a:rPr>
              <a:t>Alice </a:t>
            </a:r>
            <a:r>
              <a:rPr b="0" i="0" lang="en-US" sz="2400" u="none" cap="none" strike="noStrike">
                <a:solidFill>
                  <a:schemeClr val="dk2"/>
                </a:solidFill>
                <a:latin typeface="Times"/>
                <a:ea typeface="Times"/>
                <a:cs typeface="Times"/>
                <a:sym typeface="Times"/>
              </a:rPr>
              <a:t>}</a:t>
            </a:r>
            <a:r>
              <a:rPr b="0" baseline="-25000" i="0" lang="en-US" sz="2400" u="none" cap="none" strike="noStrike">
                <a:solidFill>
                  <a:schemeClr val="dk2"/>
                </a:solidFill>
                <a:latin typeface="Times"/>
                <a:ea typeface="Times"/>
                <a:cs typeface="Times"/>
                <a:sym typeface="Times"/>
              </a:rPr>
              <a:t>Alice</a:t>
            </a:r>
            <a:r>
              <a:rPr b="0" i="0" lang="en-US" sz="2400" u="none" cap="none" strike="noStrike">
                <a:solidFill>
                  <a:schemeClr val="dk2"/>
                </a:solidFill>
                <a:latin typeface="Times"/>
                <a:ea typeface="Times"/>
                <a:cs typeface="Times"/>
                <a:sym typeface="Times"/>
              </a:rPr>
              <a:t> = M</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1" i="0" lang="en-US" sz="2800" u="none">
                <a:solidFill>
                  <a:srgbClr val="FF0000"/>
                </a:solidFill>
                <a:latin typeface="Gill Sans"/>
                <a:ea typeface="Gill Sans"/>
                <a:cs typeface="Gill Sans"/>
                <a:sym typeface="Gill Sans"/>
              </a:rPr>
              <a:t> </a:t>
            </a:r>
            <a:r>
              <a:rPr b="1" i="0" lang="en-US" sz="2800" u="none">
                <a:solidFill>
                  <a:srgbClr val="0000FF"/>
                </a:solidFill>
                <a:latin typeface="Gill Sans"/>
                <a:ea typeface="Gill Sans"/>
                <a:cs typeface="Gill Sans"/>
                <a:sym typeface="Gill Sans"/>
              </a:rPr>
              <a:t>Anybody</a:t>
            </a:r>
            <a:r>
              <a:rPr b="0" i="0" lang="en-US" sz="2800" u="none">
                <a:solidFill>
                  <a:srgbClr val="0000FF"/>
                </a:solidFill>
                <a:latin typeface="Gill Sans"/>
                <a:ea typeface="Gill Sans"/>
                <a:cs typeface="Gill Sans"/>
                <a:sym typeface="Gill Sans"/>
              </a:rPr>
              <a:t> can do </a:t>
            </a:r>
            <a:r>
              <a:rPr b="1" i="0" lang="en-US" sz="2800" u="none">
                <a:solidFill>
                  <a:srgbClr val="FF0000"/>
                </a:solidFill>
                <a:latin typeface="Gill Sans"/>
                <a:ea typeface="Gill Sans"/>
                <a:cs typeface="Gill Sans"/>
                <a:sym typeface="Gill Sans"/>
              </a:rPr>
              <a:t>public key</a:t>
            </a:r>
            <a:r>
              <a:rPr b="0" i="0" lang="en-US" sz="2800" u="none">
                <a:solidFill>
                  <a:srgbClr val="FF0000"/>
                </a:solidFill>
                <a:latin typeface="Gill Sans"/>
                <a:ea typeface="Gill Sans"/>
                <a:cs typeface="Gill Sans"/>
                <a:sym typeface="Gill Sans"/>
              </a:rPr>
              <a:t> </a:t>
            </a:r>
            <a:r>
              <a:rPr b="0" i="0" lang="en-US" sz="2800" u="none">
                <a:solidFill>
                  <a:srgbClr val="0000FF"/>
                </a:solidFill>
                <a:latin typeface="Gill Sans"/>
                <a:ea typeface="Gill Sans"/>
                <a:cs typeface="Gill Sans"/>
                <a:sym typeface="Gill Sans"/>
              </a:rPr>
              <a:t>operations</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 </a:t>
            </a:r>
            <a:r>
              <a:rPr b="0" i="0" lang="en-US" sz="2800" u="none">
                <a:solidFill>
                  <a:srgbClr val="0000FF"/>
                </a:solidFill>
                <a:latin typeface="Gill Sans"/>
                <a:ea typeface="Gill Sans"/>
                <a:cs typeface="Gill Sans"/>
                <a:sym typeface="Gill Sans"/>
              </a:rPr>
              <a:t>Only </a:t>
            </a:r>
            <a:r>
              <a:rPr b="1" i="0" lang="en-US" sz="2800" u="none">
                <a:solidFill>
                  <a:srgbClr val="0000FF"/>
                </a:solidFill>
                <a:latin typeface="Gill Sans"/>
                <a:ea typeface="Gill Sans"/>
                <a:cs typeface="Gill Sans"/>
                <a:sym typeface="Gill Sans"/>
              </a:rPr>
              <a:t>Alice</a:t>
            </a:r>
            <a:r>
              <a:rPr b="0" i="0" lang="en-US" sz="2800" u="none">
                <a:solidFill>
                  <a:srgbClr val="0000FF"/>
                </a:solidFill>
                <a:latin typeface="Gill Sans"/>
                <a:ea typeface="Gill Sans"/>
                <a:cs typeface="Gill Sans"/>
                <a:sym typeface="Gill Sans"/>
              </a:rPr>
              <a:t> can use her </a:t>
            </a:r>
            <a:r>
              <a:rPr b="1" i="0" lang="en-US" sz="2800" u="none">
                <a:solidFill>
                  <a:srgbClr val="FF0000"/>
                </a:solidFill>
                <a:latin typeface="Gill Sans"/>
                <a:ea typeface="Gill Sans"/>
                <a:cs typeface="Gill Sans"/>
                <a:sym typeface="Gill Sans"/>
              </a:rPr>
              <a:t>private key</a:t>
            </a:r>
            <a:r>
              <a:rPr b="0" i="0" lang="en-US" sz="2800" u="none">
                <a:solidFill>
                  <a:srgbClr val="FF0000"/>
                </a:solidFill>
                <a:latin typeface="Gill Sans"/>
                <a:ea typeface="Gill Sans"/>
                <a:cs typeface="Gill Sans"/>
                <a:sym typeface="Gill Sans"/>
              </a:rPr>
              <a:t> </a:t>
            </a:r>
            <a:r>
              <a:rPr b="0" i="0" lang="en-US" sz="2800" u="none">
                <a:solidFill>
                  <a:srgbClr val="0000FF"/>
                </a:solidFill>
                <a:latin typeface="Gill Sans"/>
                <a:ea typeface="Gill Sans"/>
                <a:cs typeface="Gill Sans"/>
                <a:sym typeface="Gill Sans"/>
              </a:rPr>
              <a:t>(sign)</a:t>
            </a:r>
            <a:endParaRPr/>
          </a:p>
        </p:txBody>
      </p:sp>
      <p:sp>
        <p:nvSpPr>
          <p:cNvPr id="497" name="Google Shape;497;p33"/>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498" name="Google Shape;498;p33"/>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34"/>
          <p:cNvSpPr txBox="1"/>
          <p:nvPr>
            <p:ph type="title"/>
          </p:nvPr>
        </p:nvSpPr>
        <p:spPr>
          <a:xfrm>
            <a:off x="785812" y="457200"/>
            <a:ext cx="7643812" cy="9001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PUBLIC KEY AUTHENTICATION</a:t>
            </a:r>
            <a:endParaRPr/>
          </a:p>
        </p:txBody>
      </p:sp>
      <p:sp>
        <p:nvSpPr>
          <p:cNvPr id="504" name="Google Shape;504;p34"/>
          <p:cNvSpPr txBox="1"/>
          <p:nvPr>
            <p:ph idx="1" type="body"/>
          </p:nvPr>
        </p:nvSpPr>
        <p:spPr>
          <a:xfrm>
            <a:off x="785812" y="4608512"/>
            <a:ext cx="7786687" cy="1820862"/>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80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Is this secure?</a:t>
            </a:r>
            <a:endParaRPr/>
          </a:p>
          <a:p>
            <a:pPr indent="-304800" lvl="0" marL="304800" marR="0" rtl="0" algn="l">
              <a:lnSpc>
                <a:spcPct val="80000"/>
              </a:lnSpc>
              <a:spcBef>
                <a:spcPts val="1160"/>
              </a:spcBef>
              <a:spcAft>
                <a:spcPts val="0"/>
              </a:spcAft>
              <a:buClr>
                <a:schemeClr val="accent2"/>
              </a:buClr>
              <a:buSzPts val="2576"/>
              <a:buFont typeface="Noto Sans Symbols"/>
              <a:buChar char="◼"/>
            </a:pPr>
            <a:r>
              <a:rPr b="0" i="0" lang="en-US" sz="2800" u="none">
                <a:solidFill>
                  <a:srgbClr val="FF0000"/>
                </a:solidFill>
                <a:latin typeface="Gill Sans"/>
                <a:ea typeface="Gill Sans"/>
                <a:cs typeface="Gill Sans"/>
                <a:sym typeface="Gill Sans"/>
              </a:rPr>
              <a:t>Trudy can get Alice to decrypt anything!</a:t>
            </a:r>
            <a:endParaRPr/>
          </a:p>
          <a:p>
            <a:pPr indent="-304800" lvl="1" marL="628650" marR="0" rtl="0" algn="l">
              <a:lnSpc>
                <a:spcPct val="8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Should not use </a:t>
            </a:r>
            <a:r>
              <a:rPr b="0" i="0" lang="en-US" sz="2400" u="none" cap="none" strike="noStrike">
                <a:solidFill>
                  <a:srgbClr val="8B8B8B"/>
                </a:solidFill>
                <a:latin typeface="Gill Sans"/>
                <a:ea typeface="Gill Sans"/>
                <a:cs typeface="Gill Sans"/>
                <a:sym typeface="Gill Sans"/>
              </a:rPr>
              <a:t>the key for encryption</a:t>
            </a:r>
            <a:endParaRPr/>
          </a:p>
          <a:p>
            <a:pPr indent="-304800" lvl="1" marL="628650" marR="0" rtl="0" algn="l">
              <a:lnSpc>
                <a:spcPct val="8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Must have two key pairs</a:t>
            </a:r>
            <a:endParaRPr/>
          </a:p>
        </p:txBody>
      </p:sp>
      <p:sp>
        <p:nvSpPr>
          <p:cNvPr id="505" name="Google Shape;505;p34"/>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506" name="Google Shape;506;p34"/>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cxnSp>
        <p:nvCxnSpPr>
          <p:cNvPr id="507" name="Google Shape;507;p34"/>
          <p:cNvCxnSpPr/>
          <p:nvPr/>
        </p:nvCxnSpPr>
        <p:spPr>
          <a:xfrm>
            <a:off x="2286000" y="2706687"/>
            <a:ext cx="46482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508" name="Google Shape;508;p34"/>
          <p:cNvCxnSpPr/>
          <p:nvPr/>
        </p:nvCxnSpPr>
        <p:spPr>
          <a:xfrm rot="10800000">
            <a:off x="2209800" y="3316287"/>
            <a:ext cx="4724400" cy="0"/>
          </a:xfrm>
          <a:prstGeom prst="straightConnector1">
            <a:avLst/>
          </a:prstGeom>
          <a:noFill/>
          <a:ln cap="flat" cmpd="sng" w="50800">
            <a:solidFill>
              <a:schemeClr val="dk1"/>
            </a:solidFill>
            <a:prstDash val="solid"/>
            <a:miter lim="800000"/>
            <a:headEnd len="med" w="med" type="none"/>
            <a:tailEnd len="med" w="med" type="triangle"/>
          </a:ln>
        </p:spPr>
      </p:cxnSp>
      <p:sp>
        <p:nvSpPr>
          <p:cNvPr id="509" name="Google Shape;509;p34"/>
          <p:cNvSpPr txBox="1"/>
          <p:nvPr/>
        </p:nvSpPr>
        <p:spPr>
          <a:xfrm>
            <a:off x="1143000" y="4017962"/>
            <a:ext cx="9001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Alice</a:t>
            </a:r>
            <a:endParaRPr/>
          </a:p>
        </p:txBody>
      </p:sp>
      <p:sp>
        <p:nvSpPr>
          <p:cNvPr id="510" name="Google Shape;510;p34"/>
          <p:cNvSpPr txBox="1"/>
          <p:nvPr/>
        </p:nvSpPr>
        <p:spPr>
          <a:xfrm>
            <a:off x="7239000" y="3978275"/>
            <a:ext cx="7175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a:t>
            </a:r>
            <a:endParaRPr/>
          </a:p>
        </p:txBody>
      </p:sp>
      <p:cxnSp>
        <p:nvCxnSpPr>
          <p:cNvPr id="511" name="Google Shape;511;p34"/>
          <p:cNvCxnSpPr/>
          <p:nvPr/>
        </p:nvCxnSpPr>
        <p:spPr>
          <a:xfrm>
            <a:off x="2286000" y="4002087"/>
            <a:ext cx="4648200" cy="0"/>
          </a:xfrm>
          <a:prstGeom prst="straightConnector1">
            <a:avLst/>
          </a:prstGeom>
          <a:noFill/>
          <a:ln cap="flat" cmpd="sng" w="50800">
            <a:solidFill>
              <a:schemeClr val="dk1"/>
            </a:solidFill>
            <a:prstDash val="solid"/>
            <a:miter lim="800000"/>
            <a:headEnd len="med" w="med" type="none"/>
            <a:tailEnd len="med" w="med" type="triangle"/>
          </a:ln>
        </p:spPr>
      </p:cxnSp>
      <p:sp>
        <p:nvSpPr>
          <p:cNvPr id="512" name="Google Shape;512;p34"/>
          <p:cNvSpPr txBox="1"/>
          <p:nvPr/>
        </p:nvSpPr>
        <p:spPr>
          <a:xfrm>
            <a:off x="3608369" y="2209800"/>
            <a:ext cx="2290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“I’m Alice”</a:t>
            </a:r>
            <a:endParaRPr/>
          </a:p>
        </p:txBody>
      </p:sp>
      <p:sp>
        <p:nvSpPr>
          <p:cNvPr id="513" name="Google Shape;513;p34"/>
          <p:cNvSpPr txBox="1"/>
          <p:nvPr/>
        </p:nvSpPr>
        <p:spPr>
          <a:xfrm>
            <a:off x="3792521" y="2778125"/>
            <a:ext cx="1371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{R}</a:t>
            </a:r>
            <a:r>
              <a:rPr b="0" baseline="-25000" i="0" lang="en-US" sz="2400" u="none">
                <a:solidFill>
                  <a:schemeClr val="dk1"/>
                </a:solidFill>
                <a:latin typeface="Times"/>
                <a:ea typeface="Times"/>
                <a:cs typeface="Times"/>
                <a:sym typeface="Times"/>
              </a:rPr>
              <a:t>Alice</a:t>
            </a:r>
            <a:endParaRPr/>
          </a:p>
        </p:txBody>
      </p:sp>
      <p:sp>
        <p:nvSpPr>
          <p:cNvPr id="514" name="Google Shape;514;p34"/>
          <p:cNvSpPr txBox="1"/>
          <p:nvPr/>
        </p:nvSpPr>
        <p:spPr>
          <a:xfrm>
            <a:off x="4014787" y="3521075"/>
            <a:ext cx="4048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R</a:t>
            </a:r>
            <a:endParaRPr/>
          </a:p>
        </p:txBody>
      </p:sp>
      <p:pic>
        <p:nvPicPr>
          <p:cNvPr id="515" name="Google Shape;515;p34"/>
          <p:cNvPicPr preferRelativeResize="0"/>
          <p:nvPr/>
        </p:nvPicPr>
        <p:blipFill rotWithShape="1">
          <a:blip r:embed="rId3">
            <a:alphaModFix/>
          </a:blip>
          <a:srcRect b="0" l="0" r="0" t="0"/>
          <a:stretch/>
        </p:blipFill>
        <p:spPr>
          <a:xfrm>
            <a:off x="1066800" y="2414587"/>
            <a:ext cx="946150" cy="1624012"/>
          </a:xfrm>
          <a:prstGeom prst="rect">
            <a:avLst/>
          </a:prstGeom>
          <a:noFill/>
          <a:ln>
            <a:noFill/>
          </a:ln>
        </p:spPr>
      </p:pic>
      <p:pic>
        <p:nvPicPr>
          <p:cNvPr id="516" name="Google Shape;516;p34"/>
          <p:cNvPicPr preferRelativeResize="0"/>
          <p:nvPr/>
        </p:nvPicPr>
        <p:blipFill rotWithShape="1">
          <a:blip r:embed="rId4">
            <a:alphaModFix/>
          </a:blip>
          <a:srcRect b="0" l="0" r="0" t="0"/>
          <a:stretch/>
        </p:blipFill>
        <p:spPr>
          <a:xfrm>
            <a:off x="7153275" y="2297112"/>
            <a:ext cx="1076325" cy="16652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7"/>
                                        </p:tgtEl>
                                        <p:attrNameLst>
                                          <p:attrName>style.visibility</p:attrName>
                                        </p:attrNameLst>
                                      </p:cBhvr>
                                      <p:to>
                                        <p:strVal val="visible"/>
                                      </p:to>
                                    </p:set>
                                    <p:animEffect filter="fade" transition="in">
                                      <p:cBhvr>
                                        <p:cTn dur="500"/>
                                        <p:tgtEl>
                                          <p:spTgt spid="507"/>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5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8"/>
                                        </p:tgtEl>
                                        <p:attrNameLst>
                                          <p:attrName>style.visibility</p:attrName>
                                        </p:attrNameLst>
                                      </p:cBhvr>
                                      <p:to>
                                        <p:strVal val="visible"/>
                                      </p:to>
                                    </p:set>
                                    <p:animEffect filter="fade" transition="in">
                                      <p:cBhvr>
                                        <p:cTn dur="1"/>
                                        <p:tgtEl>
                                          <p:spTgt spid="508"/>
                                        </p:tgtEl>
                                      </p:cBhvr>
                                    </p:animEffec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5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
                                        </p:tgtEl>
                                        <p:attrNameLst>
                                          <p:attrName>style.visibility</p:attrName>
                                        </p:attrNameLst>
                                      </p:cBhvr>
                                      <p:to>
                                        <p:strVal val="visible"/>
                                      </p:to>
                                    </p:set>
                                    <p:animEffect filter="fade" transition="in">
                                      <p:cBhvr>
                                        <p:cTn dur="500"/>
                                        <p:tgtEl>
                                          <p:spTgt spid="511"/>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5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4">
                                            <p:txEl>
                                              <p:pRg end="0" st="0"/>
                                            </p:txEl>
                                          </p:spTgt>
                                        </p:tgtEl>
                                        <p:attrNameLst>
                                          <p:attrName>style.visibility</p:attrName>
                                        </p:attrNameLst>
                                      </p:cBhvr>
                                      <p:to>
                                        <p:strVal val="visible"/>
                                      </p:to>
                                    </p:set>
                                    <p:animEffect filter="fade" transition="in">
                                      <p:cBhvr>
                                        <p:cTn dur="500"/>
                                        <p:tgtEl>
                                          <p:spTgt spid="50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4">
                                            <p:txEl>
                                              <p:pRg end="1" st="1"/>
                                            </p:txEl>
                                          </p:spTgt>
                                        </p:tgtEl>
                                        <p:attrNameLst>
                                          <p:attrName>style.visibility</p:attrName>
                                        </p:attrNameLst>
                                      </p:cBhvr>
                                      <p:to>
                                        <p:strVal val="visible"/>
                                      </p:to>
                                    </p:set>
                                    <p:animEffect filter="fade" transition="in">
                                      <p:cBhvr>
                                        <p:cTn dur="500"/>
                                        <p:tgtEl>
                                          <p:spTgt spid="50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4">
                                            <p:txEl>
                                              <p:pRg end="2" st="2"/>
                                            </p:txEl>
                                          </p:spTgt>
                                        </p:tgtEl>
                                        <p:attrNameLst>
                                          <p:attrName>style.visibility</p:attrName>
                                        </p:attrNameLst>
                                      </p:cBhvr>
                                      <p:to>
                                        <p:strVal val="visible"/>
                                      </p:to>
                                    </p:set>
                                    <p:animEffect filter="fade" transition="in">
                                      <p:cBhvr>
                                        <p:cTn dur="500"/>
                                        <p:tgtEl>
                                          <p:spTgt spid="50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4">
                                            <p:txEl>
                                              <p:pRg end="3" st="3"/>
                                            </p:txEl>
                                          </p:spTgt>
                                        </p:tgtEl>
                                        <p:attrNameLst>
                                          <p:attrName>style.visibility</p:attrName>
                                        </p:attrNameLst>
                                      </p:cBhvr>
                                      <p:to>
                                        <p:strVal val="visible"/>
                                      </p:to>
                                    </p:set>
                                    <p:animEffect filter="fade" transition="in">
                                      <p:cBhvr>
                                        <p:cTn dur="500"/>
                                        <p:tgtEl>
                                          <p:spTgt spid="504">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35"/>
          <p:cNvSpPr txBox="1"/>
          <p:nvPr>
            <p:ph type="title"/>
          </p:nvPr>
        </p:nvSpPr>
        <p:spPr>
          <a:xfrm>
            <a:off x="785812" y="457200"/>
            <a:ext cx="7143750" cy="9001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PUBLIC KEY AUTHENTICATION</a:t>
            </a:r>
            <a:endParaRPr/>
          </a:p>
        </p:txBody>
      </p:sp>
      <p:sp>
        <p:nvSpPr>
          <p:cNvPr id="522" name="Google Shape;522;p35"/>
          <p:cNvSpPr txBox="1"/>
          <p:nvPr>
            <p:ph idx="1" type="body"/>
          </p:nvPr>
        </p:nvSpPr>
        <p:spPr>
          <a:xfrm>
            <a:off x="785812" y="4643437"/>
            <a:ext cx="7824787" cy="1785937"/>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80000"/>
              </a:lnSpc>
              <a:spcBef>
                <a:spcPts val="0"/>
              </a:spcBef>
              <a:spcAft>
                <a:spcPts val="0"/>
              </a:spcAft>
              <a:buClr>
                <a:schemeClr val="accent2"/>
              </a:buClr>
              <a:buSzPts val="2392"/>
              <a:buFont typeface="Noto Sans Symbols"/>
              <a:buChar char="◼"/>
            </a:pPr>
            <a:r>
              <a:rPr b="0" i="0" lang="en-US" sz="2600" u="none">
                <a:solidFill>
                  <a:schemeClr val="dk2"/>
                </a:solidFill>
                <a:latin typeface="Gill Sans"/>
                <a:ea typeface="Gill Sans"/>
                <a:cs typeface="Gill Sans"/>
                <a:sym typeface="Gill Sans"/>
              </a:rPr>
              <a:t>Is this secure?</a:t>
            </a:r>
            <a:endParaRPr/>
          </a:p>
          <a:p>
            <a:pPr indent="-304800" lvl="0" marL="304800" marR="0" rtl="0" algn="l">
              <a:lnSpc>
                <a:spcPct val="80000"/>
              </a:lnSpc>
              <a:spcBef>
                <a:spcPts val="1120"/>
              </a:spcBef>
              <a:spcAft>
                <a:spcPts val="0"/>
              </a:spcAft>
              <a:buClr>
                <a:schemeClr val="accent2"/>
              </a:buClr>
              <a:buSzPts val="2392"/>
              <a:buFont typeface="Noto Sans Symbols"/>
              <a:buChar char="◼"/>
            </a:pPr>
            <a:r>
              <a:rPr b="0" i="0" lang="en-US" sz="2600" u="none">
                <a:solidFill>
                  <a:srgbClr val="FF0000"/>
                </a:solidFill>
                <a:latin typeface="Gill Sans"/>
                <a:ea typeface="Gill Sans"/>
                <a:cs typeface="Gill Sans"/>
                <a:sym typeface="Gill Sans"/>
              </a:rPr>
              <a:t>Trudy can get Alice to sign anything!</a:t>
            </a:r>
            <a:endParaRPr/>
          </a:p>
          <a:p>
            <a:pPr indent="-304800" lvl="1" marL="628650" marR="0" rtl="0" algn="l">
              <a:lnSpc>
                <a:spcPct val="80000"/>
              </a:lnSpc>
              <a:spcBef>
                <a:spcPts val="1040"/>
              </a:spcBef>
              <a:spcAft>
                <a:spcPts val="0"/>
              </a:spcAft>
              <a:buClr>
                <a:schemeClr val="accent2"/>
              </a:buClr>
              <a:buSzPts val="2024"/>
              <a:buFont typeface="Noto Sans Symbols"/>
              <a:buChar char="◼"/>
            </a:pPr>
            <a:r>
              <a:rPr b="0" i="0" lang="en-US" sz="2200" u="none" cap="none" strike="noStrike">
                <a:solidFill>
                  <a:schemeClr val="dk2"/>
                </a:solidFill>
                <a:latin typeface="Gill Sans"/>
                <a:ea typeface="Gill Sans"/>
                <a:cs typeface="Gill Sans"/>
                <a:sym typeface="Gill Sans"/>
              </a:rPr>
              <a:t>Should not use </a:t>
            </a:r>
            <a:r>
              <a:rPr b="0" i="0" lang="en-US" sz="2200" u="none" cap="none" strike="noStrike">
                <a:solidFill>
                  <a:srgbClr val="8B8B8B"/>
                </a:solidFill>
                <a:latin typeface="Gill Sans"/>
                <a:ea typeface="Gill Sans"/>
                <a:cs typeface="Gill Sans"/>
                <a:sym typeface="Gill Sans"/>
              </a:rPr>
              <a:t>the key for sign</a:t>
            </a:r>
            <a:endParaRPr/>
          </a:p>
          <a:p>
            <a:pPr indent="-304800" lvl="1" marL="628650" marR="0" rtl="0" algn="l">
              <a:lnSpc>
                <a:spcPct val="80000"/>
              </a:lnSpc>
              <a:spcBef>
                <a:spcPts val="1040"/>
              </a:spcBef>
              <a:spcAft>
                <a:spcPts val="0"/>
              </a:spcAft>
              <a:buClr>
                <a:schemeClr val="accent2"/>
              </a:buClr>
              <a:buSzPts val="2024"/>
              <a:buFont typeface="Noto Sans Symbols"/>
              <a:buChar char="◼"/>
            </a:pPr>
            <a:r>
              <a:rPr b="0" i="0" lang="en-US" sz="2200" u="none" cap="none" strike="noStrike">
                <a:solidFill>
                  <a:schemeClr val="dk2"/>
                </a:solidFill>
                <a:latin typeface="Gill Sans"/>
                <a:ea typeface="Gill Sans"/>
                <a:cs typeface="Gill Sans"/>
                <a:sym typeface="Gill Sans"/>
              </a:rPr>
              <a:t>Must have two key pairs</a:t>
            </a:r>
            <a:endParaRPr/>
          </a:p>
        </p:txBody>
      </p:sp>
      <p:sp>
        <p:nvSpPr>
          <p:cNvPr id="523" name="Google Shape;523;p35"/>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524" name="Google Shape;524;p35"/>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cxnSp>
        <p:nvCxnSpPr>
          <p:cNvPr id="525" name="Google Shape;525;p35"/>
          <p:cNvCxnSpPr/>
          <p:nvPr/>
        </p:nvCxnSpPr>
        <p:spPr>
          <a:xfrm>
            <a:off x="2286000" y="2706687"/>
            <a:ext cx="46482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526" name="Google Shape;526;p35"/>
          <p:cNvCxnSpPr/>
          <p:nvPr/>
        </p:nvCxnSpPr>
        <p:spPr>
          <a:xfrm rot="10800000">
            <a:off x="2209800" y="3316287"/>
            <a:ext cx="4724400" cy="0"/>
          </a:xfrm>
          <a:prstGeom prst="straightConnector1">
            <a:avLst/>
          </a:prstGeom>
          <a:noFill/>
          <a:ln cap="flat" cmpd="sng" w="50800">
            <a:solidFill>
              <a:schemeClr val="dk1"/>
            </a:solidFill>
            <a:prstDash val="solid"/>
            <a:miter lim="800000"/>
            <a:headEnd len="med" w="med" type="none"/>
            <a:tailEnd len="med" w="med" type="triangle"/>
          </a:ln>
        </p:spPr>
      </p:cxnSp>
      <p:sp>
        <p:nvSpPr>
          <p:cNvPr id="527" name="Google Shape;527;p35"/>
          <p:cNvSpPr txBox="1"/>
          <p:nvPr/>
        </p:nvSpPr>
        <p:spPr>
          <a:xfrm>
            <a:off x="1143000" y="4017962"/>
            <a:ext cx="9001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Alice</a:t>
            </a:r>
            <a:endParaRPr/>
          </a:p>
        </p:txBody>
      </p:sp>
      <p:sp>
        <p:nvSpPr>
          <p:cNvPr id="528" name="Google Shape;528;p35"/>
          <p:cNvSpPr txBox="1"/>
          <p:nvPr/>
        </p:nvSpPr>
        <p:spPr>
          <a:xfrm>
            <a:off x="7359650" y="3978275"/>
            <a:ext cx="7175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a:t>
            </a:r>
            <a:endParaRPr/>
          </a:p>
        </p:txBody>
      </p:sp>
      <p:cxnSp>
        <p:nvCxnSpPr>
          <p:cNvPr id="529" name="Google Shape;529;p35"/>
          <p:cNvCxnSpPr/>
          <p:nvPr/>
        </p:nvCxnSpPr>
        <p:spPr>
          <a:xfrm>
            <a:off x="2286000" y="4002087"/>
            <a:ext cx="4648200" cy="0"/>
          </a:xfrm>
          <a:prstGeom prst="straightConnector1">
            <a:avLst/>
          </a:prstGeom>
          <a:noFill/>
          <a:ln cap="flat" cmpd="sng" w="50800">
            <a:solidFill>
              <a:schemeClr val="dk1"/>
            </a:solidFill>
            <a:prstDash val="solid"/>
            <a:miter lim="800000"/>
            <a:headEnd len="med" w="med" type="none"/>
            <a:tailEnd len="med" w="med" type="triangle"/>
          </a:ln>
        </p:spPr>
      </p:cxnSp>
      <p:sp>
        <p:nvSpPr>
          <p:cNvPr id="530" name="Google Shape;530;p35"/>
          <p:cNvSpPr txBox="1"/>
          <p:nvPr/>
        </p:nvSpPr>
        <p:spPr>
          <a:xfrm>
            <a:off x="3608387" y="2209800"/>
            <a:ext cx="15382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“I’m Alice”</a:t>
            </a:r>
            <a:endParaRPr/>
          </a:p>
        </p:txBody>
      </p:sp>
      <p:sp>
        <p:nvSpPr>
          <p:cNvPr id="531" name="Google Shape;531;p35"/>
          <p:cNvSpPr txBox="1"/>
          <p:nvPr/>
        </p:nvSpPr>
        <p:spPr>
          <a:xfrm>
            <a:off x="4038600" y="2819400"/>
            <a:ext cx="4048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R</a:t>
            </a:r>
            <a:endParaRPr/>
          </a:p>
        </p:txBody>
      </p:sp>
      <p:sp>
        <p:nvSpPr>
          <p:cNvPr id="532" name="Google Shape;532;p35"/>
          <p:cNvSpPr txBox="1"/>
          <p:nvPr/>
        </p:nvSpPr>
        <p:spPr>
          <a:xfrm>
            <a:off x="3810000" y="3481387"/>
            <a:ext cx="10128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[R]</a:t>
            </a:r>
            <a:r>
              <a:rPr b="0" baseline="-25000" i="0" lang="en-US" sz="2400" u="none">
                <a:solidFill>
                  <a:schemeClr val="dk1"/>
                </a:solidFill>
                <a:latin typeface="Times"/>
                <a:ea typeface="Times"/>
                <a:cs typeface="Times"/>
                <a:sym typeface="Times"/>
              </a:rPr>
              <a:t>Alice</a:t>
            </a:r>
            <a:endParaRPr/>
          </a:p>
        </p:txBody>
      </p:sp>
      <p:pic>
        <p:nvPicPr>
          <p:cNvPr id="533" name="Google Shape;533;p35"/>
          <p:cNvPicPr preferRelativeResize="0"/>
          <p:nvPr/>
        </p:nvPicPr>
        <p:blipFill rotWithShape="1">
          <a:blip r:embed="rId3">
            <a:alphaModFix/>
          </a:blip>
          <a:srcRect b="0" l="0" r="0" t="0"/>
          <a:stretch/>
        </p:blipFill>
        <p:spPr>
          <a:xfrm>
            <a:off x="1066800" y="2414587"/>
            <a:ext cx="946150" cy="1624012"/>
          </a:xfrm>
          <a:prstGeom prst="rect">
            <a:avLst/>
          </a:prstGeom>
          <a:noFill/>
          <a:ln>
            <a:noFill/>
          </a:ln>
        </p:spPr>
      </p:pic>
      <p:pic>
        <p:nvPicPr>
          <p:cNvPr id="534" name="Google Shape;534;p35"/>
          <p:cNvPicPr preferRelativeResize="0"/>
          <p:nvPr/>
        </p:nvPicPr>
        <p:blipFill rotWithShape="1">
          <a:blip r:embed="rId4">
            <a:alphaModFix/>
          </a:blip>
          <a:srcRect b="0" l="0" r="0" t="0"/>
          <a:stretch/>
        </p:blipFill>
        <p:spPr>
          <a:xfrm>
            <a:off x="7162800" y="2286000"/>
            <a:ext cx="1076325" cy="16652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5"/>
                                        </p:tgtEl>
                                        <p:attrNameLst>
                                          <p:attrName>style.visibility</p:attrName>
                                        </p:attrNameLst>
                                      </p:cBhvr>
                                      <p:to>
                                        <p:strVal val="visible"/>
                                      </p:to>
                                    </p:set>
                                    <p:animEffect filter="fade" transition="in">
                                      <p:cBhvr>
                                        <p:cTn dur="500"/>
                                        <p:tgtEl>
                                          <p:spTgt spid="525"/>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5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gtEl>
                                        <p:attrNameLst>
                                          <p:attrName>style.visibility</p:attrName>
                                        </p:attrNameLst>
                                      </p:cBhvr>
                                      <p:to>
                                        <p:strVal val="visible"/>
                                      </p:to>
                                    </p:set>
                                    <p:animEffect filter="fade" transition="in">
                                      <p:cBhvr>
                                        <p:cTn dur="1"/>
                                        <p:tgtEl>
                                          <p:spTgt spid="526"/>
                                        </p:tgtEl>
                                      </p:cBhvr>
                                    </p:animEffec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5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9"/>
                                        </p:tgtEl>
                                        <p:attrNameLst>
                                          <p:attrName>style.visibility</p:attrName>
                                        </p:attrNameLst>
                                      </p:cBhvr>
                                      <p:to>
                                        <p:strVal val="visible"/>
                                      </p:to>
                                    </p:set>
                                    <p:animEffect filter="fade" transition="in">
                                      <p:cBhvr>
                                        <p:cTn dur="500"/>
                                        <p:tgtEl>
                                          <p:spTgt spid="529"/>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5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
                                            <p:txEl>
                                              <p:pRg end="0" st="0"/>
                                            </p:txEl>
                                          </p:spTgt>
                                        </p:tgtEl>
                                        <p:attrNameLst>
                                          <p:attrName>style.visibility</p:attrName>
                                        </p:attrNameLst>
                                      </p:cBhvr>
                                      <p:to>
                                        <p:strVal val="visible"/>
                                      </p:to>
                                    </p:set>
                                    <p:animEffect filter="fade" transition="in">
                                      <p:cBhvr>
                                        <p:cTn dur="500"/>
                                        <p:tgtEl>
                                          <p:spTgt spid="5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
                                            <p:txEl>
                                              <p:pRg end="1" st="1"/>
                                            </p:txEl>
                                          </p:spTgt>
                                        </p:tgtEl>
                                        <p:attrNameLst>
                                          <p:attrName>style.visibility</p:attrName>
                                        </p:attrNameLst>
                                      </p:cBhvr>
                                      <p:to>
                                        <p:strVal val="visible"/>
                                      </p:to>
                                    </p:set>
                                    <p:animEffect filter="fade" transition="in">
                                      <p:cBhvr>
                                        <p:cTn dur="500"/>
                                        <p:tgtEl>
                                          <p:spTgt spid="5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
                                            <p:txEl>
                                              <p:pRg end="2" st="2"/>
                                            </p:txEl>
                                          </p:spTgt>
                                        </p:tgtEl>
                                        <p:attrNameLst>
                                          <p:attrName>style.visibility</p:attrName>
                                        </p:attrNameLst>
                                      </p:cBhvr>
                                      <p:to>
                                        <p:strVal val="visible"/>
                                      </p:to>
                                    </p:set>
                                    <p:animEffect filter="fade" transition="in">
                                      <p:cBhvr>
                                        <p:cTn dur="500"/>
                                        <p:tgtEl>
                                          <p:spTgt spid="52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
                                            <p:txEl>
                                              <p:pRg end="3" st="3"/>
                                            </p:txEl>
                                          </p:spTgt>
                                        </p:tgtEl>
                                        <p:attrNameLst>
                                          <p:attrName>style.visibility</p:attrName>
                                        </p:attrNameLst>
                                      </p:cBhvr>
                                      <p:to>
                                        <p:strVal val="visible"/>
                                      </p:to>
                                    </p:set>
                                    <p:animEffect filter="fade" transition="in">
                                      <p:cBhvr>
                                        <p:cTn dur="500"/>
                                        <p:tgtEl>
                                          <p:spTgt spid="522">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36"/>
          <p:cNvSpPr txBox="1"/>
          <p:nvPr>
            <p:ph type="title"/>
          </p:nvPr>
        </p:nvSpPr>
        <p:spPr>
          <a:xfrm>
            <a:off x="785812" y="122237"/>
            <a:ext cx="7215187" cy="123507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PUBLIC KEYS</a:t>
            </a:r>
            <a:endParaRPr/>
          </a:p>
        </p:txBody>
      </p:sp>
      <p:sp>
        <p:nvSpPr>
          <p:cNvPr id="540" name="Google Shape;540;p36"/>
          <p:cNvSpPr txBox="1"/>
          <p:nvPr>
            <p:ph idx="1" type="body"/>
          </p:nvPr>
        </p:nvSpPr>
        <p:spPr>
          <a:xfrm>
            <a:off x="785812" y="1714500"/>
            <a:ext cx="7600950" cy="4268787"/>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100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Generally, a bad idea to use the same key pair for encryption and signing</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Instead, should have…</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…one key pair for encryption/decryption</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 and a different key pair for signing/verifying signatures</a:t>
            </a:r>
            <a:endParaRPr/>
          </a:p>
        </p:txBody>
      </p:sp>
      <p:sp>
        <p:nvSpPr>
          <p:cNvPr id="541" name="Google Shape;541;p36"/>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542" name="Google Shape;542;p36"/>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37"/>
          <p:cNvSpPr txBox="1"/>
          <p:nvPr>
            <p:ph type="title"/>
          </p:nvPr>
        </p:nvSpPr>
        <p:spPr>
          <a:xfrm>
            <a:off x="785812" y="533400"/>
            <a:ext cx="7143750" cy="8239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SESSION KEY</a:t>
            </a:r>
            <a:endParaRPr/>
          </a:p>
        </p:txBody>
      </p:sp>
      <p:sp>
        <p:nvSpPr>
          <p:cNvPr id="548" name="Google Shape;548;p37"/>
          <p:cNvSpPr txBox="1"/>
          <p:nvPr>
            <p:ph idx="1" type="body"/>
          </p:nvPr>
        </p:nvSpPr>
        <p:spPr>
          <a:xfrm>
            <a:off x="785812" y="1557337"/>
            <a:ext cx="7456487" cy="4578350"/>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90000"/>
              </a:lnSpc>
              <a:spcBef>
                <a:spcPts val="0"/>
              </a:spcBef>
              <a:spcAft>
                <a:spcPts val="0"/>
              </a:spcAft>
              <a:buClr>
                <a:schemeClr val="accent2"/>
              </a:buClr>
              <a:buSzPts val="2576"/>
              <a:buFont typeface="Noto Sans Symbols"/>
              <a:buChar char="◼"/>
            </a:pPr>
            <a:r>
              <a:rPr b="0" i="0" lang="en-US" sz="2800" u="none">
                <a:solidFill>
                  <a:srgbClr val="0000FF"/>
                </a:solidFill>
                <a:latin typeface="Gill Sans"/>
                <a:ea typeface="Gill Sans"/>
                <a:cs typeface="Gill Sans"/>
                <a:sym typeface="Gill Sans"/>
              </a:rPr>
              <a:t>Session key</a:t>
            </a:r>
            <a:r>
              <a:rPr b="0" i="0" lang="en-US" sz="2800" u="none">
                <a:solidFill>
                  <a:schemeClr val="dk2"/>
                </a:solidFill>
                <a:latin typeface="Gill Sans"/>
                <a:ea typeface="Gill Sans"/>
                <a:cs typeface="Gill Sans"/>
                <a:sym typeface="Gill Sans"/>
              </a:rPr>
              <a:t>: temporary key, used for a short time period</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Usually, a session key is required</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i.e. a symmetric key for a particular session</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used for confidentiality and/or integrity</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Limit damage if one session key compromised</a:t>
            </a:r>
            <a:endParaRPr/>
          </a:p>
        </p:txBody>
      </p:sp>
      <p:sp>
        <p:nvSpPr>
          <p:cNvPr id="549" name="Google Shape;549;p37"/>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550" name="Google Shape;550;p37"/>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38"/>
          <p:cNvSpPr txBox="1"/>
          <p:nvPr>
            <p:ph type="title"/>
          </p:nvPr>
        </p:nvSpPr>
        <p:spPr>
          <a:xfrm>
            <a:off x="785812" y="533400"/>
            <a:ext cx="7143750" cy="8239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SESSION KEY</a:t>
            </a:r>
            <a:endParaRPr/>
          </a:p>
        </p:txBody>
      </p:sp>
      <p:sp>
        <p:nvSpPr>
          <p:cNvPr id="556" name="Google Shape;556;p38"/>
          <p:cNvSpPr txBox="1"/>
          <p:nvPr>
            <p:ph idx="1" type="body"/>
          </p:nvPr>
        </p:nvSpPr>
        <p:spPr>
          <a:xfrm>
            <a:off x="785812" y="1714500"/>
            <a:ext cx="7456487" cy="4421187"/>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90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How to authenticate and establish a session key (i.e. shared symmetric key)?</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When authentication completed, want Alice and Bob to share a session key</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Trudy cannot break the authentication…</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…and Trudy cannot determine the session key</a:t>
            </a:r>
            <a:endParaRPr/>
          </a:p>
        </p:txBody>
      </p:sp>
      <p:sp>
        <p:nvSpPr>
          <p:cNvPr id="557" name="Google Shape;557;p38"/>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558" name="Google Shape;558;p38"/>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39"/>
          <p:cNvSpPr txBox="1"/>
          <p:nvPr>
            <p:ph type="title"/>
          </p:nvPr>
        </p:nvSpPr>
        <p:spPr>
          <a:xfrm>
            <a:off x="755650" y="260350"/>
            <a:ext cx="7643812" cy="80962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PUB KEY AUTHEN AND SESS KEY</a:t>
            </a:r>
            <a:endParaRPr/>
          </a:p>
        </p:txBody>
      </p:sp>
      <p:sp>
        <p:nvSpPr>
          <p:cNvPr id="564" name="Google Shape;564;p39"/>
          <p:cNvSpPr txBox="1"/>
          <p:nvPr>
            <p:ph idx="1" type="body"/>
          </p:nvPr>
        </p:nvSpPr>
        <p:spPr>
          <a:xfrm>
            <a:off x="785812" y="4124325"/>
            <a:ext cx="7748587" cy="2233612"/>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75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Is this secure?</a:t>
            </a:r>
            <a:endParaRPr/>
          </a:p>
          <a:p>
            <a:pPr indent="-304800" lvl="1" marL="628650" marR="0" rtl="0" algn="l">
              <a:lnSpc>
                <a:spcPct val="75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Alice is authenticated and session key is secure</a:t>
            </a:r>
            <a:endParaRPr/>
          </a:p>
          <a:p>
            <a:pPr indent="-304800" lvl="1" marL="628650" marR="0" rtl="0" algn="l">
              <a:lnSpc>
                <a:spcPct val="75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Alice’s “nonce”, </a:t>
            </a:r>
            <a:r>
              <a:rPr b="0" i="0" lang="en-US" sz="2400" u="none" cap="none" strike="noStrike">
                <a:solidFill>
                  <a:schemeClr val="dk2"/>
                </a:solidFill>
                <a:latin typeface="Times"/>
                <a:ea typeface="Times"/>
                <a:cs typeface="Times"/>
                <a:sym typeface="Times"/>
              </a:rPr>
              <a:t>R</a:t>
            </a:r>
            <a:r>
              <a:rPr b="0" i="0" lang="en-US" sz="2400" u="none" cap="none" strike="noStrike">
                <a:solidFill>
                  <a:schemeClr val="dk2"/>
                </a:solidFill>
                <a:latin typeface="Gill Sans"/>
                <a:ea typeface="Gill Sans"/>
                <a:cs typeface="Gill Sans"/>
                <a:sym typeface="Gill Sans"/>
              </a:rPr>
              <a:t>, useless to authenticate Bob</a:t>
            </a:r>
            <a:endParaRPr/>
          </a:p>
          <a:p>
            <a:pPr indent="-304800" lvl="1" marL="628650" marR="0" rtl="0" algn="l">
              <a:lnSpc>
                <a:spcPct val="75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The key </a:t>
            </a:r>
            <a:r>
              <a:rPr b="0" i="0" lang="en-US" sz="2400" u="none" cap="none" strike="noStrike">
                <a:solidFill>
                  <a:schemeClr val="dk2"/>
                </a:solidFill>
                <a:latin typeface="Times"/>
                <a:ea typeface="Times"/>
                <a:cs typeface="Times"/>
                <a:sym typeface="Times"/>
              </a:rPr>
              <a:t>K</a:t>
            </a:r>
            <a:r>
              <a:rPr b="0" i="0" lang="en-US" sz="2400" u="none" cap="none" strike="noStrike">
                <a:solidFill>
                  <a:schemeClr val="dk2"/>
                </a:solidFill>
                <a:latin typeface="Gill Sans"/>
                <a:ea typeface="Gill Sans"/>
                <a:cs typeface="Gill Sans"/>
                <a:sym typeface="Gill Sans"/>
              </a:rPr>
              <a:t> is acting as Bob’s nonce to Alice</a:t>
            </a:r>
            <a:endParaRPr/>
          </a:p>
          <a:p>
            <a:pPr indent="-304800" lvl="0" marL="304800" marR="0" rtl="0" algn="l">
              <a:lnSpc>
                <a:spcPct val="75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No mutual authentication</a:t>
            </a:r>
            <a:endParaRPr/>
          </a:p>
        </p:txBody>
      </p:sp>
      <p:sp>
        <p:nvSpPr>
          <p:cNvPr id="565" name="Google Shape;565;p39"/>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566" name="Google Shape;566;p39"/>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grpSp>
        <p:nvGrpSpPr>
          <p:cNvPr id="567" name="Google Shape;567;p39"/>
          <p:cNvGrpSpPr/>
          <p:nvPr/>
        </p:nvGrpSpPr>
        <p:grpSpPr>
          <a:xfrm>
            <a:off x="2041525" y="1973250"/>
            <a:ext cx="4648200" cy="496899"/>
            <a:chOff x="1928813" y="2074851"/>
            <a:chExt cx="4648200" cy="496899"/>
          </a:xfrm>
        </p:grpSpPr>
        <p:cxnSp>
          <p:nvCxnSpPr>
            <p:cNvPr id="568" name="Google Shape;568;p39"/>
            <p:cNvCxnSpPr/>
            <p:nvPr/>
          </p:nvCxnSpPr>
          <p:spPr>
            <a:xfrm>
              <a:off x="1928813" y="2571750"/>
              <a:ext cx="4648200" cy="0"/>
            </a:xfrm>
            <a:prstGeom prst="straightConnector1">
              <a:avLst/>
            </a:prstGeom>
            <a:noFill/>
            <a:ln cap="flat" cmpd="sng" w="50800">
              <a:solidFill>
                <a:schemeClr val="dk1"/>
              </a:solidFill>
              <a:prstDash val="solid"/>
              <a:miter lim="800000"/>
              <a:headEnd len="med" w="med" type="none"/>
              <a:tailEnd len="med" w="med" type="triangle"/>
            </a:ln>
          </p:spPr>
        </p:cxnSp>
        <p:sp>
          <p:nvSpPr>
            <p:cNvPr id="569" name="Google Shape;569;p39"/>
            <p:cNvSpPr txBox="1"/>
            <p:nvPr/>
          </p:nvSpPr>
          <p:spPr>
            <a:xfrm>
              <a:off x="3071813" y="2074851"/>
              <a:ext cx="2362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“I’m Alice”, R</a:t>
              </a:r>
              <a:endParaRPr/>
            </a:p>
          </p:txBody>
        </p:sp>
      </p:grpSp>
      <p:grpSp>
        <p:nvGrpSpPr>
          <p:cNvPr id="570" name="Google Shape;570;p39"/>
          <p:cNvGrpSpPr/>
          <p:nvPr/>
        </p:nvGrpSpPr>
        <p:grpSpPr>
          <a:xfrm>
            <a:off x="2041525" y="2544750"/>
            <a:ext cx="4724400" cy="538174"/>
            <a:chOff x="1852613" y="2643176"/>
            <a:chExt cx="4724400" cy="538174"/>
          </a:xfrm>
        </p:grpSpPr>
        <p:sp>
          <p:nvSpPr>
            <p:cNvPr id="571" name="Google Shape;571;p39"/>
            <p:cNvSpPr txBox="1"/>
            <p:nvPr/>
          </p:nvSpPr>
          <p:spPr>
            <a:xfrm>
              <a:off x="3452813" y="2643176"/>
              <a:ext cx="1640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{R,K}</a:t>
              </a:r>
              <a:r>
                <a:rPr b="0" baseline="-25000" i="0" lang="en-US" sz="2400" u="none">
                  <a:solidFill>
                    <a:schemeClr val="dk1"/>
                  </a:solidFill>
                  <a:latin typeface="Times"/>
                  <a:ea typeface="Times"/>
                  <a:cs typeface="Times"/>
                  <a:sym typeface="Times"/>
                </a:rPr>
                <a:t>Alice</a:t>
              </a:r>
              <a:endParaRPr/>
            </a:p>
          </p:txBody>
        </p:sp>
        <p:cxnSp>
          <p:nvCxnSpPr>
            <p:cNvPr id="572" name="Google Shape;572;p39"/>
            <p:cNvCxnSpPr/>
            <p:nvPr/>
          </p:nvCxnSpPr>
          <p:spPr>
            <a:xfrm rot="10800000">
              <a:off x="1852613" y="3181350"/>
              <a:ext cx="4724400" cy="0"/>
            </a:xfrm>
            <a:prstGeom prst="straightConnector1">
              <a:avLst/>
            </a:prstGeom>
            <a:noFill/>
            <a:ln cap="flat" cmpd="sng" w="50800">
              <a:solidFill>
                <a:schemeClr val="dk1"/>
              </a:solidFill>
              <a:prstDash val="solid"/>
              <a:miter lim="800000"/>
              <a:headEnd len="med" w="med" type="none"/>
              <a:tailEnd len="med" w="med" type="triangle"/>
            </a:ln>
          </p:spPr>
        </p:cxnSp>
      </p:grpSp>
      <p:grpSp>
        <p:nvGrpSpPr>
          <p:cNvPr id="573" name="Google Shape;573;p39"/>
          <p:cNvGrpSpPr/>
          <p:nvPr/>
        </p:nvGrpSpPr>
        <p:grpSpPr>
          <a:xfrm>
            <a:off x="2112962" y="3106737"/>
            <a:ext cx="4648200" cy="581028"/>
            <a:chOff x="1928794" y="3490914"/>
            <a:chExt cx="4648200" cy="581028"/>
          </a:xfrm>
        </p:grpSpPr>
        <p:cxnSp>
          <p:nvCxnSpPr>
            <p:cNvPr id="574" name="Google Shape;574;p39"/>
            <p:cNvCxnSpPr/>
            <p:nvPr/>
          </p:nvCxnSpPr>
          <p:spPr>
            <a:xfrm>
              <a:off x="1928794" y="4071942"/>
              <a:ext cx="4648200" cy="0"/>
            </a:xfrm>
            <a:prstGeom prst="straightConnector1">
              <a:avLst/>
            </a:prstGeom>
            <a:noFill/>
            <a:ln cap="flat" cmpd="sng" w="50800">
              <a:solidFill>
                <a:schemeClr val="dk1"/>
              </a:solidFill>
              <a:prstDash val="solid"/>
              <a:miter lim="800000"/>
              <a:headEnd len="med" w="med" type="none"/>
              <a:tailEnd len="med" w="med" type="triangle"/>
            </a:ln>
          </p:spPr>
        </p:cxnSp>
        <p:sp>
          <p:nvSpPr>
            <p:cNvPr id="575" name="Google Shape;575;p39"/>
            <p:cNvSpPr txBox="1"/>
            <p:nvPr/>
          </p:nvSpPr>
          <p:spPr>
            <a:xfrm>
              <a:off x="3286116" y="3490914"/>
              <a:ext cx="1690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{R +1,K}</a:t>
              </a:r>
              <a:r>
                <a:rPr b="0" baseline="-25000" i="0" lang="en-US" sz="2400" u="none">
                  <a:solidFill>
                    <a:schemeClr val="dk1"/>
                  </a:solidFill>
                  <a:latin typeface="Times"/>
                  <a:ea typeface="Times"/>
                  <a:cs typeface="Times"/>
                  <a:sym typeface="Times"/>
                </a:rPr>
                <a:t>Bob</a:t>
              </a:r>
              <a:endParaRPr/>
            </a:p>
          </p:txBody>
        </p:sp>
      </p:grpSp>
      <p:grpSp>
        <p:nvGrpSpPr>
          <p:cNvPr id="576" name="Google Shape;576;p39"/>
          <p:cNvGrpSpPr/>
          <p:nvPr/>
        </p:nvGrpSpPr>
        <p:grpSpPr>
          <a:xfrm>
            <a:off x="965200" y="2043112"/>
            <a:ext cx="946150" cy="2081212"/>
            <a:chOff x="754063" y="2151063"/>
            <a:chExt cx="946150" cy="2081214"/>
          </a:xfrm>
        </p:grpSpPr>
        <p:sp>
          <p:nvSpPr>
            <p:cNvPr id="577" name="Google Shape;577;p39"/>
            <p:cNvSpPr txBox="1"/>
            <p:nvPr/>
          </p:nvSpPr>
          <p:spPr>
            <a:xfrm>
              <a:off x="785786" y="3714752"/>
              <a:ext cx="900113"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Alice</a:t>
              </a:r>
              <a:endParaRPr/>
            </a:p>
          </p:txBody>
        </p:sp>
        <p:pic>
          <p:nvPicPr>
            <p:cNvPr id="578" name="Google Shape;578;p39"/>
            <p:cNvPicPr preferRelativeResize="0"/>
            <p:nvPr/>
          </p:nvPicPr>
          <p:blipFill rotWithShape="1">
            <a:blip r:embed="rId3">
              <a:alphaModFix/>
            </a:blip>
            <a:srcRect b="0" l="0" r="0" t="0"/>
            <a:stretch/>
          </p:blipFill>
          <p:spPr>
            <a:xfrm>
              <a:off x="754063" y="2151063"/>
              <a:ext cx="946150" cy="1624012"/>
            </a:xfrm>
            <a:prstGeom prst="rect">
              <a:avLst/>
            </a:prstGeom>
            <a:noFill/>
            <a:ln>
              <a:noFill/>
            </a:ln>
          </p:spPr>
        </p:pic>
      </p:grpSp>
      <p:grpSp>
        <p:nvGrpSpPr>
          <p:cNvPr id="579" name="Google Shape;579;p39"/>
          <p:cNvGrpSpPr/>
          <p:nvPr/>
        </p:nvGrpSpPr>
        <p:grpSpPr>
          <a:xfrm>
            <a:off x="6970712" y="1973262"/>
            <a:ext cx="1076325" cy="2162175"/>
            <a:chOff x="6805613" y="2085975"/>
            <a:chExt cx="1076325" cy="2162175"/>
          </a:xfrm>
        </p:grpSpPr>
        <p:sp>
          <p:nvSpPr>
            <p:cNvPr id="580" name="Google Shape;580;p39"/>
            <p:cNvSpPr txBox="1"/>
            <p:nvPr/>
          </p:nvSpPr>
          <p:spPr>
            <a:xfrm>
              <a:off x="6958013" y="3730625"/>
              <a:ext cx="7175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a:t>
              </a:r>
              <a:endParaRPr/>
            </a:p>
          </p:txBody>
        </p:sp>
        <p:pic>
          <p:nvPicPr>
            <p:cNvPr id="581" name="Google Shape;581;p39"/>
            <p:cNvPicPr preferRelativeResize="0"/>
            <p:nvPr/>
          </p:nvPicPr>
          <p:blipFill rotWithShape="1">
            <a:blip r:embed="rId4">
              <a:alphaModFix/>
            </a:blip>
            <a:srcRect b="0" l="0" r="0" t="0"/>
            <a:stretch/>
          </p:blipFill>
          <p:spPr>
            <a:xfrm>
              <a:off x="6805613" y="2085975"/>
              <a:ext cx="1076325" cy="1665288"/>
            </a:xfrm>
            <a:prstGeom prst="rect">
              <a:avLst/>
            </a:prstGeom>
            <a:noFill/>
            <a:ln>
              <a:noFill/>
            </a:ln>
          </p:spPr>
        </p:pic>
      </p:grpSp>
      <p:sp>
        <p:nvSpPr>
          <p:cNvPr id="582" name="Google Shape;582;p39"/>
          <p:cNvSpPr txBox="1"/>
          <p:nvPr/>
        </p:nvSpPr>
        <p:spPr>
          <a:xfrm>
            <a:off x="833437" y="1268412"/>
            <a:ext cx="7748587" cy="6429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chemeClr val="dk2"/>
              </a:buClr>
              <a:buSzPts val="1960"/>
              <a:buFont typeface="Noto Sans Symbols"/>
              <a:buChar char="●"/>
            </a:pPr>
            <a:r>
              <a:rPr b="1" i="0" lang="en-US" sz="2800" u="none">
                <a:solidFill>
                  <a:srgbClr val="0000FF"/>
                </a:solidFill>
                <a:latin typeface="Gill Sans"/>
                <a:ea typeface="Gill Sans"/>
                <a:cs typeface="Gill Sans"/>
                <a:sym typeface="Gill Sans"/>
              </a:rPr>
              <a:t>Using Encryptions of Alice and Bob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4">
                                            <p:txEl>
                                              <p:pRg end="0" st="0"/>
                                            </p:txEl>
                                          </p:spTgt>
                                        </p:tgtEl>
                                        <p:attrNameLst>
                                          <p:attrName>style.visibility</p:attrName>
                                        </p:attrNameLst>
                                      </p:cBhvr>
                                      <p:to>
                                        <p:strVal val="visible"/>
                                      </p:to>
                                    </p:set>
                                    <p:animEffect filter="fade" transition="in">
                                      <p:cBhvr>
                                        <p:cTn dur="500"/>
                                        <p:tgtEl>
                                          <p:spTgt spid="5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4">
                                            <p:txEl>
                                              <p:pRg end="1" st="1"/>
                                            </p:txEl>
                                          </p:spTgt>
                                        </p:tgtEl>
                                        <p:attrNameLst>
                                          <p:attrName>style.visibility</p:attrName>
                                        </p:attrNameLst>
                                      </p:cBhvr>
                                      <p:to>
                                        <p:strVal val="visible"/>
                                      </p:to>
                                    </p:set>
                                    <p:animEffect filter="fade" transition="in">
                                      <p:cBhvr>
                                        <p:cTn dur="500"/>
                                        <p:tgtEl>
                                          <p:spTgt spid="5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4">
                                            <p:txEl>
                                              <p:pRg end="2" st="2"/>
                                            </p:txEl>
                                          </p:spTgt>
                                        </p:tgtEl>
                                        <p:attrNameLst>
                                          <p:attrName>style.visibility</p:attrName>
                                        </p:attrNameLst>
                                      </p:cBhvr>
                                      <p:to>
                                        <p:strVal val="visible"/>
                                      </p:to>
                                    </p:set>
                                    <p:animEffect filter="fade" transition="in">
                                      <p:cBhvr>
                                        <p:cTn dur="500"/>
                                        <p:tgtEl>
                                          <p:spTgt spid="5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4">
                                            <p:txEl>
                                              <p:pRg end="3" st="3"/>
                                            </p:txEl>
                                          </p:spTgt>
                                        </p:tgtEl>
                                        <p:attrNameLst>
                                          <p:attrName>style.visibility</p:attrName>
                                        </p:attrNameLst>
                                      </p:cBhvr>
                                      <p:to>
                                        <p:strVal val="visible"/>
                                      </p:to>
                                    </p:set>
                                    <p:animEffect filter="fade" transition="in">
                                      <p:cBhvr>
                                        <p:cTn dur="500"/>
                                        <p:tgtEl>
                                          <p:spTgt spid="56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4">
                                            <p:txEl>
                                              <p:pRg end="4" st="4"/>
                                            </p:txEl>
                                          </p:spTgt>
                                        </p:tgtEl>
                                        <p:attrNameLst>
                                          <p:attrName>style.visibility</p:attrName>
                                        </p:attrNameLst>
                                      </p:cBhvr>
                                      <p:to>
                                        <p:strVal val="visible"/>
                                      </p:to>
                                    </p:set>
                                    <p:animEffect filter="fade" transition="in">
                                      <p:cBhvr>
                                        <p:cTn dur="500"/>
                                        <p:tgtEl>
                                          <p:spTgt spid="564">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40"/>
          <p:cNvSpPr txBox="1"/>
          <p:nvPr>
            <p:ph type="title"/>
          </p:nvPr>
        </p:nvSpPr>
        <p:spPr>
          <a:xfrm>
            <a:off x="581025" y="687387"/>
            <a:ext cx="7989887" cy="1082675"/>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None/>
            </a:pPr>
            <a:r>
              <a:t/>
            </a:r>
            <a:endParaRPr sz="2800" cap="none">
              <a:solidFill>
                <a:schemeClr val="lt1"/>
              </a:solidFill>
              <a:latin typeface="Gill Sans"/>
              <a:ea typeface="Gill Sans"/>
              <a:cs typeface="Gill Sans"/>
              <a:sym typeface="Gill Sans"/>
            </a:endParaRPr>
          </a:p>
        </p:txBody>
      </p:sp>
      <p:sp>
        <p:nvSpPr>
          <p:cNvPr id="588" name="Google Shape;588;p40"/>
          <p:cNvSpPr txBox="1"/>
          <p:nvPr>
            <p:ph idx="1" type="body"/>
          </p:nvPr>
        </p:nvSpPr>
        <p:spPr>
          <a:xfrm>
            <a:off x="581025" y="2227262"/>
            <a:ext cx="7989887" cy="3632200"/>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100000"/>
              </a:lnSpc>
              <a:spcBef>
                <a:spcPts val="0"/>
              </a:spcBef>
              <a:spcAft>
                <a:spcPts val="0"/>
              </a:spcAft>
              <a:buClr>
                <a:schemeClr val="accent2"/>
              </a:buClr>
              <a:buSzPts val="1656"/>
              <a:buFont typeface="Noto Sans Symbols"/>
              <a:buChar char="◼"/>
            </a:pPr>
            <a:r>
              <a:rPr b="0" i="0" lang="en-US" sz="1800" u="none">
                <a:solidFill>
                  <a:schemeClr val="dk2"/>
                </a:solidFill>
                <a:latin typeface="Gill Sans"/>
                <a:ea typeface="Gill Sans"/>
                <a:cs typeface="Gill Sans"/>
                <a:sym typeface="Gill Sans"/>
              </a:rPr>
              <a:t>next</a:t>
            </a:r>
            <a:endParaRPr/>
          </a:p>
        </p:txBody>
      </p:sp>
      <p:sp>
        <p:nvSpPr>
          <p:cNvPr id="589" name="Google Shape;589;p40"/>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ulim"/>
              <a:buNone/>
            </a:pPr>
            <a:r>
              <a:rPr b="0" i="0" lang="en-US" sz="900" u="none">
                <a:solidFill>
                  <a:schemeClr val="accent2"/>
                </a:solidFill>
                <a:latin typeface="Gulim"/>
                <a:ea typeface="Gulim"/>
                <a:cs typeface="Gulim"/>
                <a:sym typeface="Gulim"/>
              </a:rPr>
              <a:t>CHAPTER 9  SIMPLE AUTHENTICATION PROTOCOLS             PREPARED BY: DR. MUHAMMAD IQBAL HOSSAIN</a:t>
            </a:r>
            <a:endParaRPr/>
          </a:p>
        </p:txBody>
      </p:sp>
      <p:sp>
        <p:nvSpPr>
          <p:cNvPr id="590" name="Google Shape;590;p40"/>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ulim"/>
              <a:buNone/>
            </a:pPr>
            <a:fld id="{00000000-1234-1234-1234-123412341234}" type="slidenum">
              <a:rPr b="0" i="0" lang="en-US" sz="900" u="none">
                <a:solidFill>
                  <a:schemeClr val="accent2"/>
                </a:solidFill>
                <a:latin typeface="Gulim"/>
                <a:ea typeface="Gulim"/>
                <a:cs typeface="Gulim"/>
                <a:sym typeface="Gulim"/>
              </a:rPr>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41"/>
          <p:cNvSpPr txBox="1"/>
          <p:nvPr>
            <p:ph type="title"/>
          </p:nvPr>
        </p:nvSpPr>
        <p:spPr>
          <a:xfrm>
            <a:off x="795337" y="333375"/>
            <a:ext cx="7672387" cy="736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PUB KEY AUTHEN AND SESS KEY</a:t>
            </a:r>
            <a:endParaRPr/>
          </a:p>
        </p:txBody>
      </p:sp>
      <p:sp>
        <p:nvSpPr>
          <p:cNvPr id="596" name="Google Shape;596;p41"/>
          <p:cNvSpPr txBox="1"/>
          <p:nvPr>
            <p:ph idx="1" type="body"/>
          </p:nvPr>
        </p:nvSpPr>
        <p:spPr>
          <a:xfrm>
            <a:off x="785812" y="4508500"/>
            <a:ext cx="7643812" cy="1550987"/>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90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Is this secure?</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Mutual authentication (good), but…</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 session key is not secret (very bad)</a:t>
            </a:r>
            <a:endParaRPr/>
          </a:p>
        </p:txBody>
      </p:sp>
      <p:sp>
        <p:nvSpPr>
          <p:cNvPr id="597" name="Google Shape;597;p41"/>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598" name="Google Shape;598;p41"/>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grpSp>
        <p:nvGrpSpPr>
          <p:cNvPr id="599" name="Google Shape;599;p41"/>
          <p:cNvGrpSpPr/>
          <p:nvPr/>
        </p:nvGrpSpPr>
        <p:grpSpPr>
          <a:xfrm>
            <a:off x="977900" y="1947855"/>
            <a:ext cx="7172325" cy="2327282"/>
            <a:chOff x="1214422" y="2536819"/>
            <a:chExt cx="7172325" cy="2325695"/>
          </a:xfrm>
        </p:grpSpPr>
        <p:cxnSp>
          <p:nvCxnSpPr>
            <p:cNvPr id="600" name="Google Shape;600;p41"/>
            <p:cNvCxnSpPr/>
            <p:nvPr/>
          </p:nvCxnSpPr>
          <p:spPr>
            <a:xfrm>
              <a:off x="2433622" y="3033714"/>
              <a:ext cx="46482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601" name="Google Shape;601;p41"/>
            <p:cNvCxnSpPr/>
            <p:nvPr/>
          </p:nvCxnSpPr>
          <p:spPr>
            <a:xfrm rot="10800000">
              <a:off x="2357422" y="3643314"/>
              <a:ext cx="4724400" cy="0"/>
            </a:xfrm>
            <a:prstGeom prst="straightConnector1">
              <a:avLst/>
            </a:prstGeom>
            <a:noFill/>
            <a:ln cap="flat" cmpd="sng" w="50800">
              <a:solidFill>
                <a:schemeClr val="dk1"/>
              </a:solidFill>
              <a:prstDash val="solid"/>
              <a:miter lim="800000"/>
              <a:headEnd len="med" w="med" type="none"/>
              <a:tailEnd len="med" w="med" type="triangle"/>
            </a:ln>
          </p:spPr>
        </p:cxnSp>
        <p:sp>
          <p:nvSpPr>
            <p:cNvPr id="602" name="Google Shape;602;p41"/>
            <p:cNvSpPr txBox="1"/>
            <p:nvPr/>
          </p:nvSpPr>
          <p:spPr>
            <a:xfrm>
              <a:off x="1304910" y="4344989"/>
              <a:ext cx="9001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Alice</a:t>
              </a:r>
              <a:endParaRPr/>
            </a:p>
          </p:txBody>
        </p:sp>
        <p:sp>
          <p:nvSpPr>
            <p:cNvPr id="603" name="Google Shape;603;p41"/>
            <p:cNvSpPr txBox="1"/>
            <p:nvPr/>
          </p:nvSpPr>
          <p:spPr>
            <a:xfrm>
              <a:off x="7507272" y="4305301"/>
              <a:ext cx="7175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a:t>
              </a:r>
              <a:endParaRPr/>
            </a:p>
          </p:txBody>
        </p:sp>
        <p:cxnSp>
          <p:nvCxnSpPr>
            <p:cNvPr id="604" name="Google Shape;604;p41"/>
            <p:cNvCxnSpPr/>
            <p:nvPr/>
          </p:nvCxnSpPr>
          <p:spPr>
            <a:xfrm>
              <a:off x="2433622" y="4329114"/>
              <a:ext cx="4648200" cy="0"/>
            </a:xfrm>
            <a:prstGeom prst="straightConnector1">
              <a:avLst/>
            </a:prstGeom>
            <a:noFill/>
            <a:ln cap="flat" cmpd="sng" w="50800">
              <a:solidFill>
                <a:schemeClr val="dk1"/>
              </a:solidFill>
              <a:prstDash val="solid"/>
              <a:miter lim="800000"/>
              <a:headEnd len="med" w="med" type="none"/>
              <a:tailEnd len="med" w="med" type="triangle"/>
            </a:ln>
          </p:spPr>
        </p:cxnSp>
        <p:sp>
          <p:nvSpPr>
            <p:cNvPr id="605" name="Google Shape;605;p41"/>
            <p:cNvSpPr txBox="1"/>
            <p:nvPr/>
          </p:nvSpPr>
          <p:spPr>
            <a:xfrm>
              <a:off x="3652822" y="2536819"/>
              <a:ext cx="2434500" cy="461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“I’m Alice”, R</a:t>
              </a:r>
              <a:endParaRPr/>
            </a:p>
          </p:txBody>
        </p:sp>
        <p:sp>
          <p:nvSpPr>
            <p:cNvPr id="606" name="Google Shape;606;p41"/>
            <p:cNvSpPr txBox="1"/>
            <p:nvPr/>
          </p:nvSpPr>
          <p:spPr>
            <a:xfrm>
              <a:off x="4029060" y="3105151"/>
              <a:ext cx="122396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[R,K]</a:t>
              </a:r>
              <a:r>
                <a:rPr b="0" baseline="-25000" i="0" lang="en-US" sz="2400" u="none">
                  <a:solidFill>
                    <a:schemeClr val="dk1"/>
                  </a:solidFill>
                  <a:latin typeface="Times"/>
                  <a:ea typeface="Times"/>
                  <a:cs typeface="Times"/>
                  <a:sym typeface="Times"/>
                </a:rPr>
                <a:t>Bob</a:t>
              </a:r>
              <a:endParaRPr/>
            </a:p>
          </p:txBody>
        </p:sp>
        <p:sp>
          <p:nvSpPr>
            <p:cNvPr id="607" name="Google Shape;607;p41"/>
            <p:cNvSpPr txBox="1"/>
            <p:nvPr/>
          </p:nvSpPr>
          <p:spPr>
            <a:xfrm>
              <a:off x="3790935" y="3808414"/>
              <a:ext cx="17335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[R +1,K]</a:t>
              </a:r>
              <a:r>
                <a:rPr b="0" baseline="-25000" i="0" lang="en-US" sz="2400" u="none">
                  <a:solidFill>
                    <a:schemeClr val="dk1"/>
                  </a:solidFill>
                  <a:latin typeface="Times"/>
                  <a:ea typeface="Times"/>
                  <a:cs typeface="Times"/>
                  <a:sym typeface="Times"/>
                </a:rPr>
                <a:t>Alice</a:t>
              </a:r>
              <a:endParaRPr/>
            </a:p>
          </p:txBody>
        </p:sp>
        <p:pic>
          <p:nvPicPr>
            <p:cNvPr id="608" name="Google Shape;608;p41"/>
            <p:cNvPicPr preferRelativeResize="0"/>
            <p:nvPr/>
          </p:nvPicPr>
          <p:blipFill rotWithShape="1">
            <a:blip r:embed="rId3">
              <a:alphaModFix/>
            </a:blip>
            <a:srcRect b="0" l="0" r="0" t="0"/>
            <a:stretch/>
          </p:blipFill>
          <p:spPr>
            <a:xfrm>
              <a:off x="1214422" y="2741614"/>
              <a:ext cx="946150" cy="1624012"/>
            </a:xfrm>
            <a:prstGeom prst="rect">
              <a:avLst/>
            </a:prstGeom>
            <a:noFill/>
            <a:ln>
              <a:noFill/>
            </a:ln>
          </p:spPr>
        </p:pic>
        <p:pic>
          <p:nvPicPr>
            <p:cNvPr id="609" name="Google Shape;609;p41"/>
            <p:cNvPicPr preferRelativeResize="0"/>
            <p:nvPr/>
          </p:nvPicPr>
          <p:blipFill rotWithShape="1">
            <a:blip r:embed="rId4">
              <a:alphaModFix/>
            </a:blip>
            <a:srcRect b="0" l="0" r="0" t="0"/>
            <a:stretch/>
          </p:blipFill>
          <p:spPr>
            <a:xfrm>
              <a:off x="7310422" y="2624139"/>
              <a:ext cx="1076325" cy="1665287"/>
            </a:xfrm>
            <a:prstGeom prst="rect">
              <a:avLst/>
            </a:prstGeom>
            <a:noFill/>
            <a:ln>
              <a:noFill/>
            </a:ln>
          </p:spPr>
        </p:pic>
      </p:grpSp>
      <p:sp>
        <p:nvSpPr>
          <p:cNvPr id="610" name="Google Shape;610;p41"/>
          <p:cNvSpPr txBox="1"/>
          <p:nvPr/>
        </p:nvSpPr>
        <p:spPr>
          <a:xfrm>
            <a:off x="900112" y="1268412"/>
            <a:ext cx="7748587" cy="6429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chemeClr val="dk2"/>
              </a:buClr>
              <a:buSzPts val="1960"/>
              <a:buFont typeface="Noto Sans Symbols"/>
              <a:buChar char="●"/>
            </a:pPr>
            <a:r>
              <a:rPr b="1" i="0" lang="en-US" sz="2800" u="none">
                <a:solidFill>
                  <a:srgbClr val="0000FF"/>
                </a:solidFill>
                <a:latin typeface="Gill Sans"/>
                <a:ea typeface="Gill Sans"/>
                <a:cs typeface="Gill Sans"/>
                <a:sym typeface="Gill Sans"/>
              </a:rPr>
              <a:t>Using Signs of Alice and Bob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42"/>
          <p:cNvSpPr txBox="1"/>
          <p:nvPr>
            <p:ph type="title"/>
          </p:nvPr>
        </p:nvSpPr>
        <p:spPr>
          <a:xfrm>
            <a:off x="785812" y="457200"/>
            <a:ext cx="7672387" cy="9001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PUB KEY AUTHEN AND SESS KEY</a:t>
            </a:r>
            <a:endParaRPr/>
          </a:p>
        </p:txBody>
      </p:sp>
      <p:sp>
        <p:nvSpPr>
          <p:cNvPr id="616" name="Google Shape;616;p42"/>
          <p:cNvSpPr txBox="1"/>
          <p:nvPr>
            <p:ph idx="1" type="body"/>
          </p:nvPr>
        </p:nvSpPr>
        <p:spPr>
          <a:xfrm>
            <a:off x="785812" y="4608512"/>
            <a:ext cx="7600950" cy="1527175"/>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85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Is this secure?</a:t>
            </a:r>
            <a:endParaRPr/>
          </a:p>
          <a:p>
            <a:pPr indent="-304800" lvl="0" marL="304800" marR="0" rtl="0" algn="l">
              <a:lnSpc>
                <a:spcPct val="85000"/>
              </a:lnSpc>
              <a:spcBef>
                <a:spcPts val="1160"/>
              </a:spcBef>
              <a:spcAft>
                <a:spcPts val="0"/>
              </a:spcAft>
              <a:buClr>
                <a:schemeClr val="accent2"/>
              </a:buClr>
              <a:buSzPts val="2576"/>
              <a:buFont typeface="Noto Sans Symbols"/>
              <a:buChar char="◼"/>
            </a:pPr>
            <a:r>
              <a:rPr b="0" i="0" lang="en-US" sz="2800" u="none">
                <a:solidFill>
                  <a:srgbClr val="FF0000"/>
                </a:solidFill>
                <a:latin typeface="Gill Sans"/>
                <a:ea typeface="Gill Sans"/>
                <a:cs typeface="Gill Sans"/>
                <a:sym typeface="Gill Sans"/>
              </a:rPr>
              <a:t>Seems to be OK</a:t>
            </a:r>
            <a:endParaRPr/>
          </a:p>
          <a:p>
            <a:pPr indent="-304800" lvl="0" marL="304800" marR="0" rtl="0" algn="l">
              <a:lnSpc>
                <a:spcPct val="85000"/>
              </a:lnSpc>
              <a:spcBef>
                <a:spcPts val="1160"/>
              </a:spcBef>
              <a:spcAft>
                <a:spcPts val="0"/>
              </a:spcAft>
              <a:buClr>
                <a:schemeClr val="accent2"/>
              </a:buClr>
              <a:buSzPts val="2576"/>
              <a:buFont typeface="Noto Sans Symbols"/>
              <a:buChar char="◼"/>
            </a:pPr>
            <a:r>
              <a:rPr b="0" i="0" lang="en-US" sz="2800" u="none">
                <a:solidFill>
                  <a:srgbClr val="FF0000"/>
                </a:solidFill>
                <a:latin typeface="Gill Sans"/>
                <a:ea typeface="Gill Sans"/>
                <a:cs typeface="Gill Sans"/>
                <a:sym typeface="Gill Sans"/>
              </a:rPr>
              <a:t>Mutual authentication and session key!</a:t>
            </a:r>
            <a:endParaRPr/>
          </a:p>
        </p:txBody>
      </p:sp>
      <p:sp>
        <p:nvSpPr>
          <p:cNvPr id="617" name="Google Shape;617;p42"/>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618" name="Google Shape;618;p42"/>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grpSp>
        <p:nvGrpSpPr>
          <p:cNvPr id="619" name="Google Shape;619;p42"/>
          <p:cNvGrpSpPr/>
          <p:nvPr/>
        </p:nvGrpSpPr>
        <p:grpSpPr>
          <a:xfrm>
            <a:off x="857250" y="2428875"/>
            <a:ext cx="7172325" cy="2193925"/>
            <a:chOff x="1017580" y="2411409"/>
            <a:chExt cx="7172325" cy="2193925"/>
          </a:xfrm>
        </p:grpSpPr>
        <p:cxnSp>
          <p:nvCxnSpPr>
            <p:cNvPr id="620" name="Google Shape;620;p42"/>
            <p:cNvCxnSpPr/>
            <p:nvPr/>
          </p:nvCxnSpPr>
          <p:spPr>
            <a:xfrm>
              <a:off x="2236780" y="2908297"/>
              <a:ext cx="46482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621" name="Google Shape;621;p42"/>
            <p:cNvCxnSpPr/>
            <p:nvPr/>
          </p:nvCxnSpPr>
          <p:spPr>
            <a:xfrm rot="10800000">
              <a:off x="2160580" y="3517897"/>
              <a:ext cx="4724400" cy="0"/>
            </a:xfrm>
            <a:prstGeom prst="straightConnector1">
              <a:avLst/>
            </a:prstGeom>
            <a:noFill/>
            <a:ln cap="flat" cmpd="sng" w="50800">
              <a:solidFill>
                <a:schemeClr val="dk1"/>
              </a:solidFill>
              <a:prstDash val="solid"/>
              <a:miter lim="800000"/>
              <a:headEnd len="med" w="med" type="none"/>
              <a:tailEnd len="med" w="med" type="triangle"/>
            </a:ln>
          </p:spPr>
        </p:cxnSp>
        <p:sp>
          <p:nvSpPr>
            <p:cNvPr id="622" name="Google Shape;622;p42"/>
            <p:cNvSpPr txBox="1"/>
            <p:nvPr/>
          </p:nvSpPr>
          <p:spPr>
            <a:xfrm>
              <a:off x="1093780" y="4087809"/>
              <a:ext cx="900113"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Alice</a:t>
              </a:r>
              <a:endParaRPr/>
            </a:p>
          </p:txBody>
        </p:sp>
        <p:sp>
          <p:nvSpPr>
            <p:cNvPr id="623" name="Google Shape;623;p42"/>
            <p:cNvSpPr txBox="1"/>
            <p:nvPr/>
          </p:nvSpPr>
          <p:spPr>
            <a:xfrm>
              <a:off x="7310430" y="4067172"/>
              <a:ext cx="7175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a:t>
              </a:r>
              <a:endParaRPr/>
            </a:p>
          </p:txBody>
        </p:sp>
        <p:cxnSp>
          <p:nvCxnSpPr>
            <p:cNvPr id="624" name="Google Shape;624;p42"/>
            <p:cNvCxnSpPr/>
            <p:nvPr/>
          </p:nvCxnSpPr>
          <p:spPr>
            <a:xfrm>
              <a:off x="2236780" y="4203697"/>
              <a:ext cx="4648200" cy="0"/>
            </a:xfrm>
            <a:prstGeom prst="straightConnector1">
              <a:avLst/>
            </a:prstGeom>
            <a:noFill/>
            <a:ln cap="flat" cmpd="sng" w="50800">
              <a:solidFill>
                <a:schemeClr val="dk1"/>
              </a:solidFill>
              <a:prstDash val="solid"/>
              <a:miter lim="800000"/>
              <a:headEnd len="med" w="med" type="none"/>
              <a:tailEnd len="med" w="med" type="triangle"/>
            </a:ln>
          </p:spPr>
        </p:cxnSp>
        <p:sp>
          <p:nvSpPr>
            <p:cNvPr id="625" name="Google Shape;625;p42"/>
            <p:cNvSpPr txBox="1"/>
            <p:nvPr/>
          </p:nvSpPr>
          <p:spPr>
            <a:xfrm>
              <a:off x="3455980" y="2411409"/>
              <a:ext cx="24393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“I’m Alice”, R</a:t>
              </a:r>
              <a:endParaRPr/>
            </a:p>
          </p:txBody>
        </p:sp>
        <p:sp>
          <p:nvSpPr>
            <p:cNvPr id="626" name="Google Shape;626;p42"/>
            <p:cNvSpPr txBox="1"/>
            <p:nvPr/>
          </p:nvSpPr>
          <p:spPr>
            <a:xfrm>
              <a:off x="3571884" y="3000384"/>
              <a:ext cx="24393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{[R,K]</a:t>
              </a:r>
              <a:r>
                <a:rPr b="0" baseline="-25000" i="0" lang="en-US" sz="2400" u="none">
                  <a:solidFill>
                    <a:schemeClr val="dk1"/>
                  </a:solidFill>
                  <a:latin typeface="Times"/>
                  <a:ea typeface="Times"/>
                  <a:cs typeface="Times"/>
                  <a:sym typeface="Times"/>
                </a:rPr>
                <a:t>Bob</a:t>
              </a:r>
              <a:r>
                <a:rPr b="0" i="0" lang="en-US" sz="2400" u="none">
                  <a:solidFill>
                    <a:schemeClr val="dk1"/>
                  </a:solidFill>
                  <a:latin typeface="Times"/>
                  <a:ea typeface="Times"/>
                  <a:cs typeface="Times"/>
                  <a:sym typeface="Times"/>
                </a:rPr>
                <a:t>}</a:t>
              </a:r>
              <a:r>
                <a:rPr b="0" baseline="-25000" i="0" lang="en-US" sz="2400" u="none">
                  <a:solidFill>
                    <a:schemeClr val="dk1"/>
                  </a:solidFill>
                  <a:latin typeface="Times"/>
                  <a:ea typeface="Times"/>
                  <a:cs typeface="Times"/>
                  <a:sym typeface="Times"/>
                </a:rPr>
                <a:t>Alice</a:t>
              </a:r>
              <a:endParaRPr/>
            </a:p>
          </p:txBody>
        </p:sp>
        <p:sp>
          <p:nvSpPr>
            <p:cNvPr id="627" name="Google Shape;627;p42"/>
            <p:cNvSpPr txBox="1"/>
            <p:nvPr/>
          </p:nvSpPr>
          <p:spPr>
            <a:xfrm>
              <a:off x="3444868" y="3705222"/>
              <a:ext cx="22987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{[R +1,K]</a:t>
              </a:r>
              <a:r>
                <a:rPr b="0" baseline="-25000" i="0" lang="en-US" sz="2400" u="none">
                  <a:solidFill>
                    <a:schemeClr val="dk1"/>
                  </a:solidFill>
                  <a:latin typeface="Times"/>
                  <a:ea typeface="Times"/>
                  <a:cs typeface="Times"/>
                  <a:sym typeface="Times"/>
                </a:rPr>
                <a:t>Alice</a:t>
              </a:r>
              <a:r>
                <a:rPr b="0" i="0" lang="en-US" sz="2400" u="none">
                  <a:solidFill>
                    <a:schemeClr val="dk1"/>
                  </a:solidFill>
                  <a:latin typeface="Times"/>
                  <a:ea typeface="Times"/>
                  <a:cs typeface="Times"/>
                  <a:sym typeface="Times"/>
                </a:rPr>
                <a:t>}</a:t>
              </a:r>
              <a:r>
                <a:rPr b="0" baseline="-25000" i="0" lang="en-US" sz="2400" u="none">
                  <a:solidFill>
                    <a:schemeClr val="dk1"/>
                  </a:solidFill>
                  <a:latin typeface="Times"/>
                  <a:ea typeface="Times"/>
                  <a:cs typeface="Times"/>
                  <a:sym typeface="Times"/>
                </a:rPr>
                <a:t>Bob</a:t>
              </a:r>
              <a:endParaRPr/>
            </a:p>
          </p:txBody>
        </p:sp>
        <p:pic>
          <p:nvPicPr>
            <p:cNvPr id="628" name="Google Shape;628;p42"/>
            <p:cNvPicPr preferRelativeResize="0"/>
            <p:nvPr/>
          </p:nvPicPr>
          <p:blipFill rotWithShape="1">
            <a:blip r:embed="rId3">
              <a:alphaModFix/>
            </a:blip>
            <a:srcRect b="0" l="0" r="0" t="0"/>
            <a:stretch/>
          </p:blipFill>
          <p:spPr>
            <a:xfrm>
              <a:off x="1017580" y="2563809"/>
              <a:ext cx="946150" cy="1624013"/>
            </a:xfrm>
            <a:prstGeom prst="rect">
              <a:avLst/>
            </a:prstGeom>
            <a:noFill/>
            <a:ln>
              <a:noFill/>
            </a:ln>
          </p:spPr>
        </p:pic>
        <p:pic>
          <p:nvPicPr>
            <p:cNvPr id="629" name="Google Shape;629;p42"/>
            <p:cNvPicPr preferRelativeResize="0"/>
            <p:nvPr/>
          </p:nvPicPr>
          <p:blipFill rotWithShape="1">
            <a:blip r:embed="rId4">
              <a:alphaModFix/>
            </a:blip>
            <a:srcRect b="0" l="0" r="0" t="0"/>
            <a:stretch/>
          </p:blipFill>
          <p:spPr>
            <a:xfrm>
              <a:off x="7113580" y="2411409"/>
              <a:ext cx="1076325" cy="1665288"/>
            </a:xfrm>
            <a:prstGeom prst="rect">
              <a:avLst/>
            </a:prstGeom>
            <a:noFill/>
            <a:ln>
              <a:noFill/>
            </a:ln>
          </p:spPr>
        </p:pic>
      </p:grpSp>
      <p:sp>
        <p:nvSpPr>
          <p:cNvPr id="630" name="Google Shape;630;p42"/>
          <p:cNvSpPr txBox="1"/>
          <p:nvPr/>
        </p:nvSpPr>
        <p:spPr>
          <a:xfrm>
            <a:off x="785812" y="1866900"/>
            <a:ext cx="7748587" cy="6429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chemeClr val="dk2"/>
              </a:buClr>
              <a:buSzPts val="1960"/>
              <a:buFont typeface="Noto Sans Symbols"/>
              <a:buChar char="●"/>
            </a:pPr>
            <a:r>
              <a:rPr b="1" i="0" lang="en-US" sz="2800" u="none">
                <a:solidFill>
                  <a:srgbClr val="0000FF"/>
                </a:solidFill>
                <a:latin typeface="Gill Sans"/>
                <a:ea typeface="Gill Sans"/>
                <a:cs typeface="Gill Sans"/>
                <a:sym typeface="Gill Sans"/>
              </a:rPr>
              <a:t>First Sign and encrypt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6">
                                            <p:txEl>
                                              <p:pRg end="0" st="0"/>
                                            </p:txEl>
                                          </p:spTgt>
                                        </p:tgtEl>
                                        <p:attrNameLst>
                                          <p:attrName>style.visibility</p:attrName>
                                        </p:attrNameLst>
                                      </p:cBhvr>
                                      <p:to>
                                        <p:strVal val="visible"/>
                                      </p:to>
                                    </p:set>
                                    <p:animEffect filter="fade" transition="in">
                                      <p:cBhvr>
                                        <p:cTn dur="500"/>
                                        <p:tgtEl>
                                          <p:spTgt spid="6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6">
                                            <p:txEl>
                                              <p:pRg end="1" st="1"/>
                                            </p:txEl>
                                          </p:spTgt>
                                        </p:tgtEl>
                                        <p:attrNameLst>
                                          <p:attrName>style.visibility</p:attrName>
                                        </p:attrNameLst>
                                      </p:cBhvr>
                                      <p:to>
                                        <p:strVal val="visible"/>
                                      </p:to>
                                    </p:set>
                                    <p:animEffect filter="fade" transition="in">
                                      <p:cBhvr>
                                        <p:cTn dur="500"/>
                                        <p:tgtEl>
                                          <p:spTgt spid="61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6">
                                            <p:txEl>
                                              <p:pRg end="2" st="2"/>
                                            </p:txEl>
                                          </p:spTgt>
                                        </p:tgtEl>
                                        <p:attrNameLst>
                                          <p:attrName>style.visibility</p:attrName>
                                        </p:attrNameLst>
                                      </p:cBhvr>
                                      <p:to>
                                        <p:strVal val="visible"/>
                                      </p:to>
                                    </p:set>
                                    <p:animEffect filter="fade" transition="in">
                                      <p:cBhvr>
                                        <p:cTn dur="500"/>
                                        <p:tgtEl>
                                          <p:spTgt spid="616">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43"/>
          <p:cNvSpPr txBox="1"/>
          <p:nvPr>
            <p:ph type="title"/>
          </p:nvPr>
        </p:nvSpPr>
        <p:spPr>
          <a:xfrm>
            <a:off x="785812" y="122237"/>
            <a:ext cx="7572375" cy="123507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PUB KEY AUTHEN AND SESS KEY</a:t>
            </a:r>
            <a:endParaRPr/>
          </a:p>
        </p:txBody>
      </p:sp>
      <p:sp>
        <p:nvSpPr>
          <p:cNvPr id="636" name="Google Shape;636;p43"/>
          <p:cNvSpPr txBox="1"/>
          <p:nvPr>
            <p:ph idx="1" type="body"/>
          </p:nvPr>
        </p:nvSpPr>
        <p:spPr>
          <a:xfrm>
            <a:off x="785812" y="4608512"/>
            <a:ext cx="7527925" cy="1527175"/>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90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Is this secure?</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0" i="0" lang="en-US" sz="2800" u="none">
                <a:solidFill>
                  <a:srgbClr val="FF0000"/>
                </a:solidFill>
                <a:latin typeface="Gill Sans"/>
                <a:ea typeface="Gill Sans"/>
                <a:cs typeface="Gill Sans"/>
                <a:sym typeface="Gill Sans"/>
              </a:rPr>
              <a:t>Seems to be OK</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rgbClr val="FF0000"/>
                </a:solidFill>
                <a:latin typeface="Gill Sans"/>
                <a:ea typeface="Gill Sans"/>
                <a:cs typeface="Gill Sans"/>
                <a:sym typeface="Gill Sans"/>
              </a:rPr>
              <a:t>Though anyone can see </a:t>
            </a:r>
            <a:r>
              <a:rPr b="0" i="0" lang="en-US" sz="2000" u="none" cap="none" strike="noStrike">
                <a:solidFill>
                  <a:srgbClr val="FF0000"/>
                </a:solidFill>
                <a:latin typeface="Times"/>
                <a:ea typeface="Times"/>
                <a:cs typeface="Times"/>
                <a:sym typeface="Times"/>
              </a:rPr>
              <a:t>{R,K}</a:t>
            </a:r>
            <a:r>
              <a:rPr b="0" baseline="-25000" i="0" lang="en-US" sz="2000" u="none" cap="none" strike="noStrike">
                <a:solidFill>
                  <a:srgbClr val="FF0000"/>
                </a:solidFill>
                <a:latin typeface="Times"/>
                <a:ea typeface="Times"/>
                <a:cs typeface="Times"/>
                <a:sym typeface="Times"/>
              </a:rPr>
              <a:t>Alice</a:t>
            </a:r>
            <a:r>
              <a:rPr b="0" i="0" lang="en-US" sz="2400" u="none" cap="none" strike="noStrike">
                <a:solidFill>
                  <a:srgbClr val="FF0000"/>
                </a:solidFill>
                <a:latin typeface="Gill Sans"/>
                <a:ea typeface="Gill Sans"/>
                <a:cs typeface="Gill Sans"/>
                <a:sym typeface="Gill Sans"/>
              </a:rPr>
              <a:t> and </a:t>
            </a:r>
            <a:r>
              <a:rPr b="0" i="0" lang="en-US" sz="2000" u="none" cap="none" strike="noStrike">
                <a:solidFill>
                  <a:srgbClr val="FF0000"/>
                </a:solidFill>
                <a:latin typeface="Times"/>
                <a:ea typeface="Times"/>
                <a:cs typeface="Times"/>
                <a:sym typeface="Times"/>
              </a:rPr>
              <a:t>{R +1,K}</a:t>
            </a:r>
            <a:r>
              <a:rPr b="0" baseline="-25000" i="0" lang="en-US" sz="2000" u="none" cap="none" strike="noStrike">
                <a:solidFill>
                  <a:srgbClr val="FF0000"/>
                </a:solidFill>
                <a:latin typeface="Times"/>
                <a:ea typeface="Times"/>
                <a:cs typeface="Times"/>
                <a:sym typeface="Times"/>
              </a:rPr>
              <a:t>Bob</a:t>
            </a:r>
            <a:r>
              <a:rPr b="0" i="0" lang="en-US" sz="2400" u="none" cap="none" strike="noStrike">
                <a:solidFill>
                  <a:srgbClr val="FF0000"/>
                </a:solidFill>
                <a:latin typeface="Gill Sans"/>
                <a:ea typeface="Gill Sans"/>
                <a:cs typeface="Gill Sans"/>
                <a:sym typeface="Gill Sans"/>
              </a:rPr>
              <a:t> </a:t>
            </a:r>
            <a:endParaRPr/>
          </a:p>
        </p:txBody>
      </p:sp>
      <p:sp>
        <p:nvSpPr>
          <p:cNvPr id="637" name="Google Shape;637;p43"/>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638" name="Google Shape;638;p43"/>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grpSp>
        <p:nvGrpSpPr>
          <p:cNvPr id="639" name="Google Shape;639;p43"/>
          <p:cNvGrpSpPr/>
          <p:nvPr/>
        </p:nvGrpSpPr>
        <p:grpSpPr>
          <a:xfrm>
            <a:off x="857250" y="2428875"/>
            <a:ext cx="7086600" cy="2193925"/>
            <a:chOff x="1143000" y="2209800"/>
            <a:chExt cx="7086600" cy="2193925"/>
          </a:xfrm>
        </p:grpSpPr>
        <p:cxnSp>
          <p:nvCxnSpPr>
            <p:cNvPr id="640" name="Google Shape;640;p43"/>
            <p:cNvCxnSpPr/>
            <p:nvPr/>
          </p:nvCxnSpPr>
          <p:spPr>
            <a:xfrm>
              <a:off x="2286000" y="2706688"/>
              <a:ext cx="46482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641" name="Google Shape;641;p43"/>
            <p:cNvCxnSpPr/>
            <p:nvPr/>
          </p:nvCxnSpPr>
          <p:spPr>
            <a:xfrm rot="10800000">
              <a:off x="2209800" y="3316288"/>
              <a:ext cx="4724400" cy="0"/>
            </a:xfrm>
            <a:prstGeom prst="straightConnector1">
              <a:avLst/>
            </a:prstGeom>
            <a:noFill/>
            <a:ln cap="flat" cmpd="sng" w="50800">
              <a:solidFill>
                <a:schemeClr val="dk1"/>
              </a:solidFill>
              <a:prstDash val="solid"/>
              <a:miter lim="800000"/>
              <a:headEnd len="med" w="med" type="none"/>
              <a:tailEnd len="med" w="med" type="triangle"/>
            </a:ln>
          </p:spPr>
        </p:cxnSp>
        <p:sp>
          <p:nvSpPr>
            <p:cNvPr id="642" name="Google Shape;642;p43"/>
            <p:cNvSpPr txBox="1"/>
            <p:nvPr/>
          </p:nvSpPr>
          <p:spPr>
            <a:xfrm>
              <a:off x="1233488" y="3886200"/>
              <a:ext cx="9001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Alice</a:t>
              </a:r>
              <a:endParaRPr/>
            </a:p>
          </p:txBody>
        </p:sp>
        <p:sp>
          <p:nvSpPr>
            <p:cNvPr id="643" name="Google Shape;643;p43"/>
            <p:cNvSpPr txBox="1"/>
            <p:nvPr/>
          </p:nvSpPr>
          <p:spPr>
            <a:xfrm>
              <a:off x="7315200" y="3865563"/>
              <a:ext cx="7175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a:t>
              </a:r>
              <a:endParaRPr/>
            </a:p>
          </p:txBody>
        </p:sp>
        <p:cxnSp>
          <p:nvCxnSpPr>
            <p:cNvPr id="644" name="Google Shape;644;p43"/>
            <p:cNvCxnSpPr/>
            <p:nvPr/>
          </p:nvCxnSpPr>
          <p:spPr>
            <a:xfrm>
              <a:off x="2286000" y="3910013"/>
              <a:ext cx="4648200" cy="0"/>
            </a:xfrm>
            <a:prstGeom prst="straightConnector1">
              <a:avLst/>
            </a:prstGeom>
            <a:noFill/>
            <a:ln cap="flat" cmpd="sng" w="50800">
              <a:solidFill>
                <a:schemeClr val="dk1"/>
              </a:solidFill>
              <a:prstDash val="solid"/>
              <a:miter lim="800000"/>
              <a:headEnd len="med" w="med" type="none"/>
              <a:tailEnd len="med" w="med" type="triangle"/>
            </a:ln>
          </p:spPr>
        </p:cxnSp>
        <p:sp>
          <p:nvSpPr>
            <p:cNvPr id="645" name="Google Shape;645;p43"/>
            <p:cNvSpPr txBox="1"/>
            <p:nvPr/>
          </p:nvSpPr>
          <p:spPr>
            <a:xfrm>
              <a:off x="3505200" y="2209800"/>
              <a:ext cx="2298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“I’m Alice”, R</a:t>
              </a:r>
              <a:endParaRPr/>
            </a:p>
          </p:txBody>
        </p:sp>
        <p:sp>
          <p:nvSpPr>
            <p:cNvPr id="646" name="Google Shape;646;p43"/>
            <p:cNvSpPr txBox="1"/>
            <p:nvPr/>
          </p:nvSpPr>
          <p:spPr>
            <a:xfrm>
              <a:off x="3619500" y="2778125"/>
              <a:ext cx="21843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[{R,K}</a:t>
              </a:r>
              <a:r>
                <a:rPr b="0" baseline="-25000" i="0" lang="en-US" sz="2400" u="none">
                  <a:solidFill>
                    <a:schemeClr val="dk1"/>
                  </a:solidFill>
                  <a:latin typeface="Times"/>
                  <a:ea typeface="Times"/>
                  <a:cs typeface="Times"/>
                  <a:sym typeface="Times"/>
                </a:rPr>
                <a:t>Alice</a:t>
              </a:r>
              <a:r>
                <a:rPr b="0" i="0" lang="en-US" sz="2400" u="none">
                  <a:solidFill>
                    <a:schemeClr val="dk1"/>
                  </a:solidFill>
                  <a:latin typeface="Times"/>
                  <a:ea typeface="Times"/>
                  <a:cs typeface="Times"/>
                  <a:sym typeface="Times"/>
                </a:rPr>
                <a:t>]</a:t>
              </a:r>
              <a:r>
                <a:rPr b="0" baseline="-25000" i="0" lang="en-US" sz="2400" u="none">
                  <a:solidFill>
                    <a:schemeClr val="dk1"/>
                  </a:solidFill>
                  <a:latin typeface="Times"/>
                  <a:ea typeface="Times"/>
                  <a:cs typeface="Times"/>
                  <a:sym typeface="Times"/>
                </a:rPr>
                <a:t>Bob</a:t>
              </a:r>
              <a:endParaRPr/>
            </a:p>
          </p:txBody>
        </p:sp>
        <p:sp>
          <p:nvSpPr>
            <p:cNvPr id="647" name="Google Shape;647;p43"/>
            <p:cNvSpPr txBox="1"/>
            <p:nvPr/>
          </p:nvSpPr>
          <p:spPr>
            <a:xfrm>
              <a:off x="3505200" y="3390900"/>
              <a:ext cx="22987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[{R +1,K}</a:t>
              </a:r>
              <a:r>
                <a:rPr b="0" baseline="-25000" i="0" lang="en-US" sz="2400" u="none">
                  <a:solidFill>
                    <a:schemeClr val="dk1"/>
                  </a:solidFill>
                  <a:latin typeface="Times"/>
                  <a:ea typeface="Times"/>
                  <a:cs typeface="Times"/>
                  <a:sym typeface="Times"/>
                </a:rPr>
                <a:t>Bob</a:t>
              </a:r>
              <a:r>
                <a:rPr b="0" i="0" lang="en-US" sz="2400" u="none">
                  <a:solidFill>
                    <a:schemeClr val="dk1"/>
                  </a:solidFill>
                  <a:latin typeface="Times"/>
                  <a:ea typeface="Times"/>
                  <a:cs typeface="Times"/>
                  <a:sym typeface="Times"/>
                </a:rPr>
                <a:t>]</a:t>
              </a:r>
              <a:r>
                <a:rPr b="0" baseline="-25000" i="0" lang="en-US" sz="2400" u="none">
                  <a:solidFill>
                    <a:schemeClr val="dk1"/>
                  </a:solidFill>
                  <a:latin typeface="Times"/>
                  <a:ea typeface="Times"/>
                  <a:cs typeface="Times"/>
                  <a:sym typeface="Times"/>
                </a:rPr>
                <a:t>Alice</a:t>
              </a:r>
              <a:endParaRPr/>
            </a:p>
          </p:txBody>
        </p:sp>
        <p:pic>
          <p:nvPicPr>
            <p:cNvPr id="648" name="Google Shape;648;p43"/>
            <p:cNvPicPr preferRelativeResize="0"/>
            <p:nvPr/>
          </p:nvPicPr>
          <p:blipFill rotWithShape="1">
            <a:blip r:embed="rId3">
              <a:alphaModFix/>
            </a:blip>
            <a:srcRect b="0" l="0" r="0" t="0"/>
            <a:stretch/>
          </p:blipFill>
          <p:spPr>
            <a:xfrm>
              <a:off x="1143000" y="2338388"/>
              <a:ext cx="946150" cy="1624012"/>
            </a:xfrm>
            <a:prstGeom prst="rect">
              <a:avLst/>
            </a:prstGeom>
            <a:noFill/>
            <a:ln>
              <a:noFill/>
            </a:ln>
          </p:spPr>
        </p:pic>
        <p:pic>
          <p:nvPicPr>
            <p:cNvPr id="649" name="Google Shape;649;p43"/>
            <p:cNvPicPr preferRelativeResize="0"/>
            <p:nvPr/>
          </p:nvPicPr>
          <p:blipFill rotWithShape="1">
            <a:blip r:embed="rId4">
              <a:alphaModFix/>
            </a:blip>
            <a:srcRect b="0" l="0" r="0" t="0"/>
            <a:stretch/>
          </p:blipFill>
          <p:spPr>
            <a:xfrm>
              <a:off x="7153275" y="2209800"/>
              <a:ext cx="1076325" cy="1665288"/>
            </a:xfrm>
            <a:prstGeom prst="rect">
              <a:avLst/>
            </a:prstGeom>
            <a:noFill/>
            <a:ln>
              <a:noFill/>
            </a:ln>
          </p:spPr>
        </p:pic>
      </p:grpSp>
      <p:sp>
        <p:nvSpPr>
          <p:cNvPr id="650" name="Google Shape;650;p43"/>
          <p:cNvSpPr txBox="1"/>
          <p:nvPr/>
        </p:nvSpPr>
        <p:spPr>
          <a:xfrm>
            <a:off x="785812" y="1714500"/>
            <a:ext cx="7748587" cy="6429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chemeClr val="dk2"/>
              </a:buClr>
              <a:buSzPts val="1960"/>
              <a:buFont typeface="Noto Sans Symbols"/>
              <a:buChar char="●"/>
            </a:pPr>
            <a:r>
              <a:rPr b="1" i="0" lang="en-US" sz="2800" u="none">
                <a:solidFill>
                  <a:srgbClr val="0000FF"/>
                </a:solidFill>
                <a:latin typeface="Gill Sans"/>
                <a:ea typeface="Gill Sans"/>
                <a:cs typeface="Gill Sans"/>
                <a:sym typeface="Gill Sans"/>
              </a:rPr>
              <a:t>First encrypt and Sign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6">
                                            <p:txEl>
                                              <p:pRg end="0" st="0"/>
                                            </p:txEl>
                                          </p:spTgt>
                                        </p:tgtEl>
                                        <p:attrNameLst>
                                          <p:attrName>style.visibility</p:attrName>
                                        </p:attrNameLst>
                                      </p:cBhvr>
                                      <p:to>
                                        <p:strVal val="visible"/>
                                      </p:to>
                                    </p:set>
                                    <p:animEffect filter="fade" transition="in">
                                      <p:cBhvr>
                                        <p:cTn dur="500"/>
                                        <p:tgtEl>
                                          <p:spTgt spid="6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6">
                                            <p:txEl>
                                              <p:pRg end="1" st="1"/>
                                            </p:txEl>
                                          </p:spTgt>
                                        </p:tgtEl>
                                        <p:attrNameLst>
                                          <p:attrName>style.visibility</p:attrName>
                                        </p:attrNameLst>
                                      </p:cBhvr>
                                      <p:to>
                                        <p:strVal val="visible"/>
                                      </p:to>
                                    </p:set>
                                    <p:animEffect filter="fade" transition="in">
                                      <p:cBhvr>
                                        <p:cTn dur="500"/>
                                        <p:tgtEl>
                                          <p:spTgt spid="63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6">
                                            <p:txEl>
                                              <p:pRg end="2" st="2"/>
                                            </p:txEl>
                                          </p:spTgt>
                                        </p:tgtEl>
                                        <p:attrNameLst>
                                          <p:attrName>style.visibility</p:attrName>
                                        </p:attrNameLst>
                                      </p:cBhvr>
                                      <p:to>
                                        <p:strVal val="visible"/>
                                      </p:to>
                                    </p:set>
                                    <p:animEffect filter="fade" transition="in">
                                      <p:cBhvr>
                                        <p:cTn dur="500"/>
                                        <p:tgtEl>
                                          <p:spTgt spid="636">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g382e846f0cc_0_27"/>
          <p:cNvSpPr txBox="1"/>
          <p:nvPr>
            <p:ph type="title"/>
          </p:nvPr>
        </p:nvSpPr>
        <p:spPr>
          <a:xfrm>
            <a:off x="785812" y="571500"/>
            <a:ext cx="7858200" cy="7857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SYM KEY MUTUAL AUTHENTICATION</a:t>
            </a:r>
            <a:endParaRPr/>
          </a:p>
        </p:txBody>
      </p:sp>
      <p:sp>
        <p:nvSpPr>
          <p:cNvPr id="656" name="Google Shape;656;g382e846f0cc_0_27"/>
          <p:cNvSpPr txBox="1"/>
          <p:nvPr>
            <p:ph idx="1" type="body"/>
          </p:nvPr>
        </p:nvSpPr>
        <p:spPr>
          <a:xfrm>
            <a:off x="785812" y="4786312"/>
            <a:ext cx="7701000" cy="1176300"/>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90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Do these “</a:t>
            </a:r>
            <a:r>
              <a:rPr b="0" i="0" lang="en-US" sz="2800" u="none">
                <a:solidFill>
                  <a:srgbClr val="0000FF"/>
                </a:solidFill>
                <a:latin typeface="Gill Sans"/>
                <a:ea typeface="Gill Sans"/>
                <a:cs typeface="Gill Sans"/>
                <a:sym typeface="Gill Sans"/>
              </a:rPr>
              <a:t>insignificant</a:t>
            </a:r>
            <a:r>
              <a:rPr b="0" i="0" lang="en-US" sz="2800" u="none">
                <a:solidFill>
                  <a:schemeClr val="dk2"/>
                </a:solidFill>
                <a:latin typeface="Gill Sans"/>
                <a:ea typeface="Gill Sans"/>
                <a:cs typeface="Gill Sans"/>
                <a:sym typeface="Gill Sans"/>
              </a:rPr>
              <a:t>” changes help?</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1" i="0" lang="en-US" sz="2800" u="none">
                <a:solidFill>
                  <a:srgbClr val="FF0000"/>
                </a:solidFill>
                <a:latin typeface="Gill Sans"/>
                <a:ea typeface="Gill Sans"/>
                <a:cs typeface="Gill Sans"/>
                <a:sym typeface="Gill Sans"/>
              </a:rPr>
              <a:t>Yes!</a:t>
            </a:r>
            <a:endParaRPr/>
          </a:p>
        </p:txBody>
      </p:sp>
      <p:sp>
        <p:nvSpPr>
          <p:cNvPr id="657" name="Google Shape;657;g382e846f0cc_0_27"/>
          <p:cNvSpPr txBox="1"/>
          <p:nvPr/>
        </p:nvSpPr>
        <p:spPr>
          <a:xfrm>
            <a:off x="581025" y="6372225"/>
            <a:ext cx="7086600" cy="365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658" name="Google Shape;658;g382e846f0cc_0_27"/>
          <p:cNvSpPr txBox="1"/>
          <p:nvPr/>
        </p:nvSpPr>
        <p:spPr>
          <a:xfrm>
            <a:off x="7800975" y="6376987"/>
            <a:ext cx="7698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cxnSp>
        <p:nvCxnSpPr>
          <p:cNvPr id="659" name="Google Shape;659;g382e846f0cc_0_27"/>
          <p:cNvCxnSpPr/>
          <p:nvPr/>
        </p:nvCxnSpPr>
        <p:spPr>
          <a:xfrm>
            <a:off x="2286000" y="2706687"/>
            <a:ext cx="46482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660" name="Google Shape;660;g382e846f0cc_0_27"/>
          <p:cNvCxnSpPr/>
          <p:nvPr/>
        </p:nvCxnSpPr>
        <p:spPr>
          <a:xfrm rot="10800000">
            <a:off x="2209800" y="3316287"/>
            <a:ext cx="4724400" cy="0"/>
          </a:xfrm>
          <a:prstGeom prst="straightConnector1">
            <a:avLst/>
          </a:prstGeom>
          <a:noFill/>
          <a:ln cap="flat" cmpd="sng" w="50800">
            <a:solidFill>
              <a:schemeClr val="dk1"/>
            </a:solidFill>
            <a:prstDash val="solid"/>
            <a:miter lim="800000"/>
            <a:headEnd len="med" w="med" type="none"/>
            <a:tailEnd len="med" w="med" type="triangle"/>
          </a:ln>
        </p:spPr>
      </p:cxnSp>
      <p:sp>
        <p:nvSpPr>
          <p:cNvPr id="661" name="Google Shape;661;g382e846f0cc_0_27"/>
          <p:cNvSpPr txBox="1"/>
          <p:nvPr/>
        </p:nvSpPr>
        <p:spPr>
          <a:xfrm>
            <a:off x="1143000" y="4017962"/>
            <a:ext cx="900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Alice</a:t>
            </a:r>
            <a:endParaRPr/>
          </a:p>
        </p:txBody>
      </p:sp>
      <p:sp>
        <p:nvSpPr>
          <p:cNvPr id="662" name="Google Shape;662;g382e846f0cc_0_27"/>
          <p:cNvSpPr txBox="1"/>
          <p:nvPr/>
        </p:nvSpPr>
        <p:spPr>
          <a:xfrm>
            <a:off x="7315200" y="3978275"/>
            <a:ext cx="717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a:t>
            </a:r>
            <a:endParaRPr/>
          </a:p>
        </p:txBody>
      </p:sp>
      <p:cxnSp>
        <p:nvCxnSpPr>
          <p:cNvPr id="663" name="Google Shape;663;g382e846f0cc_0_27"/>
          <p:cNvCxnSpPr/>
          <p:nvPr/>
        </p:nvCxnSpPr>
        <p:spPr>
          <a:xfrm>
            <a:off x="2286000" y="4002087"/>
            <a:ext cx="4648200" cy="0"/>
          </a:xfrm>
          <a:prstGeom prst="straightConnector1">
            <a:avLst/>
          </a:prstGeom>
          <a:noFill/>
          <a:ln cap="flat" cmpd="sng" w="50800">
            <a:solidFill>
              <a:schemeClr val="dk1"/>
            </a:solidFill>
            <a:prstDash val="solid"/>
            <a:miter lim="800000"/>
            <a:headEnd len="med" w="med" type="none"/>
            <a:tailEnd len="med" w="med" type="triangle"/>
          </a:ln>
        </p:spPr>
      </p:cxnSp>
      <p:sp>
        <p:nvSpPr>
          <p:cNvPr id="664" name="Google Shape;664;g382e846f0cc_0_27"/>
          <p:cNvSpPr txBox="1"/>
          <p:nvPr/>
        </p:nvSpPr>
        <p:spPr>
          <a:xfrm>
            <a:off x="3429000" y="2209800"/>
            <a:ext cx="2661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“I’m Alice”, R</a:t>
            </a:r>
            <a:r>
              <a:rPr b="0" baseline="-25000" i="0" lang="en-US" sz="2400" u="none">
                <a:solidFill>
                  <a:schemeClr val="dk1"/>
                </a:solidFill>
                <a:latin typeface="Times"/>
                <a:ea typeface="Times"/>
                <a:cs typeface="Times"/>
                <a:sym typeface="Times"/>
              </a:rPr>
              <a:t>A</a:t>
            </a:r>
            <a:endParaRPr/>
          </a:p>
        </p:txBody>
      </p:sp>
      <p:sp>
        <p:nvSpPr>
          <p:cNvPr id="665" name="Google Shape;665;g382e846f0cc_0_27"/>
          <p:cNvSpPr txBox="1"/>
          <p:nvPr/>
        </p:nvSpPr>
        <p:spPr>
          <a:xfrm>
            <a:off x="3124200" y="2819400"/>
            <a:ext cx="2860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R</a:t>
            </a:r>
            <a:r>
              <a:rPr b="0" baseline="-25000" i="0" lang="en-US" sz="2400" u="none">
                <a:solidFill>
                  <a:schemeClr val="dk1"/>
                </a:solidFill>
                <a:latin typeface="Times"/>
                <a:ea typeface="Times"/>
                <a:cs typeface="Times"/>
                <a:sym typeface="Times"/>
              </a:rPr>
              <a:t>B</a:t>
            </a:r>
            <a:r>
              <a:rPr b="0" i="0" lang="en-US" sz="2400" u="none">
                <a:solidFill>
                  <a:schemeClr val="dk1"/>
                </a:solidFill>
                <a:latin typeface="Times"/>
                <a:ea typeface="Times"/>
                <a:cs typeface="Times"/>
                <a:sym typeface="Times"/>
              </a:rPr>
              <a:t>, E(“Bob”,R</a:t>
            </a:r>
            <a:r>
              <a:rPr b="0" baseline="-25000" i="0" lang="en-US" sz="2400" u="none">
                <a:solidFill>
                  <a:schemeClr val="dk1"/>
                </a:solidFill>
                <a:latin typeface="Times"/>
                <a:ea typeface="Times"/>
                <a:cs typeface="Times"/>
                <a:sym typeface="Times"/>
              </a:rPr>
              <a:t>A</a:t>
            </a:r>
            <a:r>
              <a:rPr b="0" i="0" lang="en-US" sz="2400" u="none">
                <a:solidFill>
                  <a:schemeClr val="dk1"/>
                </a:solidFill>
                <a:latin typeface="Times"/>
                <a:ea typeface="Times"/>
                <a:cs typeface="Times"/>
                <a:sym typeface="Times"/>
              </a:rPr>
              <a:t>,K</a:t>
            </a:r>
            <a:r>
              <a:rPr b="0" baseline="-25000" i="0" lang="en-US" sz="2400" u="none">
                <a:solidFill>
                  <a:schemeClr val="dk1"/>
                </a:solidFill>
                <a:latin typeface="Times"/>
                <a:ea typeface="Times"/>
                <a:cs typeface="Times"/>
                <a:sym typeface="Times"/>
              </a:rPr>
              <a:t>AB</a:t>
            </a:r>
            <a:r>
              <a:rPr b="0" i="0" lang="en-US" sz="2400" u="none">
                <a:solidFill>
                  <a:schemeClr val="dk1"/>
                </a:solidFill>
                <a:latin typeface="Times"/>
                <a:ea typeface="Times"/>
                <a:cs typeface="Times"/>
                <a:sym typeface="Times"/>
              </a:rPr>
              <a:t>)</a:t>
            </a:r>
            <a:endParaRPr/>
          </a:p>
        </p:txBody>
      </p:sp>
      <p:sp>
        <p:nvSpPr>
          <p:cNvPr id="666" name="Google Shape;666;g382e846f0cc_0_27"/>
          <p:cNvSpPr txBox="1"/>
          <p:nvPr/>
        </p:nvSpPr>
        <p:spPr>
          <a:xfrm>
            <a:off x="3338512" y="3521075"/>
            <a:ext cx="2452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E(“Alice”,R</a:t>
            </a:r>
            <a:r>
              <a:rPr b="0" baseline="-25000" i="0" lang="en-US" sz="2400" u="none">
                <a:solidFill>
                  <a:schemeClr val="dk1"/>
                </a:solidFill>
                <a:latin typeface="Times"/>
                <a:ea typeface="Times"/>
                <a:cs typeface="Times"/>
                <a:sym typeface="Times"/>
              </a:rPr>
              <a:t>B</a:t>
            </a:r>
            <a:r>
              <a:rPr b="0" i="0" lang="en-US" sz="2400" u="none">
                <a:solidFill>
                  <a:schemeClr val="dk1"/>
                </a:solidFill>
                <a:latin typeface="Times"/>
                <a:ea typeface="Times"/>
                <a:cs typeface="Times"/>
                <a:sym typeface="Times"/>
              </a:rPr>
              <a:t>,K</a:t>
            </a:r>
            <a:r>
              <a:rPr b="0" baseline="-25000" i="0" lang="en-US" sz="2400" u="none">
                <a:solidFill>
                  <a:schemeClr val="dk1"/>
                </a:solidFill>
                <a:latin typeface="Times"/>
                <a:ea typeface="Times"/>
                <a:cs typeface="Times"/>
                <a:sym typeface="Times"/>
              </a:rPr>
              <a:t>AB</a:t>
            </a:r>
            <a:r>
              <a:rPr b="0" i="0" lang="en-US" sz="2400" u="none">
                <a:solidFill>
                  <a:schemeClr val="dk1"/>
                </a:solidFill>
                <a:latin typeface="Times"/>
                <a:ea typeface="Times"/>
                <a:cs typeface="Times"/>
                <a:sym typeface="Times"/>
              </a:rPr>
              <a:t>)</a:t>
            </a:r>
            <a:endParaRPr/>
          </a:p>
        </p:txBody>
      </p:sp>
      <p:pic>
        <p:nvPicPr>
          <p:cNvPr id="667" name="Google Shape;667;g382e846f0cc_0_27"/>
          <p:cNvPicPr preferRelativeResize="0"/>
          <p:nvPr/>
        </p:nvPicPr>
        <p:blipFill rotWithShape="1">
          <a:blip r:embed="rId3">
            <a:alphaModFix/>
          </a:blip>
          <a:srcRect b="0" l="0" r="0" t="0"/>
          <a:stretch/>
        </p:blipFill>
        <p:spPr>
          <a:xfrm>
            <a:off x="1111250" y="2438400"/>
            <a:ext cx="946150" cy="1624012"/>
          </a:xfrm>
          <a:prstGeom prst="rect">
            <a:avLst/>
          </a:prstGeom>
          <a:noFill/>
          <a:ln>
            <a:noFill/>
          </a:ln>
        </p:spPr>
      </p:pic>
      <p:pic>
        <p:nvPicPr>
          <p:cNvPr id="668" name="Google Shape;668;g382e846f0cc_0_27"/>
          <p:cNvPicPr preferRelativeResize="0"/>
          <p:nvPr/>
        </p:nvPicPr>
        <p:blipFill rotWithShape="1">
          <a:blip r:embed="rId4">
            <a:alphaModFix/>
          </a:blip>
          <a:srcRect b="0" l="0" r="0" t="0"/>
          <a:stretch/>
        </p:blipFill>
        <p:spPr>
          <a:xfrm>
            <a:off x="7162800" y="2297112"/>
            <a:ext cx="1076325" cy="16652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9"/>
                                        </p:tgtEl>
                                        <p:attrNameLst>
                                          <p:attrName>style.visibility</p:attrName>
                                        </p:attrNameLst>
                                      </p:cBhvr>
                                      <p:to>
                                        <p:strVal val="visible"/>
                                      </p:to>
                                    </p:set>
                                    <p:animEffect filter="fade" transition="in">
                                      <p:cBhvr>
                                        <p:cTn dur="500"/>
                                        <p:tgtEl>
                                          <p:spTgt spid="659"/>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6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gtEl>
                                        <p:attrNameLst>
                                          <p:attrName>style.visibility</p:attrName>
                                        </p:attrNameLst>
                                      </p:cBhvr>
                                      <p:to>
                                        <p:strVal val="visible"/>
                                      </p:to>
                                    </p:set>
                                    <p:animEffect filter="fade" transition="in">
                                      <p:cBhvr>
                                        <p:cTn dur="1"/>
                                        <p:tgtEl>
                                          <p:spTgt spid="660"/>
                                        </p:tgtEl>
                                      </p:cBhvr>
                                    </p:animEffec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6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3"/>
                                        </p:tgtEl>
                                        <p:attrNameLst>
                                          <p:attrName>style.visibility</p:attrName>
                                        </p:attrNameLst>
                                      </p:cBhvr>
                                      <p:to>
                                        <p:strVal val="visible"/>
                                      </p:to>
                                    </p:set>
                                    <p:animEffect filter="fade" transition="in">
                                      <p:cBhvr>
                                        <p:cTn dur="500"/>
                                        <p:tgtEl>
                                          <p:spTgt spid="663"/>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6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6">
                                            <p:txEl>
                                              <p:pRg end="0" st="0"/>
                                            </p:txEl>
                                          </p:spTgt>
                                        </p:tgtEl>
                                        <p:attrNameLst>
                                          <p:attrName>style.visibility</p:attrName>
                                        </p:attrNameLst>
                                      </p:cBhvr>
                                      <p:to>
                                        <p:strVal val="visible"/>
                                      </p:to>
                                    </p:set>
                                    <p:animEffect filter="fade" transition="in">
                                      <p:cBhvr>
                                        <p:cTn dur="500"/>
                                        <p:tgtEl>
                                          <p:spTgt spid="6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6">
                                            <p:txEl>
                                              <p:pRg end="1" st="1"/>
                                            </p:txEl>
                                          </p:spTgt>
                                        </p:tgtEl>
                                        <p:attrNameLst>
                                          <p:attrName>style.visibility</p:attrName>
                                        </p:attrNameLst>
                                      </p:cBhvr>
                                      <p:to>
                                        <p:strVal val="visible"/>
                                      </p:to>
                                    </p:set>
                                    <p:animEffect filter="fade" transition="in">
                                      <p:cBhvr>
                                        <p:cTn dur="500"/>
                                        <p:tgtEl>
                                          <p:spTgt spid="656">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g382e846f0cc_0_44"/>
          <p:cNvSpPr txBox="1"/>
          <p:nvPr>
            <p:ph type="title"/>
          </p:nvPr>
        </p:nvSpPr>
        <p:spPr>
          <a:xfrm>
            <a:off x="581025" y="687387"/>
            <a:ext cx="7989900" cy="10827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675" name="Google Shape;675;g382e846f0cc_0_44"/>
          <p:cNvSpPr txBox="1"/>
          <p:nvPr>
            <p:ph idx="1" type="body"/>
          </p:nvPr>
        </p:nvSpPr>
        <p:spPr>
          <a:xfrm>
            <a:off x="581192" y="2228003"/>
            <a:ext cx="7989900" cy="3630900"/>
          </a:xfrm>
          <a:prstGeom prst="rect">
            <a:avLst/>
          </a:prstGeom>
        </p:spPr>
        <p:txBody>
          <a:bodyPr anchorCtr="0" anchor="ctr" bIns="45700" lIns="91425" spcFirstLastPara="1" rIns="91425" wrap="square" tIns="45700">
            <a:noAutofit/>
          </a:bodyPr>
          <a:lstStyle/>
          <a:p>
            <a:pPr indent="0" lvl="0" marL="0" rtl="0" algn="l">
              <a:spcBef>
                <a:spcPts val="360"/>
              </a:spcBef>
              <a:spcAft>
                <a:spcPts val="600"/>
              </a:spcAft>
              <a:buNone/>
            </a:pPr>
            <a:r>
              <a:rPr lang="en-US" sz="6000"/>
              <a:t>Perfect forward secrecy (PFS)</a:t>
            </a:r>
            <a:endParaRPr sz="6000"/>
          </a:p>
        </p:txBody>
      </p:sp>
      <p:sp>
        <p:nvSpPr>
          <p:cNvPr id="676" name="Google Shape;676;g382e846f0cc_0_44"/>
          <p:cNvSpPr txBox="1"/>
          <p:nvPr>
            <p:ph idx="12" type="sldNum"/>
          </p:nvPr>
        </p:nvSpPr>
        <p:spPr>
          <a:xfrm>
            <a:off x="7800975" y="6376987"/>
            <a:ext cx="7698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accent2"/>
              </a:buClr>
              <a:buSzPts val="900"/>
              <a:buFont typeface="Gulim"/>
              <a:buNone/>
            </a:pP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45"/>
          <p:cNvSpPr txBox="1"/>
          <p:nvPr>
            <p:ph type="title"/>
          </p:nvPr>
        </p:nvSpPr>
        <p:spPr>
          <a:xfrm>
            <a:off x="785812" y="533400"/>
            <a:ext cx="7143750" cy="8239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PERFECT FORWARD SECRECY</a:t>
            </a:r>
            <a:endParaRPr/>
          </a:p>
        </p:txBody>
      </p:sp>
      <p:sp>
        <p:nvSpPr>
          <p:cNvPr id="682" name="Google Shape;682;p45"/>
          <p:cNvSpPr txBox="1"/>
          <p:nvPr>
            <p:ph idx="1" type="body"/>
          </p:nvPr>
        </p:nvSpPr>
        <p:spPr>
          <a:xfrm>
            <a:off x="785812" y="1836737"/>
            <a:ext cx="7929562" cy="4457700"/>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80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The concern…</a:t>
            </a:r>
            <a:endParaRPr/>
          </a:p>
          <a:p>
            <a:pPr indent="-304800" lvl="1" marL="628650" marR="0" rtl="0" algn="l">
              <a:lnSpc>
                <a:spcPct val="8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Alice encrypts message with shared key </a:t>
            </a:r>
            <a:r>
              <a:rPr b="0" i="0" lang="en-US" sz="2400" u="none" cap="none" strike="noStrike">
                <a:solidFill>
                  <a:schemeClr val="dk2"/>
                </a:solidFill>
                <a:latin typeface="Times"/>
                <a:ea typeface="Times"/>
                <a:cs typeface="Times"/>
                <a:sym typeface="Times"/>
              </a:rPr>
              <a:t>K</a:t>
            </a:r>
            <a:r>
              <a:rPr b="0" baseline="-25000" i="0" lang="en-US" sz="2400" u="none" cap="none" strike="noStrike">
                <a:solidFill>
                  <a:schemeClr val="dk2"/>
                </a:solidFill>
                <a:latin typeface="Times"/>
                <a:ea typeface="Times"/>
                <a:cs typeface="Times"/>
                <a:sym typeface="Times"/>
              </a:rPr>
              <a:t>AB</a:t>
            </a:r>
            <a:r>
              <a:rPr b="0" i="0" lang="en-US" sz="2400" u="none" cap="none" strike="noStrike">
                <a:solidFill>
                  <a:schemeClr val="dk2"/>
                </a:solidFill>
                <a:latin typeface="Gill Sans"/>
                <a:ea typeface="Gill Sans"/>
                <a:cs typeface="Gill Sans"/>
                <a:sym typeface="Gill Sans"/>
              </a:rPr>
              <a:t> and sends ciphertext to Bob</a:t>
            </a:r>
            <a:endParaRPr/>
          </a:p>
          <a:p>
            <a:pPr indent="-304800" lvl="1" marL="628650" marR="0" rtl="0" algn="l">
              <a:lnSpc>
                <a:spcPct val="8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Trudy records ciphertext and later attacks Alice’s (or Bob’s) computer to find </a:t>
            </a:r>
            <a:r>
              <a:rPr b="0" i="0" lang="en-US" sz="2400" u="none" cap="none" strike="noStrike">
                <a:solidFill>
                  <a:schemeClr val="dk2"/>
                </a:solidFill>
                <a:latin typeface="Times"/>
                <a:ea typeface="Times"/>
                <a:cs typeface="Times"/>
                <a:sym typeface="Times"/>
              </a:rPr>
              <a:t>K</a:t>
            </a:r>
            <a:r>
              <a:rPr b="0" baseline="-25000" i="0" lang="en-US" sz="2400" u="none" cap="none" strike="noStrike">
                <a:solidFill>
                  <a:schemeClr val="dk2"/>
                </a:solidFill>
                <a:latin typeface="Times"/>
                <a:ea typeface="Times"/>
                <a:cs typeface="Times"/>
                <a:sym typeface="Times"/>
              </a:rPr>
              <a:t>AB</a:t>
            </a:r>
            <a:endParaRPr/>
          </a:p>
          <a:p>
            <a:pPr indent="-304800" lvl="1" marL="628650" marR="0" rtl="0" algn="l">
              <a:lnSpc>
                <a:spcPct val="8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Then Trudy decrypts recorded messages</a:t>
            </a:r>
            <a:endParaRPr/>
          </a:p>
          <a:p>
            <a:pPr indent="-304800" lvl="0" marL="304800" marR="0" rtl="0" algn="l">
              <a:lnSpc>
                <a:spcPct val="80000"/>
              </a:lnSpc>
              <a:spcBef>
                <a:spcPts val="1160"/>
              </a:spcBef>
              <a:spcAft>
                <a:spcPts val="0"/>
              </a:spcAft>
              <a:buClr>
                <a:schemeClr val="accent2"/>
              </a:buClr>
              <a:buSzPts val="2576"/>
              <a:buFont typeface="Noto Sans Symbols"/>
              <a:buChar char="◼"/>
            </a:pPr>
            <a:r>
              <a:rPr b="1" i="0" lang="en-US" sz="2800" u="none">
                <a:solidFill>
                  <a:srgbClr val="FF0000"/>
                </a:solidFill>
                <a:latin typeface="Gill Sans"/>
                <a:ea typeface="Gill Sans"/>
                <a:cs typeface="Gill Sans"/>
                <a:sym typeface="Gill Sans"/>
              </a:rPr>
              <a:t>Perfect forward secrecy (PFS): </a:t>
            </a:r>
            <a:endParaRPr/>
          </a:p>
          <a:p>
            <a:pPr indent="-304800" lvl="1" marL="628650" marR="0" rtl="0" algn="l">
              <a:lnSpc>
                <a:spcPct val="80000"/>
              </a:lnSpc>
              <a:spcBef>
                <a:spcPts val="1080"/>
              </a:spcBef>
              <a:spcAft>
                <a:spcPts val="0"/>
              </a:spcAft>
              <a:buClr>
                <a:schemeClr val="accent2"/>
              </a:buClr>
              <a:buSzPts val="2208"/>
              <a:buFont typeface="Noto Sans Symbols"/>
              <a:buChar char="◼"/>
            </a:pPr>
            <a:r>
              <a:rPr b="0" i="0" lang="en-US" sz="2400" u="none" cap="none" strike="noStrike">
                <a:solidFill>
                  <a:srgbClr val="0000FF"/>
                </a:solidFill>
                <a:latin typeface="Gill Sans"/>
                <a:ea typeface="Gill Sans"/>
                <a:cs typeface="Gill Sans"/>
                <a:sym typeface="Gill Sans"/>
              </a:rPr>
              <a:t>Trudy cannot later decrypt recorded ciphertext</a:t>
            </a:r>
            <a:endParaRPr/>
          </a:p>
          <a:p>
            <a:pPr indent="-304800" lvl="1" marL="628650" marR="0" rtl="0" algn="l">
              <a:lnSpc>
                <a:spcPct val="8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Even if Trudy gets key </a:t>
            </a:r>
            <a:r>
              <a:rPr b="0" i="0" lang="en-US" sz="2400" u="none" cap="none" strike="noStrike">
                <a:solidFill>
                  <a:schemeClr val="dk2"/>
                </a:solidFill>
                <a:latin typeface="Times"/>
                <a:ea typeface="Times"/>
                <a:cs typeface="Times"/>
                <a:sym typeface="Times"/>
              </a:rPr>
              <a:t>K</a:t>
            </a:r>
            <a:r>
              <a:rPr b="0" baseline="-25000" i="0" lang="en-US" sz="2400" u="none" cap="none" strike="noStrike">
                <a:solidFill>
                  <a:schemeClr val="dk2"/>
                </a:solidFill>
                <a:latin typeface="Times"/>
                <a:ea typeface="Times"/>
                <a:cs typeface="Times"/>
                <a:sym typeface="Times"/>
              </a:rPr>
              <a:t>AB</a:t>
            </a:r>
            <a:r>
              <a:rPr b="0" i="0" lang="en-US" sz="2400" u="none" cap="none" strike="noStrike">
                <a:solidFill>
                  <a:schemeClr val="dk2"/>
                </a:solidFill>
                <a:latin typeface="Gill Sans"/>
                <a:ea typeface="Gill Sans"/>
                <a:cs typeface="Gill Sans"/>
                <a:sym typeface="Gill Sans"/>
              </a:rPr>
              <a:t> or other secret(s)</a:t>
            </a:r>
            <a:endParaRPr/>
          </a:p>
          <a:p>
            <a:pPr indent="-304800" lvl="0" marL="304800" marR="0" rtl="0" algn="l">
              <a:lnSpc>
                <a:spcPct val="80000"/>
              </a:lnSpc>
              <a:spcBef>
                <a:spcPts val="2400"/>
              </a:spcBef>
              <a:spcAft>
                <a:spcPts val="0"/>
              </a:spcAft>
              <a:buClr>
                <a:schemeClr val="accent2"/>
              </a:buClr>
              <a:buSzPts val="2576"/>
              <a:buFont typeface="Noto Sans Symbols"/>
              <a:buChar char="◼"/>
            </a:pPr>
            <a:r>
              <a:rPr b="0" i="0" lang="en-US" sz="2800" u="none">
                <a:solidFill>
                  <a:srgbClr val="FF0000"/>
                </a:solidFill>
                <a:latin typeface="Gill Sans"/>
                <a:ea typeface="Gill Sans"/>
                <a:cs typeface="Gill Sans"/>
                <a:sym typeface="Gill Sans"/>
              </a:rPr>
              <a:t>Is PFS possible?</a:t>
            </a:r>
            <a:endParaRPr/>
          </a:p>
        </p:txBody>
      </p:sp>
      <p:sp>
        <p:nvSpPr>
          <p:cNvPr id="683" name="Google Shape;683;p45"/>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684" name="Google Shape;684;p45"/>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82">
                                            <p:txEl>
                                              <p:pRg end="0" st="0"/>
                                            </p:txEl>
                                          </p:spTgt>
                                        </p:tgtEl>
                                        <p:attrNameLst>
                                          <p:attrName>style.visibility</p:attrName>
                                        </p:attrNameLst>
                                      </p:cBhvr>
                                      <p:to>
                                        <p:strVal val="visible"/>
                                      </p:to>
                                    </p:set>
                                    <p:anim calcmode="lin" valueType="num">
                                      <p:cBhvr additive="base">
                                        <p:cTn dur="500"/>
                                        <p:tgtEl>
                                          <p:spTgt spid="682">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82">
                                            <p:txEl>
                                              <p:pRg end="1" st="1"/>
                                            </p:txEl>
                                          </p:spTgt>
                                        </p:tgtEl>
                                        <p:attrNameLst>
                                          <p:attrName>style.visibility</p:attrName>
                                        </p:attrNameLst>
                                      </p:cBhvr>
                                      <p:to>
                                        <p:strVal val="visible"/>
                                      </p:to>
                                    </p:set>
                                    <p:anim calcmode="lin" valueType="num">
                                      <p:cBhvr additive="base">
                                        <p:cTn dur="500"/>
                                        <p:tgtEl>
                                          <p:spTgt spid="682">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82">
                                            <p:txEl>
                                              <p:pRg end="2" st="2"/>
                                            </p:txEl>
                                          </p:spTgt>
                                        </p:tgtEl>
                                        <p:attrNameLst>
                                          <p:attrName>style.visibility</p:attrName>
                                        </p:attrNameLst>
                                      </p:cBhvr>
                                      <p:to>
                                        <p:strVal val="visible"/>
                                      </p:to>
                                    </p:set>
                                    <p:anim calcmode="lin" valueType="num">
                                      <p:cBhvr additive="base">
                                        <p:cTn dur="500"/>
                                        <p:tgtEl>
                                          <p:spTgt spid="682">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82">
                                            <p:txEl>
                                              <p:pRg end="3" st="3"/>
                                            </p:txEl>
                                          </p:spTgt>
                                        </p:tgtEl>
                                        <p:attrNameLst>
                                          <p:attrName>style.visibility</p:attrName>
                                        </p:attrNameLst>
                                      </p:cBhvr>
                                      <p:to>
                                        <p:strVal val="visible"/>
                                      </p:to>
                                    </p:set>
                                    <p:anim calcmode="lin" valueType="num">
                                      <p:cBhvr additive="base">
                                        <p:cTn dur="500"/>
                                        <p:tgtEl>
                                          <p:spTgt spid="682">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82">
                                            <p:txEl>
                                              <p:pRg end="4" st="4"/>
                                            </p:txEl>
                                          </p:spTgt>
                                        </p:tgtEl>
                                        <p:attrNameLst>
                                          <p:attrName>style.visibility</p:attrName>
                                        </p:attrNameLst>
                                      </p:cBhvr>
                                      <p:to>
                                        <p:strVal val="visible"/>
                                      </p:to>
                                    </p:set>
                                    <p:anim calcmode="lin" valueType="num">
                                      <p:cBhvr additive="base">
                                        <p:cTn dur="500"/>
                                        <p:tgtEl>
                                          <p:spTgt spid="682">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82">
                                            <p:txEl>
                                              <p:pRg end="5" st="5"/>
                                            </p:txEl>
                                          </p:spTgt>
                                        </p:tgtEl>
                                        <p:attrNameLst>
                                          <p:attrName>style.visibility</p:attrName>
                                        </p:attrNameLst>
                                      </p:cBhvr>
                                      <p:to>
                                        <p:strVal val="visible"/>
                                      </p:to>
                                    </p:set>
                                    <p:anim calcmode="lin" valueType="num">
                                      <p:cBhvr additive="base">
                                        <p:cTn dur="500"/>
                                        <p:tgtEl>
                                          <p:spTgt spid="682">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82">
                                            <p:txEl>
                                              <p:pRg end="6" st="6"/>
                                            </p:txEl>
                                          </p:spTgt>
                                        </p:tgtEl>
                                        <p:attrNameLst>
                                          <p:attrName>style.visibility</p:attrName>
                                        </p:attrNameLst>
                                      </p:cBhvr>
                                      <p:to>
                                        <p:strVal val="visible"/>
                                      </p:to>
                                    </p:set>
                                    <p:anim calcmode="lin" valueType="num">
                                      <p:cBhvr additive="base">
                                        <p:cTn dur="500"/>
                                        <p:tgtEl>
                                          <p:spTgt spid="682">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82">
                                            <p:txEl>
                                              <p:pRg end="7" st="7"/>
                                            </p:txEl>
                                          </p:spTgt>
                                        </p:tgtEl>
                                        <p:attrNameLst>
                                          <p:attrName>style.visibility</p:attrName>
                                        </p:attrNameLst>
                                      </p:cBhvr>
                                      <p:to>
                                        <p:strVal val="visible"/>
                                      </p:to>
                                    </p:set>
                                    <p:anim calcmode="lin" valueType="num">
                                      <p:cBhvr additive="base">
                                        <p:cTn dur="500"/>
                                        <p:tgtEl>
                                          <p:spTgt spid="682">
                                            <p:txEl>
                                              <p:pRg end="7" st="7"/>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46"/>
          <p:cNvSpPr txBox="1"/>
          <p:nvPr>
            <p:ph type="title"/>
          </p:nvPr>
        </p:nvSpPr>
        <p:spPr>
          <a:xfrm>
            <a:off x="785812" y="122237"/>
            <a:ext cx="7215187" cy="123507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PERFECT FORWARD SECRECY</a:t>
            </a:r>
            <a:endParaRPr/>
          </a:p>
        </p:txBody>
      </p:sp>
      <p:sp>
        <p:nvSpPr>
          <p:cNvPr id="690" name="Google Shape;690;p46"/>
          <p:cNvSpPr txBox="1"/>
          <p:nvPr>
            <p:ph idx="1" type="body"/>
          </p:nvPr>
        </p:nvSpPr>
        <p:spPr>
          <a:xfrm>
            <a:off x="785812" y="1714500"/>
            <a:ext cx="7527925" cy="4114800"/>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100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Suppose Alice and Bob share key </a:t>
            </a:r>
            <a:r>
              <a:rPr b="0" i="0" lang="en-US" sz="2800" u="none">
                <a:solidFill>
                  <a:schemeClr val="dk2"/>
                </a:solidFill>
                <a:latin typeface="Times"/>
                <a:ea typeface="Times"/>
                <a:cs typeface="Times"/>
                <a:sym typeface="Times"/>
              </a:rPr>
              <a:t>K</a:t>
            </a:r>
            <a:r>
              <a:rPr b="0" baseline="-25000" i="0" lang="en-US" sz="2800" u="none">
                <a:solidFill>
                  <a:schemeClr val="dk2"/>
                </a:solidFill>
                <a:latin typeface="Times"/>
                <a:ea typeface="Times"/>
                <a:cs typeface="Times"/>
                <a:sym typeface="Times"/>
              </a:rPr>
              <a:t>AB</a:t>
            </a:r>
            <a:r>
              <a:rPr b="0" i="0" lang="en-US" sz="2800" u="none">
                <a:solidFill>
                  <a:schemeClr val="dk2"/>
                </a:solidFill>
                <a:latin typeface="Gill Sans"/>
                <a:ea typeface="Gill Sans"/>
                <a:cs typeface="Gill Sans"/>
                <a:sym typeface="Gill Sans"/>
              </a:rPr>
              <a:t> </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For perfect forward secrecy, Alice and Bob cannot use </a:t>
            </a:r>
            <a:r>
              <a:rPr b="0" i="0" lang="en-US" sz="2800" u="none">
                <a:solidFill>
                  <a:schemeClr val="dk2"/>
                </a:solidFill>
                <a:latin typeface="Times"/>
                <a:ea typeface="Times"/>
                <a:cs typeface="Times"/>
                <a:sym typeface="Times"/>
              </a:rPr>
              <a:t>K</a:t>
            </a:r>
            <a:r>
              <a:rPr b="0" baseline="-25000" i="0" lang="en-US" sz="2800" u="none">
                <a:solidFill>
                  <a:schemeClr val="dk2"/>
                </a:solidFill>
                <a:latin typeface="Times"/>
                <a:ea typeface="Times"/>
                <a:cs typeface="Times"/>
                <a:sym typeface="Times"/>
              </a:rPr>
              <a:t>AB</a:t>
            </a:r>
            <a:r>
              <a:rPr b="0" i="0" lang="en-US" sz="2800" u="none">
                <a:solidFill>
                  <a:schemeClr val="dk2"/>
                </a:solidFill>
                <a:latin typeface="Gill Sans"/>
                <a:ea typeface="Gill Sans"/>
                <a:cs typeface="Gill Sans"/>
                <a:sym typeface="Gill Sans"/>
              </a:rPr>
              <a:t> to encrypt</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Instead they must use a session key </a:t>
            </a:r>
            <a:r>
              <a:rPr b="0" i="0" lang="en-US" sz="2800" u="none">
                <a:solidFill>
                  <a:schemeClr val="dk2"/>
                </a:solidFill>
                <a:latin typeface="Times"/>
                <a:ea typeface="Times"/>
                <a:cs typeface="Times"/>
                <a:sym typeface="Times"/>
              </a:rPr>
              <a:t>K</a:t>
            </a:r>
            <a:r>
              <a:rPr b="0" baseline="-25000" i="0" lang="en-US" sz="2800" u="none">
                <a:solidFill>
                  <a:schemeClr val="dk2"/>
                </a:solidFill>
                <a:latin typeface="Times"/>
                <a:ea typeface="Times"/>
                <a:cs typeface="Times"/>
                <a:sym typeface="Times"/>
              </a:rPr>
              <a:t>S</a:t>
            </a:r>
            <a:r>
              <a:rPr b="0" i="0" lang="en-US" sz="2800" u="none">
                <a:solidFill>
                  <a:schemeClr val="dk2"/>
                </a:solidFill>
                <a:latin typeface="Gill Sans"/>
                <a:ea typeface="Gill Sans"/>
                <a:cs typeface="Gill Sans"/>
                <a:sym typeface="Gill Sans"/>
              </a:rPr>
              <a:t> and forget it after it’s used</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0" i="0" lang="en-US" sz="2800" u="none">
                <a:solidFill>
                  <a:srgbClr val="0000FF"/>
                </a:solidFill>
                <a:latin typeface="Gill Sans"/>
                <a:ea typeface="Gill Sans"/>
                <a:cs typeface="Gill Sans"/>
                <a:sym typeface="Gill Sans"/>
              </a:rPr>
              <a:t>Problem: </a:t>
            </a:r>
            <a:r>
              <a:rPr b="0" i="0" lang="en-US" sz="2800" u="none">
                <a:solidFill>
                  <a:srgbClr val="FF0000"/>
                </a:solidFill>
                <a:latin typeface="Gill Sans"/>
                <a:ea typeface="Gill Sans"/>
                <a:cs typeface="Gill Sans"/>
                <a:sym typeface="Gill Sans"/>
              </a:rPr>
              <a:t>How can Alice and Bob agree on session key </a:t>
            </a:r>
            <a:r>
              <a:rPr b="0" i="0" lang="en-US" sz="2800" u="none">
                <a:solidFill>
                  <a:srgbClr val="FF0000"/>
                </a:solidFill>
                <a:latin typeface="Times"/>
                <a:ea typeface="Times"/>
                <a:cs typeface="Times"/>
                <a:sym typeface="Times"/>
              </a:rPr>
              <a:t>K</a:t>
            </a:r>
            <a:r>
              <a:rPr b="0" baseline="-25000" i="0" lang="en-US" sz="2800" u="none">
                <a:solidFill>
                  <a:srgbClr val="FF0000"/>
                </a:solidFill>
                <a:latin typeface="Times"/>
                <a:ea typeface="Times"/>
                <a:cs typeface="Times"/>
                <a:sym typeface="Times"/>
              </a:rPr>
              <a:t>S</a:t>
            </a:r>
            <a:r>
              <a:rPr b="0" i="0" lang="en-US" sz="2800" u="none">
                <a:solidFill>
                  <a:srgbClr val="FF0000"/>
                </a:solidFill>
                <a:latin typeface="Gill Sans"/>
                <a:ea typeface="Gill Sans"/>
                <a:cs typeface="Gill Sans"/>
                <a:sym typeface="Gill Sans"/>
              </a:rPr>
              <a:t> and ensures PFS?</a:t>
            </a:r>
            <a:endParaRPr/>
          </a:p>
        </p:txBody>
      </p:sp>
      <p:sp>
        <p:nvSpPr>
          <p:cNvPr id="691" name="Google Shape;691;p46"/>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692" name="Google Shape;692;p46"/>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47"/>
          <p:cNvSpPr txBox="1"/>
          <p:nvPr>
            <p:ph type="title"/>
          </p:nvPr>
        </p:nvSpPr>
        <p:spPr>
          <a:xfrm>
            <a:off x="785812" y="122237"/>
            <a:ext cx="7215187" cy="123507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NAÏVE SESSION KEY PROTOCOL</a:t>
            </a:r>
            <a:endParaRPr/>
          </a:p>
        </p:txBody>
      </p:sp>
      <p:sp>
        <p:nvSpPr>
          <p:cNvPr id="698" name="Google Shape;698;p47"/>
          <p:cNvSpPr txBox="1"/>
          <p:nvPr>
            <p:ph idx="1" type="body"/>
          </p:nvPr>
        </p:nvSpPr>
        <p:spPr>
          <a:xfrm>
            <a:off x="785812" y="4714875"/>
            <a:ext cx="7672387" cy="1666875"/>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90000"/>
              </a:lnSpc>
              <a:spcBef>
                <a:spcPts val="0"/>
              </a:spcBef>
              <a:spcAft>
                <a:spcPts val="0"/>
              </a:spcAft>
              <a:buClr>
                <a:schemeClr val="accent2"/>
              </a:buClr>
              <a:buSzPts val="1656"/>
              <a:buFont typeface="Noto Sans Symbols"/>
              <a:buChar char="◼"/>
            </a:pPr>
            <a:r>
              <a:rPr b="0" i="0" lang="en-US" sz="1800" u="none">
                <a:solidFill>
                  <a:schemeClr val="dk2"/>
                </a:solidFill>
                <a:latin typeface="Gill Sans"/>
                <a:ea typeface="Gill Sans"/>
                <a:cs typeface="Gill Sans"/>
                <a:sym typeface="Gill Sans"/>
              </a:rPr>
              <a:t>Trudy could also record </a:t>
            </a:r>
            <a:r>
              <a:rPr b="0" i="0" lang="en-US" sz="1800" u="none">
                <a:solidFill>
                  <a:schemeClr val="dk2"/>
                </a:solidFill>
                <a:latin typeface="Times"/>
                <a:ea typeface="Times"/>
                <a:cs typeface="Times"/>
                <a:sym typeface="Times"/>
              </a:rPr>
              <a:t>E(K</a:t>
            </a:r>
            <a:r>
              <a:rPr b="0" baseline="-25000" i="0" lang="en-US" sz="1800" u="none">
                <a:solidFill>
                  <a:schemeClr val="dk2"/>
                </a:solidFill>
                <a:latin typeface="Times"/>
                <a:ea typeface="Times"/>
                <a:cs typeface="Times"/>
                <a:sym typeface="Times"/>
              </a:rPr>
              <a:t>S</a:t>
            </a:r>
            <a:r>
              <a:rPr b="0" i="0" lang="en-US" sz="1800" u="none">
                <a:solidFill>
                  <a:schemeClr val="dk2"/>
                </a:solidFill>
                <a:latin typeface="Times"/>
                <a:ea typeface="Times"/>
                <a:cs typeface="Times"/>
                <a:sym typeface="Times"/>
              </a:rPr>
              <a:t>,K</a:t>
            </a:r>
            <a:r>
              <a:rPr b="0" baseline="-25000" i="0" lang="en-US" sz="1800" u="none">
                <a:solidFill>
                  <a:schemeClr val="dk2"/>
                </a:solidFill>
                <a:latin typeface="Times"/>
                <a:ea typeface="Times"/>
                <a:cs typeface="Times"/>
                <a:sym typeface="Times"/>
              </a:rPr>
              <a:t>AB</a:t>
            </a:r>
            <a:r>
              <a:rPr b="0" i="0" lang="en-US" sz="1800" u="none">
                <a:solidFill>
                  <a:schemeClr val="dk2"/>
                </a:solidFill>
                <a:latin typeface="Times"/>
                <a:ea typeface="Times"/>
                <a:cs typeface="Times"/>
                <a:sym typeface="Times"/>
              </a:rPr>
              <a:t>)</a:t>
            </a:r>
            <a:endParaRPr/>
          </a:p>
          <a:p>
            <a:pPr indent="-304800" lvl="0" marL="304800" marR="0" rtl="0" algn="l">
              <a:lnSpc>
                <a:spcPct val="90000"/>
              </a:lnSpc>
              <a:spcBef>
                <a:spcPts val="960"/>
              </a:spcBef>
              <a:spcAft>
                <a:spcPts val="0"/>
              </a:spcAft>
              <a:buClr>
                <a:schemeClr val="accent2"/>
              </a:buClr>
              <a:buSzPts val="1656"/>
              <a:buFont typeface="Noto Sans Symbols"/>
              <a:buChar char="◼"/>
            </a:pPr>
            <a:r>
              <a:rPr b="0" i="0" lang="en-US" sz="1800" u="none">
                <a:solidFill>
                  <a:schemeClr val="dk2"/>
                </a:solidFill>
                <a:latin typeface="Gill Sans"/>
                <a:ea typeface="Gill Sans"/>
                <a:cs typeface="Gill Sans"/>
                <a:sym typeface="Gill Sans"/>
              </a:rPr>
              <a:t>If Trudy later gets </a:t>
            </a:r>
            <a:r>
              <a:rPr b="0" i="0" lang="en-US" sz="1800" u="none">
                <a:solidFill>
                  <a:schemeClr val="dk2"/>
                </a:solidFill>
                <a:latin typeface="Times"/>
                <a:ea typeface="Times"/>
                <a:cs typeface="Times"/>
                <a:sym typeface="Times"/>
              </a:rPr>
              <a:t>K</a:t>
            </a:r>
            <a:r>
              <a:rPr b="0" baseline="-25000" i="0" lang="en-US" sz="1800" u="none">
                <a:solidFill>
                  <a:schemeClr val="dk2"/>
                </a:solidFill>
                <a:latin typeface="Times"/>
                <a:ea typeface="Times"/>
                <a:cs typeface="Times"/>
                <a:sym typeface="Times"/>
              </a:rPr>
              <a:t>AB</a:t>
            </a:r>
            <a:r>
              <a:rPr b="0" i="0" lang="en-US" sz="1800" u="none">
                <a:solidFill>
                  <a:schemeClr val="dk2"/>
                </a:solidFill>
                <a:latin typeface="Gill Sans"/>
                <a:ea typeface="Gill Sans"/>
                <a:cs typeface="Gill Sans"/>
                <a:sym typeface="Gill Sans"/>
              </a:rPr>
              <a:t>, she can get </a:t>
            </a:r>
            <a:r>
              <a:rPr b="0" i="0" lang="en-US" sz="1800" u="none">
                <a:solidFill>
                  <a:schemeClr val="dk2"/>
                </a:solidFill>
                <a:latin typeface="Times"/>
                <a:ea typeface="Times"/>
                <a:cs typeface="Times"/>
                <a:sym typeface="Times"/>
              </a:rPr>
              <a:t>K</a:t>
            </a:r>
            <a:r>
              <a:rPr b="0" baseline="-25000" i="0" lang="en-US" sz="1800" u="none">
                <a:solidFill>
                  <a:schemeClr val="dk2"/>
                </a:solidFill>
                <a:latin typeface="Times"/>
                <a:ea typeface="Times"/>
                <a:cs typeface="Times"/>
                <a:sym typeface="Times"/>
              </a:rPr>
              <a:t>S</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Then Trudy can decrypt recorded messages</a:t>
            </a:r>
            <a:endParaRPr/>
          </a:p>
        </p:txBody>
      </p:sp>
      <p:sp>
        <p:nvSpPr>
          <p:cNvPr id="699" name="Google Shape;699;p47"/>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700" name="Google Shape;700;p47"/>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cxnSp>
        <p:nvCxnSpPr>
          <p:cNvPr id="701" name="Google Shape;701;p47"/>
          <p:cNvCxnSpPr/>
          <p:nvPr/>
        </p:nvCxnSpPr>
        <p:spPr>
          <a:xfrm>
            <a:off x="2286000" y="2895600"/>
            <a:ext cx="4648200" cy="0"/>
          </a:xfrm>
          <a:prstGeom prst="straightConnector1">
            <a:avLst/>
          </a:prstGeom>
          <a:noFill/>
          <a:ln cap="flat" cmpd="sng" w="50800">
            <a:solidFill>
              <a:schemeClr val="dk1"/>
            </a:solidFill>
            <a:prstDash val="solid"/>
            <a:miter lim="800000"/>
            <a:headEnd len="med" w="med" type="none"/>
            <a:tailEnd len="med" w="med" type="triangle"/>
          </a:ln>
        </p:spPr>
      </p:cxnSp>
      <p:sp>
        <p:nvSpPr>
          <p:cNvPr id="702" name="Google Shape;702;p47"/>
          <p:cNvSpPr txBox="1"/>
          <p:nvPr/>
        </p:nvSpPr>
        <p:spPr>
          <a:xfrm>
            <a:off x="889000" y="3886200"/>
            <a:ext cx="154940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Alice, </a:t>
            </a:r>
            <a:r>
              <a:rPr b="0" i="0" lang="en-US" sz="2400" u="none">
                <a:solidFill>
                  <a:schemeClr val="dk1"/>
                </a:solidFill>
                <a:latin typeface="Times"/>
                <a:ea typeface="Times"/>
                <a:cs typeface="Times"/>
                <a:sym typeface="Times"/>
              </a:rPr>
              <a:t>K</a:t>
            </a:r>
            <a:r>
              <a:rPr b="0" baseline="-25000" i="0" lang="en-US" sz="2400" u="none">
                <a:solidFill>
                  <a:schemeClr val="dk1"/>
                </a:solidFill>
                <a:latin typeface="Times"/>
                <a:ea typeface="Times"/>
                <a:cs typeface="Times"/>
                <a:sym typeface="Times"/>
              </a:rPr>
              <a:t>AB</a:t>
            </a:r>
            <a:endParaRPr/>
          </a:p>
        </p:txBody>
      </p:sp>
      <p:sp>
        <p:nvSpPr>
          <p:cNvPr id="703" name="Google Shape;703;p47"/>
          <p:cNvSpPr txBox="1"/>
          <p:nvPr/>
        </p:nvSpPr>
        <p:spPr>
          <a:xfrm>
            <a:off x="7091362" y="3865562"/>
            <a:ext cx="1366837"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 </a:t>
            </a:r>
            <a:r>
              <a:rPr b="0" i="0" lang="en-US" sz="2400" u="none">
                <a:solidFill>
                  <a:schemeClr val="dk1"/>
                </a:solidFill>
                <a:latin typeface="Times"/>
                <a:ea typeface="Times"/>
                <a:cs typeface="Times"/>
                <a:sym typeface="Times"/>
              </a:rPr>
              <a:t>K</a:t>
            </a:r>
            <a:r>
              <a:rPr b="0" baseline="-25000" i="0" lang="en-US" sz="2400" u="none">
                <a:solidFill>
                  <a:schemeClr val="dk1"/>
                </a:solidFill>
                <a:latin typeface="Times"/>
                <a:ea typeface="Times"/>
                <a:cs typeface="Times"/>
                <a:sym typeface="Times"/>
              </a:rPr>
              <a:t>AB</a:t>
            </a:r>
            <a:endParaRPr/>
          </a:p>
        </p:txBody>
      </p:sp>
      <p:sp>
        <p:nvSpPr>
          <p:cNvPr id="704" name="Google Shape;704;p47"/>
          <p:cNvSpPr txBox="1"/>
          <p:nvPr/>
        </p:nvSpPr>
        <p:spPr>
          <a:xfrm>
            <a:off x="3657600" y="2384425"/>
            <a:ext cx="15732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E(K</a:t>
            </a:r>
            <a:r>
              <a:rPr b="0" baseline="-25000" i="0" lang="en-US" sz="2400" u="none">
                <a:solidFill>
                  <a:schemeClr val="dk1"/>
                </a:solidFill>
                <a:latin typeface="Times"/>
                <a:ea typeface="Times"/>
                <a:cs typeface="Times"/>
                <a:sym typeface="Times"/>
              </a:rPr>
              <a:t>S</a:t>
            </a:r>
            <a:r>
              <a:rPr b="0" i="0" lang="en-US" sz="2400" u="none">
                <a:solidFill>
                  <a:schemeClr val="dk1"/>
                </a:solidFill>
                <a:latin typeface="Times"/>
                <a:ea typeface="Times"/>
                <a:cs typeface="Times"/>
                <a:sym typeface="Times"/>
              </a:rPr>
              <a:t>, K</a:t>
            </a:r>
            <a:r>
              <a:rPr b="0" baseline="-25000" i="0" lang="en-US" sz="2400" u="none">
                <a:solidFill>
                  <a:schemeClr val="dk1"/>
                </a:solidFill>
                <a:latin typeface="Times"/>
                <a:ea typeface="Times"/>
                <a:cs typeface="Times"/>
                <a:sym typeface="Times"/>
              </a:rPr>
              <a:t>AB</a:t>
            </a:r>
            <a:r>
              <a:rPr b="0" i="0" lang="en-US" sz="2400" u="none">
                <a:solidFill>
                  <a:schemeClr val="dk1"/>
                </a:solidFill>
                <a:latin typeface="Times"/>
                <a:ea typeface="Times"/>
                <a:cs typeface="Times"/>
                <a:sym typeface="Times"/>
              </a:rPr>
              <a:t>)</a:t>
            </a:r>
            <a:endParaRPr/>
          </a:p>
        </p:txBody>
      </p:sp>
      <p:sp>
        <p:nvSpPr>
          <p:cNvPr id="705" name="Google Shape;705;p47"/>
          <p:cNvSpPr txBox="1"/>
          <p:nvPr/>
        </p:nvSpPr>
        <p:spPr>
          <a:xfrm>
            <a:off x="3311525" y="3235325"/>
            <a:ext cx="24876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E(messages, K</a:t>
            </a:r>
            <a:r>
              <a:rPr b="0" baseline="-25000" i="0" lang="en-US" sz="2400" u="none">
                <a:solidFill>
                  <a:schemeClr val="dk1"/>
                </a:solidFill>
                <a:latin typeface="Times"/>
                <a:ea typeface="Times"/>
                <a:cs typeface="Times"/>
                <a:sym typeface="Times"/>
              </a:rPr>
              <a:t>S</a:t>
            </a:r>
            <a:r>
              <a:rPr b="0" i="0" lang="en-US" sz="2400" u="none">
                <a:solidFill>
                  <a:schemeClr val="dk1"/>
                </a:solidFill>
                <a:latin typeface="Times"/>
                <a:ea typeface="Times"/>
                <a:cs typeface="Times"/>
                <a:sym typeface="Times"/>
              </a:rPr>
              <a:t>)</a:t>
            </a:r>
            <a:endParaRPr/>
          </a:p>
        </p:txBody>
      </p:sp>
      <p:cxnSp>
        <p:nvCxnSpPr>
          <p:cNvPr id="706" name="Google Shape;706;p47"/>
          <p:cNvCxnSpPr/>
          <p:nvPr/>
        </p:nvCxnSpPr>
        <p:spPr>
          <a:xfrm>
            <a:off x="2286000" y="3733800"/>
            <a:ext cx="4648200" cy="0"/>
          </a:xfrm>
          <a:prstGeom prst="straightConnector1">
            <a:avLst/>
          </a:prstGeom>
          <a:noFill/>
          <a:ln cap="flat" cmpd="sng" w="50800">
            <a:solidFill>
              <a:schemeClr val="dk1"/>
            </a:solidFill>
            <a:prstDash val="solid"/>
            <a:miter lim="800000"/>
            <a:headEnd len="med" w="med" type="triangle"/>
            <a:tailEnd len="med" w="med" type="triangle"/>
          </a:ln>
        </p:spPr>
      </p:cxnSp>
      <p:pic>
        <p:nvPicPr>
          <p:cNvPr id="707" name="Google Shape;707;p47"/>
          <p:cNvPicPr preferRelativeResize="0"/>
          <p:nvPr/>
        </p:nvPicPr>
        <p:blipFill rotWithShape="1">
          <a:blip r:embed="rId3">
            <a:alphaModFix/>
          </a:blip>
          <a:srcRect b="0" l="0" r="0" t="0"/>
          <a:stretch/>
        </p:blipFill>
        <p:spPr>
          <a:xfrm>
            <a:off x="1111250" y="2286000"/>
            <a:ext cx="946150" cy="1624012"/>
          </a:xfrm>
          <a:prstGeom prst="rect">
            <a:avLst/>
          </a:prstGeom>
          <a:noFill/>
          <a:ln>
            <a:noFill/>
          </a:ln>
        </p:spPr>
      </p:pic>
      <p:pic>
        <p:nvPicPr>
          <p:cNvPr id="708" name="Google Shape;708;p47"/>
          <p:cNvPicPr preferRelativeResize="0"/>
          <p:nvPr/>
        </p:nvPicPr>
        <p:blipFill rotWithShape="1">
          <a:blip r:embed="rId4">
            <a:alphaModFix/>
          </a:blip>
          <a:srcRect b="0" l="0" r="0" t="0"/>
          <a:stretch/>
        </p:blipFill>
        <p:spPr>
          <a:xfrm>
            <a:off x="7153275" y="2220912"/>
            <a:ext cx="1076325" cy="16652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01"/>
                                        </p:tgtEl>
                                        <p:attrNameLst>
                                          <p:attrName>style.visibility</p:attrName>
                                        </p:attrNameLst>
                                      </p:cBhvr>
                                      <p:to>
                                        <p:strVal val="visible"/>
                                      </p:to>
                                    </p:set>
                                    <p:anim calcmode="lin" valueType="num">
                                      <p:cBhvr additive="base">
                                        <p:cTn dur="500"/>
                                        <p:tgtEl>
                                          <p:spTgt spid="701"/>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7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6"/>
                                        </p:tgtEl>
                                        <p:attrNameLst>
                                          <p:attrName>style.visibility</p:attrName>
                                        </p:attrNameLst>
                                      </p:cBhvr>
                                      <p:to>
                                        <p:strVal val="visible"/>
                                      </p:to>
                                    </p:set>
                                    <p:animEffect filter="fade" transition="in">
                                      <p:cBhvr>
                                        <p:cTn dur="1"/>
                                        <p:tgtEl>
                                          <p:spTgt spid="706"/>
                                        </p:tgtEl>
                                      </p:cBhvr>
                                    </p:animEffec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7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
                                            <p:txEl>
                                              <p:pRg end="0" st="0"/>
                                            </p:txEl>
                                          </p:spTgt>
                                        </p:tgtEl>
                                        <p:attrNameLst>
                                          <p:attrName>style.visibility</p:attrName>
                                        </p:attrNameLst>
                                      </p:cBhvr>
                                      <p:to>
                                        <p:strVal val="visible"/>
                                      </p:to>
                                    </p:set>
                                    <p:anim calcmode="lin" valueType="num">
                                      <p:cBhvr additive="base">
                                        <p:cTn dur="500"/>
                                        <p:tgtEl>
                                          <p:spTgt spid="69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
                                            <p:txEl>
                                              <p:pRg end="1" st="1"/>
                                            </p:txEl>
                                          </p:spTgt>
                                        </p:tgtEl>
                                        <p:attrNameLst>
                                          <p:attrName>style.visibility</p:attrName>
                                        </p:attrNameLst>
                                      </p:cBhvr>
                                      <p:to>
                                        <p:strVal val="visible"/>
                                      </p:to>
                                    </p:set>
                                    <p:anim calcmode="lin" valueType="num">
                                      <p:cBhvr additive="base">
                                        <p:cTn dur="500"/>
                                        <p:tgtEl>
                                          <p:spTgt spid="69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
                                            <p:txEl>
                                              <p:pRg end="2" st="2"/>
                                            </p:txEl>
                                          </p:spTgt>
                                        </p:tgtEl>
                                        <p:attrNameLst>
                                          <p:attrName>style.visibility</p:attrName>
                                        </p:attrNameLst>
                                      </p:cBhvr>
                                      <p:to>
                                        <p:strVal val="visible"/>
                                      </p:to>
                                    </p:set>
                                    <p:anim calcmode="lin" valueType="num">
                                      <p:cBhvr additive="base">
                                        <p:cTn dur="500"/>
                                        <p:tgtEl>
                                          <p:spTgt spid="69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48"/>
          <p:cNvSpPr txBox="1"/>
          <p:nvPr>
            <p:ph type="title"/>
          </p:nvPr>
        </p:nvSpPr>
        <p:spPr>
          <a:xfrm>
            <a:off x="785812" y="381000"/>
            <a:ext cx="7143750" cy="9763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PERFECT FORWARD SECRECY</a:t>
            </a:r>
            <a:endParaRPr/>
          </a:p>
        </p:txBody>
      </p:sp>
      <p:sp>
        <p:nvSpPr>
          <p:cNvPr id="714" name="Google Shape;714;p48"/>
          <p:cNvSpPr txBox="1"/>
          <p:nvPr>
            <p:ph idx="1" type="body"/>
          </p:nvPr>
        </p:nvSpPr>
        <p:spPr>
          <a:xfrm>
            <a:off x="785812" y="1833562"/>
            <a:ext cx="7358062" cy="1060450"/>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90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Can use </a:t>
            </a:r>
            <a:r>
              <a:rPr b="1" i="0" lang="en-US" sz="2800" u="none">
                <a:solidFill>
                  <a:srgbClr val="8B8B8B"/>
                </a:solidFill>
                <a:latin typeface="Gill Sans"/>
                <a:ea typeface="Gill Sans"/>
                <a:cs typeface="Gill Sans"/>
                <a:sym typeface="Gill Sans"/>
              </a:rPr>
              <a:t>Diffie-Hellman</a:t>
            </a:r>
            <a:r>
              <a:rPr b="0" i="0" lang="en-US" sz="2800" u="none">
                <a:solidFill>
                  <a:schemeClr val="dk2"/>
                </a:solidFill>
                <a:latin typeface="Gill Sans"/>
                <a:ea typeface="Gill Sans"/>
                <a:cs typeface="Gill Sans"/>
                <a:sym typeface="Gill Sans"/>
              </a:rPr>
              <a:t> for PFS</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Recall Diffie-Hellman: public </a:t>
            </a:r>
            <a:r>
              <a:rPr b="0" i="0" lang="en-US" sz="2800" u="none">
                <a:solidFill>
                  <a:schemeClr val="dk2"/>
                </a:solidFill>
                <a:latin typeface="Times"/>
                <a:ea typeface="Times"/>
                <a:cs typeface="Times"/>
                <a:sym typeface="Times"/>
              </a:rPr>
              <a:t>g</a:t>
            </a:r>
            <a:r>
              <a:rPr b="0" i="0" lang="en-US" sz="2800" u="none">
                <a:solidFill>
                  <a:schemeClr val="dk2"/>
                </a:solidFill>
                <a:latin typeface="Gill Sans"/>
                <a:ea typeface="Gill Sans"/>
                <a:cs typeface="Gill Sans"/>
                <a:sym typeface="Gill Sans"/>
              </a:rPr>
              <a:t> and </a:t>
            </a:r>
            <a:r>
              <a:rPr b="0" i="0" lang="en-US" sz="2800" u="none">
                <a:solidFill>
                  <a:schemeClr val="dk2"/>
                </a:solidFill>
                <a:latin typeface="Times"/>
                <a:ea typeface="Times"/>
                <a:cs typeface="Times"/>
                <a:sym typeface="Times"/>
              </a:rPr>
              <a:t>p</a:t>
            </a:r>
            <a:endParaRPr/>
          </a:p>
        </p:txBody>
      </p:sp>
      <p:sp>
        <p:nvSpPr>
          <p:cNvPr id="715" name="Google Shape;715;p48"/>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716" name="Google Shape;716;p48"/>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
        <p:nvSpPr>
          <p:cNvPr id="717" name="Google Shape;717;p48"/>
          <p:cNvSpPr txBox="1"/>
          <p:nvPr/>
        </p:nvSpPr>
        <p:spPr>
          <a:xfrm>
            <a:off x="785812" y="4929187"/>
            <a:ext cx="7000875" cy="11668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2060"/>
              </a:buClr>
              <a:buSzPts val="2100"/>
              <a:buFont typeface="Noto Sans Symbols"/>
              <a:buChar char="●"/>
            </a:pPr>
            <a:r>
              <a:rPr b="0" i="0" lang="en-US" sz="2800" u="none">
                <a:solidFill>
                  <a:schemeClr val="dk1"/>
                </a:solidFill>
                <a:latin typeface="Comic Sans MS"/>
                <a:ea typeface="Comic Sans MS"/>
                <a:cs typeface="Comic Sans MS"/>
                <a:sym typeface="Comic Sans MS"/>
              </a:rPr>
              <a:t>But Diffie-Hellman is subject to MiM</a:t>
            </a:r>
            <a:endParaRPr/>
          </a:p>
          <a:p>
            <a:pPr indent="-342900" lvl="0" marL="342900" marR="0" rtl="0" algn="l">
              <a:lnSpc>
                <a:spcPct val="100000"/>
              </a:lnSpc>
              <a:spcBef>
                <a:spcPts val="560"/>
              </a:spcBef>
              <a:spcAft>
                <a:spcPts val="0"/>
              </a:spcAft>
              <a:buClr>
                <a:srgbClr val="002060"/>
              </a:buClr>
              <a:buSzPts val="2100"/>
              <a:buFont typeface="Noto Sans Symbols"/>
              <a:buChar char="●"/>
            </a:pPr>
            <a:r>
              <a:rPr b="0" i="0" lang="en-US" sz="2800" u="none">
                <a:solidFill>
                  <a:schemeClr val="dk1"/>
                </a:solidFill>
                <a:latin typeface="Comic Sans MS"/>
                <a:ea typeface="Comic Sans MS"/>
                <a:cs typeface="Comic Sans MS"/>
                <a:sym typeface="Comic Sans MS"/>
              </a:rPr>
              <a:t>How to get PFS and prevent MiM?</a:t>
            </a:r>
            <a:endParaRPr/>
          </a:p>
        </p:txBody>
      </p:sp>
      <p:cxnSp>
        <p:nvCxnSpPr>
          <p:cNvPr id="718" name="Google Shape;718;p48"/>
          <p:cNvCxnSpPr/>
          <p:nvPr/>
        </p:nvCxnSpPr>
        <p:spPr>
          <a:xfrm>
            <a:off x="2041525" y="3468687"/>
            <a:ext cx="46482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719" name="Google Shape;719;p48"/>
          <p:cNvCxnSpPr/>
          <p:nvPr/>
        </p:nvCxnSpPr>
        <p:spPr>
          <a:xfrm rot="10800000">
            <a:off x="1965325" y="4025900"/>
            <a:ext cx="4724400" cy="0"/>
          </a:xfrm>
          <a:prstGeom prst="straightConnector1">
            <a:avLst/>
          </a:prstGeom>
          <a:noFill/>
          <a:ln cap="flat" cmpd="sng" w="50800">
            <a:solidFill>
              <a:schemeClr val="dk1"/>
            </a:solidFill>
            <a:prstDash val="solid"/>
            <a:miter lim="800000"/>
            <a:headEnd len="med" w="med" type="none"/>
            <a:tailEnd len="med" w="med" type="triangle"/>
          </a:ln>
        </p:spPr>
      </p:cxnSp>
      <p:sp>
        <p:nvSpPr>
          <p:cNvPr id="720" name="Google Shape;720;p48"/>
          <p:cNvSpPr txBox="1"/>
          <p:nvPr/>
        </p:nvSpPr>
        <p:spPr>
          <a:xfrm>
            <a:off x="736600" y="4359275"/>
            <a:ext cx="124460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Alice, </a:t>
            </a:r>
            <a:r>
              <a:rPr b="0" i="0" lang="en-US" sz="2400" u="none">
                <a:solidFill>
                  <a:schemeClr val="dk1"/>
                </a:solidFill>
                <a:latin typeface="Times"/>
                <a:ea typeface="Times"/>
                <a:cs typeface="Times"/>
                <a:sym typeface="Times"/>
              </a:rPr>
              <a:t>a</a:t>
            </a:r>
            <a:endParaRPr/>
          </a:p>
        </p:txBody>
      </p:sp>
      <p:sp>
        <p:nvSpPr>
          <p:cNvPr id="721" name="Google Shape;721;p48"/>
          <p:cNvSpPr txBox="1"/>
          <p:nvPr/>
        </p:nvSpPr>
        <p:spPr>
          <a:xfrm>
            <a:off x="6934200" y="4359275"/>
            <a:ext cx="1062037"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 </a:t>
            </a:r>
            <a:r>
              <a:rPr b="0" i="0" lang="en-US" sz="2400" u="none">
                <a:solidFill>
                  <a:schemeClr val="dk1"/>
                </a:solidFill>
                <a:latin typeface="Times"/>
                <a:ea typeface="Times"/>
                <a:cs typeface="Times"/>
                <a:sym typeface="Times"/>
              </a:rPr>
              <a:t>b</a:t>
            </a:r>
            <a:endParaRPr/>
          </a:p>
        </p:txBody>
      </p:sp>
      <p:sp>
        <p:nvSpPr>
          <p:cNvPr id="722" name="Google Shape;722;p48"/>
          <p:cNvSpPr txBox="1"/>
          <p:nvPr/>
        </p:nvSpPr>
        <p:spPr>
          <a:xfrm>
            <a:off x="3429000" y="2971800"/>
            <a:ext cx="13985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g</a:t>
            </a:r>
            <a:r>
              <a:rPr b="0" baseline="30000" i="0" lang="en-US" sz="2400" u="none">
                <a:solidFill>
                  <a:schemeClr val="dk1"/>
                </a:solidFill>
                <a:latin typeface="Times"/>
                <a:ea typeface="Times"/>
                <a:cs typeface="Times"/>
                <a:sym typeface="Times"/>
              </a:rPr>
              <a:t>a</a:t>
            </a:r>
            <a:r>
              <a:rPr b="0" i="0" lang="en-US" sz="2400" u="none">
                <a:solidFill>
                  <a:schemeClr val="dk1"/>
                </a:solidFill>
                <a:latin typeface="Times"/>
                <a:ea typeface="Times"/>
                <a:cs typeface="Times"/>
                <a:sym typeface="Times"/>
              </a:rPr>
              <a:t> mod p</a:t>
            </a:r>
            <a:endParaRPr/>
          </a:p>
        </p:txBody>
      </p:sp>
      <p:sp>
        <p:nvSpPr>
          <p:cNvPr id="723" name="Google Shape;723;p48"/>
          <p:cNvSpPr txBox="1"/>
          <p:nvPr/>
        </p:nvSpPr>
        <p:spPr>
          <a:xfrm>
            <a:off x="3429000" y="3554412"/>
            <a:ext cx="13985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g</a:t>
            </a:r>
            <a:r>
              <a:rPr b="0" baseline="30000" i="0" lang="en-US" sz="2400" u="none">
                <a:solidFill>
                  <a:schemeClr val="dk1"/>
                </a:solidFill>
                <a:latin typeface="Times"/>
                <a:ea typeface="Times"/>
                <a:cs typeface="Times"/>
                <a:sym typeface="Times"/>
              </a:rPr>
              <a:t>b</a:t>
            </a:r>
            <a:r>
              <a:rPr b="0" i="0" lang="en-US" sz="2400" u="none">
                <a:solidFill>
                  <a:schemeClr val="dk1"/>
                </a:solidFill>
                <a:latin typeface="Times"/>
                <a:ea typeface="Times"/>
                <a:cs typeface="Times"/>
                <a:sym typeface="Times"/>
              </a:rPr>
              <a:t> mod p</a:t>
            </a:r>
            <a:endParaRPr/>
          </a:p>
        </p:txBody>
      </p:sp>
      <p:pic>
        <p:nvPicPr>
          <p:cNvPr id="724" name="Google Shape;724;p48"/>
          <p:cNvPicPr preferRelativeResize="0"/>
          <p:nvPr/>
        </p:nvPicPr>
        <p:blipFill rotWithShape="1">
          <a:blip r:embed="rId3">
            <a:alphaModFix/>
          </a:blip>
          <a:srcRect b="0" l="0" r="0" t="0"/>
          <a:stretch/>
        </p:blipFill>
        <p:spPr>
          <a:xfrm>
            <a:off x="838200" y="2768600"/>
            <a:ext cx="946150" cy="1624012"/>
          </a:xfrm>
          <a:prstGeom prst="rect">
            <a:avLst/>
          </a:prstGeom>
          <a:noFill/>
          <a:ln>
            <a:noFill/>
          </a:ln>
        </p:spPr>
      </p:pic>
      <p:pic>
        <p:nvPicPr>
          <p:cNvPr id="725" name="Google Shape;725;p48"/>
          <p:cNvPicPr preferRelativeResize="0"/>
          <p:nvPr/>
        </p:nvPicPr>
        <p:blipFill rotWithShape="1">
          <a:blip r:embed="rId4">
            <a:alphaModFix/>
          </a:blip>
          <a:srcRect b="0" l="0" r="0" t="0"/>
          <a:stretch/>
        </p:blipFill>
        <p:spPr>
          <a:xfrm>
            <a:off x="6934200" y="2651125"/>
            <a:ext cx="1076325" cy="16652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18"/>
                                        </p:tgtEl>
                                        <p:attrNameLst>
                                          <p:attrName>style.visibility</p:attrName>
                                        </p:attrNameLst>
                                      </p:cBhvr>
                                      <p:to>
                                        <p:strVal val="visible"/>
                                      </p:to>
                                    </p:set>
                                    <p:anim calcmode="lin" valueType="num">
                                      <p:cBhvr additive="base">
                                        <p:cTn dur="500"/>
                                        <p:tgtEl>
                                          <p:spTgt spid="718"/>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7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gtEl>
                                        <p:attrNameLst>
                                          <p:attrName>style.visibility</p:attrName>
                                        </p:attrNameLst>
                                      </p:cBhvr>
                                      <p:to>
                                        <p:strVal val="visible"/>
                                      </p:to>
                                    </p:set>
                                    <p:animEffect filter="fade" transition="in">
                                      <p:cBhvr>
                                        <p:cTn dur="1"/>
                                        <p:tgtEl>
                                          <p:spTgt spid="719"/>
                                        </p:tgtEl>
                                      </p:cBhvr>
                                    </p:animEffec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7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7">
                                            <p:txEl>
                                              <p:pRg end="0" st="0"/>
                                            </p:txEl>
                                          </p:spTgt>
                                        </p:tgtEl>
                                        <p:attrNameLst>
                                          <p:attrName>style.visibility</p:attrName>
                                        </p:attrNameLst>
                                      </p:cBhvr>
                                      <p:to>
                                        <p:strVal val="visible"/>
                                      </p:to>
                                    </p:set>
                                    <p:animEffect filter="fade" transition="in">
                                      <p:cBhvr>
                                        <p:cTn dur="500"/>
                                        <p:tgtEl>
                                          <p:spTgt spid="7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7">
                                            <p:txEl>
                                              <p:pRg end="1" st="1"/>
                                            </p:txEl>
                                          </p:spTgt>
                                        </p:tgtEl>
                                        <p:attrNameLst>
                                          <p:attrName>style.visibility</p:attrName>
                                        </p:attrNameLst>
                                      </p:cBhvr>
                                      <p:to>
                                        <p:strVal val="visible"/>
                                      </p:to>
                                    </p:set>
                                    <p:animEffect filter="fade" transition="in">
                                      <p:cBhvr>
                                        <p:cTn dur="500"/>
                                        <p:tgtEl>
                                          <p:spTgt spid="717">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49"/>
          <p:cNvSpPr txBox="1"/>
          <p:nvPr>
            <p:ph type="title"/>
          </p:nvPr>
        </p:nvSpPr>
        <p:spPr>
          <a:xfrm>
            <a:off x="785812" y="563562"/>
            <a:ext cx="7143750" cy="79375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PERFECT FORWARD SECRECY</a:t>
            </a:r>
            <a:endParaRPr/>
          </a:p>
        </p:txBody>
      </p:sp>
      <p:sp>
        <p:nvSpPr>
          <p:cNvPr id="731" name="Google Shape;731;p49"/>
          <p:cNvSpPr txBox="1"/>
          <p:nvPr>
            <p:ph idx="1" type="body"/>
          </p:nvPr>
        </p:nvSpPr>
        <p:spPr>
          <a:xfrm>
            <a:off x="685800" y="4000500"/>
            <a:ext cx="8153400" cy="2171700"/>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60000"/>
              </a:lnSpc>
              <a:spcBef>
                <a:spcPts val="0"/>
              </a:spcBef>
              <a:spcAft>
                <a:spcPts val="0"/>
              </a:spcAft>
              <a:buClr>
                <a:schemeClr val="accent2"/>
              </a:buClr>
              <a:buSzPts val="2208"/>
              <a:buFont typeface="Noto Sans Symbols"/>
              <a:buChar char="◼"/>
            </a:pPr>
            <a:r>
              <a:rPr b="0" i="0" lang="en-US" sz="2400" u="none">
                <a:solidFill>
                  <a:schemeClr val="dk2"/>
                </a:solidFill>
                <a:latin typeface="Gill Sans"/>
                <a:ea typeface="Gill Sans"/>
                <a:cs typeface="Gill Sans"/>
                <a:sym typeface="Gill Sans"/>
              </a:rPr>
              <a:t>Session key </a:t>
            </a:r>
            <a:r>
              <a:rPr b="0" i="0" lang="en-US" sz="2400" u="none">
                <a:solidFill>
                  <a:schemeClr val="dk2"/>
                </a:solidFill>
                <a:latin typeface="Times"/>
                <a:ea typeface="Times"/>
                <a:cs typeface="Times"/>
                <a:sym typeface="Times"/>
              </a:rPr>
              <a:t>K</a:t>
            </a:r>
            <a:r>
              <a:rPr b="0" baseline="-25000" i="0" lang="en-US" sz="2400" u="none">
                <a:solidFill>
                  <a:schemeClr val="dk2"/>
                </a:solidFill>
                <a:latin typeface="Times"/>
                <a:ea typeface="Times"/>
                <a:cs typeface="Times"/>
                <a:sym typeface="Times"/>
              </a:rPr>
              <a:t>S</a:t>
            </a:r>
            <a:r>
              <a:rPr b="0" i="0" lang="en-US" sz="2400" u="none">
                <a:solidFill>
                  <a:schemeClr val="dk2"/>
                </a:solidFill>
                <a:latin typeface="Times"/>
                <a:ea typeface="Times"/>
                <a:cs typeface="Times"/>
                <a:sym typeface="Times"/>
              </a:rPr>
              <a:t> = g</a:t>
            </a:r>
            <a:r>
              <a:rPr b="0" baseline="30000" i="0" lang="en-US" sz="2400" u="none">
                <a:solidFill>
                  <a:schemeClr val="dk2"/>
                </a:solidFill>
                <a:latin typeface="Times"/>
                <a:ea typeface="Times"/>
                <a:cs typeface="Times"/>
                <a:sym typeface="Times"/>
              </a:rPr>
              <a:t>ab</a:t>
            </a:r>
            <a:r>
              <a:rPr b="0" i="0" lang="en-US" sz="2400" u="none">
                <a:solidFill>
                  <a:schemeClr val="dk2"/>
                </a:solidFill>
                <a:latin typeface="Times"/>
                <a:ea typeface="Times"/>
                <a:cs typeface="Times"/>
                <a:sym typeface="Times"/>
              </a:rPr>
              <a:t> mod p</a:t>
            </a:r>
            <a:endParaRPr/>
          </a:p>
          <a:p>
            <a:pPr indent="-304800" lvl="1" marL="628650" marR="0" rtl="0" algn="l">
              <a:lnSpc>
                <a:spcPct val="60000"/>
              </a:lnSpc>
              <a:spcBef>
                <a:spcPts val="1000"/>
              </a:spcBef>
              <a:spcAft>
                <a:spcPts val="0"/>
              </a:spcAft>
              <a:buClr>
                <a:schemeClr val="accent2"/>
              </a:buClr>
              <a:buSzPts val="1840"/>
              <a:buFont typeface="Noto Sans Symbols"/>
              <a:buChar char="◼"/>
            </a:pPr>
            <a:r>
              <a:rPr b="0" i="0" lang="en-US" sz="2000" u="none" cap="none" strike="noStrike">
                <a:solidFill>
                  <a:schemeClr val="dk2"/>
                </a:solidFill>
                <a:latin typeface="Times"/>
                <a:ea typeface="Times"/>
                <a:cs typeface="Times"/>
                <a:sym typeface="Times"/>
              </a:rPr>
              <a:t>g</a:t>
            </a:r>
            <a:r>
              <a:rPr b="0" baseline="30000" i="0" lang="en-US" sz="2000" u="none" cap="none" strike="noStrike">
                <a:solidFill>
                  <a:schemeClr val="dk2"/>
                </a:solidFill>
                <a:latin typeface="Times"/>
                <a:ea typeface="Times"/>
                <a:cs typeface="Times"/>
                <a:sym typeface="Times"/>
              </a:rPr>
              <a:t>a </a:t>
            </a:r>
            <a:r>
              <a:rPr b="0" i="0" lang="en-US" sz="2000" u="none" cap="none" strike="noStrike">
                <a:solidFill>
                  <a:schemeClr val="dk2"/>
                </a:solidFill>
                <a:latin typeface="Times"/>
                <a:ea typeface="Times"/>
                <a:cs typeface="Times"/>
                <a:sym typeface="Times"/>
              </a:rPr>
              <a:t>· g</a:t>
            </a:r>
            <a:r>
              <a:rPr b="0" baseline="30000" i="0" lang="en-US" sz="2000" u="none" cap="none" strike="noStrike">
                <a:solidFill>
                  <a:schemeClr val="dk2"/>
                </a:solidFill>
                <a:latin typeface="Times"/>
                <a:ea typeface="Times"/>
                <a:cs typeface="Times"/>
                <a:sym typeface="Times"/>
              </a:rPr>
              <a:t>b </a:t>
            </a:r>
            <a:r>
              <a:rPr b="0" i="0" lang="en-US" sz="2000" u="none" cap="none" strike="noStrike">
                <a:solidFill>
                  <a:schemeClr val="dk2"/>
                </a:solidFill>
                <a:latin typeface="Times"/>
                <a:ea typeface="Times"/>
                <a:cs typeface="Times"/>
                <a:sym typeface="Times"/>
              </a:rPr>
              <a:t>  =  g</a:t>
            </a:r>
            <a:r>
              <a:rPr b="0" baseline="30000" i="0" lang="en-US" sz="2000" u="none" cap="none" strike="noStrike">
                <a:solidFill>
                  <a:schemeClr val="dk2"/>
                </a:solidFill>
                <a:latin typeface="Times"/>
                <a:ea typeface="Times"/>
                <a:cs typeface="Times"/>
                <a:sym typeface="Times"/>
              </a:rPr>
              <a:t>a+b  </a:t>
            </a:r>
            <a:r>
              <a:rPr b="0" i="0" lang="en-US" sz="2000" u="none" cap="none" strike="noStrike">
                <a:solidFill>
                  <a:schemeClr val="dk2"/>
                </a:solidFill>
                <a:latin typeface="Times"/>
                <a:ea typeface="Times"/>
                <a:cs typeface="Times"/>
                <a:sym typeface="Times"/>
              </a:rPr>
              <a:t> ≠   (g</a:t>
            </a:r>
            <a:r>
              <a:rPr b="0" baseline="30000" i="0" lang="en-US" sz="2000" u="none" cap="none" strike="noStrike">
                <a:solidFill>
                  <a:schemeClr val="dk2"/>
                </a:solidFill>
                <a:latin typeface="Times"/>
                <a:ea typeface="Times"/>
                <a:cs typeface="Times"/>
                <a:sym typeface="Times"/>
              </a:rPr>
              <a:t>a</a:t>
            </a:r>
            <a:r>
              <a:rPr b="0" i="0" lang="en-US" sz="2000" u="none" cap="none" strike="noStrike">
                <a:solidFill>
                  <a:schemeClr val="dk2"/>
                </a:solidFill>
                <a:latin typeface="Times"/>
                <a:ea typeface="Times"/>
                <a:cs typeface="Times"/>
                <a:sym typeface="Times"/>
              </a:rPr>
              <a:t>)</a:t>
            </a:r>
            <a:r>
              <a:rPr b="0" baseline="30000" i="0" lang="en-US" sz="2000" u="none" cap="none" strike="noStrike">
                <a:solidFill>
                  <a:schemeClr val="dk2"/>
                </a:solidFill>
                <a:latin typeface="Times"/>
                <a:ea typeface="Times"/>
                <a:cs typeface="Times"/>
                <a:sym typeface="Times"/>
              </a:rPr>
              <a:t>b   </a:t>
            </a:r>
            <a:r>
              <a:rPr b="0" i="0" lang="en-US" sz="2000" u="none" cap="none" strike="noStrike">
                <a:solidFill>
                  <a:schemeClr val="dk2"/>
                </a:solidFill>
                <a:latin typeface="Times"/>
                <a:ea typeface="Times"/>
                <a:cs typeface="Times"/>
                <a:sym typeface="Times"/>
              </a:rPr>
              <a:t>=  g</a:t>
            </a:r>
            <a:r>
              <a:rPr b="0" baseline="30000" i="0" lang="en-US" sz="2000" u="none" cap="none" strike="noStrike">
                <a:solidFill>
                  <a:schemeClr val="dk2"/>
                </a:solidFill>
                <a:latin typeface="Times"/>
                <a:ea typeface="Times"/>
                <a:cs typeface="Times"/>
                <a:sym typeface="Times"/>
              </a:rPr>
              <a:t>a·b</a:t>
            </a:r>
            <a:endParaRPr b="0" i="0" sz="2000" u="none" cap="none" strike="noStrike">
              <a:solidFill>
                <a:schemeClr val="dk2"/>
              </a:solidFill>
              <a:latin typeface="Gill Sans"/>
              <a:ea typeface="Gill Sans"/>
              <a:cs typeface="Gill Sans"/>
              <a:sym typeface="Gill Sans"/>
            </a:endParaRPr>
          </a:p>
          <a:p>
            <a:pPr indent="-304800" lvl="0" marL="304800" marR="0" rtl="0" algn="l">
              <a:lnSpc>
                <a:spcPct val="60000"/>
              </a:lnSpc>
              <a:spcBef>
                <a:spcPts val="1080"/>
              </a:spcBef>
              <a:spcAft>
                <a:spcPts val="0"/>
              </a:spcAft>
              <a:buClr>
                <a:schemeClr val="accent2"/>
              </a:buClr>
              <a:buSzPts val="2208"/>
              <a:buFont typeface="Noto Sans Symbols"/>
              <a:buChar char="◼"/>
            </a:pPr>
            <a:r>
              <a:rPr b="0" i="0" lang="en-US" sz="2400" u="none">
                <a:solidFill>
                  <a:schemeClr val="dk2"/>
                </a:solidFill>
                <a:latin typeface="Gill Sans"/>
                <a:ea typeface="Gill Sans"/>
                <a:cs typeface="Gill Sans"/>
                <a:sym typeface="Gill Sans"/>
              </a:rPr>
              <a:t>Alice forgets </a:t>
            </a:r>
            <a:r>
              <a:rPr b="0" i="0" lang="en-US" sz="2400" u="none">
                <a:solidFill>
                  <a:srgbClr val="FF0000"/>
                </a:solidFill>
                <a:latin typeface="Times"/>
                <a:ea typeface="Times"/>
                <a:cs typeface="Times"/>
                <a:sym typeface="Times"/>
              </a:rPr>
              <a:t>a</a:t>
            </a:r>
            <a:r>
              <a:rPr b="0" i="0" lang="en-US" sz="2400" u="none">
                <a:solidFill>
                  <a:schemeClr val="dk2"/>
                </a:solidFill>
                <a:latin typeface="Gill Sans"/>
                <a:ea typeface="Gill Sans"/>
                <a:cs typeface="Gill Sans"/>
                <a:sym typeface="Gill Sans"/>
              </a:rPr>
              <a:t>, Bob forgets </a:t>
            </a:r>
            <a:r>
              <a:rPr b="0" i="0" lang="en-US" sz="2400" u="none">
                <a:solidFill>
                  <a:srgbClr val="FF0000"/>
                </a:solidFill>
                <a:latin typeface="Times"/>
                <a:ea typeface="Times"/>
                <a:cs typeface="Times"/>
                <a:sym typeface="Times"/>
              </a:rPr>
              <a:t>b</a:t>
            </a:r>
            <a:endParaRPr b="0" i="0" sz="2400" u="none">
              <a:solidFill>
                <a:srgbClr val="FF0000"/>
              </a:solidFill>
              <a:latin typeface="Gill Sans"/>
              <a:ea typeface="Gill Sans"/>
              <a:cs typeface="Gill Sans"/>
              <a:sym typeface="Gill Sans"/>
            </a:endParaRPr>
          </a:p>
          <a:p>
            <a:pPr indent="-304800" lvl="0" marL="304800" marR="0" rtl="0" algn="l">
              <a:lnSpc>
                <a:spcPct val="60000"/>
              </a:lnSpc>
              <a:spcBef>
                <a:spcPts val="1080"/>
              </a:spcBef>
              <a:spcAft>
                <a:spcPts val="0"/>
              </a:spcAft>
              <a:buClr>
                <a:schemeClr val="accent2"/>
              </a:buClr>
              <a:buSzPts val="2208"/>
              <a:buFont typeface="Noto Sans Symbols"/>
              <a:buChar char="◼"/>
            </a:pPr>
            <a:r>
              <a:rPr b="1" i="0" lang="en-US" sz="2400" u="none">
                <a:solidFill>
                  <a:schemeClr val="dk2"/>
                </a:solidFill>
                <a:latin typeface="Gill Sans"/>
                <a:ea typeface="Gill Sans"/>
                <a:cs typeface="Gill Sans"/>
                <a:sym typeface="Gill Sans"/>
              </a:rPr>
              <a:t>So called</a:t>
            </a:r>
            <a:r>
              <a:rPr b="1" i="0" lang="en-US" sz="2400" u="none">
                <a:solidFill>
                  <a:srgbClr val="8B8B8B"/>
                </a:solidFill>
                <a:latin typeface="Gill Sans"/>
                <a:ea typeface="Gill Sans"/>
                <a:cs typeface="Gill Sans"/>
                <a:sym typeface="Gill Sans"/>
              </a:rPr>
              <a:t> Ephemeral</a:t>
            </a:r>
            <a:r>
              <a:rPr b="1" i="0" lang="en-US" sz="1200" u="none">
                <a:solidFill>
                  <a:srgbClr val="8B8B8B"/>
                </a:solidFill>
                <a:latin typeface="Gill Sans"/>
                <a:ea typeface="Gill Sans"/>
                <a:cs typeface="Gill Sans"/>
                <a:sym typeface="Gill Sans"/>
              </a:rPr>
              <a:t> </a:t>
            </a:r>
            <a:r>
              <a:rPr b="1" i="0" lang="en-US" sz="2400" u="none">
                <a:solidFill>
                  <a:srgbClr val="8B8B8B"/>
                </a:solidFill>
                <a:latin typeface="Gill Sans"/>
                <a:ea typeface="Gill Sans"/>
                <a:cs typeface="Gill Sans"/>
                <a:sym typeface="Gill Sans"/>
              </a:rPr>
              <a:t>Diffie-Hellman</a:t>
            </a:r>
            <a:endParaRPr/>
          </a:p>
          <a:p>
            <a:pPr indent="-304800" lvl="0" marL="304800" marR="0" rtl="0" algn="l">
              <a:lnSpc>
                <a:spcPct val="60000"/>
              </a:lnSpc>
              <a:spcBef>
                <a:spcPts val="1080"/>
              </a:spcBef>
              <a:spcAft>
                <a:spcPts val="0"/>
              </a:spcAft>
              <a:buClr>
                <a:schemeClr val="accent2"/>
              </a:buClr>
              <a:buSzPts val="2208"/>
              <a:buFont typeface="Noto Sans Symbols"/>
              <a:buChar char="◼"/>
            </a:pPr>
            <a:r>
              <a:rPr b="0" i="0" lang="en-US" sz="2400" u="none">
                <a:solidFill>
                  <a:schemeClr val="dk2"/>
                </a:solidFill>
                <a:latin typeface="Gill Sans"/>
                <a:ea typeface="Gill Sans"/>
                <a:cs typeface="Gill Sans"/>
                <a:sym typeface="Gill Sans"/>
              </a:rPr>
              <a:t>Not even Alice and Bob can later recover </a:t>
            </a:r>
            <a:r>
              <a:rPr b="0" i="0" lang="en-US" sz="2400" u="none">
                <a:solidFill>
                  <a:schemeClr val="dk2"/>
                </a:solidFill>
                <a:latin typeface="Times"/>
                <a:ea typeface="Times"/>
                <a:cs typeface="Times"/>
                <a:sym typeface="Times"/>
              </a:rPr>
              <a:t>K</a:t>
            </a:r>
            <a:r>
              <a:rPr b="0" baseline="-25000" i="0" lang="en-US" sz="2400" u="none">
                <a:solidFill>
                  <a:schemeClr val="dk2"/>
                </a:solidFill>
                <a:latin typeface="Times"/>
                <a:ea typeface="Times"/>
                <a:cs typeface="Times"/>
                <a:sym typeface="Times"/>
              </a:rPr>
              <a:t>S</a:t>
            </a:r>
            <a:endParaRPr/>
          </a:p>
          <a:p>
            <a:pPr indent="-304800" lvl="0" marL="304800" marR="0" rtl="0" algn="l">
              <a:lnSpc>
                <a:spcPct val="60000"/>
              </a:lnSpc>
              <a:spcBef>
                <a:spcPts val="1080"/>
              </a:spcBef>
              <a:spcAft>
                <a:spcPts val="0"/>
              </a:spcAft>
              <a:buClr>
                <a:schemeClr val="accent2"/>
              </a:buClr>
              <a:buSzPts val="2208"/>
              <a:buFont typeface="Noto Sans Symbols"/>
              <a:buChar char="◼"/>
            </a:pPr>
            <a:r>
              <a:rPr b="0" i="0" lang="en-US" sz="2400" u="none">
                <a:solidFill>
                  <a:schemeClr val="dk2"/>
                </a:solidFill>
                <a:latin typeface="Gill Sans"/>
                <a:ea typeface="Gill Sans"/>
                <a:cs typeface="Gill Sans"/>
                <a:sym typeface="Gill Sans"/>
              </a:rPr>
              <a:t>Other ways to do PFS?</a:t>
            </a:r>
            <a:endParaRPr/>
          </a:p>
        </p:txBody>
      </p:sp>
      <p:sp>
        <p:nvSpPr>
          <p:cNvPr id="732" name="Google Shape;732;p49"/>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733" name="Google Shape;733;p49"/>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cxnSp>
        <p:nvCxnSpPr>
          <p:cNvPr id="734" name="Google Shape;734;p49"/>
          <p:cNvCxnSpPr/>
          <p:nvPr/>
        </p:nvCxnSpPr>
        <p:spPr>
          <a:xfrm>
            <a:off x="2073275" y="2497137"/>
            <a:ext cx="46482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735" name="Google Shape;735;p49"/>
          <p:cNvCxnSpPr/>
          <p:nvPr/>
        </p:nvCxnSpPr>
        <p:spPr>
          <a:xfrm rot="10800000">
            <a:off x="1997075" y="3054350"/>
            <a:ext cx="4724400" cy="0"/>
          </a:xfrm>
          <a:prstGeom prst="straightConnector1">
            <a:avLst/>
          </a:prstGeom>
          <a:noFill/>
          <a:ln cap="flat" cmpd="sng" w="50800">
            <a:solidFill>
              <a:schemeClr val="dk1"/>
            </a:solidFill>
            <a:prstDash val="solid"/>
            <a:miter lim="800000"/>
            <a:headEnd len="med" w="med" type="none"/>
            <a:tailEnd len="med" w="med" type="triangle"/>
          </a:ln>
        </p:spPr>
      </p:cxnSp>
      <p:sp>
        <p:nvSpPr>
          <p:cNvPr id="736" name="Google Shape;736;p49"/>
          <p:cNvSpPr txBox="1"/>
          <p:nvPr/>
        </p:nvSpPr>
        <p:spPr>
          <a:xfrm>
            <a:off x="785812" y="3387725"/>
            <a:ext cx="124460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Alice, </a:t>
            </a:r>
            <a:r>
              <a:rPr b="0" i="0" lang="en-US" sz="2400" u="none">
                <a:solidFill>
                  <a:schemeClr val="dk1"/>
                </a:solidFill>
                <a:latin typeface="Times"/>
                <a:ea typeface="Times"/>
                <a:cs typeface="Times"/>
                <a:sym typeface="Times"/>
              </a:rPr>
              <a:t>a</a:t>
            </a:r>
            <a:endParaRPr/>
          </a:p>
        </p:txBody>
      </p:sp>
      <p:sp>
        <p:nvSpPr>
          <p:cNvPr id="737" name="Google Shape;737;p49"/>
          <p:cNvSpPr txBox="1"/>
          <p:nvPr/>
        </p:nvSpPr>
        <p:spPr>
          <a:xfrm>
            <a:off x="7034212" y="3387725"/>
            <a:ext cx="1062037"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 </a:t>
            </a:r>
            <a:r>
              <a:rPr b="0" i="0" lang="en-US" sz="2400" u="none">
                <a:solidFill>
                  <a:schemeClr val="dk1"/>
                </a:solidFill>
                <a:latin typeface="Times"/>
                <a:ea typeface="Times"/>
                <a:cs typeface="Times"/>
                <a:sym typeface="Times"/>
              </a:rPr>
              <a:t>b</a:t>
            </a:r>
            <a:endParaRPr/>
          </a:p>
        </p:txBody>
      </p:sp>
      <p:sp>
        <p:nvSpPr>
          <p:cNvPr id="738" name="Google Shape;738;p49"/>
          <p:cNvSpPr txBox="1"/>
          <p:nvPr/>
        </p:nvSpPr>
        <p:spPr>
          <a:xfrm>
            <a:off x="3071812" y="2000250"/>
            <a:ext cx="24495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E(g</a:t>
            </a:r>
            <a:r>
              <a:rPr b="0" baseline="30000" i="0" lang="en-US" sz="2400" u="none">
                <a:solidFill>
                  <a:schemeClr val="dk1"/>
                </a:solidFill>
                <a:latin typeface="Times"/>
                <a:ea typeface="Times"/>
                <a:cs typeface="Times"/>
                <a:sym typeface="Times"/>
              </a:rPr>
              <a:t>a</a:t>
            </a:r>
            <a:r>
              <a:rPr b="0" i="0" lang="en-US" sz="2400" u="none">
                <a:solidFill>
                  <a:schemeClr val="dk1"/>
                </a:solidFill>
                <a:latin typeface="Times"/>
                <a:ea typeface="Times"/>
                <a:cs typeface="Times"/>
                <a:sym typeface="Times"/>
              </a:rPr>
              <a:t> mod p, K</a:t>
            </a:r>
            <a:r>
              <a:rPr b="0" baseline="-25000" i="0" lang="en-US" sz="2400" u="none">
                <a:solidFill>
                  <a:schemeClr val="dk1"/>
                </a:solidFill>
                <a:latin typeface="Times"/>
                <a:ea typeface="Times"/>
                <a:cs typeface="Times"/>
                <a:sym typeface="Times"/>
              </a:rPr>
              <a:t>AB</a:t>
            </a:r>
            <a:r>
              <a:rPr b="0" i="0" lang="en-US" sz="2400" u="none">
                <a:solidFill>
                  <a:schemeClr val="dk1"/>
                </a:solidFill>
                <a:latin typeface="Times"/>
                <a:ea typeface="Times"/>
                <a:cs typeface="Times"/>
                <a:sym typeface="Times"/>
              </a:rPr>
              <a:t>)</a:t>
            </a:r>
            <a:endParaRPr/>
          </a:p>
        </p:txBody>
      </p:sp>
      <p:sp>
        <p:nvSpPr>
          <p:cNvPr id="739" name="Google Shape;739;p49"/>
          <p:cNvSpPr txBox="1"/>
          <p:nvPr/>
        </p:nvSpPr>
        <p:spPr>
          <a:xfrm>
            <a:off x="3071812" y="2582862"/>
            <a:ext cx="24495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E(g</a:t>
            </a:r>
            <a:r>
              <a:rPr b="0" baseline="30000" i="0" lang="en-US" sz="2400" u="none">
                <a:solidFill>
                  <a:schemeClr val="dk1"/>
                </a:solidFill>
                <a:latin typeface="Times"/>
                <a:ea typeface="Times"/>
                <a:cs typeface="Times"/>
                <a:sym typeface="Times"/>
              </a:rPr>
              <a:t>b</a:t>
            </a:r>
            <a:r>
              <a:rPr b="0" i="0" lang="en-US" sz="2400" u="none">
                <a:solidFill>
                  <a:schemeClr val="dk1"/>
                </a:solidFill>
                <a:latin typeface="Times"/>
                <a:ea typeface="Times"/>
                <a:cs typeface="Times"/>
                <a:sym typeface="Times"/>
              </a:rPr>
              <a:t> mod p, K</a:t>
            </a:r>
            <a:r>
              <a:rPr b="0" baseline="-25000" i="0" lang="en-US" sz="2400" u="none">
                <a:solidFill>
                  <a:schemeClr val="dk1"/>
                </a:solidFill>
                <a:latin typeface="Times"/>
                <a:ea typeface="Times"/>
                <a:cs typeface="Times"/>
                <a:sym typeface="Times"/>
              </a:rPr>
              <a:t>AB</a:t>
            </a:r>
            <a:r>
              <a:rPr b="0" i="0" lang="en-US" sz="2400" u="none">
                <a:solidFill>
                  <a:schemeClr val="dk1"/>
                </a:solidFill>
                <a:latin typeface="Times"/>
                <a:ea typeface="Times"/>
                <a:cs typeface="Times"/>
                <a:sym typeface="Times"/>
              </a:rPr>
              <a:t>)</a:t>
            </a:r>
            <a:endParaRPr/>
          </a:p>
        </p:txBody>
      </p:sp>
      <p:pic>
        <p:nvPicPr>
          <p:cNvPr id="740" name="Google Shape;740;p49"/>
          <p:cNvPicPr preferRelativeResize="0"/>
          <p:nvPr/>
        </p:nvPicPr>
        <p:blipFill rotWithShape="1">
          <a:blip r:embed="rId3">
            <a:alphaModFix/>
          </a:blip>
          <a:srcRect b="0" l="0" r="0" t="0"/>
          <a:stretch/>
        </p:blipFill>
        <p:spPr>
          <a:xfrm>
            <a:off x="906462" y="1820862"/>
            <a:ext cx="946150" cy="1624012"/>
          </a:xfrm>
          <a:prstGeom prst="rect">
            <a:avLst/>
          </a:prstGeom>
          <a:noFill/>
          <a:ln>
            <a:noFill/>
          </a:ln>
        </p:spPr>
      </p:pic>
      <p:pic>
        <p:nvPicPr>
          <p:cNvPr id="741" name="Google Shape;741;p49"/>
          <p:cNvPicPr preferRelativeResize="0"/>
          <p:nvPr/>
        </p:nvPicPr>
        <p:blipFill rotWithShape="1">
          <a:blip r:embed="rId4">
            <a:alphaModFix/>
          </a:blip>
          <a:srcRect b="0" l="0" r="0" t="0"/>
          <a:stretch/>
        </p:blipFill>
        <p:spPr>
          <a:xfrm>
            <a:off x="6958012" y="1744662"/>
            <a:ext cx="1076325" cy="16652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34"/>
                                        </p:tgtEl>
                                        <p:attrNameLst>
                                          <p:attrName>style.visibility</p:attrName>
                                        </p:attrNameLst>
                                      </p:cBhvr>
                                      <p:to>
                                        <p:strVal val="visible"/>
                                      </p:to>
                                    </p:set>
                                    <p:anim calcmode="lin" valueType="num">
                                      <p:cBhvr additive="base">
                                        <p:cTn dur="500"/>
                                        <p:tgtEl>
                                          <p:spTgt spid="734"/>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7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5"/>
                                        </p:tgtEl>
                                        <p:attrNameLst>
                                          <p:attrName>style.visibility</p:attrName>
                                        </p:attrNameLst>
                                      </p:cBhvr>
                                      <p:to>
                                        <p:strVal val="visible"/>
                                      </p:to>
                                    </p:set>
                                    <p:animEffect filter="fade" transition="in">
                                      <p:cBhvr>
                                        <p:cTn dur="1"/>
                                        <p:tgtEl>
                                          <p:spTgt spid="735"/>
                                        </p:tgtEl>
                                      </p:cBhvr>
                                    </p:animEffec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7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1">
                                            <p:txEl>
                                              <p:pRg end="0" st="0"/>
                                            </p:txEl>
                                          </p:spTgt>
                                        </p:tgtEl>
                                        <p:attrNameLst>
                                          <p:attrName>style.visibility</p:attrName>
                                        </p:attrNameLst>
                                      </p:cBhvr>
                                      <p:to>
                                        <p:strVal val="visible"/>
                                      </p:to>
                                    </p:set>
                                    <p:animEffect filter="fade" transition="in">
                                      <p:cBhvr>
                                        <p:cTn dur="500"/>
                                        <p:tgtEl>
                                          <p:spTgt spid="7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1">
                                            <p:txEl>
                                              <p:pRg end="1" st="1"/>
                                            </p:txEl>
                                          </p:spTgt>
                                        </p:tgtEl>
                                        <p:attrNameLst>
                                          <p:attrName>style.visibility</p:attrName>
                                        </p:attrNameLst>
                                      </p:cBhvr>
                                      <p:to>
                                        <p:strVal val="visible"/>
                                      </p:to>
                                    </p:set>
                                    <p:animEffect filter="fade" transition="in">
                                      <p:cBhvr>
                                        <p:cTn dur="500"/>
                                        <p:tgtEl>
                                          <p:spTgt spid="73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1">
                                            <p:txEl>
                                              <p:pRg end="2" st="2"/>
                                            </p:txEl>
                                          </p:spTgt>
                                        </p:tgtEl>
                                        <p:attrNameLst>
                                          <p:attrName>style.visibility</p:attrName>
                                        </p:attrNameLst>
                                      </p:cBhvr>
                                      <p:to>
                                        <p:strVal val="visible"/>
                                      </p:to>
                                    </p:set>
                                    <p:animEffect filter="fade" transition="in">
                                      <p:cBhvr>
                                        <p:cTn dur="500"/>
                                        <p:tgtEl>
                                          <p:spTgt spid="73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1">
                                            <p:txEl>
                                              <p:pRg end="3" st="3"/>
                                            </p:txEl>
                                          </p:spTgt>
                                        </p:tgtEl>
                                        <p:attrNameLst>
                                          <p:attrName>style.visibility</p:attrName>
                                        </p:attrNameLst>
                                      </p:cBhvr>
                                      <p:to>
                                        <p:strVal val="visible"/>
                                      </p:to>
                                    </p:set>
                                    <p:animEffect filter="fade" transition="in">
                                      <p:cBhvr>
                                        <p:cTn dur="500"/>
                                        <p:tgtEl>
                                          <p:spTgt spid="73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1">
                                            <p:txEl>
                                              <p:pRg end="4" st="4"/>
                                            </p:txEl>
                                          </p:spTgt>
                                        </p:tgtEl>
                                        <p:attrNameLst>
                                          <p:attrName>style.visibility</p:attrName>
                                        </p:attrNameLst>
                                      </p:cBhvr>
                                      <p:to>
                                        <p:strVal val="visible"/>
                                      </p:to>
                                    </p:set>
                                    <p:animEffect filter="fade" transition="in">
                                      <p:cBhvr>
                                        <p:cTn dur="500"/>
                                        <p:tgtEl>
                                          <p:spTgt spid="73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1">
                                            <p:txEl>
                                              <p:pRg end="5" st="5"/>
                                            </p:txEl>
                                          </p:spTgt>
                                        </p:tgtEl>
                                        <p:attrNameLst>
                                          <p:attrName>style.visibility</p:attrName>
                                        </p:attrNameLst>
                                      </p:cBhvr>
                                      <p:to>
                                        <p:strVal val="visible"/>
                                      </p:to>
                                    </p:set>
                                    <p:animEffect filter="fade" transition="in">
                                      <p:cBhvr>
                                        <p:cTn dur="500"/>
                                        <p:tgtEl>
                                          <p:spTgt spid="731">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50"/>
          <p:cNvSpPr txBox="1"/>
          <p:nvPr>
            <p:ph type="title"/>
          </p:nvPr>
        </p:nvSpPr>
        <p:spPr>
          <a:xfrm>
            <a:off x="785812" y="285750"/>
            <a:ext cx="8001000" cy="107156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MUTUAL AUTHEN, SESS KEY &amp; PFS</a:t>
            </a:r>
            <a:endParaRPr/>
          </a:p>
        </p:txBody>
      </p:sp>
      <p:sp>
        <p:nvSpPr>
          <p:cNvPr id="748" name="Google Shape;748;p50"/>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749" name="Google Shape;749;p50"/>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cxnSp>
        <p:nvCxnSpPr>
          <p:cNvPr id="750" name="Google Shape;750;p50"/>
          <p:cNvCxnSpPr/>
          <p:nvPr/>
        </p:nvCxnSpPr>
        <p:spPr>
          <a:xfrm>
            <a:off x="2286000" y="2401887"/>
            <a:ext cx="46482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751" name="Google Shape;751;p50"/>
          <p:cNvCxnSpPr/>
          <p:nvPr/>
        </p:nvCxnSpPr>
        <p:spPr>
          <a:xfrm rot="10800000">
            <a:off x="2209800" y="3011487"/>
            <a:ext cx="4724400" cy="0"/>
          </a:xfrm>
          <a:prstGeom prst="straightConnector1">
            <a:avLst/>
          </a:prstGeom>
          <a:noFill/>
          <a:ln cap="flat" cmpd="sng" w="50800">
            <a:solidFill>
              <a:schemeClr val="dk1"/>
            </a:solidFill>
            <a:prstDash val="solid"/>
            <a:miter lim="800000"/>
            <a:headEnd len="med" w="med" type="none"/>
            <a:tailEnd len="med" w="med" type="triangle"/>
          </a:ln>
        </p:spPr>
      </p:cxnSp>
      <p:sp>
        <p:nvSpPr>
          <p:cNvPr id="752" name="Google Shape;752;p50"/>
          <p:cNvSpPr txBox="1"/>
          <p:nvPr/>
        </p:nvSpPr>
        <p:spPr>
          <a:xfrm>
            <a:off x="1143000" y="3571875"/>
            <a:ext cx="9001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Alice</a:t>
            </a:r>
            <a:endParaRPr/>
          </a:p>
        </p:txBody>
      </p:sp>
      <p:sp>
        <p:nvSpPr>
          <p:cNvPr id="753" name="Google Shape;753;p50"/>
          <p:cNvSpPr txBox="1"/>
          <p:nvPr/>
        </p:nvSpPr>
        <p:spPr>
          <a:xfrm>
            <a:off x="7358062" y="3571875"/>
            <a:ext cx="785812"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a:t>
            </a:r>
            <a:endParaRPr/>
          </a:p>
        </p:txBody>
      </p:sp>
      <p:cxnSp>
        <p:nvCxnSpPr>
          <p:cNvPr id="754" name="Google Shape;754;p50"/>
          <p:cNvCxnSpPr/>
          <p:nvPr/>
        </p:nvCxnSpPr>
        <p:spPr>
          <a:xfrm>
            <a:off x="2286000" y="3605212"/>
            <a:ext cx="4648200" cy="0"/>
          </a:xfrm>
          <a:prstGeom prst="straightConnector1">
            <a:avLst/>
          </a:prstGeom>
          <a:noFill/>
          <a:ln cap="flat" cmpd="sng" w="50800">
            <a:solidFill>
              <a:schemeClr val="dk1"/>
            </a:solidFill>
            <a:prstDash val="solid"/>
            <a:miter lim="800000"/>
            <a:headEnd len="med" w="med" type="none"/>
            <a:tailEnd len="med" w="med" type="triangle"/>
          </a:ln>
        </p:spPr>
      </p:cxnSp>
      <p:sp>
        <p:nvSpPr>
          <p:cNvPr id="755" name="Google Shape;755;p50"/>
          <p:cNvSpPr txBox="1"/>
          <p:nvPr/>
        </p:nvSpPr>
        <p:spPr>
          <a:xfrm>
            <a:off x="2857500" y="1905000"/>
            <a:ext cx="2633662"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“I’m Alice”, R</a:t>
            </a:r>
            <a:r>
              <a:rPr b="0" baseline="-25000" i="0" lang="en-US" sz="2400" u="none">
                <a:solidFill>
                  <a:schemeClr val="dk1"/>
                </a:solidFill>
                <a:latin typeface="Times"/>
                <a:ea typeface="Times"/>
                <a:cs typeface="Times"/>
                <a:sym typeface="Times"/>
              </a:rPr>
              <a:t>A</a:t>
            </a:r>
            <a:endParaRPr/>
          </a:p>
        </p:txBody>
      </p:sp>
      <p:sp>
        <p:nvSpPr>
          <p:cNvPr id="756" name="Google Shape;756;p50"/>
          <p:cNvSpPr txBox="1"/>
          <p:nvPr/>
        </p:nvSpPr>
        <p:spPr>
          <a:xfrm>
            <a:off x="2819400" y="2493962"/>
            <a:ext cx="36210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R</a:t>
            </a:r>
            <a:r>
              <a:rPr b="0" baseline="-25000" i="0" lang="en-US" sz="2400" u="none">
                <a:solidFill>
                  <a:schemeClr val="dk1"/>
                </a:solidFill>
                <a:latin typeface="Times"/>
                <a:ea typeface="Times"/>
                <a:cs typeface="Times"/>
                <a:sym typeface="Times"/>
              </a:rPr>
              <a:t>B</a:t>
            </a:r>
            <a:r>
              <a:rPr b="0" i="0" lang="en-US" sz="2400" u="none">
                <a:solidFill>
                  <a:schemeClr val="dk1"/>
                </a:solidFill>
                <a:latin typeface="Times"/>
                <a:ea typeface="Times"/>
                <a:cs typeface="Times"/>
                <a:sym typeface="Times"/>
              </a:rPr>
              <a:t>, [{R</a:t>
            </a:r>
            <a:r>
              <a:rPr b="0" baseline="-25000" i="0" lang="en-US" sz="2400" u="none">
                <a:solidFill>
                  <a:schemeClr val="dk1"/>
                </a:solidFill>
                <a:latin typeface="Times"/>
                <a:ea typeface="Times"/>
                <a:cs typeface="Times"/>
                <a:sym typeface="Times"/>
              </a:rPr>
              <a:t>A</a:t>
            </a:r>
            <a:r>
              <a:rPr b="0" i="0" lang="en-US" sz="2400" u="none">
                <a:solidFill>
                  <a:schemeClr val="dk1"/>
                </a:solidFill>
                <a:latin typeface="Times"/>
                <a:ea typeface="Times"/>
                <a:cs typeface="Times"/>
                <a:sym typeface="Times"/>
              </a:rPr>
              <a:t>, g</a:t>
            </a:r>
            <a:r>
              <a:rPr b="0" baseline="30000" i="0" lang="en-US" sz="2400" u="none">
                <a:solidFill>
                  <a:schemeClr val="dk1"/>
                </a:solidFill>
                <a:latin typeface="Times"/>
                <a:ea typeface="Times"/>
                <a:cs typeface="Times"/>
                <a:sym typeface="Times"/>
              </a:rPr>
              <a:t>b</a:t>
            </a:r>
            <a:r>
              <a:rPr b="0" i="0" lang="en-US" sz="2400" u="none">
                <a:solidFill>
                  <a:schemeClr val="dk1"/>
                </a:solidFill>
                <a:latin typeface="Times"/>
                <a:ea typeface="Times"/>
                <a:cs typeface="Times"/>
                <a:sym typeface="Times"/>
              </a:rPr>
              <a:t> mod p}</a:t>
            </a:r>
            <a:r>
              <a:rPr b="0" baseline="-25000" i="0" lang="en-US" sz="2400" u="none">
                <a:solidFill>
                  <a:schemeClr val="dk1"/>
                </a:solidFill>
                <a:latin typeface="Times"/>
                <a:ea typeface="Times"/>
                <a:cs typeface="Times"/>
                <a:sym typeface="Times"/>
              </a:rPr>
              <a:t>Alice</a:t>
            </a:r>
            <a:r>
              <a:rPr b="0" i="0" lang="en-US" sz="2400" u="none">
                <a:solidFill>
                  <a:schemeClr val="dk1"/>
                </a:solidFill>
                <a:latin typeface="Times"/>
                <a:ea typeface="Times"/>
                <a:cs typeface="Times"/>
                <a:sym typeface="Times"/>
              </a:rPr>
              <a:t>]</a:t>
            </a:r>
            <a:r>
              <a:rPr b="0" baseline="-25000" i="0" lang="en-US" sz="2400" u="none">
                <a:solidFill>
                  <a:schemeClr val="dk1"/>
                </a:solidFill>
                <a:latin typeface="Times"/>
                <a:ea typeface="Times"/>
                <a:cs typeface="Times"/>
                <a:sym typeface="Times"/>
              </a:rPr>
              <a:t>Bob</a:t>
            </a:r>
            <a:endParaRPr/>
          </a:p>
        </p:txBody>
      </p:sp>
      <p:sp>
        <p:nvSpPr>
          <p:cNvPr id="757" name="Google Shape;757;p50"/>
          <p:cNvSpPr txBox="1"/>
          <p:nvPr/>
        </p:nvSpPr>
        <p:spPr>
          <a:xfrm>
            <a:off x="2857500" y="3106737"/>
            <a:ext cx="3214687"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[{R</a:t>
            </a:r>
            <a:r>
              <a:rPr b="0" baseline="-25000" i="0" lang="en-US" sz="2400" u="none">
                <a:solidFill>
                  <a:schemeClr val="dk1"/>
                </a:solidFill>
                <a:latin typeface="Times"/>
                <a:ea typeface="Times"/>
                <a:cs typeface="Times"/>
                <a:sym typeface="Times"/>
              </a:rPr>
              <a:t>B</a:t>
            </a:r>
            <a:r>
              <a:rPr b="0" i="0" lang="en-US" sz="2400" u="none">
                <a:solidFill>
                  <a:schemeClr val="dk1"/>
                </a:solidFill>
                <a:latin typeface="Times"/>
                <a:ea typeface="Times"/>
                <a:cs typeface="Times"/>
                <a:sym typeface="Times"/>
              </a:rPr>
              <a:t>, g</a:t>
            </a:r>
            <a:r>
              <a:rPr b="0" baseline="30000" i="0" lang="en-US" sz="2400" u="none">
                <a:solidFill>
                  <a:schemeClr val="dk1"/>
                </a:solidFill>
                <a:latin typeface="Times"/>
                <a:ea typeface="Times"/>
                <a:cs typeface="Times"/>
                <a:sym typeface="Times"/>
              </a:rPr>
              <a:t>a</a:t>
            </a:r>
            <a:r>
              <a:rPr b="0" i="0" lang="en-US" sz="2400" u="none">
                <a:solidFill>
                  <a:schemeClr val="dk1"/>
                </a:solidFill>
                <a:latin typeface="Times"/>
                <a:ea typeface="Times"/>
                <a:cs typeface="Times"/>
                <a:sym typeface="Times"/>
              </a:rPr>
              <a:t> mod p}</a:t>
            </a:r>
            <a:r>
              <a:rPr b="0" baseline="-25000" i="0" lang="en-US" sz="2400" u="none">
                <a:solidFill>
                  <a:schemeClr val="dk1"/>
                </a:solidFill>
                <a:latin typeface="Times"/>
                <a:ea typeface="Times"/>
                <a:cs typeface="Times"/>
                <a:sym typeface="Times"/>
              </a:rPr>
              <a:t>Bob</a:t>
            </a:r>
            <a:r>
              <a:rPr b="0" i="0" lang="en-US" sz="2400" u="none">
                <a:solidFill>
                  <a:schemeClr val="dk1"/>
                </a:solidFill>
                <a:latin typeface="Times"/>
                <a:ea typeface="Times"/>
                <a:cs typeface="Times"/>
                <a:sym typeface="Times"/>
              </a:rPr>
              <a:t>]</a:t>
            </a:r>
            <a:r>
              <a:rPr b="0" baseline="-25000" i="0" lang="en-US" sz="2400" u="none">
                <a:solidFill>
                  <a:schemeClr val="dk1"/>
                </a:solidFill>
                <a:latin typeface="Times"/>
                <a:ea typeface="Times"/>
                <a:cs typeface="Times"/>
                <a:sym typeface="Times"/>
              </a:rPr>
              <a:t>Alice</a:t>
            </a:r>
            <a:endParaRPr/>
          </a:p>
        </p:txBody>
      </p:sp>
      <p:sp>
        <p:nvSpPr>
          <p:cNvPr id="758" name="Google Shape;758;p50"/>
          <p:cNvSpPr txBox="1"/>
          <p:nvPr/>
        </p:nvSpPr>
        <p:spPr>
          <a:xfrm>
            <a:off x="785812" y="4267200"/>
            <a:ext cx="7900987" cy="190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2060"/>
              </a:buClr>
              <a:buSzPts val="1960"/>
              <a:buFont typeface="Noto Sans Symbols"/>
              <a:buChar char="●"/>
            </a:pPr>
            <a:r>
              <a:rPr b="0" i="0" lang="en-US" sz="2800" u="none">
                <a:solidFill>
                  <a:schemeClr val="dk1"/>
                </a:solidFill>
                <a:latin typeface="Comic Sans MS"/>
                <a:ea typeface="Comic Sans MS"/>
                <a:cs typeface="Comic Sans MS"/>
                <a:sym typeface="Comic Sans MS"/>
              </a:rPr>
              <a:t>Session key is </a:t>
            </a:r>
            <a:r>
              <a:rPr b="0" i="0" lang="en-US" sz="2400" u="none">
                <a:solidFill>
                  <a:srgbClr val="FF0000"/>
                </a:solidFill>
                <a:latin typeface="Times"/>
                <a:ea typeface="Times"/>
                <a:cs typeface="Times"/>
                <a:sym typeface="Times"/>
              </a:rPr>
              <a:t>K = g</a:t>
            </a:r>
            <a:r>
              <a:rPr b="0" baseline="30000" i="0" lang="en-US" sz="2400" u="none">
                <a:solidFill>
                  <a:srgbClr val="FF0000"/>
                </a:solidFill>
                <a:latin typeface="Times"/>
                <a:ea typeface="Times"/>
                <a:cs typeface="Times"/>
                <a:sym typeface="Times"/>
              </a:rPr>
              <a:t>ab</a:t>
            </a:r>
            <a:r>
              <a:rPr b="0" i="0" lang="en-US" sz="2400" u="none">
                <a:solidFill>
                  <a:srgbClr val="FF0000"/>
                </a:solidFill>
                <a:latin typeface="Times"/>
                <a:ea typeface="Times"/>
                <a:cs typeface="Times"/>
                <a:sym typeface="Times"/>
              </a:rPr>
              <a:t> mod p</a:t>
            </a:r>
            <a:endParaRPr b="0" i="0" sz="2800" u="none">
              <a:solidFill>
                <a:srgbClr val="FF0000"/>
              </a:solidFill>
              <a:latin typeface="Comic Sans MS"/>
              <a:ea typeface="Comic Sans MS"/>
              <a:cs typeface="Comic Sans MS"/>
              <a:sym typeface="Comic Sans MS"/>
            </a:endParaRPr>
          </a:p>
          <a:p>
            <a:pPr indent="-342900" lvl="0" marL="342900" marR="0" rtl="0" algn="l">
              <a:lnSpc>
                <a:spcPct val="85000"/>
              </a:lnSpc>
              <a:spcBef>
                <a:spcPts val="560"/>
              </a:spcBef>
              <a:spcAft>
                <a:spcPts val="0"/>
              </a:spcAft>
              <a:buClr>
                <a:srgbClr val="002060"/>
              </a:buClr>
              <a:buSzPts val="1960"/>
              <a:buFont typeface="Noto Sans Symbols"/>
              <a:buChar char="●"/>
            </a:pPr>
            <a:r>
              <a:rPr b="0" i="0" lang="en-US" sz="2800" u="none">
                <a:solidFill>
                  <a:schemeClr val="dk1"/>
                </a:solidFill>
                <a:latin typeface="Comic Sans MS"/>
                <a:ea typeface="Comic Sans MS"/>
                <a:cs typeface="Comic Sans MS"/>
                <a:sym typeface="Comic Sans MS"/>
              </a:rPr>
              <a:t>Alice forgets </a:t>
            </a:r>
            <a:r>
              <a:rPr b="0" i="0" lang="en-US" sz="2800" u="none">
                <a:solidFill>
                  <a:srgbClr val="FF0000"/>
                </a:solidFill>
                <a:latin typeface="Times"/>
                <a:ea typeface="Times"/>
                <a:cs typeface="Times"/>
                <a:sym typeface="Times"/>
              </a:rPr>
              <a:t>a</a:t>
            </a:r>
            <a:r>
              <a:rPr b="0" i="0" lang="en-US" sz="2800" u="none">
                <a:solidFill>
                  <a:schemeClr val="dk1"/>
                </a:solidFill>
                <a:latin typeface="Comic Sans MS"/>
                <a:ea typeface="Comic Sans MS"/>
                <a:cs typeface="Comic Sans MS"/>
                <a:sym typeface="Comic Sans MS"/>
              </a:rPr>
              <a:t> and Bob forgets </a:t>
            </a:r>
            <a:r>
              <a:rPr b="0" i="0" lang="en-US" sz="2800" u="none">
                <a:solidFill>
                  <a:srgbClr val="FF0000"/>
                </a:solidFill>
                <a:latin typeface="Times"/>
                <a:ea typeface="Times"/>
                <a:cs typeface="Times"/>
                <a:sym typeface="Times"/>
              </a:rPr>
              <a:t>b</a:t>
            </a:r>
            <a:endParaRPr b="0" i="0" sz="2800" u="none">
              <a:solidFill>
                <a:srgbClr val="FF0000"/>
              </a:solidFill>
              <a:latin typeface="Comic Sans MS"/>
              <a:ea typeface="Comic Sans MS"/>
              <a:cs typeface="Comic Sans MS"/>
              <a:sym typeface="Comic Sans MS"/>
            </a:endParaRPr>
          </a:p>
          <a:p>
            <a:pPr indent="-342900" lvl="0" marL="342900" marR="0" rtl="0" algn="l">
              <a:lnSpc>
                <a:spcPct val="85000"/>
              </a:lnSpc>
              <a:spcBef>
                <a:spcPts val="560"/>
              </a:spcBef>
              <a:spcAft>
                <a:spcPts val="0"/>
              </a:spcAft>
              <a:buClr>
                <a:srgbClr val="002060"/>
              </a:buClr>
              <a:buSzPts val="1960"/>
              <a:buFont typeface="Noto Sans Symbols"/>
              <a:buChar char="●"/>
            </a:pPr>
            <a:r>
              <a:rPr b="0" i="0" lang="en-US" sz="2800" u="none">
                <a:solidFill>
                  <a:schemeClr val="dk1"/>
                </a:solidFill>
                <a:latin typeface="Comic Sans MS"/>
                <a:ea typeface="Comic Sans MS"/>
                <a:cs typeface="Comic Sans MS"/>
                <a:sym typeface="Comic Sans MS"/>
              </a:rPr>
              <a:t>If Trudy later gets Bob’s and Alice’s secrets, she cannot recover session key </a:t>
            </a:r>
            <a:r>
              <a:rPr b="0" i="0" lang="en-US" sz="2800" u="none">
                <a:solidFill>
                  <a:srgbClr val="FF0000"/>
                </a:solidFill>
                <a:latin typeface="Times"/>
                <a:ea typeface="Times"/>
                <a:cs typeface="Times"/>
                <a:sym typeface="Times"/>
              </a:rPr>
              <a:t>K</a:t>
            </a:r>
            <a:endParaRPr/>
          </a:p>
        </p:txBody>
      </p:sp>
      <p:pic>
        <p:nvPicPr>
          <p:cNvPr id="759" name="Google Shape;759;p50"/>
          <p:cNvPicPr preferRelativeResize="0"/>
          <p:nvPr/>
        </p:nvPicPr>
        <p:blipFill rotWithShape="1">
          <a:blip r:embed="rId3">
            <a:alphaModFix/>
          </a:blip>
          <a:srcRect b="0" l="0" r="0" t="0"/>
          <a:stretch/>
        </p:blipFill>
        <p:spPr>
          <a:xfrm>
            <a:off x="1071562" y="2000250"/>
            <a:ext cx="946150" cy="1624012"/>
          </a:xfrm>
          <a:prstGeom prst="rect">
            <a:avLst/>
          </a:prstGeom>
          <a:noFill/>
          <a:ln>
            <a:noFill/>
          </a:ln>
        </p:spPr>
      </p:pic>
      <p:pic>
        <p:nvPicPr>
          <p:cNvPr id="760" name="Google Shape;760;p50"/>
          <p:cNvPicPr preferRelativeResize="0"/>
          <p:nvPr/>
        </p:nvPicPr>
        <p:blipFill rotWithShape="1">
          <a:blip r:embed="rId4">
            <a:alphaModFix/>
          </a:blip>
          <a:srcRect b="0" l="0" r="0" t="0"/>
          <a:stretch/>
        </p:blipFill>
        <p:spPr>
          <a:xfrm>
            <a:off x="7239000" y="1905000"/>
            <a:ext cx="1076325" cy="16652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0"/>
                                        </p:tgtEl>
                                        <p:attrNameLst>
                                          <p:attrName>style.visibility</p:attrName>
                                        </p:attrNameLst>
                                      </p:cBhvr>
                                      <p:to>
                                        <p:strVal val="visible"/>
                                      </p:to>
                                    </p:set>
                                    <p:animEffect filter="fade" transition="in">
                                      <p:cBhvr>
                                        <p:cTn dur="500"/>
                                        <p:tgtEl>
                                          <p:spTgt spid="750"/>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7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1"/>
                                        </p:tgtEl>
                                        <p:attrNameLst>
                                          <p:attrName>style.visibility</p:attrName>
                                        </p:attrNameLst>
                                      </p:cBhvr>
                                      <p:to>
                                        <p:strVal val="visible"/>
                                      </p:to>
                                    </p:set>
                                    <p:animEffect filter="fade" transition="in">
                                      <p:cBhvr>
                                        <p:cTn dur="1"/>
                                        <p:tgtEl>
                                          <p:spTgt spid="751"/>
                                        </p:tgtEl>
                                      </p:cBhvr>
                                    </p:animEffec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7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4"/>
                                        </p:tgtEl>
                                        <p:attrNameLst>
                                          <p:attrName>style.visibility</p:attrName>
                                        </p:attrNameLst>
                                      </p:cBhvr>
                                      <p:to>
                                        <p:strVal val="visible"/>
                                      </p:to>
                                    </p:set>
                                    <p:animEffect filter="fade" transition="in">
                                      <p:cBhvr>
                                        <p:cTn dur="500"/>
                                        <p:tgtEl>
                                          <p:spTgt spid="754"/>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7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0" st="0"/>
                                            </p:txEl>
                                          </p:spTgt>
                                        </p:tgtEl>
                                        <p:attrNameLst>
                                          <p:attrName>style.visibility</p:attrName>
                                        </p:attrNameLst>
                                      </p:cBhvr>
                                      <p:to>
                                        <p:strVal val="visible"/>
                                      </p:to>
                                    </p:set>
                                    <p:animEffect filter="fade" transition="in">
                                      <p:cBhvr>
                                        <p:cTn dur="500"/>
                                        <p:tgtEl>
                                          <p:spTgt spid="7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1" st="1"/>
                                            </p:txEl>
                                          </p:spTgt>
                                        </p:tgtEl>
                                        <p:attrNameLst>
                                          <p:attrName>style.visibility</p:attrName>
                                        </p:attrNameLst>
                                      </p:cBhvr>
                                      <p:to>
                                        <p:strVal val="visible"/>
                                      </p:to>
                                    </p:set>
                                    <p:animEffect filter="fade" transition="in">
                                      <p:cBhvr>
                                        <p:cTn dur="500"/>
                                        <p:tgtEl>
                                          <p:spTgt spid="7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xEl>
                                              <p:pRg end="2" st="2"/>
                                            </p:txEl>
                                          </p:spTgt>
                                        </p:tgtEl>
                                        <p:attrNameLst>
                                          <p:attrName>style.visibility</p:attrName>
                                        </p:attrNameLst>
                                      </p:cBhvr>
                                      <p:to>
                                        <p:strVal val="visible"/>
                                      </p:to>
                                    </p:set>
                                    <p:animEffect filter="fade" transition="in">
                                      <p:cBhvr>
                                        <p:cTn dur="500"/>
                                        <p:tgtEl>
                                          <p:spTgt spid="758">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51"/>
          <p:cNvSpPr txBox="1"/>
          <p:nvPr>
            <p:ph type="title"/>
          </p:nvPr>
        </p:nvSpPr>
        <p:spPr>
          <a:xfrm>
            <a:off x="785812" y="357187"/>
            <a:ext cx="7643812" cy="100012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TIMESTAMPS</a:t>
            </a:r>
            <a:endParaRPr/>
          </a:p>
        </p:txBody>
      </p:sp>
      <p:sp>
        <p:nvSpPr>
          <p:cNvPr id="766" name="Google Shape;766;p51"/>
          <p:cNvSpPr txBox="1"/>
          <p:nvPr>
            <p:ph idx="1" type="body"/>
          </p:nvPr>
        </p:nvSpPr>
        <p:spPr>
          <a:xfrm>
            <a:off x="627062" y="1916112"/>
            <a:ext cx="7824787" cy="4305300"/>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90000"/>
              </a:lnSpc>
              <a:spcBef>
                <a:spcPts val="0"/>
              </a:spcBef>
              <a:spcAft>
                <a:spcPts val="0"/>
              </a:spcAft>
              <a:buClr>
                <a:schemeClr val="accent2"/>
              </a:buClr>
              <a:buSzPts val="2208"/>
              <a:buFont typeface="Noto Sans Symbols"/>
              <a:buChar char="◼"/>
            </a:pPr>
            <a:r>
              <a:rPr b="0" i="0" lang="en-US" sz="2400" u="none">
                <a:solidFill>
                  <a:srgbClr val="FF0000"/>
                </a:solidFill>
                <a:latin typeface="Gill Sans"/>
                <a:ea typeface="Gill Sans"/>
                <a:cs typeface="Gill Sans"/>
                <a:sym typeface="Gill Sans"/>
              </a:rPr>
              <a:t>A timestamp </a:t>
            </a:r>
            <a:r>
              <a:rPr b="0" i="0" lang="en-US" sz="2400" u="none">
                <a:solidFill>
                  <a:srgbClr val="FF0000"/>
                </a:solidFill>
                <a:latin typeface="Times"/>
                <a:ea typeface="Times"/>
                <a:cs typeface="Times"/>
                <a:sym typeface="Times"/>
              </a:rPr>
              <a:t>T</a:t>
            </a:r>
            <a:r>
              <a:rPr b="0" i="0" lang="en-US" sz="2400" u="none">
                <a:solidFill>
                  <a:srgbClr val="FF0000"/>
                </a:solidFill>
                <a:latin typeface="Gill Sans"/>
                <a:ea typeface="Gill Sans"/>
                <a:cs typeface="Gill Sans"/>
                <a:sym typeface="Gill Sans"/>
              </a:rPr>
              <a:t> </a:t>
            </a:r>
            <a:r>
              <a:rPr b="0" i="0" lang="en-US" sz="2400" u="none">
                <a:solidFill>
                  <a:schemeClr val="dk2"/>
                </a:solidFill>
                <a:latin typeface="Gill Sans"/>
                <a:ea typeface="Gill Sans"/>
                <a:cs typeface="Gill Sans"/>
                <a:sym typeface="Gill Sans"/>
              </a:rPr>
              <a:t>is the current time</a:t>
            </a:r>
            <a:endParaRPr/>
          </a:p>
          <a:p>
            <a:pPr indent="-304800" lvl="0" marL="304800" marR="0" rtl="0" algn="l">
              <a:lnSpc>
                <a:spcPct val="90000"/>
              </a:lnSpc>
              <a:spcBef>
                <a:spcPts val="1080"/>
              </a:spcBef>
              <a:spcAft>
                <a:spcPts val="0"/>
              </a:spcAft>
              <a:buClr>
                <a:schemeClr val="accent2"/>
              </a:buClr>
              <a:buSzPts val="2208"/>
              <a:buFont typeface="Noto Sans Symbols"/>
              <a:buChar char="◼"/>
            </a:pPr>
            <a:r>
              <a:rPr b="0" i="0" lang="en-US" sz="2400" u="none">
                <a:solidFill>
                  <a:schemeClr val="dk2"/>
                </a:solidFill>
                <a:latin typeface="Gill Sans"/>
                <a:ea typeface="Gill Sans"/>
                <a:cs typeface="Gill Sans"/>
                <a:sym typeface="Gill Sans"/>
              </a:rPr>
              <a:t>Timestamps used in many security protocols (Kerberos, for example)</a:t>
            </a:r>
            <a:endParaRPr/>
          </a:p>
          <a:p>
            <a:pPr indent="-304800" lvl="0" marL="304800" marR="0" rtl="0" algn="l">
              <a:lnSpc>
                <a:spcPct val="90000"/>
              </a:lnSpc>
              <a:spcBef>
                <a:spcPts val="1080"/>
              </a:spcBef>
              <a:spcAft>
                <a:spcPts val="0"/>
              </a:spcAft>
              <a:buClr>
                <a:schemeClr val="accent2"/>
              </a:buClr>
              <a:buSzPts val="2208"/>
              <a:buFont typeface="Noto Sans Symbols"/>
              <a:buChar char="◼"/>
            </a:pPr>
            <a:r>
              <a:rPr b="0" i="0" lang="en-US" sz="2400" u="none">
                <a:solidFill>
                  <a:srgbClr val="FF0000"/>
                </a:solidFill>
                <a:latin typeface="Gill Sans"/>
                <a:ea typeface="Gill Sans"/>
                <a:cs typeface="Gill Sans"/>
                <a:sym typeface="Gill Sans"/>
              </a:rPr>
              <a:t>Timestamps reduce number of messages</a:t>
            </a:r>
            <a:endParaRPr/>
          </a:p>
          <a:p>
            <a:pPr indent="-304800" lvl="1" marL="628650" marR="0" rtl="0" algn="l">
              <a:lnSpc>
                <a:spcPct val="90000"/>
              </a:lnSpc>
              <a:spcBef>
                <a:spcPts val="1000"/>
              </a:spcBef>
              <a:spcAft>
                <a:spcPts val="0"/>
              </a:spcAft>
              <a:buClr>
                <a:schemeClr val="accent2"/>
              </a:buClr>
              <a:buSzPts val="1840"/>
              <a:buFont typeface="Noto Sans Symbols"/>
              <a:buChar char="◼"/>
            </a:pPr>
            <a:r>
              <a:rPr b="0" i="0" lang="en-US" sz="2000" u="none" cap="none" strike="noStrike">
                <a:solidFill>
                  <a:schemeClr val="dk2"/>
                </a:solidFill>
                <a:latin typeface="Gill Sans"/>
                <a:ea typeface="Gill Sans"/>
                <a:cs typeface="Gill Sans"/>
                <a:sym typeface="Gill Sans"/>
              </a:rPr>
              <a:t>Like a nonce that both sides know in advance</a:t>
            </a:r>
            <a:endParaRPr/>
          </a:p>
          <a:p>
            <a:pPr indent="-304800" lvl="0" marL="304800" marR="0" rtl="0" algn="l">
              <a:lnSpc>
                <a:spcPct val="90000"/>
              </a:lnSpc>
              <a:spcBef>
                <a:spcPts val="1080"/>
              </a:spcBef>
              <a:spcAft>
                <a:spcPts val="0"/>
              </a:spcAft>
              <a:buClr>
                <a:schemeClr val="accent2"/>
              </a:buClr>
              <a:buSzPts val="2208"/>
              <a:buFont typeface="Noto Sans Symbols"/>
              <a:buChar char="◼"/>
            </a:pPr>
            <a:r>
              <a:rPr b="0" i="0" lang="en-US" sz="2400" u="none">
                <a:solidFill>
                  <a:srgbClr val="0000FF"/>
                </a:solidFill>
                <a:latin typeface="Gill Sans"/>
                <a:ea typeface="Gill Sans"/>
                <a:cs typeface="Gill Sans"/>
                <a:sym typeface="Gill Sans"/>
              </a:rPr>
              <a:t>But, use of timestamps implies that time is a security-critical parameter</a:t>
            </a:r>
            <a:endParaRPr/>
          </a:p>
          <a:p>
            <a:pPr indent="-304800" lvl="0" marL="304800" marR="0" rtl="0" algn="l">
              <a:lnSpc>
                <a:spcPct val="90000"/>
              </a:lnSpc>
              <a:spcBef>
                <a:spcPts val="1080"/>
              </a:spcBef>
              <a:spcAft>
                <a:spcPts val="0"/>
              </a:spcAft>
              <a:buClr>
                <a:schemeClr val="accent2"/>
              </a:buClr>
              <a:buSzPts val="2208"/>
              <a:buFont typeface="Noto Sans Symbols"/>
              <a:buChar char="◼"/>
            </a:pPr>
            <a:r>
              <a:rPr b="0" i="0" lang="en-US" sz="2400" u="none">
                <a:solidFill>
                  <a:schemeClr val="dk2"/>
                </a:solidFill>
                <a:latin typeface="Gill Sans"/>
                <a:ea typeface="Gill Sans"/>
                <a:cs typeface="Gill Sans"/>
                <a:sym typeface="Gill Sans"/>
              </a:rPr>
              <a:t>Clocks never exactly the same, so must allow for </a:t>
            </a:r>
            <a:r>
              <a:rPr b="0" i="0" lang="en-US" sz="2400" u="none">
                <a:solidFill>
                  <a:srgbClr val="FF0000"/>
                </a:solidFill>
                <a:latin typeface="Gill Sans"/>
                <a:ea typeface="Gill Sans"/>
                <a:cs typeface="Gill Sans"/>
                <a:sym typeface="Gill Sans"/>
              </a:rPr>
              <a:t>clock skew</a:t>
            </a:r>
            <a:r>
              <a:rPr b="0" i="0" lang="en-US" sz="1300" u="none">
                <a:solidFill>
                  <a:srgbClr val="FF0000"/>
                </a:solidFill>
                <a:latin typeface="Gill Sans"/>
                <a:ea typeface="Gill Sans"/>
                <a:cs typeface="Gill Sans"/>
                <a:sym typeface="Gill Sans"/>
              </a:rPr>
              <a:t>  </a:t>
            </a:r>
            <a:r>
              <a:rPr b="0" i="0" lang="en-US" sz="2400" u="none">
                <a:solidFill>
                  <a:schemeClr val="dk2"/>
                </a:solidFill>
                <a:latin typeface="Gill Sans"/>
                <a:ea typeface="Gill Sans"/>
                <a:cs typeface="Gill Sans"/>
                <a:sym typeface="Gill Sans"/>
              </a:rPr>
              <a:t>⎯ risk of </a:t>
            </a:r>
            <a:r>
              <a:rPr b="0" i="0" lang="en-US" sz="2400" u="none">
                <a:solidFill>
                  <a:srgbClr val="0000FF"/>
                </a:solidFill>
                <a:latin typeface="Gill Sans"/>
                <a:ea typeface="Gill Sans"/>
                <a:cs typeface="Gill Sans"/>
                <a:sym typeface="Gill Sans"/>
              </a:rPr>
              <a:t>replay</a:t>
            </a:r>
            <a:endParaRPr b="1" i="0" sz="2400" u="none">
              <a:solidFill>
                <a:srgbClr val="0000FF"/>
              </a:solidFill>
              <a:latin typeface="Gill Sans"/>
              <a:ea typeface="Gill Sans"/>
              <a:cs typeface="Gill Sans"/>
              <a:sym typeface="Gill Sans"/>
            </a:endParaRPr>
          </a:p>
          <a:p>
            <a:pPr indent="-304800" lvl="0" marL="304800" marR="0" rtl="0" algn="l">
              <a:lnSpc>
                <a:spcPct val="90000"/>
              </a:lnSpc>
              <a:spcBef>
                <a:spcPts val="1080"/>
              </a:spcBef>
              <a:spcAft>
                <a:spcPts val="0"/>
              </a:spcAft>
              <a:buClr>
                <a:schemeClr val="accent2"/>
              </a:buClr>
              <a:buSzPts val="2208"/>
              <a:buFont typeface="Noto Sans Symbols"/>
              <a:buChar char="◼"/>
            </a:pPr>
            <a:r>
              <a:rPr b="0" i="0" lang="en-US" sz="2400" u="none">
                <a:solidFill>
                  <a:schemeClr val="dk2"/>
                </a:solidFill>
                <a:latin typeface="Gill Sans"/>
                <a:ea typeface="Gill Sans"/>
                <a:cs typeface="Gill Sans"/>
                <a:sym typeface="Gill Sans"/>
              </a:rPr>
              <a:t>How much clock skew is enough?</a:t>
            </a:r>
            <a:endParaRPr/>
          </a:p>
        </p:txBody>
      </p:sp>
      <p:sp>
        <p:nvSpPr>
          <p:cNvPr id="767" name="Google Shape;767;p51"/>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768" name="Google Shape;768;p51"/>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52"/>
          <p:cNvSpPr txBox="1"/>
          <p:nvPr>
            <p:ph type="title"/>
          </p:nvPr>
        </p:nvSpPr>
        <p:spPr>
          <a:xfrm>
            <a:off x="785812" y="285750"/>
            <a:ext cx="7929562" cy="107156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PUB KEY AUTHEN WITH TIMESTAMP T</a:t>
            </a:r>
            <a:endParaRPr/>
          </a:p>
        </p:txBody>
      </p:sp>
      <p:sp>
        <p:nvSpPr>
          <p:cNvPr id="774" name="Google Shape;774;p52"/>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775" name="Google Shape;775;p52"/>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cxnSp>
        <p:nvCxnSpPr>
          <p:cNvPr id="776" name="Google Shape;776;p52"/>
          <p:cNvCxnSpPr/>
          <p:nvPr/>
        </p:nvCxnSpPr>
        <p:spPr>
          <a:xfrm>
            <a:off x="2286000" y="2928937"/>
            <a:ext cx="46482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777" name="Google Shape;777;p52"/>
          <p:cNvCxnSpPr/>
          <p:nvPr/>
        </p:nvCxnSpPr>
        <p:spPr>
          <a:xfrm rot="10800000">
            <a:off x="2209800" y="3538537"/>
            <a:ext cx="4724400" cy="0"/>
          </a:xfrm>
          <a:prstGeom prst="straightConnector1">
            <a:avLst/>
          </a:prstGeom>
          <a:noFill/>
          <a:ln cap="flat" cmpd="sng" w="50800">
            <a:solidFill>
              <a:schemeClr val="dk1"/>
            </a:solidFill>
            <a:prstDash val="solid"/>
            <a:miter lim="800000"/>
            <a:headEnd len="med" w="med" type="none"/>
            <a:tailEnd len="med" w="med" type="triangle"/>
          </a:ln>
        </p:spPr>
      </p:cxnSp>
      <p:sp>
        <p:nvSpPr>
          <p:cNvPr id="778" name="Google Shape;778;p52"/>
          <p:cNvSpPr txBox="1"/>
          <p:nvPr/>
        </p:nvSpPr>
        <p:spPr>
          <a:xfrm>
            <a:off x="7315200" y="3843337"/>
            <a:ext cx="7175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a:t>
            </a:r>
            <a:endParaRPr/>
          </a:p>
        </p:txBody>
      </p:sp>
      <p:sp>
        <p:nvSpPr>
          <p:cNvPr id="779" name="Google Shape;779;p52"/>
          <p:cNvSpPr txBox="1"/>
          <p:nvPr/>
        </p:nvSpPr>
        <p:spPr>
          <a:xfrm>
            <a:off x="2819400" y="2336800"/>
            <a:ext cx="4038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“I’m Alice”, {[T,K]</a:t>
            </a:r>
            <a:r>
              <a:rPr b="0" baseline="-25000" i="0" lang="en-US" sz="2400" u="none">
                <a:solidFill>
                  <a:schemeClr val="dk1"/>
                </a:solidFill>
                <a:latin typeface="Times"/>
                <a:ea typeface="Times"/>
                <a:cs typeface="Times"/>
                <a:sym typeface="Times"/>
              </a:rPr>
              <a:t>Alice</a:t>
            </a:r>
            <a:r>
              <a:rPr b="0" i="0" lang="en-US" sz="2400" u="none">
                <a:solidFill>
                  <a:schemeClr val="dk1"/>
                </a:solidFill>
                <a:latin typeface="Times"/>
                <a:ea typeface="Times"/>
                <a:cs typeface="Times"/>
                <a:sym typeface="Times"/>
              </a:rPr>
              <a:t>}</a:t>
            </a:r>
            <a:r>
              <a:rPr b="0" baseline="-25000" i="0" lang="en-US" sz="2400" u="none">
                <a:solidFill>
                  <a:schemeClr val="dk1"/>
                </a:solidFill>
                <a:latin typeface="Times"/>
                <a:ea typeface="Times"/>
                <a:cs typeface="Times"/>
                <a:sym typeface="Times"/>
              </a:rPr>
              <a:t>Bob</a:t>
            </a:r>
            <a:endParaRPr/>
          </a:p>
        </p:txBody>
      </p:sp>
      <p:sp>
        <p:nvSpPr>
          <p:cNvPr id="780" name="Google Shape;780;p52"/>
          <p:cNvSpPr txBox="1"/>
          <p:nvPr/>
        </p:nvSpPr>
        <p:spPr>
          <a:xfrm>
            <a:off x="3373437" y="3024187"/>
            <a:ext cx="226536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{[T +1,K]</a:t>
            </a:r>
            <a:r>
              <a:rPr b="0" baseline="-25000" i="0" lang="en-US" sz="2400" u="none">
                <a:solidFill>
                  <a:schemeClr val="dk1"/>
                </a:solidFill>
                <a:latin typeface="Times"/>
                <a:ea typeface="Times"/>
                <a:cs typeface="Times"/>
                <a:sym typeface="Times"/>
              </a:rPr>
              <a:t>Bob</a:t>
            </a:r>
            <a:r>
              <a:rPr b="0" i="0" lang="en-US" sz="2400" u="none">
                <a:solidFill>
                  <a:schemeClr val="dk1"/>
                </a:solidFill>
                <a:latin typeface="Times"/>
                <a:ea typeface="Times"/>
                <a:cs typeface="Times"/>
                <a:sym typeface="Times"/>
              </a:rPr>
              <a:t>}</a:t>
            </a:r>
            <a:r>
              <a:rPr b="0" baseline="-25000" i="0" lang="en-US" sz="2400" u="none">
                <a:solidFill>
                  <a:schemeClr val="dk1"/>
                </a:solidFill>
                <a:latin typeface="Times"/>
                <a:ea typeface="Times"/>
                <a:cs typeface="Times"/>
                <a:sym typeface="Times"/>
              </a:rPr>
              <a:t>Alice</a:t>
            </a:r>
            <a:endParaRPr/>
          </a:p>
        </p:txBody>
      </p:sp>
      <p:sp>
        <p:nvSpPr>
          <p:cNvPr id="781" name="Google Shape;781;p52"/>
          <p:cNvSpPr txBox="1"/>
          <p:nvPr/>
        </p:nvSpPr>
        <p:spPr>
          <a:xfrm>
            <a:off x="1219200" y="3859212"/>
            <a:ext cx="9001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Alice</a:t>
            </a:r>
            <a:endParaRPr/>
          </a:p>
        </p:txBody>
      </p:sp>
      <p:sp>
        <p:nvSpPr>
          <p:cNvPr id="782" name="Google Shape;782;p52"/>
          <p:cNvSpPr txBox="1"/>
          <p:nvPr/>
        </p:nvSpPr>
        <p:spPr>
          <a:xfrm>
            <a:off x="1111250" y="4508500"/>
            <a:ext cx="7218362" cy="1420812"/>
          </a:xfrm>
          <a:prstGeom prst="rect">
            <a:avLst/>
          </a:prstGeom>
          <a:noFill/>
          <a:ln>
            <a:noFill/>
          </a:ln>
        </p:spPr>
        <p:txBody>
          <a:bodyPr anchorCtr="0" anchor="t" bIns="45700" lIns="91425" spcFirstLastPara="1" rIns="91425" wrap="square" tIns="45700">
            <a:noAutofit/>
          </a:bodyPr>
          <a:lstStyle/>
          <a:p>
            <a:pPr indent="-514350" lvl="0" marL="514350" marR="0" rtl="0" algn="l">
              <a:lnSpc>
                <a:spcPct val="85000"/>
              </a:lnSpc>
              <a:spcBef>
                <a:spcPts val="0"/>
              </a:spcBef>
              <a:spcAft>
                <a:spcPts val="0"/>
              </a:spcAft>
              <a:buClr>
                <a:schemeClr val="dk1"/>
              </a:buClr>
              <a:buSzPts val="2100"/>
              <a:buFont typeface="Noto Sans Symbols"/>
              <a:buChar char="●"/>
            </a:pPr>
            <a:r>
              <a:rPr b="0" i="0" lang="en-US" sz="2800" u="none">
                <a:solidFill>
                  <a:schemeClr val="dk1"/>
                </a:solidFill>
                <a:latin typeface="Gill Sans"/>
                <a:ea typeface="Gill Sans"/>
                <a:cs typeface="Gill Sans"/>
                <a:sym typeface="Gill Sans"/>
              </a:rPr>
              <a:t>Secure mutual authentication?</a:t>
            </a:r>
            <a:endParaRPr/>
          </a:p>
          <a:p>
            <a:pPr indent="-514350" lvl="0" marL="514350" marR="0" rtl="0" algn="l">
              <a:lnSpc>
                <a:spcPct val="85000"/>
              </a:lnSpc>
              <a:spcBef>
                <a:spcPts val="1160"/>
              </a:spcBef>
              <a:spcAft>
                <a:spcPts val="0"/>
              </a:spcAft>
              <a:buClr>
                <a:schemeClr val="dk1"/>
              </a:buClr>
              <a:buSzPts val="2100"/>
              <a:buFont typeface="Noto Sans Symbols"/>
              <a:buChar char="●"/>
            </a:pPr>
            <a:r>
              <a:rPr b="0" i="0" lang="en-US" sz="2800" u="none">
                <a:solidFill>
                  <a:schemeClr val="dk1"/>
                </a:solidFill>
                <a:latin typeface="Gill Sans"/>
                <a:ea typeface="Gill Sans"/>
                <a:cs typeface="Gill Sans"/>
                <a:sym typeface="Gill Sans"/>
              </a:rPr>
              <a:t>Session key?</a:t>
            </a:r>
            <a:endParaRPr/>
          </a:p>
          <a:p>
            <a:pPr indent="-514350" lvl="0" marL="514350" marR="0" rtl="0" algn="l">
              <a:lnSpc>
                <a:spcPct val="85000"/>
              </a:lnSpc>
              <a:spcBef>
                <a:spcPts val="1160"/>
              </a:spcBef>
              <a:spcAft>
                <a:spcPts val="0"/>
              </a:spcAft>
              <a:buClr>
                <a:schemeClr val="dk1"/>
              </a:buClr>
              <a:buSzPts val="2100"/>
              <a:buFont typeface="Noto Sans Symbols"/>
              <a:buChar char="●"/>
            </a:pPr>
            <a:r>
              <a:rPr b="0" i="0" lang="en-US" sz="2800" u="none">
                <a:solidFill>
                  <a:schemeClr val="dk1"/>
                </a:solidFill>
                <a:latin typeface="Gill Sans"/>
                <a:ea typeface="Gill Sans"/>
                <a:cs typeface="Gill Sans"/>
                <a:sym typeface="Gill Sans"/>
              </a:rPr>
              <a:t>Seems to be OK</a:t>
            </a:r>
            <a:endParaRPr/>
          </a:p>
        </p:txBody>
      </p:sp>
      <p:pic>
        <p:nvPicPr>
          <p:cNvPr id="783" name="Google Shape;783;p52"/>
          <p:cNvPicPr preferRelativeResize="0"/>
          <p:nvPr/>
        </p:nvPicPr>
        <p:blipFill rotWithShape="1">
          <a:blip r:embed="rId3">
            <a:alphaModFix/>
          </a:blip>
          <a:srcRect b="0" l="0" r="0" t="0"/>
          <a:stretch/>
        </p:blipFill>
        <p:spPr>
          <a:xfrm>
            <a:off x="1111250" y="2319337"/>
            <a:ext cx="946150" cy="1624012"/>
          </a:xfrm>
          <a:prstGeom prst="rect">
            <a:avLst/>
          </a:prstGeom>
          <a:noFill/>
          <a:ln>
            <a:noFill/>
          </a:ln>
        </p:spPr>
      </p:pic>
      <p:pic>
        <p:nvPicPr>
          <p:cNvPr id="784" name="Google Shape;784;p52"/>
          <p:cNvPicPr preferRelativeResize="0"/>
          <p:nvPr/>
        </p:nvPicPr>
        <p:blipFill rotWithShape="1">
          <a:blip r:embed="rId4">
            <a:alphaModFix/>
          </a:blip>
          <a:srcRect b="0" l="0" r="0" t="0"/>
          <a:stretch/>
        </p:blipFill>
        <p:spPr>
          <a:xfrm>
            <a:off x="7162800" y="2178050"/>
            <a:ext cx="1076325" cy="16652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6"/>
                                        </p:tgtEl>
                                        <p:attrNameLst>
                                          <p:attrName>style.visibility</p:attrName>
                                        </p:attrNameLst>
                                      </p:cBhvr>
                                      <p:to>
                                        <p:strVal val="visible"/>
                                      </p:to>
                                    </p:set>
                                    <p:animEffect filter="fade" transition="in">
                                      <p:cBhvr>
                                        <p:cTn dur="500"/>
                                        <p:tgtEl>
                                          <p:spTgt spid="776"/>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7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7"/>
                                        </p:tgtEl>
                                        <p:attrNameLst>
                                          <p:attrName>style.visibility</p:attrName>
                                        </p:attrNameLst>
                                      </p:cBhvr>
                                      <p:to>
                                        <p:strVal val="visible"/>
                                      </p:to>
                                    </p:set>
                                    <p:animEffect filter="fade" transition="in">
                                      <p:cBhvr>
                                        <p:cTn dur="1"/>
                                        <p:tgtEl>
                                          <p:spTgt spid="777"/>
                                        </p:tgtEl>
                                      </p:cBhvr>
                                    </p:animEffec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7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2">
                                            <p:txEl>
                                              <p:pRg end="0" st="0"/>
                                            </p:txEl>
                                          </p:spTgt>
                                        </p:tgtEl>
                                        <p:attrNameLst>
                                          <p:attrName>style.visibility</p:attrName>
                                        </p:attrNameLst>
                                      </p:cBhvr>
                                      <p:to>
                                        <p:strVal val="visible"/>
                                      </p:to>
                                    </p:set>
                                    <p:animEffect filter="fade" transition="in">
                                      <p:cBhvr>
                                        <p:cTn dur="500"/>
                                        <p:tgtEl>
                                          <p:spTgt spid="7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2">
                                            <p:txEl>
                                              <p:pRg end="1" st="1"/>
                                            </p:txEl>
                                          </p:spTgt>
                                        </p:tgtEl>
                                        <p:attrNameLst>
                                          <p:attrName>style.visibility</p:attrName>
                                        </p:attrNameLst>
                                      </p:cBhvr>
                                      <p:to>
                                        <p:strVal val="visible"/>
                                      </p:to>
                                    </p:set>
                                    <p:animEffect filter="fade" transition="in">
                                      <p:cBhvr>
                                        <p:cTn dur="500"/>
                                        <p:tgtEl>
                                          <p:spTgt spid="78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2">
                                            <p:txEl>
                                              <p:pRg end="2" st="2"/>
                                            </p:txEl>
                                          </p:spTgt>
                                        </p:tgtEl>
                                        <p:attrNameLst>
                                          <p:attrName>style.visibility</p:attrName>
                                        </p:attrNameLst>
                                      </p:cBhvr>
                                      <p:to>
                                        <p:strVal val="visible"/>
                                      </p:to>
                                    </p:set>
                                    <p:animEffect filter="fade" transition="in">
                                      <p:cBhvr>
                                        <p:cTn dur="500"/>
                                        <p:tgtEl>
                                          <p:spTgt spid="782">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53"/>
          <p:cNvSpPr txBox="1"/>
          <p:nvPr>
            <p:ph type="title"/>
          </p:nvPr>
        </p:nvSpPr>
        <p:spPr>
          <a:xfrm>
            <a:off x="785812" y="304800"/>
            <a:ext cx="7929562" cy="10525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PUB KEY AUTHEN WITH TIMESTAMP T</a:t>
            </a:r>
            <a:endParaRPr/>
          </a:p>
        </p:txBody>
      </p:sp>
      <p:sp>
        <p:nvSpPr>
          <p:cNvPr id="790" name="Google Shape;790;p53"/>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791" name="Google Shape;791;p53"/>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cxnSp>
        <p:nvCxnSpPr>
          <p:cNvPr id="792" name="Google Shape;792;p53"/>
          <p:cNvCxnSpPr/>
          <p:nvPr/>
        </p:nvCxnSpPr>
        <p:spPr>
          <a:xfrm>
            <a:off x="2252662" y="2944812"/>
            <a:ext cx="46482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793" name="Google Shape;793;p53"/>
          <p:cNvCxnSpPr/>
          <p:nvPr/>
        </p:nvCxnSpPr>
        <p:spPr>
          <a:xfrm rot="10800000">
            <a:off x="2176462" y="3554412"/>
            <a:ext cx="4724400" cy="0"/>
          </a:xfrm>
          <a:prstGeom prst="straightConnector1">
            <a:avLst/>
          </a:prstGeom>
          <a:noFill/>
          <a:ln cap="flat" cmpd="sng" w="50800">
            <a:solidFill>
              <a:schemeClr val="dk1"/>
            </a:solidFill>
            <a:prstDash val="solid"/>
            <a:miter lim="800000"/>
            <a:headEnd len="med" w="med" type="none"/>
            <a:tailEnd len="med" w="med" type="triangle"/>
          </a:ln>
        </p:spPr>
      </p:cxnSp>
      <p:sp>
        <p:nvSpPr>
          <p:cNvPr id="794" name="Google Shape;794;p53"/>
          <p:cNvSpPr txBox="1"/>
          <p:nvPr/>
        </p:nvSpPr>
        <p:spPr>
          <a:xfrm>
            <a:off x="7205662" y="3924300"/>
            <a:ext cx="7175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a:t>
            </a:r>
            <a:endParaRPr/>
          </a:p>
        </p:txBody>
      </p:sp>
      <p:sp>
        <p:nvSpPr>
          <p:cNvPr id="795" name="Google Shape;795;p53"/>
          <p:cNvSpPr txBox="1"/>
          <p:nvPr/>
        </p:nvSpPr>
        <p:spPr>
          <a:xfrm>
            <a:off x="2786048" y="2428875"/>
            <a:ext cx="3923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“I’m Alice”, [{T,K}</a:t>
            </a:r>
            <a:r>
              <a:rPr b="0" baseline="-25000" i="0" lang="en-US" sz="2400" u="none">
                <a:solidFill>
                  <a:schemeClr val="dk1"/>
                </a:solidFill>
                <a:latin typeface="Times"/>
                <a:ea typeface="Times"/>
                <a:cs typeface="Times"/>
                <a:sym typeface="Times"/>
              </a:rPr>
              <a:t>Bob</a:t>
            </a:r>
            <a:r>
              <a:rPr b="0" i="0" lang="en-US" sz="2400" u="none">
                <a:solidFill>
                  <a:schemeClr val="dk1"/>
                </a:solidFill>
                <a:latin typeface="Times"/>
                <a:ea typeface="Times"/>
                <a:cs typeface="Times"/>
                <a:sym typeface="Times"/>
              </a:rPr>
              <a:t>]</a:t>
            </a:r>
            <a:r>
              <a:rPr b="0" baseline="-25000" i="0" lang="en-US" sz="2400" u="none">
                <a:solidFill>
                  <a:schemeClr val="dk1"/>
                </a:solidFill>
                <a:latin typeface="Times"/>
                <a:ea typeface="Times"/>
                <a:cs typeface="Times"/>
                <a:sym typeface="Times"/>
              </a:rPr>
              <a:t>Alice</a:t>
            </a:r>
            <a:endParaRPr/>
          </a:p>
        </p:txBody>
      </p:sp>
      <p:sp>
        <p:nvSpPr>
          <p:cNvPr id="796" name="Google Shape;796;p53"/>
          <p:cNvSpPr txBox="1"/>
          <p:nvPr/>
        </p:nvSpPr>
        <p:spPr>
          <a:xfrm>
            <a:off x="3319462" y="3041650"/>
            <a:ext cx="226536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[{T +1,K}</a:t>
            </a:r>
            <a:r>
              <a:rPr b="0" baseline="-25000" i="0" lang="en-US" sz="2400" u="none">
                <a:solidFill>
                  <a:schemeClr val="dk1"/>
                </a:solidFill>
                <a:latin typeface="Times"/>
                <a:ea typeface="Times"/>
                <a:cs typeface="Times"/>
                <a:sym typeface="Times"/>
              </a:rPr>
              <a:t>Alice</a:t>
            </a:r>
            <a:r>
              <a:rPr b="0" i="0" lang="en-US" sz="2400" u="none">
                <a:solidFill>
                  <a:schemeClr val="dk1"/>
                </a:solidFill>
                <a:latin typeface="Times"/>
                <a:ea typeface="Times"/>
                <a:cs typeface="Times"/>
                <a:sym typeface="Times"/>
              </a:rPr>
              <a:t>]</a:t>
            </a:r>
            <a:r>
              <a:rPr b="0" baseline="-25000" i="0" lang="en-US" sz="2400" u="none">
                <a:solidFill>
                  <a:schemeClr val="dk1"/>
                </a:solidFill>
                <a:latin typeface="Times"/>
                <a:ea typeface="Times"/>
                <a:cs typeface="Times"/>
                <a:sym typeface="Times"/>
              </a:rPr>
              <a:t>Bob</a:t>
            </a:r>
            <a:endParaRPr/>
          </a:p>
        </p:txBody>
      </p:sp>
      <p:sp>
        <p:nvSpPr>
          <p:cNvPr id="797" name="Google Shape;797;p53"/>
          <p:cNvSpPr txBox="1"/>
          <p:nvPr/>
        </p:nvSpPr>
        <p:spPr>
          <a:xfrm>
            <a:off x="1185862" y="3908425"/>
            <a:ext cx="9001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Alice</a:t>
            </a:r>
            <a:endParaRPr/>
          </a:p>
        </p:txBody>
      </p:sp>
      <p:sp>
        <p:nvSpPr>
          <p:cNvPr id="798" name="Google Shape;798;p53"/>
          <p:cNvSpPr txBox="1"/>
          <p:nvPr/>
        </p:nvSpPr>
        <p:spPr>
          <a:xfrm>
            <a:off x="785812" y="4714875"/>
            <a:ext cx="7696200" cy="1428750"/>
          </a:xfrm>
          <a:prstGeom prst="rect">
            <a:avLst/>
          </a:prstGeom>
          <a:noFill/>
          <a:ln>
            <a:noFill/>
          </a:ln>
        </p:spPr>
        <p:txBody>
          <a:bodyPr anchorCtr="0" anchor="t" bIns="45700" lIns="91425" spcFirstLastPara="1" rIns="91425" wrap="square" tIns="45700">
            <a:noAutofit/>
          </a:bodyPr>
          <a:lstStyle/>
          <a:p>
            <a:pPr indent="-457200" lvl="0" marL="457200" marR="0" rtl="0" algn="l">
              <a:lnSpc>
                <a:spcPct val="85000"/>
              </a:lnSpc>
              <a:spcBef>
                <a:spcPts val="0"/>
              </a:spcBef>
              <a:spcAft>
                <a:spcPts val="0"/>
              </a:spcAft>
              <a:buClr>
                <a:schemeClr val="dk1"/>
              </a:buClr>
              <a:buSzPts val="2100"/>
              <a:buFont typeface="Noto Sans Symbols"/>
              <a:buChar char="●"/>
            </a:pPr>
            <a:r>
              <a:rPr b="0" i="0" lang="en-US" sz="2800" u="none">
                <a:solidFill>
                  <a:schemeClr val="dk1"/>
                </a:solidFill>
                <a:latin typeface="Gill Sans"/>
                <a:ea typeface="Gill Sans"/>
                <a:cs typeface="Gill Sans"/>
                <a:sym typeface="Gill Sans"/>
              </a:rPr>
              <a:t>Secure authentication and session key?</a:t>
            </a:r>
            <a:endParaRPr/>
          </a:p>
          <a:p>
            <a:pPr indent="-457200" lvl="0" marL="457200" marR="0" rtl="0" algn="l">
              <a:lnSpc>
                <a:spcPct val="85000"/>
              </a:lnSpc>
              <a:spcBef>
                <a:spcPts val="1160"/>
              </a:spcBef>
              <a:spcAft>
                <a:spcPts val="0"/>
              </a:spcAft>
              <a:buClr>
                <a:srgbClr val="002060"/>
              </a:buClr>
              <a:buSzPts val="2100"/>
              <a:buFont typeface="Noto Sans Symbols"/>
              <a:buChar char="●"/>
            </a:pPr>
            <a:r>
              <a:rPr b="0" i="0" lang="en-US" sz="2800" u="none">
                <a:solidFill>
                  <a:schemeClr val="dk1"/>
                </a:solidFill>
                <a:latin typeface="Comic Sans MS"/>
                <a:ea typeface="Comic Sans MS"/>
                <a:cs typeface="Comic Sans MS"/>
                <a:sym typeface="Comic Sans MS"/>
              </a:rPr>
              <a:t>Trudy can use Alice’s public key to find</a:t>
            </a:r>
            <a:endParaRPr/>
          </a:p>
          <a:p>
            <a:pPr indent="-457200" lvl="0" marL="457200" marR="0" rtl="0" algn="l">
              <a:lnSpc>
                <a:spcPct val="100000"/>
              </a:lnSpc>
              <a:spcBef>
                <a:spcPts val="0"/>
              </a:spcBef>
              <a:spcAft>
                <a:spcPts val="0"/>
              </a:spcAft>
              <a:buClr>
                <a:schemeClr val="lt1"/>
              </a:buClr>
              <a:buSzPts val="2100"/>
              <a:buFont typeface="Noto Sans Symbols"/>
              <a:buChar char="●"/>
            </a:pPr>
            <a:r>
              <a:rPr b="0" i="0" lang="en-US" sz="2800" u="none">
                <a:solidFill>
                  <a:srgbClr val="FF0000"/>
                </a:solidFill>
                <a:latin typeface="Times"/>
                <a:ea typeface="Times"/>
                <a:cs typeface="Times"/>
                <a:sym typeface="Times"/>
              </a:rPr>
              <a:t>{T,K}</a:t>
            </a:r>
            <a:r>
              <a:rPr b="0" baseline="-25000" i="0" lang="en-US" sz="2800" u="none">
                <a:solidFill>
                  <a:srgbClr val="FF0000"/>
                </a:solidFill>
                <a:latin typeface="Times"/>
                <a:ea typeface="Times"/>
                <a:cs typeface="Times"/>
                <a:sym typeface="Times"/>
              </a:rPr>
              <a:t>Bob</a:t>
            </a:r>
            <a:r>
              <a:rPr b="0" i="0" lang="en-US" sz="2800" u="none">
                <a:solidFill>
                  <a:schemeClr val="dk1"/>
                </a:solidFill>
                <a:latin typeface="Comic Sans MS"/>
                <a:ea typeface="Comic Sans MS"/>
                <a:cs typeface="Comic Sans MS"/>
                <a:sym typeface="Comic Sans MS"/>
              </a:rPr>
              <a:t> and then…</a:t>
            </a:r>
            <a:endParaRPr/>
          </a:p>
        </p:txBody>
      </p:sp>
      <p:pic>
        <p:nvPicPr>
          <p:cNvPr id="799" name="Google Shape;799;p53"/>
          <p:cNvPicPr preferRelativeResize="0"/>
          <p:nvPr/>
        </p:nvPicPr>
        <p:blipFill rotWithShape="1">
          <a:blip r:embed="rId3">
            <a:alphaModFix/>
          </a:blip>
          <a:srcRect b="0" l="0" r="0" t="0"/>
          <a:stretch/>
        </p:blipFill>
        <p:spPr>
          <a:xfrm>
            <a:off x="1077912" y="2308225"/>
            <a:ext cx="946150" cy="1624012"/>
          </a:xfrm>
          <a:prstGeom prst="rect">
            <a:avLst/>
          </a:prstGeom>
          <a:noFill/>
          <a:ln>
            <a:noFill/>
          </a:ln>
        </p:spPr>
      </p:pic>
      <p:pic>
        <p:nvPicPr>
          <p:cNvPr id="800" name="Google Shape;800;p53"/>
          <p:cNvPicPr preferRelativeResize="0"/>
          <p:nvPr/>
        </p:nvPicPr>
        <p:blipFill rotWithShape="1">
          <a:blip r:embed="rId4">
            <a:alphaModFix/>
          </a:blip>
          <a:srcRect b="0" l="0" r="0" t="0"/>
          <a:stretch/>
        </p:blipFill>
        <p:spPr>
          <a:xfrm>
            <a:off x="7129462" y="2243137"/>
            <a:ext cx="1076325" cy="16652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792"/>
                                        </p:tgtEl>
                                        <p:attrNameLst>
                                          <p:attrName>style.visibility</p:attrName>
                                        </p:attrNameLst>
                                      </p:cBhvr>
                                      <p:to>
                                        <p:strVal val="visible"/>
                                      </p:to>
                                    </p:set>
                                    <p:anim calcmode="lin" valueType="num">
                                      <p:cBhvr additive="base">
                                        <p:cTn dur="500"/>
                                        <p:tgtEl>
                                          <p:spTgt spid="792"/>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7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93"/>
                                        </p:tgtEl>
                                        <p:attrNameLst>
                                          <p:attrName>style.visibility</p:attrName>
                                        </p:attrNameLst>
                                      </p:cBhvr>
                                      <p:to>
                                        <p:strVal val="visible"/>
                                      </p:to>
                                    </p:set>
                                    <p:anim calcmode="lin" valueType="num">
                                      <p:cBhvr additive="base">
                                        <p:cTn dur="500"/>
                                        <p:tgtEl>
                                          <p:spTgt spid="793"/>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7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8">
                                            <p:txEl>
                                              <p:pRg end="0" st="0"/>
                                            </p:txEl>
                                          </p:spTgt>
                                        </p:tgtEl>
                                        <p:attrNameLst>
                                          <p:attrName>style.visibility</p:attrName>
                                        </p:attrNameLst>
                                      </p:cBhvr>
                                      <p:to>
                                        <p:strVal val="visible"/>
                                      </p:to>
                                    </p:set>
                                    <p:animEffect filter="fade" transition="in">
                                      <p:cBhvr>
                                        <p:cTn dur="500"/>
                                        <p:tgtEl>
                                          <p:spTgt spid="79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8">
                                            <p:txEl>
                                              <p:pRg end="1" st="1"/>
                                            </p:txEl>
                                          </p:spTgt>
                                        </p:tgtEl>
                                        <p:attrNameLst>
                                          <p:attrName>style.visibility</p:attrName>
                                        </p:attrNameLst>
                                      </p:cBhvr>
                                      <p:to>
                                        <p:strVal val="visible"/>
                                      </p:to>
                                    </p:set>
                                    <p:animEffect filter="fade" transition="in">
                                      <p:cBhvr>
                                        <p:cTn dur="500"/>
                                        <p:tgtEl>
                                          <p:spTgt spid="79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8">
                                            <p:txEl>
                                              <p:pRg end="2" st="2"/>
                                            </p:txEl>
                                          </p:spTgt>
                                        </p:tgtEl>
                                        <p:attrNameLst>
                                          <p:attrName>style.visibility</p:attrName>
                                        </p:attrNameLst>
                                      </p:cBhvr>
                                      <p:to>
                                        <p:strVal val="visible"/>
                                      </p:to>
                                    </p:set>
                                    <p:animEffect filter="fade" transition="in">
                                      <p:cBhvr>
                                        <p:cTn dur="500"/>
                                        <p:tgtEl>
                                          <p:spTgt spid="798">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54"/>
          <p:cNvSpPr txBox="1"/>
          <p:nvPr>
            <p:ph type="title"/>
          </p:nvPr>
        </p:nvSpPr>
        <p:spPr>
          <a:xfrm>
            <a:off x="785812" y="214312"/>
            <a:ext cx="8001000" cy="11430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PUB KEY AUTHEN WITH TIMESTAMP T</a:t>
            </a:r>
            <a:endParaRPr/>
          </a:p>
        </p:txBody>
      </p:sp>
      <p:sp>
        <p:nvSpPr>
          <p:cNvPr id="806" name="Google Shape;806;p54"/>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807" name="Google Shape;807;p54"/>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cxnSp>
        <p:nvCxnSpPr>
          <p:cNvPr id="808" name="Google Shape;808;p54"/>
          <p:cNvCxnSpPr/>
          <p:nvPr/>
        </p:nvCxnSpPr>
        <p:spPr>
          <a:xfrm>
            <a:off x="2257425" y="2873375"/>
            <a:ext cx="46482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809" name="Google Shape;809;p54"/>
          <p:cNvCxnSpPr/>
          <p:nvPr/>
        </p:nvCxnSpPr>
        <p:spPr>
          <a:xfrm rot="10800000">
            <a:off x="2181225" y="3482975"/>
            <a:ext cx="4724400" cy="0"/>
          </a:xfrm>
          <a:prstGeom prst="straightConnector1">
            <a:avLst/>
          </a:prstGeom>
          <a:noFill/>
          <a:ln cap="flat" cmpd="sng" w="50800">
            <a:solidFill>
              <a:schemeClr val="dk1"/>
            </a:solidFill>
            <a:prstDash val="solid"/>
            <a:miter lim="800000"/>
            <a:headEnd len="med" w="med" type="none"/>
            <a:tailEnd len="med" w="med" type="triangle"/>
          </a:ln>
        </p:spPr>
      </p:cxnSp>
      <p:sp>
        <p:nvSpPr>
          <p:cNvPr id="810" name="Google Shape;810;p54"/>
          <p:cNvSpPr txBox="1"/>
          <p:nvPr/>
        </p:nvSpPr>
        <p:spPr>
          <a:xfrm>
            <a:off x="7286625" y="3635375"/>
            <a:ext cx="7175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a:t>
            </a:r>
            <a:endParaRPr/>
          </a:p>
        </p:txBody>
      </p:sp>
      <p:sp>
        <p:nvSpPr>
          <p:cNvPr id="811" name="Google Shape;811;p54"/>
          <p:cNvSpPr txBox="1"/>
          <p:nvPr/>
        </p:nvSpPr>
        <p:spPr>
          <a:xfrm>
            <a:off x="2714625" y="2357425"/>
            <a:ext cx="4361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“I’m Trudy”, [</a:t>
            </a:r>
            <a:r>
              <a:rPr b="0" i="0" lang="en-US" sz="2400" u="none">
                <a:solidFill>
                  <a:srgbClr val="FF0000"/>
                </a:solidFill>
                <a:latin typeface="Times"/>
                <a:ea typeface="Times"/>
                <a:cs typeface="Times"/>
                <a:sym typeface="Times"/>
              </a:rPr>
              <a:t>{T,K}</a:t>
            </a:r>
            <a:r>
              <a:rPr b="0" baseline="-25000" i="0" lang="en-US" sz="2400" u="none">
                <a:solidFill>
                  <a:srgbClr val="FF0000"/>
                </a:solidFill>
                <a:latin typeface="Times"/>
                <a:ea typeface="Times"/>
                <a:cs typeface="Times"/>
                <a:sym typeface="Times"/>
              </a:rPr>
              <a:t>Bob</a:t>
            </a:r>
            <a:r>
              <a:rPr b="0" i="0" lang="en-US" sz="2400" u="none">
                <a:solidFill>
                  <a:schemeClr val="dk1"/>
                </a:solidFill>
                <a:latin typeface="Times"/>
                <a:ea typeface="Times"/>
                <a:cs typeface="Times"/>
                <a:sym typeface="Times"/>
              </a:rPr>
              <a:t>]</a:t>
            </a:r>
            <a:r>
              <a:rPr b="0" baseline="-25000" i="0" lang="en-US" sz="2400" u="none">
                <a:solidFill>
                  <a:schemeClr val="dk1"/>
                </a:solidFill>
                <a:latin typeface="Times"/>
                <a:ea typeface="Times"/>
                <a:cs typeface="Times"/>
                <a:sym typeface="Times"/>
              </a:rPr>
              <a:t>Trudy</a:t>
            </a:r>
            <a:endParaRPr/>
          </a:p>
        </p:txBody>
      </p:sp>
      <p:sp>
        <p:nvSpPr>
          <p:cNvPr id="812" name="Google Shape;812;p54"/>
          <p:cNvSpPr txBox="1"/>
          <p:nvPr/>
        </p:nvSpPr>
        <p:spPr>
          <a:xfrm>
            <a:off x="3324225" y="2968625"/>
            <a:ext cx="23431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[{T +1,</a:t>
            </a:r>
            <a:r>
              <a:rPr b="0" i="0" lang="en-US" sz="2400" u="none">
                <a:solidFill>
                  <a:srgbClr val="FF0000"/>
                </a:solidFill>
                <a:latin typeface="Times"/>
                <a:ea typeface="Times"/>
                <a:cs typeface="Times"/>
                <a:sym typeface="Times"/>
              </a:rPr>
              <a:t>K</a:t>
            </a:r>
            <a:r>
              <a:rPr b="0" i="0" lang="en-US" sz="2400" u="none">
                <a:solidFill>
                  <a:schemeClr val="dk1"/>
                </a:solidFill>
                <a:latin typeface="Times"/>
                <a:ea typeface="Times"/>
                <a:cs typeface="Times"/>
                <a:sym typeface="Times"/>
              </a:rPr>
              <a:t>}</a:t>
            </a:r>
            <a:r>
              <a:rPr b="0" baseline="-25000" i="0" lang="en-US" sz="2400" u="none">
                <a:solidFill>
                  <a:schemeClr val="dk1"/>
                </a:solidFill>
                <a:latin typeface="Times"/>
                <a:ea typeface="Times"/>
                <a:cs typeface="Times"/>
                <a:sym typeface="Times"/>
              </a:rPr>
              <a:t>Trudy</a:t>
            </a:r>
            <a:r>
              <a:rPr b="0" i="0" lang="en-US" sz="2400" u="none">
                <a:solidFill>
                  <a:schemeClr val="dk1"/>
                </a:solidFill>
                <a:latin typeface="Times"/>
                <a:ea typeface="Times"/>
                <a:cs typeface="Times"/>
                <a:sym typeface="Times"/>
              </a:rPr>
              <a:t>]</a:t>
            </a:r>
            <a:r>
              <a:rPr b="0" baseline="-25000" i="0" lang="en-US" sz="2400" u="none">
                <a:solidFill>
                  <a:schemeClr val="dk1"/>
                </a:solidFill>
                <a:latin typeface="Times"/>
                <a:ea typeface="Times"/>
                <a:cs typeface="Times"/>
                <a:sym typeface="Times"/>
              </a:rPr>
              <a:t>Bob</a:t>
            </a:r>
            <a:endParaRPr/>
          </a:p>
        </p:txBody>
      </p:sp>
      <p:sp>
        <p:nvSpPr>
          <p:cNvPr id="813" name="Google Shape;813;p54"/>
          <p:cNvSpPr txBox="1"/>
          <p:nvPr/>
        </p:nvSpPr>
        <p:spPr>
          <a:xfrm>
            <a:off x="919162" y="3651250"/>
            <a:ext cx="103346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Trudy</a:t>
            </a:r>
            <a:endParaRPr/>
          </a:p>
        </p:txBody>
      </p:sp>
      <p:sp>
        <p:nvSpPr>
          <p:cNvPr id="814" name="Google Shape;814;p54"/>
          <p:cNvSpPr txBox="1"/>
          <p:nvPr/>
        </p:nvSpPr>
        <p:spPr>
          <a:xfrm>
            <a:off x="785812" y="4500562"/>
            <a:ext cx="7672387" cy="13668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2060"/>
              </a:buClr>
              <a:buSzPts val="2100"/>
              <a:buFont typeface="Noto Sans Symbols"/>
              <a:buChar char="●"/>
            </a:pPr>
            <a:r>
              <a:rPr b="0" i="0" lang="en-US" sz="2800" u="none">
                <a:solidFill>
                  <a:schemeClr val="dk1"/>
                </a:solidFill>
                <a:latin typeface="Comic Sans MS"/>
                <a:ea typeface="Comic Sans MS"/>
                <a:cs typeface="Comic Sans MS"/>
                <a:sym typeface="Comic Sans MS"/>
              </a:rPr>
              <a:t>Trudy obtains Alice-Bob session key </a:t>
            </a:r>
            <a:r>
              <a:rPr b="0" i="0" lang="en-US" sz="2800" u="none">
                <a:solidFill>
                  <a:schemeClr val="dk1"/>
                </a:solidFill>
                <a:latin typeface="Times"/>
                <a:ea typeface="Times"/>
                <a:cs typeface="Times"/>
                <a:sym typeface="Times"/>
              </a:rPr>
              <a:t>K</a:t>
            </a:r>
            <a:endParaRPr b="0" i="0" sz="2800" u="none">
              <a:solidFill>
                <a:schemeClr val="dk1"/>
              </a:solidFill>
              <a:latin typeface="Comic Sans MS"/>
              <a:ea typeface="Comic Sans MS"/>
              <a:cs typeface="Comic Sans MS"/>
              <a:sym typeface="Comic Sans MS"/>
            </a:endParaRPr>
          </a:p>
          <a:p>
            <a:pPr indent="-342900" lvl="0" marL="342900" marR="0" rtl="0" algn="l">
              <a:lnSpc>
                <a:spcPct val="100000"/>
              </a:lnSpc>
              <a:spcBef>
                <a:spcPts val="560"/>
              </a:spcBef>
              <a:spcAft>
                <a:spcPts val="0"/>
              </a:spcAft>
              <a:buClr>
                <a:srgbClr val="002060"/>
              </a:buClr>
              <a:buSzPts val="2100"/>
              <a:buFont typeface="Noto Sans Symbols"/>
              <a:buChar char="●"/>
            </a:pPr>
            <a:r>
              <a:rPr b="1" i="0" lang="en-US" sz="2800" u="none">
                <a:solidFill>
                  <a:srgbClr val="0000FF"/>
                </a:solidFill>
                <a:latin typeface="Comic Sans MS"/>
                <a:ea typeface="Comic Sans MS"/>
                <a:cs typeface="Comic Sans MS"/>
                <a:sym typeface="Comic Sans MS"/>
              </a:rPr>
              <a:t>Note:</a:t>
            </a:r>
            <a:r>
              <a:rPr b="0" i="0" lang="en-US" sz="2800" u="none">
                <a:solidFill>
                  <a:srgbClr val="0000FF"/>
                </a:solidFill>
                <a:latin typeface="Comic Sans MS"/>
                <a:ea typeface="Comic Sans MS"/>
                <a:cs typeface="Comic Sans MS"/>
                <a:sym typeface="Comic Sans MS"/>
              </a:rPr>
              <a:t> </a:t>
            </a:r>
            <a:r>
              <a:rPr b="0" i="0" lang="en-US" sz="2800" u="none">
                <a:solidFill>
                  <a:schemeClr val="dk1"/>
                </a:solidFill>
                <a:latin typeface="Comic Sans MS"/>
                <a:ea typeface="Comic Sans MS"/>
                <a:cs typeface="Comic Sans MS"/>
                <a:sym typeface="Comic Sans MS"/>
              </a:rPr>
              <a:t>Trudy must act within clock skew</a:t>
            </a:r>
            <a:endParaRPr/>
          </a:p>
        </p:txBody>
      </p:sp>
      <p:pic>
        <p:nvPicPr>
          <p:cNvPr id="815" name="Google Shape;815;p54"/>
          <p:cNvPicPr preferRelativeResize="0"/>
          <p:nvPr/>
        </p:nvPicPr>
        <p:blipFill rotWithShape="1">
          <a:blip r:embed="rId3">
            <a:alphaModFix/>
          </a:blip>
          <a:srcRect b="0" l="0" r="0" t="0"/>
          <a:stretch/>
        </p:blipFill>
        <p:spPr>
          <a:xfrm>
            <a:off x="7134225" y="2035175"/>
            <a:ext cx="1076325" cy="1665287"/>
          </a:xfrm>
          <a:prstGeom prst="rect">
            <a:avLst/>
          </a:prstGeom>
          <a:noFill/>
          <a:ln>
            <a:noFill/>
          </a:ln>
        </p:spPr>
      </p:pic>
      <p:pic>
        <p:nvPicPr>
          <p:cNvPr id="816" name="Google Shape;816;p54"/>
          <p:cNvPicPr preferRelativeResize="0"/>
          <p:nvPr/>
        </p:nvPicPr>
        <p:blipFill rotWithShape="1">
          <a:blip r:embed="rId4">
            <a:alphaModFix/>
          </a:blip>
          <a:srcRect b="0" l="0" r="0" t="0"/>
          <a:stretch/>
        </p:blipFill>
        <p:spPr>
          <a:xfrm>
            <a:off x="912812" y="2416175"/>
            <a:ext cx="1039812" cy="1282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08"/>
                                        </p:tgtEl>
                                        <p:attrNameLst>
                                          <p:attrName>style.visibility</p:attrName>
                                        </p:attrNameLst>
                                      </p:cBhvr>
                                      <p:to>
                                        <p:strVal val="visible"/>
                                      </p:to>
                                    </p:set>
                                    <p:anim calcmode="lin" valueType="num">
                                      <p:cBhvr additive="base">
                                        <p:cTn dur="500"/>
                                        <p:tgtEl>
                                          <p:spTgt spid="808"/>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8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809"/>
                                        </p:tgtEl>
                                        <p:attrNameLst>
                                          <p:attrName>style.visibility</p:attrName>
                                        </p:attrNameLst>
                                      </p:cBhvr>
                                      <p:to>
                                        <p:strVal val="visible"/>
                                      </p:to>
                                    </p:set>
                                    <p:anim calcmode="lin" valueType="num">
                                      <p:cBhvr additive="base">
                                        <p:cTn dur="500"/>
                                        <p:tgtEl>
                                          <p:spTgt spid="809"/>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8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4">
                                            <p:txEl>
                                              <p:pRg end="0" st="0"/>
                                            </p:txEl>
                                          </p:spTgt>
                                        </p:tgtEl>
                                        <p:attrNameLst>
                                          <p:attrName>style.visibility</p:attrName>
                                        </p:attrNameLst>
                                      </p:cBhvr>
                                      <p:to>
                                        <p:strVal val="visible"/>
                                      </p:to>
                                    </p:set>
                                    <p:animEffect filter="fade" transition="in">
                                      <p:cBhvr>
                                        <p:cTn dur="500"/>
                                        <p:tgtEl>
                                          <p:spTgt spid="8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4">
                                            <p:txEl>
                                              <p:pRg end="1" st="1"/>
                                            </p:txEl>
                                          </p:spTgt>
                                        </p:tgtEl>
                                        <p:attrNameLst>
                                          <p:attrName>style.visibility</p:attrName>
                                        </p:attrNameLst>
                                      </p:cBhvr>
                                      <p:to>
                                        <p:strVal val="visible"/>
                                      </p:to>
                                    </p:set>
                                    <p:animEffect filter="fade" transition="in">
                                      <p:cBhvr>
                                        <p:cTn dur="500"/>
                                        <p:tgtEl>
                                          <p:spTgt spid="814">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55"/>
          <p:cNvSpPr txBox="1"/>
          <p:nvPr>
            <p:ph type="title"/>
          </p:nvPr>
        </p:nvSpPr>
        <p:spPr>
          <a:xfrm>
            <a:off x="785812" y="457200"/>
            <a:ext cx="7143750" cy="9001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PUBLIC KEY AUTHENTICATION</a:t>
            </a:r>
            <a:endParaRPr/>
          </a:p>
        </p:txBody>
      </p:sp>
      <p:sp>
        <p:nvSpPr>
          <p:cNvPr id="823" name="Google Shape;823;p55"/>
          <p:cNvSpPr txBox="1"/>
          <p:nvPr>
            <p:ph idx="1" type="body"/>
          </p:nvPr>
        </p:nvSpPr>
        <p:spPr>
          <a:xfrm>
            <a:off x="581025" y="2027237"/>
            <a:ext cx="7456487" cy="4344987"/>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90000"/>
              </a:lnSpc>
              <a:spcBef>
                <a:spcPts val="0"/>
              </a:spcBef>
              <a:spcAft>
                <a:spcPts val="0"/>
              </a:spcAft>
              <a:buClr>
                <a:schemeClr val="accent2"/>
              </a:buClr>
              <a:buSzPts val="2392"/>
              <a:buFont typeface="Noto Sans Symbols"/>
              <a:buChar char="◼"/>
            </a:pPr>
            <a:r>
              <a:rPr b="0" i="0" lang="en-US" sz="2600" u="none">
                <a:solidFill>
                  <a:schemeClr val="dk2"/>
                </a:solidFill>
                <a:latin typeface="Gill Sans"/>
                <a:ea typeface="Gill Sans"/>
                <a:cs typeface="Gill Sans"/>
                <a:sym typeface="Gill Sans"/>
              </a:rPr>
              <a:t>Sign and encrypt with nonce…</a:t>
            </a:r>
            <a:endParaRPr/>
          </a:p>
          <a:p>
            <a:pPr indent="-304800" lvl="1" marL="628650" marR="0" rtl="0" algn="l">
              <a:lnSpc>
                <a:spcPct val="90000"/>
              </a:lnSpc>
              <a:spcBef>
                <a:spcPts val="1040"/>
              </a:spcBef>
              <a:spcAft>
                <a:spcPts val="0"/>
              </a:spcAft>
              <a:buClr>
                <a:schemeClr val="accent2"/>
              </a:buClr>
              <a:buSzPts val="2024"/>
              <a:buFont typeface="Noto Sans Symbols"/>
              <a:buChar char="◼"/>
            </a:pPr>
            <a:r>
              <a:rPr b="1" i="0" lang="en-US" sz="2200" u="none" cap="none" strike="noStrike">
                <a:solidFill>
                  <a:srgbClr val="0000FF"/>
                </a:solidFill>
                <a:latin typeface="Gill Sans"/>
                <a:ea typeface="Gill Sans"/>
                <a:cs typeface="Gill Sans"/>
                <a:sym typeface="Gill Sans"/>
              </a:rPr>
              <a:t>Secure</a:t>
            </a:r>
            <a:endParaRPr b="0" i="0" sz="2200" u="none" cap="none" strike="noStrike">
              <a:solidFill>
                <a:srgbClr val="0000FF"/>
              </a:solidFill>
              <a:latin typeface="Gill Sans"/>
              <a:ea typeface="Gill Sans"/>
              <a:cs typeface="Gill Sans"/>
              <a:sym typeface="Gill Sans"/>
            </a:endParaRPr>
          </a:p>
          <a:p>
            <a:pPr indent="-304800" lvl="0" marL="304800" marR="0" rtl="0" algn="l">
              <a:lnSpc>
                <a:spcPct val="90000"/>
              </a:lnSpc>
              <a:spcBef>
                <a:spcPts val="1120"/>
              </a:spcBef>
              <a:spcAft>
                <a:spcPts val="0"/>
              </a:spcAft>
              <a:buClr>
                <a:schemeClr val="accent2"/>
              </a:buClr>
              <a:buSzPts val="2392"/>
              <a:buFont typeface="Noto Sans Symbols"/>
              <a:buChar char="◼"/>
            </a:pPr>
            <a:r>
              <a:rPr b="0" i="0" lang="en-US" sz="2600" u="none">
                <a:solidFill>
                  <a:schemeClr val="dk2"/>
                </a:solidFill>
                <a:latin typeface="Gill Sans"/>
                <a:ea typeface="Gill Sans"/>
                <a:cs typeface="Gill Sans"/>
                <a:sym typeface="Gill Sans"/>
              </a:rPr>
              <a:t>Encrypt and sign with nonce…</a:t>
            </a:r>
            <a:endParaRPr/>
          </a:p>
          <a:p>
            <a:pPr indent="-304800" lvl="1" marL="628650" marR="0" rtl="0" algn="l">
              <a:lnSpc>
                <a:spcPct val="90000"/>
              </a:lnSpc>
              <a:spcBef>
                <a:spcPts val="1040"/>
              </a:spcBef>
              <a:spcAft>
                <a:spcPts val="0"/>
              </a:spcAft>
              <a:buClr>
                <a:schemeClr val="accent2"/>
              </a:buClr>
              <a:buSzPts val="2024"/>
              <a:buFont typeface="Noto Sans Symbols"/>
              <a:buChar char="◼"/>
            </a:pPr>
            <a:r>
              <a:rPr b="1" i="0" lang="en-US" sz="2200" u="none" cap="none" strike="noStrike">
                <a:solidFill>
                  <a:srgbClr val="0000FF"/>
                </a:solidFill>
                <a:latin typeface="Gill Sans"/>
                <a:ea typeface="Gill Sans"/>
                <a:cs typeface="Gill Sans"/>
                <a:sym typeface="Gill Sans"/>
              </a:rPr>
              <a:t>Secure</a:t>
            </a:r>
            <a:endParaRPr b="0" i="0" sz="2200" u="none" cap="none" strike="noStrike">
              <a:solidFill>
                <a:srgbClr val="0000FF"/>
              </a:solidFill>
              <a:latin typeface="Gill Sans"/>
              <a:ea typeface="Gill Sans"/>
              <a:cs typeface="Gill Sans"/>
              <a:sym typeface="Gill Sans"/>
            </a:endParaRPr>
          </a:p>
          <a:p>
            <a:pPr indent="-304800" lvl="0" marL="304800" marR="0" rtl="0" algn="l">
              <a:lnSpc>
                <a:spcPct val="90000"/>
              </a:lnSpc>
              <a:spcBef>
                <a:spcPts val="1120"/>
              </a:spcBef>
              <a:spcAft>
                <a:spcPts val="0"/>
              </a:spcAft>
              <a:buClr>
                <a:schemeClr val="accent2"/>
              </a:buClr>
              <a:buSzPts val="2392"/>
              <a:buFont typeface="Noto Sans Symbols"/>
              <a:buChar char="◼"/>
            </a:pPr>
            <a:r>
              <a:rPr b="0" i="0" lang="en-US" sz="2600" u="none">
                <a:solidFill>
                  <a:schemeClr val="dk2"/>
                </a:solidFill>
                <a:latin typeface="Gill Sans"/>
                <a:ea typeface="Gill Sans"/>
                <a:cs typeface="Gill Sans"/>
                <a:sym typeface="Gill Sans"/>
              </a:rPr>
              <a:t>Sign and encrypt with timestamp…</a:t>
            </a:r>
            <a:endParaRPr/>
          </a:p>
          <a:p>
            <a:pPr indent="-304800" lvl="1" marL="628650" marR="0" rtl="0" algn="l">
              <a:lnSpc>
                <a:spcPct val="90000"/>
              </a:lnSpc>
              <a:spcBef>
                <a:spcPts val="1040"/>
              </a:spcBef>
              <a:spcAft>
                <a:spcPts val="0"/>
              </a:spcAft>
              <a:buClr>
                <a:schemeClr val="accent2"/>
              </a:buClr>
              <a:buSzPts val="2024"/>
              <a:buFont typeface="Noto Sans Symbols"/>
              <a:buChar char="◼"/>
            </a:pPr>
            <a:r>
              <a:rPr b="1" i="0" lang="en-US" sz="2200" u="none" cap="none" strike="noStrike">
                <a:solidFill>
                  <a:srgbClr val="0000FF"/>
                </a:solidFill>
                <a:latin typeface="Gill Sans"/>
                <a:ea typeface="Gill Sans"/>
                <a:cs typeface="Gill Sans"/>
                <a:sym typeface="Gill Sans"/>
              </a:rPr>
              <a:t>Secure</a:t>
            </a:r>
            <a:endParaRPr b="0" i="0" sz="2200" u="none" cap="none" strike="noStrike">
              <a:solidFill>
                <a:srgbClr val="0000FF"/>
              </a:solidFill>
              <a:latin typeface="Gill Sans"/>
              <a:ea typeface="Gill Sans"/>
              <a:cs typeface="Gill Sans"/>
              <a:sym typeface="Gill Sans"/>
            </a:endParaRPr>
          </a:p>
          <a:p>
            <a:pPr indent="-304800" lvl="0" marL="304800" marR="0" rtl="0" algn="l">
              <a:lnSpc>
                <a:spcPct val="90000"/>
              </a:lnSpc>
              <a:spcBef>
                <a:spcPts val="1120"/>
              </a:spcBef>
              <a:spcAft>
                <a:spcPts val="0"/>
              </a:spcAft>
              <a:buClr>
                <a:schemeClr val="accent2"/>
              </a:buClr>
              <a:buSzPts val="2392"/>
              <a:buFont typeface="Noto Sans Symbols"/>
              <a:buChar char="◼"/>
            </a:pPr>
            <a:r>
              <a:rPr b="0" i="0" lang="en-US" sz="2600" u="none">
                <a:solidFill>
                  <a:srgbClr val="FF0000"/>
                </a:solidFill>
                <a:latin typeface="Gill Sans"/>
                <a:ea typeface="Gill Sans"/>
                <a:cs typeface="Gill Sans"/>
                <a:sym typeface="Gill Sans"/>
              </a:rPr>
              <a:t>Encrypt and sign with timestamp…</a:t>
            </a:r>
            <a:endParaRPr/>
          </a:p>
          <a:p>
            <a:pPr indent="-304800" lvl="1" marL="628650" marR="0" rtl="0" algn="l">
              <a:lnSpc>
                <a:spcPct val="90000"/>
              </a:lnSpc>
              <a:spcBef>
                <a:spcPts val="1040"/>
              </a:spcBef>
              <a:spcAft>
                <a:spcPts val="0"/>
              </a:spcAft>
              <a:buClr>
                <a:schemeClr val="accent2"/>
              </a:buClr>
              <a:buSzPts val="2024"/>
              <a:buFont typeface="Noto Sans Symbols"/>
              <a:buChar char="◼"/>
            </a:pPr>
            <a:r>
              <a:rPr b="1" i="0" lang="en-US" sz="2200" u="none" cap="none" strike="noStrike">
                <a:solidFill>
                  <a:srgbClr val="FF0000"/>
                </a:solidFill>
                <a:latin typeface="Gill Sans"/>
                <a:ea typeface="Gill Sans"/>
                <a:cs typeface="Gill Sans"/>
                <a:sym typeface="Gill Sans"/>
              </a:rPr>
              <a:t>Insecure</a:t>
            </a:r>
            <a:endParaRPr/>
          </a:p>
          <a:p>
            <a:pPr indent="-304800" lvl="0" marL="304800" marR="0" rtl="0" algn="l">
              <a:lnSpc>
                <a:spcPct val="90000"/>
              </a:lnSpc>
              <a:spcBef>
                <a:spcPts val="1200"/>
              </a:spcBef>
              <a:spcAft>
                <a:spcPts val="0"/>
              </a:spcAft>
              <a:buClr>
                <a:schemeClr val="accent2"/>
              </a:buClr>
              <a:buSzPts val="2760"/>
              <a:buFont typeface="Noto Sans Symbols"/>
              <a:buChar char="◼"/>
            </a:pPr>
            <a:r>
              <a:rPr b="0" i="0" lang="en-US" sz="3000" u="none">
                <a:solidFill>
                  <a:srgbClr val="0000FF"/>
                </a:solidFill>
                <a:latin typeface="Gill Sans"/>
                <a:ea typeface="Gill Sans"/>
                <a:cs typeface="Gill Sans"/>
                <a:sym typeface="Gill Sans"/>
              </a:rPr>
              <a:t>Protocols can be subtle!</a:t>
            </a:r>
            <a:endParaRPr/>
          </a:p>
        </p:txBody>
      </p:sp>
      <p:sp>
        <p:nvSpPr>
          <p:cNvPr id="824" name="Google Shape;824;p55"/>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825" name="Google Shape;825;p55"/>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3">
                                            <p:txEl>
                                              <p:pRg end="0" st="0"/>
                                            </p:txEl>
                                          </p:spTgt>
                                        </p:tgtEl>
                                        <p:attrNameLst>
                                          <p:attrName>style.visibility</p:attrName>
                                        </p:attrNameLst>
                                      </p:cBhvr>
                                      <p:to>
                                        <p:strVal val="visible"/>
                                      </p:to>
                                    </p:set>
                                    <p:animEffect filter="fade" transition="in">
                                      <p:cBhvr>
                                        <p:cTn dur="500"/>
                                        <p:tgtEl>
                                          <p:spTgt spid="82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3">
                                            <p:txEl>
                                              <p:pRg end="1" st="1"/>
                                            </p:txEl>
                                          </p:spTgt>
                                        </p:tgtEl>
                                        <p:attrNameLst>
                                          <p:attrName>style.visibility</p:attrName>
                                        </p:attrNameLst>
                                      </p:cBhvr>
                                      <p:to>
                                        <p:strVal val="visible"/>
                                      </p:to>
                                    </p:set>
                                    <p:animEffect filter="fade" transition="in">
                                      <p:cBhvr>
                                        <p:cTn dur="500"/>
                                        <p:tgtEl>
                                          <p:spTgt spid="82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3">
                                            <p:txEl>
                                              <p:pRg end="2" st="2"/>
                                            </p:txEl>
                                          </p:spTgt>
                                        </p:tgtEl>
                                        <p:attrNameLst>
                                          <p:attrName>style.visibility</p:attrName>
                                        </p:attrNameLst>
                                      </p:cBhvr>
                                      <p:to>
                                        <p:strVal val="visible"/>
                                      </p:to>
                                    </p:set>
                                    <p:animEffect filter="fade" transition="in">
                                      <p:cBhvr>
                                        <p:cTn dur="500"/>
                                        <p:tgtEl>
                                          <p:spTgt spid="82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3">
                                            <p:txEl>
                                              <p:pRg end="3" st="3"/>
                                            </p:txEl>
                                          </p:spTgt>
                                        </p:tgtEl>
                                        <p:attrNameLst>
                                          <p:attrName>style.visibility</p:attrName>
                                        </p:attrNameLst>
                                      </p:cBhvr>
                                      <p:to>
                                        <p:strVal val="visible"/>
                                      </p:to>
                                    </p:set>
                                    <p:animEffect filter="fade" transition="in">
                                      <p:cBhvr>
                                        <p:cTn dur="500"/>
                                        <p:tgtEl>
                                          <p:spTgt spid="82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3">
                                            <p:txEl>
                                              <p:pRg end="4" st="4"/>
                                            </p:txEl>
                                          </p:spTgt>
                                        </p:tgtEl>
                                        <p:attrNameLst>
                                          <p:attrName>style.visibility</p:attrName>
                                        </p:attrNameLst>
                                      </p:cBhvr>
                                      <p:to>
                                        <p:strVal val="visible"/>
                                      </p:to>
                                    </p:set>
                                    <p:animEffect filter="fade" transition="in">
                                      <p:cBhvr>
                                        <p:cTn dur="500"/>
                                        <p:tgtEl>
                                          <p:spTgt spid="82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3">
                                            <p:txEl>
                                              <p:pRg end="5" st="5"/>
                                            </p:txEl>
                                          </p:spTgt>
                                        </p:tgtEl>
                                        <p:attrNameLst>
                                          <p:attrName>style.visibility</p:attrName>
                                        </p:attrNameLst>
                                      </p:cBhvr>
                                      <p:to>
                                        <p:strVal val="visible"/>
                                      </p:to>
                                    </p:set>
                                    <p:animEffect filter="fade" transition="in">
                                      <p:cBhvr>
                                        <p:cTn dur="500"/>
                                        <p:tgtEl>
                                          <p:spTgt spid="82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3">
                                            <p:txEl>
                                              <p:pRg end="6" st="6"/>
                                            </p:txEl>
                                          </p:spTgt>
                                        </p:tgtEl>
                                        <p:attrNameLst>
                                          <p:attrName>style.visibility</p:attrName>
                                        </p:attrNameLst>
                                      </p:cBhvr>
                                      <p:to>
                                        <p:strVal val="visible"/>
                                      </p:to>
                                    </p:set>
                                    <p:animEffect filter="fade" transition="in">
                                      <p:cBhvr>
                                        <p:cTn dur="500"/>
                                        <p:tgtEl>
                                          <p:spTgt spid="82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3">
                                            <p:txEl>
                                              <p:pRg end="7" st="7"/>
                                            </p:txEl>
                                          </p:spTgt>
                                        </p:tgtEl>
                                        <p:attrNameLst>
                                          <p:attrName>style.visibility</p:attrName>
                                        </p:attrNameLst>
                                      </p:cBhvr>
                                      <p:to>
                                        <p:strVal val="visible"/>
                                      </p:to>
                                    </p:set>
                                    <p:animEffect filter="fade" transition="in">
                                      <p:cBhvr>
                                        <p:cTn dur="500"/>
                                        <p:tgtEl>
                                          <p:spTgt spid="82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3">
                                            <p:txEl>
                                              <p:pRg end="8" st="8"/>
                                            </p:txEl>
                                          </p:spTgt>
                                        </p:tgtEl>
                                        <p:attrNameLst>
                                          <p:attrName>style.visibility</p:attrName>
                                        </p:attrNameLst>
                                      </p:cBhvr>
                                      <p:to>
                                        <p:strVal val="visible"/>
                                      </p:to>
                                    </p:set>
                                    <p:animEffect filter="fade" transition="in">
                                      <p:cBhvr>
                                        <p:cTn dur="500"/>
                                        <p:tgtEl>
                                          <p:spTgt spid="823">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56"/>
          <p:cNvSpPr txBox="1"/>
          <p:nvPr>
            <p:ph type="title"/>
          </p:nvPr>
        </p:nvSpPr>
        <p:spPr>
          <a:xfrm>
            <a:off x="357187" y="2143125"/>
            <a:ext cx="8358187" cy="1357312"/>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accent2"/>
              </a:buClr>
              <a:buSzPts val="4300"/>
              <a:buFont typeface="Gill Sans"/>
              <a:buNone/>
            </a:pPr>
            <a:r>
              <a:rPr b="0" i="0" lang="en-US" sz="4300" u="none">
                <a:solidFill>
                  <a:schemeClr val="accent2"/>
                </a:solidFill>
                <a:latin typeface="Gill Sans"/>
                <a:ea typeface="Gill Sans"/>
                <a:cs typeface="Gill Sans"/>
                <a:sym typeface="Gill Sans"/>
              </a:rPr>
              <a:t>ZERO KNOWLEDGE PROOF (ZKP)</a:t>
            </a:r>
            <a:endParaRPr/>
          </a:p>
        </p:txBody>
      </p:sp>
      <p:sp>
        <p:nvSpPr>
          <p:cNvPr id="831" name="Google Shape;831;p56"/>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832" name="Google Shape;832;p56"/>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57"/>
          <p:cNvSpPr txBox="1"/>
          <p:nvPr>
            <p:ph type="title"/>
          </p:nvPr>
        </p:nvSpPr>
        <p:spPr>
          <a:xfrm>
            <a:off x="785812" y="457200"/>
            <a:ext cx="7143750" cy="9001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ZERO KNOWLEDGE PROOF (ZKP)</a:t>
            </a:r>
            <a:endParaRPr/>
          </a:p>
        </p:txBody>
      </p:sp>
      <p:sp>
        <p:nvSpPr>
          <p:cNvPr id="838" name="Google Shape;838;p57"/>
          <p:cNvSpPr txBox="1"/>
          <p:nvPr>
            <p:ph idx="1" type="body"/>
          </p:nvPr>
        </p:nvSpPr>
        <p:spPr>
          <a:xfrm>
            <a:off x="785812" y="1714500"/>
            <a:ext cx="7672387" cy="4457700"/>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100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Alice wants to prove that she knows a secret without revealing </a:t>
            </a:r>
            <a:r>
              <a:rPr b="1" i="0" lang="en-US" sz="2800" u="none">
                <a:solidFill>
                  <a:srgbClr val="FF0000"/>
                </a:solidFill>
                <a:latin typeface="Gill Sans"/>
                <a:ea typeface="Gill Sans"/>
                <a:cs typeface="Gill Sans"/>
                <a:sym typeface="Gill Sans"/>
              </a:rPr>
              <a:t>any</a:t>
            </a:r>
            <a:r>
              <a:rPr b="0" i="0" lang="en-US" sz="2800" u="none">
                <a:solidFill>
                  <a:schemeClr val="dk2"/>
                </a:solidFill>
                <a:latin typeface="Gill Sans"/>
                <a:ea typeface="Gill Sans"/>
                <a:cs typeface="Gill Sans"/>
                <a:sym typeface="Gill Sans"/>
              </a:rPr>
              <a:t> info about it</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Bob must verify that Alice knows secret</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Even though he gains no info about the secret</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Process is probabilistic</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Bob can verify that Alice knows the secret to an arbitrarily high probability</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0" i="0" lang="en-US" sz="2800" u="none">
                <a:solidFill>
                  <a:srgbClr val="FF0000"/>
                </a:solidFill>
                <a:latin typeface="Gill Sans"/>
                <a:ea typeface="Gill Sans"/>
                <a:cs typeface="Gill Sans"/>
                <a:sym typeface="Gill Sans"/>
              </a:rPr>
              <a:t>An “interactive proof system” </a:t>
            </a:r>
            <a:endParaRPr/>
          </a:p>
        </p:txBody>
      </p:sp>
      <p:sp>
        <p:nvSpPr>
          <p:cNvPr id="839" name="Google Shape;839;p57"/>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840" name="Google Shape;840;p57"/>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58"/>
          <p:cNvSpPr txBox="1"/>
          <p:nvPr>
            <p:ph type="title"/>
          </p:nvPr>
        </p:nvSpPr>
        <p:spPr>
          <a:xfrm>
            <a:off x="581025" y="687387"/>
            <a:ext cx="7989887" cy="1082675"/>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None/>
            </a:pPr>
            <a:r>
              <a:t/>
            </a:r>
            <a:endParaRPr sz="2800" cap="none">
              <a:solidFill>
                <a:schemeClr val="lt1"/>
              </a:solidFill>
              <a:latin typeface="Gill Sans"/>
              <a:ea typeface="Gill Sans"/>
              <a:cs typeface="Gill Sans"/>
              <a:sym typeface="Gill Sans"/>
            </a:endParaRPr>
          </a:p>
        </p:txBody>
      </p:sp>
      <p:pic>
        <p:nvPicPr>
          <p:cNvPr descr="Screen Clipping" id="846" name="Google Shape;846;p58"/>
          <p:cNvPicPr preferRelativeResize="0"/>
          <p:nvPr>
            <p:ph idx="1" type="body"/>
          </p:nvPr>
        </p:nvPicPr>
        <p:blipFill rotWithShape="1">
          <a:blip r:embed="rId3">
            <a:alphaModFix/>
          </a:blip>
          <a:srcRect b="0" l="0" r="0" t="0"/>
          <a:stretch/>
        </p:blipFill>
        <p:spPr>
          <a:xfrm>
            <a:off x="42862" y="115887"/>
            <a:ext cx="9066212" cy="4735512"/>
          </a:xfrm>
          <a:prstGeom prst="rect">
            <a:avLst/>
          </a:prstGeom>
          <a:noFill/>
          <a:ln>
            <a:noFill/>
          </a:ln>
        </p:spPr>
      </p:pic>
      <p:sp>
        <p:nvSpPr>
          <p:cNvPr id="847" name="Google Shape;847;p58"/>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ulim"/>
              <a:buNone/>
            </a:pPr>
            <a:r>
              <a:rPr b="0" i="0" lang="en-US" sz="900" u="none">
                <a:solidFill>
                  <a:schemeClr val="accent2"/>
                </a:solidFill>
                <a:latin typeface="Gulim"/>
                <a:ea typeface="Gulim"/>
                <a:cs typeface="Gulim"/>
                <a:sym typeface="Gulim"/>
              </a:rPr>
              <a:t>CHAPTER 9  SIMPLE AUTHENTICATION PROTOCOLS             PREPARED BY: DR. MUHAMMAD IQBAL HOSSAIN</a:t>
            </a:r>
            <a:endParaRPr/>
          </a:p>
        </p:txBody>
      </p:sp>
      <p:sp>
        <p:nvSpPr>
          <p:cNvPr id="848" name="Google Shape;848;p58"/>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ulim"/>
              <a:buNone/>
            </a:pPr>
            <a:fld id="{00000000-1234-1234-1234-123412341234}" type="slidenum">
              <a:rPr b="0" i="0" lang="en-US" sz="900" u="none">
                <a:solidFill>
                  <a:schemeClr val="accent2"/>
                </a:solidFill>
                <a:latin typeface="Gulim"/>
                <a:ea typeface="Gulim"/>
                <a:cs typeface="Gulim"/>
                <a:sym typeface="Gulim"/>
              </a:rPr>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59"/>
          <p:cNvSpPr txBox="1"/>
          <p:nvPr>
            <p:ph type="title"/>
          </p:nvPr>
        </p:nvSpPr>
        <p:spPr>
          <a:xfrm>
            <a:off x="581025" y="687387"/>
            <a:ext cx="7989887" cy="1082675"/>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None/>
            </a:pPr>
            <a:r>
              <a:t/>
            </a:r>
            <a:endParaRPr sz="2800" cap="none">
              <a:solidFill>
                <a:schemeClr val="lt1"/>
              </a:solidFill>
              <a:latin typeface="Gill Sans"/>
              <a:ea typeface="Gill Sans"/>
              <a:cs typeface="Gill Sans"/>
              <a:sym typeface="Gill Sans"/>
            </a:endParaRPr>
          </a:p>
        </p:txBody>
      </p:sp>
      <p:pic>
        <p:nvPicPr>
          <p:cNvPr descr="Screen Clipping" id="854" name="Google Shape;854;p59"/>
          <p:cNvPicPr preferRelativeResize="0"/>
          <p:nvPr>
            <p:ph idx="1" type="body"/>
          </p:nvPr>
        </p:nvPicPr>
        <p:blipFill rotWithShape="1">
          <a:blip r:embed="rId3">
            <a:alphaModFix/>
          </a:blip>
          <a:srcRect b="0" l="0" r="0" t="0"/>
          <a:stretch/>
        </p:blipFill>
        <p:spPr>
          <a:xfrm>
            <a:off x="12700" y="20625"/>
            <a:ext cx="9144000" cy="4759200"/>
          </a:xfrm>
          <a:prstGeom prst="rect">
            <a:avLst/>
          </a:prstGeom>
          <a:noFill/>
          <a:ln>
            <a:noFill/>
          </a:ln>
        </p:spPr>
      </p:pic>
      <p:sp>
        <p:nvSpPr>
          <p:cNvPr id="855" name="Google Shape;855;p59"/>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900"/>
              <a:buFont typeface="Gulim"/>
              <a:buNone/>
            </a:pPr>
            <a:r>
              <a:rPr b="0" i="0" lang="en-US" sz="900" u="none">
                <a:solidFill>
                  <a:schemeClr val="accent2"/>
                </a:solidFill>
                <a:latin typeface="Gulim"/>
                <a:ea typeface="Gulim"/>
                <a:cs typeface="Gulim"/>
                <a:sym typeface="Gulim"/>
              </a:rPr>
              <a:t>CHAPTER 9  SIMPLE AUTHENTICATION PROTOCOLS             PREPARED BY: DR. MUHAMMAD IQBAL HOSSAIN</a:t>
            </a:r>
            <a:endParaRPr/>
          </a:p>
        </p:txBody>
      </p:sp>
      <p:sp>
        <p:nvSpPr>
          <p:cNvPr id="856" name="Google Shape;856;p59"/>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accent2"/>
              </a:buClr>
              <a:buSzPts val="900"/>
              <a:buFont typeface="Gulim"/>
              <a:buNone/>
            </a:pPr>
            <a:fld id="{00000000-1234-1234-1234-123412341234}" type="slidenum">
              <a:rPr b="0" i="0" lang="en-US" sz="900" u="none">
                <a:solidFill>
                  <a:schemeClr val="accent2"/>
                </a:solidFill>
                <a:latin typeface="Gulim"/>
                <a:ea typeface="Gulim"/>
                <a:cs typeface="Gulim"/>
                <a:sym typeface="Gulim"/>
              </a:rPr>
              <a:t>‹#›</a:t>
            </a:fld>
            <a:endParaRPr/>
          </a:p>
        </p:txBody>
      </p:sp>
      <p:pic>
        <p:nvPicPr>
          <p:cNvPr id="857" name="Google Shape;857;p59" title="Picture1.png"/>
          <p:cNvPicPr preferRelativeResize="0"/>
          <p:nvPr/>
        </p:nvPicPr>
        <p:blipFill>
          <a:blip r:embed="rId4">
            <a:alphaModFix/>
          </a:blip>
          <a:stretch>
            <a:fillRect/>
          </a:stretch>
        </p:blipFill>
        <p:spPr>
          <a:xfrm>
            <a:off x="6937150" y="340537"/>
            <a:ext cx="200025" cy="695325"/>
          </a:xfrm>
          <a:prstGeom prst="rect">
            <a:avLst/>
          </a:prstGeom>
          <a:noFill/>
          <a:ln>
            <a:noFill/>
          </a:ln>
        </p:spPr>
      </p:pic>
      <p:sp>
        <p:nvSpPr>
          <p:cNvPr id="858" name="Google Shape;858;p59"/>
          <p:cNvSpPr/>
          <p:nvPr/>
        </p:nvSpPr>
        <p:spPr>
          <a:xfrm>
            <a:off x="4017825" y="2563100"/>
            <a:ext cx="1217100" cy="695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chemeClr val="dk1"/>
              </a:highlight>
              <a:latin typeface="Gill Sans"/>
              <a:ea typeface="Gill Sans"/>
              <a:cs typeface="Gill Sans"/>
              <a:sym typeface="Gill Sans"/>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g382e846f0cc_0_1"/>
          <p:cNvSpPr txBox="1"/>
          <p:nvPr>
            <p:ph type="title"/>
          </p:nvPr>
        </p:nvSpPr>
        <p:spPr>
          <a:xfrm>
            <a:off x="581025" y="687387"/>
            <a:ext cx="7989900" cy="1082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100">
                <a:latin typeface="Arial"/>
                <a:ea typeface="Arial"/>
                <a:cs typeface="Arial"/>
                <a:sym typeface="Arial"/>
              </a:rPr>
              <a:t>Properties of ZKP</a:t>
            </a:r>
            <a:endParaRPr b="1" sz="3100">
              <a:latin typeface="Arial"/>
              <a:ea typeface="Arial"/>
              <a:cs typeface="Arial"/>
              <a:sym typeface="Arial"/>
            </a:endParaRPr>
          </a:p>
        </p:txBody>
      </p:sp>
      <p:sp>
        <p:nvSpPr>
          <p:cNvPr id="865" name="Google Shape;865;g382e846f0cc_0_1"/>
          <p:cNvSpPr txBox="1"/>
          <p:nvPr>
            <p:ph idx="1" type="body"/>
          </p:nvPr>
        </p:nvSpPr>
        <p:spPr>
          <a:xfrm>
            <a:off x="643250" y="2384950"/>
            <a:ext cx="7818000" cy="3474000"/>
          </a:xfrm>
          <a:prstGeom prst="rect">
            <a:avLst/>
          </a:prstGeom>
        </p:spPr>
        <p:txBody>
          <a:bodyPr anchorCtr="0" anchor="ctr"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latin typeface="Arial"/>
                <a:ea typeface="Arial"/>
                <a:cs typeface="Arial"/>
                <a:sym typeface="Arial"/>
              </a:rPr>
              <a:t>A ZKP must satisfy three essential properties:</a:t>
            </a:r>
            <a:endParaRPr sz="2400">
              <a:solidFill>
                <a:schemeClr val="dk1"/>
              </a:solidFill>
              <a:latin typeface="Arial"/>
              <a:ea typeface="Arial"/>
              <a:cs typeface="Arial"/>
              <a:sym typeface="Arial"/>
            </a:endParaRPr>
          </a:p>
          <a:p>
            <a:pPr indent="-381000" lvl="0" marL="457200" rtl="0" algn="l">
              <a:lnSpc>
                <a:spcPct val="115000"/>
              </a:lnSpc>
              <a:spcBef>
                <a:spcPts val="1200"/>
              </a:spcBef>
              <a:spcAft>
                <a:spcPts val="0"/>
              </a:spcAft>
              <a:buClr>
                <a:schemeClr val="dk1"/>
              </a:buClr>
              <a:buSzPts val="2400"/>
              <a:buFont typeface="Arial"/>
              <a:buAutoNum type="arabicPeriod"/>
            </a:pPr>
            <a:r>
              <a:rPr b="1" lang="en-US" sz="2400">
                <a:solidFill>
                  <a:schemeClr val="dk1"/>
                </a:solidFill>
                <a:latin typeface="Arial"/>
                <a:ea typeface="Arial"/>
                <a:cs typeface="Arial"/>
                <a:sym typeface="Arial"/>
              </a:rPr>
              <a:t>Completeness:</a:t>
            </a:r>
            <a:r>
              <a:rPr lang="en-US" sz="2400">
                <a:solidFill>
                  <a:schemeClr val="dk1"/>
                </a:solidFill>
                <a:latin typeface="Arial"/>
                <a:ea typeface="Arial"/>
                <a:cs typeface="Arial"/>
                <a:sym typeface="Arial"/>
              </a:rPr>
              <a:t> If the statement is true, the honest Prover can convince the Verifier.</a:t>
            </a:r>
            <a:endParaRPr sz="2400">
              <a:solidFill>
                <a:schemeClr val="dk1"/>
              </a:solidFill>
              <a:latin typeface="Arial"/>
              <a:ea typeface="Arial"/>
              <a:cs typeface="Arial"/>
              <a:sym typeface="Arial"/>
            </a:endParaRPr>
          </a:p>
          <a:p>
            <a:pPr indent="-381000" lvl="0" marL="457200" rtl="0" algn="l">
              <a:lnSpc>
                <a:spcPct val="115000"/>
              </a:lnSpc>
              <a:spcBef>
                <a:spcPts val="0"/>
              </a:spcBef>
              <a:spcAft>
                <a:spcPts val="0"/>
              </a:spcAft>
              <a:buClr>
                <a:schemeClr val="dk1"/>
              </a:buClr>
              <a:buSzPts val="2400"/>
              <a:buFont typeface="Arial"/>
              <a:buAutoNum type="arabicPeriod"/>
            </a:pPr>
            <a:r>
              <a:rPr b="1" lang="en-US" sz="2400">
                <a:solidFill>
                  <a:schemeClr val="dk1"/>
                </a:solidFill>
                <a:latin typeface="Arial"/>
                <a:ea typeface="Arial"/>
                <a:cs typeface="Arial"/>
                <a:sym typeface="Arial"/>
              </a:rPr>
              <a:t>Soundness:</a:t>
            </a:r>
            <a:r>
              <a:rPr lang="en-US" sz="2400">
                <a:solidFill>
                  <a:schemeClr val="dk1"/>
                </a:solidFill>
                <a:latin typeface="Arial"/>
                <a:ea typeface="Arial"/>
                <a:cs typeface="Arial"/>
                <a:sym typeface="Arial"/>
              </a:rPr>
              <a:t> If the statement is false, a malicious Prover cannot convince the Verifier.</a:t>
            </a:r>
            <a:endParaRPr sz="2400">
              <a:solidFill>
                <a:schemeClr val="dk1"/>
              </a:solidFill>
              <a:latin typeface="Arial"/>
              <a:ea typeface="Arial"/>
              <a:cs typeface="Arial"/>
              <a:sym typeface="Arial"/>
            </a:endParaRPr>
          </a:p>
          <a:p>
            <a:pPr indent="-381000" lvl="0" marL="457200" rtl="0" algn="l">
              <a:lnSpc>
                <a:spcPct val="115000"/>
              </a:lnSpc>
              <a:spcBef>
                <a:spcPts val="0"/>
              </a:spcBef>
              <a:spcAft>
                <a:spcPts val="0"/>
              </a:spcAft>
              <a:buClr>
                <a:schemeClr val="dk1"/>
              </a:buClr>
              <a:buSzPts val="2400"/>
              <a:buFont typeface="Arial"/>
              <a:buAutoNum type="arabicPeriod"/>
            </a:pPr>
            <a:r>
              <a:rPr b="1" lang="en-US" sz="2400">
                <a:solidFill>
                  <a:schemeClr val="dk1"/>
                </a:solidFill>
                <a:latin typeface="Arial"/>
                <a:ea typeface="Arial"/>
                <a:cs typeface="Arial"/>
                <a:sym typeface="Arial"/>
              </a:rPr>
              <a:t>Zero-Knowledge:</a:t>
            </a:r>
            <a:r>
              <a:rPr lang="en-US" sz="2400">
                <a:solidFill>
                  <a:schemeClr val="dk1"/>
                </a:solidFill>
                <a:latin typeface="Arial"/>
                <a:ea typeface="Arial"/>
                <a:cs typeface="Arial"/>
                <a:sym typeface="Arial"/>
              </a:rPr>
              <a:t> If the statement is true, the Verifier learns nothing from the proof except for the fact that the statement is true.</a:t>
            </a:r>
            <a:endParaRPr sz="2400">
              <a:solidFill>
                <a:schemeClr val="dk1"/>
              </a:solidFill>
              <a:latin typeface="Arial"/>
              <a:ea typeface="Arial"/>
              <a:cs typeface="Arial"/>
              <a:sym typeface="Arial"/>
            </a:endParaRPr>
          </a:p>
          <a:p>
            <a:pPr indent="0" lvl="0" marL="0" rtl="0" algn="l">
              <a:spcBef>
                <a:spcPts val="1200"/>
              </a:spcBef>
              <a:spcAft>
                <a:spcPts val="600"/>
              </a:spcAft>
              <a:buNone/>
            </a:pPr>
            <a:r>
              <a:t/>
            </a:r>
            <a:endParaRPr sz="2400"/>
          </a:p>
        </p:txBody>
      </p:sp>
      <p:sp>
        <p:nvSpPr>
          <p:cNvPr id="866" name="Google Shape;866;g382e846f0cc_0_1"/>
          <p:cNvSpPr txBox="1"/>
          <p:nvPr>
            <p:ph idx="12" type="sldNum"/>
          </p:nvPr>
        </p:nvSpPr>
        <p:spPr>
          <a:xfrm>
            <a:off x="7800975" y="6376987"/>
            <a:ext cx="7698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chemeClr val="accent2"/>
              </a:buClr>
              <a:buSzPts val="900"/>
              <a:buFont typeface="Gulim"/>
              <a:buNone/>
            </a:pPr>
            <a:fld id="{00000000-1234-1234-1234-123412341234}" type="slidenum">
              <a:rPr lang="en-US"/>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60"/>
          <p:cNvSpPr txBox="1"/>
          <p:nvPr>
            <p:ph type="title"/>
          </p:nvPr>
        </p:nvSpPr>
        <p:spPr>
          <a:xfrm>
            <a:off x="785812" y="625475"/>
            <a:ext cx="7143750" cy="731837"/>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BOB’S CAVE</a:t>
            </a:r>
            <a:endParaRPr/>
          </a:p>
        </p:txBody>
      </p:sp>
      <p:sp>
        <p:nvSpPr>
          <p:cNvPr id="872" name="Google Shape;872;p60"/>
          <p:cNvSpPr txBox="1"/>
          <p:nvPr>
            <p:ph idx="1" type="body"/>
          </p:nvPr>
        </p:nvSpPr>
        <p:spPr>
          <a:xfrm>
            <a:off x="785812" y="1700212"/>
            <a:ext cx="3851275" cy="4343400"/>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100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Alice claims to know secret phrase to open path between </a:t>
            </a:r>
            <a:r>
              <a:rPr b="0" i="0" lang="en-US" sz="2800" u="none">
                <a:solidFill>
                  <a:schemeClr val="dk2"/>
                </a:solidFill>
                <a:latin typeface="Times"/>
                <a:ea typeface="Times"/>
                <a:cs typeface="Times"/>
                <a:sym typeface="Times"/>
              </a:rPr>
              <a:t>R</a:t>
            </a:r>
            <a:r>
              <a:rPr b="0" i="0" lang="en-US" sz="2800" u="none">
                <a:solidFill>
                  <a:schemeClr val="dk2"/>
                </a:solidFill>
                <a:latin typeface="Gill Sans"/>
                <a:ea typeface="Gill Sans"/>
                <a:cs typeface="Gill Sans"/>
                <a:sym typeface="Gill Sans"/>
              </a:rPr>
              <a:t> and </a:t>
            </a:r>
            <a:r>
              <a:rPr b="0" i="0" lang="en-US" sz="2800" u="none">
                <a:solidFill>
                  <a:schemeClr val="dk2"/>
                </a:solidFill>
                <a:latin typeface="Times"/>
                <a:ea typeface="Times"/>
                <a:cs typeface="Times"/>
                <a:sym typeface="Times"/>
              </a:rPr>
              <a:t>S</a:t>
            </a:r>
            <a:r>
              <a:rPr b="0" i="0" lang="en-US" sz="2800" u="none">
                <a:solidFill>
                  <a:schemeClr val="dk2"/>
                </a:solidFill>
                <a:latin typeface="Gill Sans"/>
                <a:ea typeface="Gill Sans"/>
                <a:cs typeface="Gill Sans"/>
                <a:sym typeface="Gill Sans"/>
              </a:rPr>
              <a:t> (“open sasparilla”)</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Can she convince Bob that she knows the secret without revealing phrase?</a:t>
            </a:r>
            <a:endParaRPr/>
          </a:p>
        </p:txBody>
      </p:sp>
      <p:sp>
        <p:nvSpPr>
          <p:cNvPr id="873" name="Google Shape;873;p60"/>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874" name="Google Shape;874;p60"/>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cxnSp>
        <p:nvCxnSpPr>
          <p:cNvPr id="875" name="Google Shape;875;p60"/>
          <p:cNvCxnSpPr/>
          <p:nvPr/>
        </p:nvCxnSpPr>
        <p:spPr>
          <a:xfrm>
            <a:off x="7620000" y="2514600"/>
            <a:ext cx="0" cy="304800"/>
          </a:xfrm>
          <a:prstGeom prst="straightConnector1">
            <a:avLst/>
          </a:prstGeom>
          <a:noFill/>
          <a:ln cap="flat" cmpd="sng" w="50800">
            <a:solidFill>
              <a:schemeClr val="dk1"/>
            </a:solidFill>
            <a:prstDash val="solid"/>
            <a:miter lim="800000"/>
            <a:headEnd len="med" w="med" type="none"/>
            <a:tailEnd len="med" w="med" type="none"/>
          </a:ln>
        </p:spPr>
      </p:cxnSp>
      <p:cxnSp>
        <p:nvCxnSpPr>
          <p:cNvPr id="876" name="Google Shape;876;p60"/>
          <p:cNvCxnSpPr/>
          <p:nvPr/>
        </p:nvCxnSpPr>
        <p:spPr>
          <a:xfrm rot="10800000">
            <a:off x="6324600" y="2819400"/>
            <a:ext cx="1295400" cy="0"/>
          </a:xfrm>
          <a:prstGeom prst="straightConnector1">
            <a:avLst/>
          </a:prstGeom>
          <a:noFill/>
          <a:ln cap="flat" cmpd="sng" w="50800">
            <a:solidFill>
              <a:schemeClr val="dk1"/>
            </a:solidFill>
            <a:prstDash val="solid"/>
            <a:miter lim="800000"/>
            <a:headEnd len="med" w="med" type="none"/>
            <a:tailEnd len="med" w="med" type="none"/>
          </a:ln>
        </p:spPr>
      </p:cxnSp>
      <p:cxnSp>
        <p:nvCxnSpPr>
          <p:cNvPr id="877" name="Google Shape;877;p60"/>
          <p:cNvCxnSpPr/>
          <p:nvPr/>
        </p:nvCxnSpPr>
        <p:spPr>
          <a:xfrm>
            <a:off x="6324600" y="2819400"/>
            <a:ext cx="0" cy="762000"/>
          </a:xfrm>
          <a:prstGeom prst="straightConnector1">
            <a:avLst/>
          </a:prstGeom>
          <a:noFill/>
          <a:ln cap="flat" cmpd="sng" w="50800">
            <a:solidFill>
              <a:schemeClr val="dk1"/>
            </a:solidFill>
            <a:prstDash val="solid"/>
            <a:miter lim="800000"/>
            <a:headEnd len="med" w="med" type="none"/>
            <a:tailEnd len="med" w="med" type="none"/>
          </a:ln>
        </p:spPr>
      </p:cxnSp>
      <p:cxnSp>
        <p:nvCxnSpPr>
          <p:cNvPr id="878" name="Google Shape;878;p60"/>
          <p:cNvCxnSpPr/>
          <p:nvPr/>
        </p:nvCxnSpPr>
        <p:spPr>
          <a:xfrm rot="10800000">
            <a:off x="4953000" y="3581400"/>
            <a:ext cx="1371600" cy="0"/>
          </a:xfrm>
          <a:prstGeom prst="straightConnector1">
            <a:avLst/>
          </a:prstGeom>
          <a:noFill/>
          <a:ln cap="flat" cmpd="sng" w="50800">
            <a:solidFill>
              <a:schemeClr val="dk1"/>
            </a:solidFill>
            <a:prstDash val="solid"/>
            <a:miter lim="800000"/>
            <a:headEnd len="med" w="med" type="none"/>
            <a:tailEnd len="med" w="med" type="none"/>
          </a:ln>
        </p:spPr>
      </p:cxnSp>
      <p:cxnSp>
        <p:nvCxnSpPr>
          <p:cNvPr id="879" name="Google Shape;879;p60"/>
          <p:cNvCxnSpPr/>
          <p:nvPr/>
        </p:nvCxnSpPr>
        <p:spPr>
          <a:xfrm>
            <a:off x="4953000" y="3581400"/>
            <a:ext cx="0" cy="1066800"/>
          </a:xfrm>
          <a:prstGeom prst="straightConnector1">
            <a:avLst/>
          </a:prstGeom>
          <a:noFill/>
          <a:ln cap="flat" cmpd="sng" w="50800">
            <a:solidFill>
              <a:schemeClr val="dk1"/>
            </a:solidFill>
            <a:prstDash val="solid"/>
            <a:miter lim="800000"/>
            <a:headEnd len="med" w="med" type="none"/>
            <a:tailEnd len="med" w="med" type="none"/>
          </a:ln>
        </p:spPr>
      </p:cxnSp>
      <p:cxnSp>
        <p:nvCxnSpPr>
          <p:cNvPr id="880" name="Google Shape;880;p60"/>
          <p:cNvCxnSpPr/>
          <p:nvPr/>
        </p:nvCxnSpPr>
        <p:spPr>
          <a:xfrm>
            <a:off x="4953000" y="4648200"/>
            <a:ext cx="3124200" cy="0"/>
          </a:xfrm>
          <a:prstGeom prst="straightConnector1">
            <a:avLst/>
          </a:prstGeom>
          <a:noFill/>
          <a:ln cap="flat" cmpd="sng" w="50800">
            <a:solidFill>
              <a:schemeClr val="dk1"/>
            </a:solidFill>
            <a:prstDash val="solid"/>
            <a:miter lim="800000"/>
            <a:headEnd len="med" w="med" type="none"/>
            <a:tailEnd len="med" w="med" type="none"/>
          </a:ln>
        </p:spPr>
      </p:cxnSp>
      <p:cxnSp>
        <p:nvCxnSpPr>
          <p:cNvPr id="881" name="Google Shape;881;p60"/>
          <p:cNvCxnSpPr/>
          <p:nvPr/>
        </p:nvCxnSpPr>
        <p:spPr>
          <a:xfrm rot="10800000">
            <a:off x="8077200" y="3581400"/>
            <a:ext cx="0" cy="1066800"/>
          </a:xfrm>
          <a:prstGeom prst="straightConnector1">
            <a:avLst/>
          </a:prstGeom>
          <a:noFill/>
          <a:ln cap="flat" cmpd="sng" w="50800">
            <a:solidFill>
              <a:schemeClr val="dk1"/>
            </a:solidFill>
            <a:prstDash val="solid"/>
            <a:miter lim="800000"/>
            <a:headEnd len="med" w="med" type="none"/>
            <a:tailEnd len="med" w="med" type="none"/>
          </a:ln>
        </p:spPr>
      </p:cxnSp>
      <p:cxnSp>
        <p:nvCxnSpPr>
          <p:cNvPr id="882" name="Google Shape;882;p60"/>
          <p:cNvCxnSpPr/>
          <p:nvPr/>
        </p:nvCxnSpPr>
        <p:spPr>
          <a:xfrm rot="10800000">
            <a:off x="6781800" y="3581400"/>
            <a:ext cx="1295400" cy="0"/>
          </a:xfrm>
          <a:prstGeom prst="straightConnector1">
            <a:avLst/>
          </a:prstGeom>
          <a:noFill/>
          <a:ln cap="flat" cmpd="sng" w="50800">
            <a:solidFill>
              <a:schemeClr val="dk1"/>
            </a:solidFill>
            <a:prstDash val="solid"/>
            <a:miter lim="800000"/>
            <a:headEnd len="med" w="med" type="none"/>
            <a:tailEnd len="med" w="med" type="none"/>
          </a:ln>
        </p:spPr>
      </p:cxnSp>
      <p:cxnSp>
        <p:nvCxnSpPr>
          <p:cNvPr id="883" name="Google Shape;883;p60"/>
          <p:cNvCxnSpPr/>
          <p:nvPr/>
        </p:nvCxnSpPr>
        <p:spPr>
          <a:xfrm rot="10800000">
            <a:off x="6781800" y="3200400"/>
            <a:ext cx="0" cy="381000"/>
          </a:xfrm>
          <a:prstGeom prst="straightConnector1">
            <a:avLst/>
          </a:prstGeom>
          <a:noFill/>
          <a:ln cap="flat" cmpd="sng" w="50800">
            <a:solidFill>
              <a:schemeClr val="dk1"/>
            </a:solidFill>
            <a:prstDash val="solid"/>
            <a:miter lim="800000"/>
            <a:headEnd len="med" w="med" type="none"/>
            <a:tailEnd len="med" w="med" type="none"/>
          </a:ln>
        </p:spPr>
      </p:cxnSp>
      <p:cxnSp>
        <p:nvCxnSpPr>
          <p:cNvPr id="884" name="Google Shape;884;p60"/>
          <p:cNvCxnSpPr/>
          <p:nvPr/>
        </p:nvCxnSpPr>
        <p:spPr>
          <a:xfrm>
            <a:off x="6781800" y="3200400"/>
            <a:ext cx="1295400" cy="0"/>
          </a:xfrm>
          <a:prstGeom prst="straightConnector1">
            <a:avLst/>
          </a:prstGeom>
          <a:noFill/>
          <a:ln cap="flat" cmpd="sng" w="50800">
            <a:solidFill>
              <a:schemeClr val="dk1"/>
            </a:solidFill>
            <a:prstDash val="solid"/>
            <a:miter lim="800000"/>
            <a:headEnd len="med" w="med" type="none"/>
            <a:tailEnd len="med" w="med" type="none"/>
          </a:ln>
        </p:spPr>
      </p:cxnSp>
      <p:cxnSp>
        <p:nvCxnSpPr>
          <p:cNvPr id="885" name="Google Shape;885;p60"/>
          <p:cNvCxnSpPr/>
          <p:nvPr/>
        </p:nvCxnSpPr>
        <p:spPr>
          <a:xfrm rot="10800000">
            <a:off x="8077200" y="2514600"/>
            <a:ext cx="0" cy="685800"/>
          </a:xfrm>
          <a:prstGeom prst="straightConnector1">
            <a:avLst/>
          </a:prstGeom>
          <a:noFill/>
          <a:ln cap="flat" cmpd="sng" w="50800">
            <a:solidFill>
              <a:schemeClr val="dk1"/>
            </a:solidFill>
            <a:prstDash val="solid"/>
            <a:miter lim="800000"/>
            <a:headEnd len="med" w="med" type="none"/>
            <a:tailEnd len="med" w="med" type="none"/>
          </a:ln>
        </p:spPr>
      </p:cxnSp>
      <p:sp>
        <p:nvSpPr>
          <p:cNvPr id="886" name="Google Shape;886;p60"/>
          <p:cNvSpPr txBox="1"/>
          <p:nvPr/>
        </p:nvSpPr>
        <p:spPr>
          <a:xfrm>
            <a:off x="7620000" y="2346325"/>
            <a:ext cx="354012"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imes"/>
              <a:buNone/>
            </a:pPr>
            <a:r>
              <a:rPr b="0" i="0" lang="en-US" sz="2000" u="none">
                <a:solidFill>
                  <a:schemeClr val="dk1"/>
                </a:solidFill>
                <a:latin typeface="Times"/>
                <a:ea typeface="Times"/>
                <a:cs typeface="Times"/>
                <a:sym typeface="Times"/>
              </a:rPr>
              <a:t>P</a:t>
            </a:r>
            <a:endParaRPr/>
          </a:p>
        </p:txBody>
      </p:sp>
      <p:sp>
        <p:nvSpPr>
          <p:cNvPr id="887" name="Google Shape;887;p60"/>
          <p:cNvSpPr txBox="1"/>
          <p:nvPr/>
        </p:nvSpPr>
        <p:spPr>
          <a:xfrm>
            <a:off x="6324600" y="3581400"/>
            <a:ext cx="3810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imes"/>
              <a:buNone/>
            </a:pPr>
            <a:r>
              <a:rPr b="0" i="0" lang="en-US" sz="2000" u="none">
                <a:solidFill>
                  <a:schemeClr val="dk1"/>
                </a:solidFill>
                <a:latin typeface="Times"/>
                <a:ea typeface="Times"/>
                <a:cs typeface="Times"/>
                <a:sym typeface="Times"/>
              </a:rPr>
              <a:t>Q</a:t>
            </a:r>
            <a:endParaRPr/>
          </a:p>
        </p:txBody>
      </p:sp>
      <p:sp>
        <p:nvSpPr>
          <p:cNvPr id="888" name="Google Shape;888;p60"/>
          <p:cNvSpPr txBox="1"/>
          <p:nvPr/>
        </p:nvSpPr>
        <p:spPr>
          <a:xfrm>
            <a:off x="6096000" y="4114800"/>
            <a:ext cx="3683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imes"/>
              <a:buNone/>
            </a:pPr>
            <a:r>
              <a:rPr b="0" i="0" lang="en-US" sz="2000" u="none">
                <a:solidFill>
                  <a:schemeClr val="dk1"/>
                </a:solidFill>
                <a:latin typeface="Times"/>
                <a:ea typeface="Times"/>
                <a:cs typeface="Times"/>
                <a:sym typeface="Times"/>
              </a:rPr>
              <a:t>R</a:t>
            </a:r>
            <a:endParaRPr/>
          </a:p>
        </p:txBody>
      </p:sp>
      <p:sp>
        <p:nvSpPr>
          <p:cNvPr id="889" name="Google Shape;889;p60"/>
          <p:cNvSpPr txBox="1"/>
          <p:nvPr/>
        </p:nvSpPr>
        <p:spPr>
          <a:xfrm>
            <a:off x="6656387" y="4114800"/>
            <a:ext cx="354012"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imes"/>
              <a:buNone/>
            </a:pPr>
            <a:r>
              <a:rPr b="0" i="0" lang="en-US" sz="2000" u="none">
                <a:solidFill>
                  <a:schemeClr val="dk1"/>
                </a:solidFill>
                <a:latin typeface="Times"/>
                <a:ea typeface="Times"/>
                <a:cs typeface="Times"/>
                <a:sym typeface="Times"/>
              </a:rPr>
              <a:t>S</a:t>
            </a:r>
            <a:endParaRPr/>
          </a:p>
        </p:txBody>
      </p:sp>
      <p:cxnSp>
        <p:nvCxnSpPr>
          <p:cNvPr id="890" name="Google Shape;890;p60"/>
          <p:cNvCxnSpPr/>
          <p:nvPr/>
        </p:nvCxnSpPr>
        <p:spPr>
          <a:xfrm rot="10800000">
            <a:off x="6553200" y="4114800"/>
            <a:ext cx="0" cy="533400"/>
          </a:xfrm>
          <a:prstGeom prst="straightConnector1">
            <a:avLst/>
          </a:prstGeom>
          <a:noFill/>
          <a:ln cap="flat" cmpd="sng" w="50800">
            <a:solidFill>
              <a:schemeClr val="dk1"/>
            </a:solidFill>
            <a:prstDash val="solid"/>
            <a:miter lim="800000"/>
            <a:headEnd len="med" w="med" type="none"/>
            <a:tailEnd len="med" w="med" type="none"/>
          </a:ln>
        </p:spPr>
      </p:cxnSp>
      <p:cxnSp>
        <p:nvCxnSpPr>
          <p:cNvPr id="891" name="Google Shape;891;p60"/>
          <p:cNvCxnSpPr/>
          <p:nvPr/>
        </p:nvCxnSpPr>
        <p:spPr>
          <a:xfrm>
            <a:off x="5486400" y="4114800"/>
            <a:ext cx="1981200" cy="0"/>
          </a:xfrm>
          <a:prstGeom prst="straightConnector1">
            <a:avLst/>
          </a:prstGeom>
          <a:noFill/>
          <a:ln cap="flat" cmpd="sng" w="50800">
            <a:solidFill>
              <a:schemeClr val="dk1"/>
            </a:solidFill>
            <a:prstDash val="solid"/>
            <a:miter lim="800000"/>
            <a:headEnd len="med" w="med" type="none"/>
            <a:tailEnd len="med" w="med" type="none"/>
          </a:ln>
        </p:spPr>
      </p:cxn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61"/>
          <p:cNvSpPr txBox="1"/>
          <p:nvPr>
            <p:ph type="title"/>
          </p:nvPr>
        </p:nvSpPr>
        <p:spPr>
          <a:xfrm>
            <a:off x="785812" y="357187"/>
            <a:ext cx="4691062" cy="100012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BOB’S CAVE</a:t>
            </a:r>
            <a:endParaRPr/>
          </a:p>
        </p:txBody>
      </p:sp>
      <p:sp>
        <p:nvSpPr>
          <p:cNvPr id="897" name="Google Shape;897;p61"/>
          <p:cNvSpPr txBox="1"/>
          <p:nvPr>
            <p:ph idx="1" type="body"/>
          </p:nvPr>
        </p:nvSpPr>
        <p:spPr>
          <a:xfrm>
            <a:off x="661987" y="1779587"/>
            <a:ext cx="4953000" cy="533400"/>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90000"/>
              </a:lnSpc>
              <a:spcBef>
                <a:spcPts val="0"/>
              </a:spcBef>
              <a:spcAft>
                <a:spcPts val="0"/>
              </a:spcAft>
              <a:buClr>
                <a:schemeClr val="accent2"/>
              </a:buClr>
              <a:buSzPts val="2208"/>
              <a:buFont typeface="Noto Sans Symbols"/>
              <a:buChar char="◼"/>
            </a:pPr>
            <a:r>
              <a:rPr b="0" i="0" lang="en-US" sz="2400" u="none">
                <a:solidFill>
                  <a:schemeClr val="dk2"/>
                </a:solidFill>
                <a:latin typeface="Gill Sans"/>
                <a:ea typeface="Gill Sans"/>
                <a:cs typeface="Gill Sans"/>
                <a:sym typeface="Gill Sans"/>
              </a:rPr>
              <a:t>Bob: “Alice come out on </a:t>
            </a:r>
            <a:r>
              <a:rPr b="0" i="0" lang="en-US" sz="2400" u="none">
                <a:solidFill>
                  <a:schemeClr val="dk2"/>
                </a:solidFill>
                <a:latin typeface="Times"/>
                <a:ea typeface="Times"/>
                <a:cs typeface="Times"/>
                <a:sym typeface="Times"/>
              </a:rPr>
              <a:t>S</a:t>
            </a:r>
            <a:r>
              <a:rPr b="0" i="0" lang="en-US" sz="2400" u="none">
                <a:solidFill>
                  <a:schemeClr val="dk2"/>
                </a:solidFill>
                <a:latin typeface="Gill Sans"/>
                <a:ea typeface="Gill Sans"/>
                <a:cs typeface="Gill Sans"/>
                <a:sym typeface="Gill Sans"/>
              </a:rPr>
              <a:t> side”</a:t>
            </a:r>
            <a:endParaRPr/>
          </a:p>
        </p:txBody>
      </p:sp>
      <p:sp>
        <p:nvSpPr>
          <p:cNvPr id="898" name="Google Shape;898;p61"/>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899" name="Google Shape;899;p61"/>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pic>
        <p:nvPicPr>
          <p:cNvPr id="900" name="Google Shape;900;p61"/>
          <p:cNvPicPr preferRelativeResize="0"/>
          <p:nvPr/>
        </p:nvPicPr>
        <p:blipFill rotWithShape="1">
          <a:blip r:embed="rId3">
            <a:alphaModFix/>
          </a:blip>
          <a:srcRect b="0" l="0" r="0" t="0"/>
          <a:stretch/>
        </p:blipFill>
        <p:spPr>
          <a:xfrm>
            <a:off x="5505450" y="2727325"/>
            <a:ext cx="246062" cy="381000"/>
          </a:xfrm>
          <a:prstGeom prst="rect">
            <a:avLst/>
          </a:prstGeom>
          <a:noFill/>
          <a:ln>
            <a:noFill/>
          </a:ln>
        </p:spPr>
      </p:pic>
      <p:pic>
        <p:nvPicPr>
          <p:cNvPr id="901" name="Google Shape;901;p61"/>
          <p:cNvPicPr preferRelativeResize="0"/>
          <p:nvPr/>
        </p:nvPicPr>
        <p:blipFill rotWithShape="1">
          <a:blip r:embed="rId4">
            <a:alphaModFix/>
          </a:blip>
          <a:srcRect b="0" l="0" r="0" t="0"/>
          <a:stretch/>
        </p:blipFill>
        <p:spPr>
          <a:xfrm>
            <a:off x="5886450" y="3084512"/>
            <a:ext cx="236537" cy="404812"/>
          </a:xfrm>
          <a:prstGeom prst="rect">
            <a:avLst/>
          </a:prstGeom>
          <a:noFill/>
          <a:ln>
            <a:noFill/>
          </a:ln>
        </p:spPr>
      </p:pic>
      <p:pic>
        <p:nvPicPr>
          <p:cNvPr id="902" name="Google Shape;902;p61"/>
          <p:cNvPicPr preferRelativeResize="0"/>
          <p:nvPr/>
        </p:nvPicPr>
        <p:blipFill rotWithShape="1">
          <a:blip r:embed="rId4">
            <a:alphaModFix/>
          </a:blip>
          <a:srcRect b="0" l="0" r="0" t="0"/>
          <a:stretch/>
        </p:blipFill>
        <p:spPr>
          <a:xfrm>
            <a:off x="4972050" y="3617912"/>
            <a:ext cx="236537" cy="404812"/>
          </a:xfrm>
          <a:prstGeom prst="rect">
            <a:avLst/>
          </a:prstGeom>
          <a:noFill/>
          <a:ln>
            <a:noFill/>
          </a:ln>
        </p:spPr>
      </p:pic>
      <p:pic>
        <p:nvPicPr>
          <p:cNvPr id="903" name="Google Shape;903;p61"/>
          <p:cNvPicPr preferRelativeResize="0"/>
          <p:nvPr/>
        </p:nvPicPr>
        <p:blipFill rotWithShape="1">
          <a:blip r:embed="rId3">
            <a:alphaModFix/>
          </a:blip>
          <a:srcRect b="0" l="0" r="0" t="0"/>
          <a:stretch/>
        </p:blipFill>
        <p:spPr>
          <a:xfrm>
            <a:off x="6783387" y="1508125"/>
            <a:ext cx="246062" cy="381000"/>
          </a:xfrm>
          <a:prstGeom prst="rect">
            <a:avLst/>
          </a:prstGeom>
          <a:noFill/>
          <a:ln>
            <a:noFill/>
          </a:ln>
        </p:spPr>
      </p:pic>
      <p:pic>
        <p:nvPicPr>
          <p:cNvPr id="904" name="Google Shape;904;p61"/>
          <p:cNvPicPr preferRelativeResize="0"/>
          <p:nvPr/>
        </p:nvPicPr>
        <p:blipFill rotWithShape="1">
          <a:blip r:embed="rId4">
            <a:alphaModFix/>
          </a:blip>
          <a:srcRect b="0" l="0" r="0" t="0"/>
          <a:stretch/>
        </p:blipFill>
        <p:spPr>
          <a:xfrm>
            <a:off x="5497512" y="2703512"/>
            <a:ext cx="236537" cy="404812"/>
          </a:xfrm>
          <a:prstGeom prst="rect">
            <a:avLst/>
          </a:prstGeom>
          <a:noFill/>
          <a:ln>
            <a:noFill/>
          </a:ln>
        </p:spPr>
      </p:pic>
      <p:cxnSp>
        <p:nvCxnSpPr>
          <p:cNvPr id="905" name="Google Shape;905;p61"/>
          <p:cNvCxnSpPr/>
          <p:nvPr/>
        </p:nvCxnSpPr>
        <p:spPr>
          <a:xfrm>
            <a:off x="5048250" y="3505200"/>
            <a:ext cx="1371600" cy="0"/>
          </a:xfrm>
          <a:prstGeom prst="straightConnector1">
            <a:avLst/>
          </a:prstGeom>
          <a:noFill/>
          <a:ln cap="flat" cmpd="sng" w="9525">
            <a:solidFill>
              <a:schemeClr val="dk1"/>
            </a:solidFill>
            <a:prstDash val="solid"/>
            <a:miter lim="800000"/>
            <a:headEnd len="med" w="med" type="none"/>
            <a:tailEnd len="med" w="med" type="triangle"/>
          </a:ln>
        </p:spPr>
      </p:cxnSp>
      <p:sp>
        <p:nvSpPr>
          <p:cNvPr id="906" name="Google Shape;906;p61"/>
          <p:cNvSpPr txBox="1"/>
          <p:nvPr/>
        </p:nvSpPr>
        <p:spPr>
          <a:xfrm>
            <a:off x="642937" y="2357437"/>
            <a:ext cx="3124200" cy="7143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2060"/>
              </a:buClr>
              <a:buSzPts val="1800"/>
              <a:buFont typeface="Noto Sans Symbols"/>
              <a:buChar char="●"/>
            </a:pPr>
            <a:r>
              <a:rPr b="0" i="0" lang="en-US" sz="2400" u="none">
                <a:solidFill>
                  <a:schemeClr val="dk1"/>
                </a:solidFill>
                <a:latin typeface="Comic Sans MS"/>
                <a:ea typeface="Comic Sans MS"/>
                <a:cs typeface="Comic Sans MS"/>
                <a:sym typeface="Comic Sans MS"/>
              </a:rPr>
              <a:t>Alice (quietly): “Open sasparilla”</a:t>
            </a:r>
            <a:endParaRPr/>
          </a:p>
        </p:txBody>
      </p:sp>
      <p:sp>
        <p:nvSpPr>
          <p:cNvPr id="907" name="Google Shape;907;p61"/>
          <p:cNvSpPr txBox="1"/>
          <p:nvPr/>
        </p:nvSpPr>
        <p:spPr>
          <a:xfrm>
            <a:off x="642937" y="3429000"/>
            <a:ext cx="2971800" cy="91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2060"/>
              </a:buClr>
              <a:buSzPts val="1800"/>
              <a:buFont typeface="Noto Sans Symbols"/>
              <a:buChar char="●"/>
            </a:pPr>
            <a:r>
              <a:rPr b="0" i="0" lang="en-US" sz="2400" u="none">
                <a:solidFill>
                  <a:schemeClr val="dk1"/>
                </a:solidFill>
                <a:latin typeface="Comic Sans MS"/>
                <a:ea typeface="Comic Sans MS"/>
                <a:cs typeface="Comic Sans MS"/>
                <a:sym typeface="Comic Sans MS"/>
              </a:rPr>
              <a:t>Apse Alice does not know secret</a:t>
            </a:r>
            <a:endParaRPr/>
          </a:p>
        </p:txBody>
      </p:sp>
      <p:sp>
        <p:nvSpPr>
          <p:cNvPr id="908" name="Google Shape;908;p61"/>
          <p:cNvSpPr txBox="1"/>
          <p:nvPr/>
        </p:nvSpPr>
        <p:spPr>
          <a:xfrm>
            <a:off x="107950" y="4508500"/>
            <a:ext cx="7777162" cy="1663700"/>
          </a:xfrm>
          <a:prstGeom prst="rect">
            <a:avLst/>
          </a:prstGeom>
          <a:noFill/>
          <a:ln>
            <a:noFill/>
          </a:ln>
        </p:spPr>
        <p:txBody>
          <a:bodyPr anchorCtr="0" anchor="t" bIns="45700" lIns="91425" spcFirstLastPara="1" rIns="91425" wrap="square" tIns="45700">
            <a:noAutofit/>
          </a:bodyPr>
          <a:lstStyle/>
          <a:p>
            <a:pPr indent="-342900" lvl="1" marL="800100" marR="0" rtl="0" algn="l">
              <a:lnSpc>
                <a:spcPct val="90000"/>
              </a:lnSpc>
              <a:spcBef>
                <a:spcPts val="0"/>
              </a:spcBef>
              <a:spcAft>
                <a:spcPts val="0"/>
              </a:spcAft>
              <a:buClr>
                <a:srgbClr val="002060"/>
              </a:buClr>
              <a:buSzPts val="1800"/>
              <a:buFont typeface="Noto Sans Symbols"/>
              <a:buChar char="●"/>
            </a:pPr>
            <a:r>
              <a:rPr b="0" i="0" lang="en-US" sz="2400" u="none" cap="none" strike="noStrike">
                <a:solidFill>
                  <a:srgbClr val="FF0000"/>
                </a:solidFill>
                <a:latin typeface="Comic Sans MS"/>
                <a:ea typeface="Comic Sans MS"/>
                <a:cs typeface="Comic Sans MS"/>
                <a:sym typeface="Comic Sans MS"/>
              </a:rPr>
              <a:t>Without knowing secret, Alice could come out from the correct side with probability </a:t>
            </a:r>
            <a:r>
              <a:rPr b="0" i="0" lang="en-US" sz="2400" u="none" cap="none" strike="noStrike">
                <a:solidFill>
                  <a:srgbClr val="FF0000"/>
                </a:solidFill>
                <a:latin typeface="Times"/>
                <a:ea typeface="Times"/>
                <a:cs typeface="Times"/>
                <a:sym typeface="Times"/>
              </a:rPr>
              <a:t>½</a:t>
            </a:r>
            <a:endParaRPr/>
          </a:p>
          <a:p>
            <a:pPr indent="-342900" lvl="1" marL="800100" marR="0" rtl="0" algn="l">
              <a:lnSpc>
                <a:spcPct val="90000"/>
              </a:lnSpc>
              <a:spcBef>
                <a:spcPts val="480"/>
              </a:spcBef>
              <a:spcAft>
                <a:spcPts val="0"/>
              </a:spcAft>
              <a:buClr>
                <a:srgbClr val="002060"/>
              </a:buClr>
              <a:buSzPts val="1800"/>
              <a:buFont typeface="Noto Sans Symbols"/>
              <a:buChar char="●"/>
            </a:pPr>
            <a:r>
              <a:rPr b="0" i="0" lang="en-US" sz="2400" u="none" cap="none" strike="noStrike">
                <a:solidFill>
                  <a:srgbClr val="FF0000"/>
                </a:solidFill>
                <a:latin typeface="Comic Sans MS"/>
                <a:ea typeface="Comic Sans MS"/>
                <a:cs typeface="Comic Sans MS"/>
                <a:sym typeface="Comic Sans MS"/>
              </a:rPr>
              <a:t>If Bob repeats this </a:t>
            </a:r>
            <a:r>
              <a:rPr b="0" i="0" lang="en-US" sz="2400" u="none" cap="none" strike="noStrike">
                <a:solidFill>
                  <a:srgbClr val="FF0000"/>
                </a:solidFill>
                <a:latin typeface="Times"/>
                <a:ea typeface="Times"/>
                <a:cs typeface="Times"/>
                <a:sym typeface="Times"/>
              </a:rPr>
              <a:t>n</a:t>
            </a:r>
            <a:r>
              <a:rPr b="0" i="0" lang="en-US" sz="2400" u="none" cap="none" strike="noStrike">
                <a:solidFill>
                  <a:srgbClr val="FF0000"/>
                </a:solidFill>
                <a:latin typeface="Comic Sans MS"/>
                <a:ea typeface="Comic Sans MS"/>
                <a:cs typeface="Comic Sans MS"/>
                <a:sym typeface="Comic Sans MS"/>
              </a:rPr>
              <a:t> times, then Alice can only fool Bob with probability </a:t>
            </a:r>
            <a:r>
              <a:rPr b="0" i="0" lang="en-US" sz="2400" u="none" cap="none" strike="noStrike">
                <a:solidFill>
                  <a:srgbClr val="FF0000"/>
                </a:solidFill>
                <a:latin typeface="Times"/>
                <a:ea typeface="Times"/>
                <a:cs typeface="Times"/>
                <a:sym typeface="Times"/>
              </a:rPr>
              <a:t>1/2</a:t>
            </a:r>
            <a:r>
              <a:rPr b="0" baseline="30000" i="0" lang="en-US" sz="2400" u="none" cap="none" strike="noStrike">
                <a:solidFill>
                  <a:srgbClr val="FF0000"/>
                </a:solidFill>
                <a:latin typeface="Times"/>
                <a:ea typeface="Times"/>
                <a:cs typeface="Times"/>
                <a:sym typeface="Times"/>
              </a:rPr>
              <a:t>n</a:t>
            </a:r>
            <a:endParaRPr b="0" i="0" sz="2400" u="none" cap="none" strike="noStrike">
              <a:solidFill>
                <a:srgbClr val="FF0000"/>
              </a:solidFill>
              <a:latin typeface="Comic Sans MS"/>
              <a:ea typeface="Comic Sans MS"/>
              <a:cs typeface="Comic Sans MS"/>
              <a:sym typeface="Comic Sans MS"/>
            </a:endParaRPr>
          </a:p>
          <a:p>
            <a:pPr indent="0" lvl="0" marL="0" marR="0" rtl="0" algn="l">
              <a:lnSpc>
                <a:spcPct val="100000"/>
              </a:lnSpc>
              <a:spcBef>
                <a:spcPts val="0"/>
              </a:spcBef>
              <a:spcAft>
                <a:spcPts val="0"/>
              </a:spcAft>
              <a:buNone/>
            </a:pPr>
            <a:r>
              <a:t/>
            </a:r>
            <a:endParaRPr b="0" i="0" sz="2400" u="none" cap="none" strike="noStrike">
              <a:solidFill>
                <a:srgbClr val="FF0000"/>
              </a:solidFill>
              <a:latin typeface="Comic Sans MS"/>
              <a:ea typeface="Comic Sans MS"/>
              <a:cs typeface="Comic Sans MS"/>
              <a:sym typeface="Comic Sans MS"/>
            </a:endParaRPr>
          </a:p>
        </p:txBody>
      </p:sp>
      <p:cxnSp>
        <p:nvCxnSpPr>
          <p:cNvPr id="909" name="Google Shape;909;p61"/>
          <p:cNvCxnSpPr/>
          <p:nvPr/>
        </p:nvCxnSpPr>
        <p:spPr>
          <a:xfrm>
            <a:off x="6724650" y="1981200"/>
            <a:ext cx="0" cy="304800"/>
          </a:xfrm>
          <a:prstGeom prst="straightConnector1">
            <a:avLst/>
          </a:prstGeom>
          <a:noFill/>
          <a:ln cap="flat" cmpd="sng" w="50800">
            <a:solidFill>
              <a:schemeClr val="dk1"/>
            </a:solidFill>
            <a:prstDash val="solid"/>
            <a:miter lim="800000"/>
            <a:headEnd len="med" w="med" type="none"/>
            <a:tailEnd len="med" w="med" type="none"/>
          </a:ln>
        </p:spPr>
      </p:cxnSp>
      <p:cxnSp>
        <p:nvCxnSpPr>
          <p:cNvPr id="910" name="Google Shape;910;p61"/>
          <p:cNvCxnSpPr/>
          <p:nvPr/>
        </p:nvCxnSpPr>
        <p:spPr>
          <a:xfrm rot="10800000">
            <a:off x="5429250" y="2286000"/>
            <a:ext cx="1295400" cy="0"/>
          </a:xfrm>
          <a:prstGeom prst="straightConnector1">
            <a:avLst/>
          </a:prstGeom>
          <a:noFill/>
          <a:ln cap="flat" cmpd="sng" w="50800">
            <a:solidFill>
              <a:schemeClr val="dk1"/>
            </a:solidFill>
            <a:prstDash val="solid"/>
            <a:miter lim="800000"/>
            <a:headEnd len="med" w="med" type="none"/>
            <a:tailEnd len="med" w="med" type="none"/>
          </a:ln>
        </p:spPr>
      </p:cxnSp>
      <p:cxnSp>
        <p:nvCxnSpPr>
          <p:cNvPr id="911" name="Google Shape;911;p61"/>
          <p:cNvCxnSpPr/>
          <p:nvPr/>
        </p:nvCxnSpPr>
        <p:spPr>
          <a:xfrm>
            <a:off x="5429250" y="2286000"/>
            <a:ext cx="0" cy="762000"/>
          </a:xfrm>
          <a:prstGeom prst="straightConnector1">
            <a:avLst/>
          </a:prstGeom>
          <a:noFill/>
          <a:ln cap="flat" cmpd="sng" w="50800">
            <a:solidFill>
              <a:schemeClr val="dk1"/>
            </a:solidFill>
            <a:prstDash val="solid"/>
            <a:miter lim="800000"/>
            <a:headEnd len="med" w="med" type="none"/>
            <a:tailEnd len="med" w="med" type="none"/>
          </a:ln>
        </p:spPr>
      </p:cxnSp>
      <p:cxnSp>
        <p:nvCxnSpPr>
          <p:cNvPr id="912" name="Google Shape;912;p61"/>
          <p:cNvCxnSpPr/>
          <p:nvPr/>
        </p:nvCxnSpPr>
        <p:spPr>
          <a:xfrm rot="10800000">
            <a:off x="4057650" y="3048000"/>
            <a:ext cx="1371600" cy="0"/>
          </a:xfrm>
          <a:prstGeom prst="straightConnector1">
            <a:avLst/>
          </a:prstGeom>
          <a:noFill/>
          <a:ln cap="flat" cmpd="sng" w="50800">
            <a:solidFill>
              <a:schemeClr val="dk1"/>
            </a:solidFill>
            <a:prstDash val="solid"/>
            <a:miter lim="800000"/>
            <a:headEnd len="med" w="med" type="none"/>
            <a:tailEnd len="med" w="med" type="none"/>
          </a:ln>
        </p:spPr>
      </p:cxnSp>
      <p:cxnSp>
        <p:nvCxnSpPr>
          <p:cNvPr id="913" name="Google Shape;913;p61"/>
          <p:cNvCxnSpPr/>
          <p:nvPr/>
        </p:nvCxnSpPr>
        <p:spPr>
          <a:xfrm>
            <a:off x="4057650" y="3048000"/>
            <a:ext cx="0" cy="1066800"/>
          </a:xfrm>
          <a:prstGeom prst="straightConnector1">
            <a:avLst/>
          </a:prstGeom>
          <a:noFill/>
          <a:ln cap="flat" cmpd="sng" w="50800">
            <a:solidFill>
              <a:schemeClr val="dk1"/>
            </a:solidFill>
            <a:prstDash val="solid"/>
            <a:miter lim="800000"/>
            <a:headEnd len="med" w="med" type="none"/>
            <a:tailEnd len="med" w="med" type="none"/>
          </a:ln>
        </p:spPr>
      </p:cxnSp>
      <p:cxnSp>
        <p:nvCxnSpPr>
          <p:cNvPr id="914" name="Google Shape;914;p61"/>
          <p:cNvCxnSpPr/>
          <p:nvPr/>
        </p:nvCxnSpPr>
        <p:spPr>
          <a:xfrm>
            <a:off x="4057650" y="4114800"/>
            <a:ext cx="3124200" cy="0"/>
          </a:xfrm>
          <a:prstGeom prst="straightConnector1">
            <a:avLst/>
          </a:prstGeom>
          <a:noFill/>
          <a:ln cap="flat" cmpd="sng" w="50800">
            <a:solidFill>
              <a:schemeClr val="dk1"/>
            </a:solidFill>
            <a:prstDash val="solid"/>
            <a:miter lim="800000"/>
            <a:headEnd len="med" w="med" type="none"/>
            <a:tailEnd len="med" w="med" type="none"/>
          </a:ln>
        </p:spPr>
      </p:cxnSp>
      <p:cxnSp>
        <p:nvCxnSpPr>
          <p:cNvPr id="915" name="Google Shape;915;p61"/>
          <p:cNvCxnSpPr/>
          <p:nvPr/>
        </p:nvCxnSpPr>
        <p:spPr>
          <a:xfrm rot="10800000">
            <a:off x="7181850" y="3048000"/>
            <a:ext cx="0" cy="1066800"/>
          </a:xfrm>
          <a:prstGeom prst="straightConnector1">
            <a:avLst/>
          </a:prstGeom>
          <a:noFill/>
          <a:ln cap="flat" cmpd="sng" w="50800">
            <a:solidFill>
              <a:schemeClr val="dk1"/>
            </a:solidFill>
            <a:prstDash val="solid"/>
            <a:miter lim="800000"/>
            <a:headEnd len="med" w="med" type="none"/>
            <a:tailEnd len="med" w="med" type="none"/>
          </a:ln>
        </p:spPr>
      </p:cxnSp>
      <p:cxnSp>
        <p:nvCxnSpPr>
          <p:cNvPr id="916" name="Google Shape;916;p61"/>
          <p:cNvCxnSpPr/>
          <p:nvPr/>
        </p:nvCxnSpPr>
        <p:spPr>
          <a:xfrm rot="10800000">
            <a:off x="5886450" y="3048000"/>
            <a:ext cx="1295400" cy="0"/>
          </a:xfrm>
          <a:prstGeom prst="straightConnector1">
            <a:avLst/>
          </a:prstGeom>
          <a:noFill/>
          <a:ln cap="flat" cmpd="sng" w="50800">
            <a:solidFill>
              <a:schemeClr val="dk1"/>
            </a:solidFill>
            <a:prstDash val="solid"/>
            <a:miter lim="800000"/>
            <a:headEnd len="med" w="med" type="none"/>
            <a:tailEnd len="med" w="med" type="none"/>
          </a:ln>
        </p:spPr>
      </p:cxnSp>
      <p:cxnSp>
        <p:nvCxnSpPr>
          <p:cNvPr id="917" name="Google Shape;917;p61"/>
          <p:cNvCxnSpPr/>
          <p:nvPr/>
        </p:nvCxnSpPr>
        <p:spPr>
          <a:xfrm rot="10800000">
            <a:off x="5886450" y="2667000"/>
            <a:ext cx="0" cy="381000"/>
          </a:xfrm>
          <a:prstGeom prst="straightConnector1">
            <a:avLst/>
          </a:prstGeom>
          <a:noFill/>
          <a:ln cap="flat" cmpd="sng" w="50800">
            <a:solidFill>
              <a:schemeClr val="dk1"/>
            </a:solidFill>
            <a:prstDash val="solid"/>
            <a:miter lim="800000"/>
            <a:headEnd len="med" w="med" type="none"/>
            <a:tailEnd len="med" w="med" type="none"/>
          </a:ln>
        </p:spPr>
      </p:cxnSp>
      <p:cxnSp>
        <p:nvCxnSpPr>
          <p:cNvPr id="918" name="Google Shape;918;p61"/>
          <p:cNvCxnSpPr/>
          <p:nvPr/>
        </p:nvCxnSpPr>
        <p:spPr>
          <a:xfrm>
            <a:off x="5886450" y="2667000"/>
            <a:ext cx="1295400" cy="0"/>
          </a:xfrm>
          <a:prstGeom prst="straightConnector1">
            <a:avLst/>
          </a:prstGeom>
          <a:noFill/>
          <a:ln cap="flat" cmpd="sng" w="50800">
            <a:solidFill>
              <a:schemeClr val="dk1"/>
            </a:solidFill>
            <a:prstDash val="solid"/>
            <a:miter lim="800000"/>
            <a:headEnd len="med" w="med" type="none"/>
            <a:tailEnd len="med" w="med" type="none"/>
          </a:ln>
        </p:spPr>
      </p:cxnSp>
      <p:cxnSp>
        <p:nvCxnSpPr>
          <p:cNvPr id="919" name="Google Shape;919;p61"/>
          <p:cNvCxnSpPr/>
          <p:nvPr/>
        </p:nvCxnSpPr>
        <p:spPr>
          <a:xfrm rot="10800000">
            <a:off x="7181850" y="1981200"/>
            <a:ext cx="0" cy="685800"/>
          </a:xfrm>
          <a:prstGeom prst="straightConnector1">
            <a:avLst/>
          </a:prstGeom>
          <a:noFill/>
          <a:ln cap="flat" cmpd="sng" w="50800">
            <a:solidFill>
              <a:schemeClr val="dk1"/>
            </a:solidFill>
            <a:prstDash val="solid"/>
            <a:miter lim="800000"/>
            <a:headEnd len="med" w="med" type="none"/>
            <a:tailEnd len="med" w="med" type="none"/>
          </a:ln>
        </p:spPr>
      </p:cxnSp>
      <p:sp>
        <p:nvSpPr>
          <p:cNvPr id="920" name="Google Shape;920;p61"/>
          <p:cNvSpPr txBox="1"/>
          <p:nvPr/>
        </p:nvSpPr>
        <p:spPr>
          <a:xfrm>
            <a:off x="6724650" y="1873250"/>
            <a:ext cx="354012"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imes"/>
              <a:buNone/>
            </a:pPr>
            <a:r>
              <a:rPr b="0" i="0" lang="en-US" sz="2000" u="none">
                <a:solidFill>
                  <a:schemeClr val="dk1"/>
                </a:solidFill>
                <a:latin typeface="Times"/>
                <a:ea typeface="Times"/>
                <a:cs typeface="Times"/>
                <a:sym typeface="Times"/>
              </a:rPr>
              <a:t>P</a:t>
            </a:r>
            <a:endParaRPr/>
          </a:p>
        </p:txBody>
      </p:sp>
      <p:sp>
        <p:nvSpPr>
          <p:cNvPr id="921" name="Google Shape;921;p61"/>
          <p:cNvSpPr txBox="1"/>
          <p:nvPr/>
        </p:nvSpPr>
        <p:spPr>
          <a:xfrm>
            <a:off x="5429250" y="3048000"/>
            <a:ext cx="3810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imes"/>
              <a:buNone/>
            </a:pPr>
            <a:r>
              <a:rPr b="0" i="0" lang="en-US" sz="2000" u="none">
                <a:solidFill>
                  <a:schemeClr val="dk1"/>
                </a:solidFill>
                <a:latin typeface="Times"/>
                <a:ea typeface="Times"/>
                <a:cs typeface="Times"/>
                <a:sym typeface="Times"/>
              </a:rPr>
              <a:t>Q</a:t>
            </a:r>
            <a:endParaRPr/>
          </a:p>
        </p:txBody>
      </p:sp>
      <p:sp>
        <p:nvSpPr>
          <p:cNvPr id="922" name="Google Shape;922;p61"/>
          <p:cNvSpPr txBox="1"/>
          <p:nvPr/>
        </p:nvSpPr>
        <p:spPr>
          <a:xfrm>
            <a:off x="5200650" y="3581400"/>
            <a:ext cx="3683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imes"/>
              <a:buNone/>
            </a:pPr>
            <a:r>
              <a:rPr b="0" i="0" lang="en-US" sz="2000" u="none">
                <a:solidFill>
                  <a:schemeClr val="dk1"/>
                </a:solidFill>
                <a:latin typeface="Times"/>
                <a:ea typeface="Times"/>
                <a:cs typeface="Times"/>
                <a:sym typeface="Times"/>
              </a:rPr>
              <a:t>R</a:t>
            </a:r>
            <a:endParaRPr/>
          </a:p>
        </p:txBody>
      </p:sp>
      <p:sp>
        <p:nvSpPr>
          <p:cNvPr id="923" name="Google Shape;923;p61"/>
          <p:cNvSpPr txBox="1"/>
          <p:nvPr/>
        </p:nvSpPr>
        <p:spPr>
          <a:xfrm>
            <a:off x="5761037" y="3581400"/>
            <a:ext cx="354012"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imes"/>
              <a:buNone/>
            </a:pPr>
            <a:r>
              <a:rPr b="0" i="0" lang="en-US" sz="2000" u="none">
                <a:solidFill>
                  <a:schemeClr val="dk1"/>
                </a:solidFill>
                <a:latin typeface="Times"/>
                <a:ea typeface="Times"/>
                <a:cs typeface="Times"/>
                <a:sym typeface="Times"/>
              </a:rPr>
              <a:t>S</a:t>
            </a:r>
            <a:endParaRPr/>
          </a:p>
        </p:txBody>
      </p:sp>
      <p:cxnSp>
        <p:nvCxnSpPr>
          <p:cNvPr id="924" name="Google Shape;924;p61"/>
          <p:cNvCxnSpPr/>
          <p:nvPr/>
        </p:nvCxnSpPr>
        <p:spPr>
          <a:xfrm rot="10800000">
            <a:off x="5657850" y="3581400"/>
            <a:ext cx="0" cy="533400"/>
          </a:xfrm>
          <a:prstGeom prst="straightConnector1">
            <a:avLst/>
          </a:prstGeom>
          <a:noFill/>
          <a:ln cap="flat" cmpd="sng" w="50800">
            <a:solidFill>
              <a:schemeClr val="dk1"/>
            </a:solidFill>
            <a:prstDash val="solid"/>
            <a:miter lim="800000"/>
            <a:headEnd len="med" w="med" type="none"/>
            <a:tailEnd len="med" w="med" type="none"/>
          </a:ln>
        </p:spPr>
      </p:cxnSp>
      <p:cxnSp>
        <p:nvCxnSpPr>
          <p:cNvPr id="925" name="Google Shape;925;p61"/>
          <p:cNvCxnSpPr/>
          <p:nvPr/>
        </p:nvCxnSpPr>
        <p:spPr>
          <a:xfrm>
            <a:off x="4591050" y="3581400"/>
            <a:ext cx="1981200" cy="0"/>
          </a:xfrm>
          <a:prstGeom prst="straightConnector1">
            <a:avLst/>
          </a:prstGeom>
          <a:noFill/>
          <a:ln cap="flat" cmpd="sng" w="50800">
            <a:solidFill>
              <a:schemeClr val="dk1"/>
            </a:solidFill>
            <a:prstDash val="solid"/>
            <a:miter lim="800000"/>
            <a:headEnd len="med" w="med" type="none"/>
            <a:tailEnd len="med" w="med" type="none"/>
          </a:ln>
        </p:spPr>
      </p:cxnSp>
      <p:cxnSp>
        <p:nvCxnSpPr>
          <p:cNvPr id="926" name="Google Shape;926;p61"/>
          <p:cNvCxnSpPr/>
          <p:nvPr/>
        </p:nvCxnSpPr>
        <p:spPr>
          <a:xfrm rot="10800000">
            <a:off x="4286250" y="3184525"/>
            <a:ext cx="1143000" cy="0"/>
          </a:xfrm>
          <a:prstGeom prst="straightConnector1">
            <a:avLst/>
          </a:prstGeom>
          <a:noFill/>
          <a:ln cap="flat" cmpd="sng" w="9525">
            <a:solidFill>
              <a:schemeClr val="dk1"/>
            </a:solidFill>
            <a:prstDash val="solid"/>
            <a:miter lim="800000"/>
            <a:headEnd len="med" w="med" type="none"/>
            <a:tailEnd len="med" w="med" type="triangle"/>
          </a:ln>
        </p:spPr>
      </p:cxnSp>
      <p:cxnSp>
        <p:nvCxnSpPr>
          <p:cNvPr id="927" name="Google Shape;927;p61"/>
          <p:cNvCxnSpPr/>
          <p:nvPr/>
        </p:nvCxnSpPr>
        <p:spPr>
          <a:xfrm>
            <a:off x="4286250" y="3184525"/>
            <a:ext cx="0" cy="609600"/>
          </a:xfrm>
          <a:prstGeom prst="straightConnector1">
            <a:avLst/>
          </a:prstGeom>
          <a:noFill/>
          <a:ln cap="flat" cmpd="sng" w="9525">
            <a:solidFill>
              <a:schemeClr val="dk1"/>
            </a:solidFill>
            <a:prstDash val="solid"/>
            <a:miter lim="800000"/>
            <a:headEnd len="med" w="med" type="none"/>
            <a:tailEnd len="med" w="med" type="triangle"/>
          </a:ln>
        </p:spPr>
      </p:cxnSp>
      <p:cxnSp>
        <p:nvCxnSpPr>
          <p:cNvPr id="928" name="Google Shape;928;p61"/>
          <p:cNvCxnSpPr/>
          <p:nvPr/>
        </p:nvCxnSpPr>
        <p:spPr>
          <a:xfrm>
            <a:off x="4286250" y="3794125"/>
            <a:ext cx="609600" cy="0"/>
          </a:xfrm>
          <a:prstGeom prst="straightConnector1">
            <a:avLst/>
          </a:prstGeom>
          <a:noFill/>
          <a:ln cap="flat" cmpd="sng" w="9525">
            <a:solidFill>
              <a:schemeClr val="dk1"/>
            </a:solidFill>
            <a:prstDash val="solid"/>
            <a:miter lim="800000"/>
            <a:headEnd len="med" w="med" type="none"/>
            <a:tailEnd len="med" w="med" type="triangle"/>
          </a:ln>
        </p:spPr>
      </p:cxnSp>
      <p:cxnSp>
        <p:nvCxnSpPr>
          <p:cNvPr id="929" name="Google Shape;929;p61"/>
          <p:cNvCxnSpPr/>
          <p:nvPr/>
        </p:nvCxnSpPr>
        <p:spPr>
          <a:xfrm>
            <a:off x="5353050" y="3794125"/>
            <a:ext cx="1524000" cy="0"/>
          </a:xfrm>
          <a:prstGeom prst="straightConnector1">
            <a:avLst/>
          </a:prstGeom>
          <a:noFill/>
          <a:ln cap="flat" cmpd="sng" w="9525">
            <a:solidFill>
              <a:schemeClr val="dk1"/>
            </a:solidFill>
            <a:prstDash val="solid"/>
            <a:miter lim="800000"/>
            <a:headEnd len="med" w="med" type="none"/>
            <a:tailEnd len="med" w="med" type="triangle"/>
          </a:ln>
        </p:spPr>
      </p:cxnSp>
      <p:cxnSp>
        <p:nvCxnSpPr>
          <p:cNvPr id="930" name="Google Shape;930;p61"/>
          <p:cNvCxnSpPr/>
          <p:nvPr/>
        </p:nvCxnSpPr>
        <p:spPr>
          <a:xfrm rot="10800000">
            <a:off x="6877050" y="3260725"/>
            <a:ext cx="0" cy="533400"/>
          </a:xfrm>
          <a:prstGeom prst="straightConnector1">
            <a:avLst/>
          </a:prstGeom>
          <a:noFill/>
          <a:ln cap="flat" cmpd="sng" w="9525">
            <a:solidFill>
              <a:schemeClr val="dk1"/>
            </a:solidFill>
            <a:prstDash val="solid"/>
            <a:miter lim="800000"/>
            <a:headEnd len="med" w="med" type="none"/>
            <a:tailEnd len="med" w="med" type="triangle"/>
          </a:ln>
        </p:spPr>
      </p:cxnSp>
      <p:cxnSp>
        <p:nvCxnSpPr>
          <p:cNvPr id="931" name="Google Shape;931;p61"/>
          <p:cNvCxnSpPr/>
          <p:nvPr/>
        </p:nvCxnSpPr>
        <p:spPr>
          <a:xfrm rot="10800000">
            <a:off x="6191250" y="3260725"/>
            <a:ext cx="685800" cy="0"/>
          </a:xfrm>
          <a:prstGeom prst="straightConnector1">
            <a:avLst/>
          </a:prstGeom>
          <a:noFill/>
          <a:ln cap="flat" cmpd="sng" w="9525">
            <a:solidFill>
              <a:schemeClr val="dk1"/>
            </a:solidFill>
            <a:prstDash val="solid"/>
            <a:miter lim="800000"/>
            <a:headEnd len="med" w="med" type="none"/>
            <a:tailEnd len="med" w="med" type="triangle"/>
          </a:ln>
        </p:spPr>
      </p:cxnSp>
      <p:cxnSp>
        <p:nvCxnSpPr>
          <p:cNvPr id="932" name="Google Shape;932;p61"/>
          <p:cNvCxnSpPr/>
          <p:nvPr/>
        </p:nvCxnSpPr>
        <p:spPr>
          <a:xfrm>
            <a:off x="6877050" y="1889125"/>
            <a:ext cx="0" cy="533400"/>
          </a:xfrm>
          <a:prstGeom prst="straightConnector1">
            <a:avLst/>
          </a:prstGeom>
          <a:noFill/>
          <a:ln cap="flat" cmpd="sng" w="9525">
            <a:solidFill>
              <a:schemeClr val="dk1"/>
            </a:solidFill>
            <a:prstDash val="solid"/>
            <a:miter lim="800000"/>
            <a:headEnd len="med" w="med" type="none"/>
            <a:tailEnd len="med" w="med" type="triangle"/>
          </a:ln>
        </p:spPr>
      </p:cxnSp>
      <p:cxnSp>
        <p:nvCxnSpPr>
          <p:cNvPr id="933" name="Google Shape;933;p61"/>
          <p:cNvCxnSpPr/>
          <p:nvPr/>
        </p:nvCxnSpPr>
        <p:spPr>
          <a:xfrm rot="10800000">
            <a:off x="5657850" y="2422525"/>
            <a:ext cx="1219200" cy="0"/>
          </a:xfrm>
          <a:prstGeom prst="straightConnector1">
            <a:avLst/>
          </a:prstGeom>
          <a:noFill/>
          <a:ln cap="flat" cmpd="sng" w="9525">
            <a:solidFill>
              <a:schemeClr val="dk1"/>
            </a:solidFill>
            <a:prstDash val="solid"/>
            <a:miter lim="800000"/>
            <a:headEnd len="med" w="med" type="none"/>
            <a:tailEnd len="med" w="med" type="triangle"/>
          </a:ln>
        </p:spPr>
      </p:cxnSp>
      <p:cxnSp>
        <p:nvCxnSpPr>
          <p:cNvPr id="934" name="Google Shape;934;p61"/>
          <p:cNvCxnSpPr/>
          <p:nvPr/>
        </p:nvCxnSpPr>
        <p:spPr>
          <a:xfrm>
            <a:off x="5657850" y="2422525"/>
            <a:ext cx="0" cy="228600"/>
          </a:xfrm>
          <a:prstGeom prst="straightConnector1">
            <a:avLst/>
          </a:prstGeom>
          <a:noFill/>
          <a:ln cap="flat" cmpd="sng" w="9525">
            <a:solidFill>
              <a:schemeClr val="dk1"/>
            </a:solidFill>
            <a:prstDash val="solid"/>
            <a:miter lim="800000"/>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6"/>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927"/>
                                        </p:tgtEl>
                                        <p:attrNameLst>
                                          <p:attrName>style.visibility</p:attrName>
                                        </p:attrNameLst>
                                      </p:cBhvr>
                                      <p:to>
                                        <p:strVal val="visible"/>
                                      </p:to>
                                    </p:set>
                                  </p:childTnLst>
                                </p:cTn>
                              </p:par>
                            </p:childTnLst>
                          </p:cTn>
                        </p:par>
                        <p:par>
                          <p:cTn fill="hold">
                            <p:stCondLst>
                              <p:cond delay="2"/>
                            </p:stCondLst>
                            <p:childTnLst>
                              <p:par>
                                <p:cTn fill="hold" nodeType="afterEffect" presetClass="entr" presetID="1" presetSubtype="0">
                                  <p:stCondLst>
                                    <p:cond delay="0"/>
                                  </p:stCondLst>
                                  <p:childTnLst>
                                    <p:set>
                                      <p:cBhvr>
                                        <p:cTn dur="1" fill="hold">
                                          <p:stCondLst>
                                            <p:cond delay="0"/>
                                          </p:stCondLst>
                                        </p:cTn>
                                        <p:tgtEl>
                                          <p:spTgt spid="928"/>
                                        </p:tgtEl>
                                        <p:attrNameLst>
                                          <p:attrName>style.visibility</p:attrName>
                                        </p:attrNameLst>
                                      </p:cBhvr>
                                      <p:to>
                                        <p:strVal val="visible"/>
                                      </p:to>
                                    </p:set>
                                  </p:childTnLst>
                                </p:cTn>
                              </p:par>
                            </p:childTnLst>
                          </p:cTn>
                        </p:par>
                        <p:par>
                          <p:cTn fill="hold">
                            <p:stCondLst>
                              <p:cond delay="3"/>
                            </p:stCondLst>
                            <p:childTnLst>
                              <p:par>
                                <p:cTn fill="hold" nodeType="afterEffect" presetClass="entr" presetID="1" presetSubtype="0">
                                  <p:stCondLst>
                                    <p:cond delay="0"/>
                                  </p:stCondLst>
                                  <p:childTnLst>
                                    <p:set>
                                      <p:cBhvr>
                                        <p:cTn dur="1" fill="hold">
                                          <p:stCondLst>
                                            <p:cond delay="0"/>
                                          </p:stCondLst>
                                        </p:cTn>
                                        <p:tgtEl>
                                          <p:spTgt spid="9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2"/>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933"/>
                                        </p:tgtEl>
                                        <p:attrNameLst>
                                          <p:attrName>style.visibility</p:attrName>
                                        </p:attrNameLst>
                                      </p:cBhvr>
                                      <p:to>
                                        <p:strVal val="visible"/>
                                      </p:to>
                                    </p:set>
                                  </p:childTnLst>
                                </p:cTn>
                              </p:par>
                            </p:childTnLst>
                          </p:cTn>
                        </p:par>
                        <p:par>
                          <p:cTn fill="hold">
                            <p:stCondLst>
                              <p:cond delay="2"/>
                            </p:stCondLst>
                            <p:childTnLst>
                              <p:par>
                                <p:cTn fill="hold" nodeType="afterEffect" presetClass="entr" presetID="1" presetSubtype="0">
                                  <p:stCondLst>
                                    <p:cond delay="0"/>
                                  </p:stCondLst>
                                  <p:childTnLst>
                                    <p:set>
                                      <p:cBhvr>
                                        <p:cTn dur="1" fill="hold">
                                          <p:stCondLst>
                                            <p:cond delay="0"/>
                                          </p:stCondLst>
                                        </p:cTn>
                                        <p:tgtEl>
                                          <p:spTgt spid="934"/>
                                        </p:tgtEl>
                                        <p:attrNameLst>
                                          <p:attrName>style.visibility</p:attrName>
                                        </p:attrNameLst>
                                      </p:cBhvr>
                                      <p:to>
                                        <p:strVal val="visible"/>
                                      </p:to>
                                    </p:set>
                                  </p:childTnLst>
                                </p:cTn>
                              </p:par>
                            </p:childTnLst>
                          </p:cTn>
                        </p:par>
                        <p:par>
                          <p:cTn fill="hold">
                            <p:stCondLst>
                              <p:cond delay="3"/>
                            </p:stCondLst>
                            <p:childTnLst>
                              <p:par>
                                <p:cTn fill="hold" nodeType="afterEffect" presetClass="entr" presetID="1" presetSubtype="0">
                                  <p:stCondLst>
                                    <p:cond delay="0"/>
                                  </p:stCondLst>
                                  <p:childTnLst>
                                    <p:set>
                                      <p:cBhvr>
                                        <p:cTn dur="1" fill="hold">
                                          <p:stCondLst>
                                            <p:cond delay="0"/>
                                          </p:stCondLst>
                                        </p:cTn>
                                        <p:tgtEl>
                                          <p:spTgt spid="9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
                                            <p:txEl>
                                              <p:pRg end="0" st="0"/>
                                            </p:txEl>
                                          </p:spTgt>
                                        </p:tgtEl>
                                        <p:attrNameLst>
                                          <p:attrName>style.visibility</p:attrName>
                                        </p:attrNameLst>
                                      </p:cBhvr>
                                      <p:to>
                                        <p:strVal val="visible"/>
                                      </p:to>
                                    </p:set>
                                    <p:animEffect filter="fade" transition="in">
                                      <p:cBhvr>
                                        <p:cTn dur="500"/>
                                        <p:tgtEl>
                                          <p:spTgt spid="8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6"/>
                                        </p:tgtEl>
                                        <p:attrNameLst>
                                          <p:attrName>style.visibility</p:attrName>
                                        </p:attrNameLst>
                                      </p:cBhvr>
                                      <p:to>
                                        <p:strVal val="visible"/>
                                      </p:to>
                                    </p:set>
                                    <p:animEffect filter="fade" transition="in">
                                      <p:cBhvr>
                                        <p:cTn dur="500"/>
                                        <p:tgtEl>
                                          <p:spTgt spid="906"/>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929"/>
                                        </p:tgtEl>
                                        <p:attrNameLst>
                                          <p:attrName>style.visibility</p:attrName>
                                        </p:attrNameLst>
                                      </p:cBhvr>
                                      <p:to>
                                        <p:strVal val="visible"/>
                                      </p:to>
                                    </p:set>
                                  </p:childTnLst>
                                </p:cTn>
                              </p:par>
                            </p:childTnLst>
                          </p:cTn>
                        </p:par>
                        <p:par>
                          <p:cTn fill="hold">
                            <p:stCondLst>
                              <p:cond delay="501"/>
                            </p:stCondLst>
                            <p:childTnLst>
                              <p:par>
                                <p:cTn fill="hold" nodeType="afterEffect" presetClass="entr" presetID="1" presetSubtype="0">
                                  <p:stCondLst>
                                    <p:cond delay="0"/>
                                  </p:stCondLst>
                                  <p:childTnLst>
                                    <p:set>
                                      <p:cBhvr>
                                        <p:cTn dur="1" fill="hold">
                                          <p:stCondLst>
                                            <p:cond delay="0"/>
                                          </p:stCondLst>
                                        </p:cTn>
                                        <p:tgtEl>
                                          <p:spTgt spid="930"/>
                                        </p:tgtEl>
                                        <p:attrNameLst>
                                          <p:attrName>style.visibility</p:attrName>
                                        </p:attrNameLst>
                                      </p:cBhvr>
                                      <p:to>
                                        <p:strVal val="visible"/>
                                      </p:to>
                                    </p:set>
                                  </p:childTnLst>
                                </p:cTn>
                              </p:par>
                            </p:childTnLst>
                          </p:cTn>
                        </p:par>
                        <p:par>
                          <p:cTn fill="hold">
                            <p:stCondLst>
                              <p:cond delay="502"/>
                            </p:stCondLst>
                            <p:childTnLst>
                              <p:par>
                                <p:cTn fill="hold" nodeType="afterEffect" presetClass="entr" presetID="1" presetSubtype="0">
                                  <p:stCondLst>
                                    <p:cond delay="0"/>
                                  </p:stCondLst>
                                  <p:childTnLst>
                                    <p:set>
                                      <p:cBhvr>
                                        <p:cTn dur="1" fill="hold">
                                          <p:stCondLst>
                                            <p:cond delay="0"/>
                                          </p:stCondLst>
                                        </p:cTn>
                                        <p:tgtEl>
                                          <p:spTgt spid="931"/>
                                        </p:tgtEl>
                                        <p:attrNameLst>
                                          <p:attrName>style.visibility</p:attrName>
                                        </p:attrNameLst>
                                      </p:cBhvr>
                                      <p:to>
                                        <p:strVal val="visible"/>
                                      </p:to>
                                    </p:set>
                                  </p:childTnLst>
                                </p:cTn>
                              </p:par>
                            </p:childTnLst>
                          </p:cTn>
                        </p:par>
                        <p:par>
                          <p:cTn fill="hold">
                            <p:stCondLst>
                              <p:cond delay="503"/>
                            </p:stCondLst>
                            <p:childTnLst>
                              <p:par>
                                <p:cTn fill="hold" nodeType="afterEffect" presetClass="entr" presetID="1" presetSubtype="0">
                                  <p:stCondLst>
                                    <p:cond delay="0"/>
                                  </p:stCondLst>
                                  <p:childTnLst>
                                    <p:set>
                                      <p:cBhvr>
                                        <p:cTn dur="1" fill="hold">
                                          <p:stCondLst>
                                            <p:cond delay="0"/>
                                          </p:stCondLst>
                                        </p:cTn>
                                        <p:tgtEl>
                                          <p:spTgt spid="901"/>
                                        </p:tgtEl>
                                        <p:attrNameLst>
                                          <p:attrName>style.visibility</p:attrName>
                                        </p:attrNameLst>
                                      </p:cBhvr>
                                      <p:to>
                                        <p:strVal val="visible"/>
                                      </p:to>
                                    </p:set>
                                  </p:childTnLst>
                                </p:cTn>
                              </p:par>
                            </p:childTnLst>
                          </p:cTn>
                        </p:par>
                        <p:par>
                          <p:cTn fill="hold">
                            <p:stCondLst>
                              <p:cond delay="504"/>
                            </p:stCondLst>
                            <p:childTnLst>
                              <p:par>
                                <p:cTn fill="hold" nodeType="afterEffect" presetClass="entr" presetID="10" presetSubtype="0">
                                  <p:stCondLst>
                                    <p:cond delay="0"/>
                                  </p:stCondLst>
                                  <p:childTnLst>
                                    <p:set>
                                      <p:cBhvr>
                                        <p:cTn dur="1" fill="hold">
                                          <p:stCondLst>
                                            <p:cond delay="0"/>
                                          </p:stCondLst>
                                        </p:cTn>
                                        <p:tgtEl>
                                          <p:spTgt spid="924"/>
                                        </p:tgtEl>
                                        <p:attrNameLst>
                                          <p:attrName>style.visibility</p:attrName>
                                        </p:attrNameLst>
                                      </p:cBhvr>
                                      <p:to>
                                        <p:strVal val="visible"/>
                                      </p:to>
                                    </p:set>
                                    <p:animEffect filter="fade" transition="in">
                                      <p:cBhvr>
                                        <p:cTn dur="1"/>
                                        <p:tgtEl>
                                          <p:spTgt spid="9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7"/>
                                        </p:tgtEl>
                                        <p:attrNameLst>
                                          <p:attrName>style.visibility</p:attrName>
                                        </p:attrNameLst>
                                      </p:cBhvr>
                                      <p:to>
                                        <p:strVal val="visible"/>
                                      </p:to>
                                    </p:set>
                                    <p:animEffect filter="fade" transition="in">
                                      <p:cBhvr>
                                        <p:cTn dur="500"/>
                                        <p:tgtEl>
                                          <p:spTgt spid="9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8"/>
                                        </p:tgtEl>
                                        <p:attrNameLst>
                                          <p:attrName>style.visibility</p:attrName>
                                        </p:attrNameLst>
                                      </p:cBhvr>
                                      <p:to>
                                        <p:strVal val="visible"/>
                                      </p:to>
                                    </p:set>
                                    <p:animEffect filter="fade" transition="in">
                                      <p:cBhvr>
                                        <p:cTn dur="500"/>
                                        <p:tgtEl>
                                          <p:spTgt spid="9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62"/>
          <p:cNvSpPr txBox="1"/>
          <p:nvPr>
            <p:ph type="title"/>
          </p:nvPr>
        </p:nvSpPr>
        <p:spPr>
          <a:xfrm>
            <a:off x="785812" y="563562"/>
            <a:ext cx="7143750" cy="79375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FIAT-SHAMIR PROTOCOL</a:t>
            </a:r>
            <a:endParaRPr/>
          </a:p>
        </p:txBody>
      </p:sp>
      <p:sp>
        <p:nvSpPr>
          <p:cNvPr id="940" name="Google Shape;940;p62"/>
          <p:cNvSpPr txBox="1"/>
          <p:nvPr>
            <p:ph idx="1" type="body"/>
          </p:nvPr>
        </p:nvSpPr>
        <p:spPr>
          <a:xfrm>
            <a:off x="785812" y="1714500"/>
            <a:ext cx="7672387" cy="4457700"/>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90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Cave-based protocols are inconvenient</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Can we achieve same effect without a cave?</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0" i="0" lang="en-US" sz="2800" u="none">
                <a:solidFill>
                  <a:srgbClr val="0000FF"/>
                </a:solidFill>
                <a:latin typeface="Gill Sans"/>
                <a:ea typeface="Gill Sans"/>
                <a:cs typeface="Gill Sans"/>
                <a:sym typeface="Gill Sans"/>
              </a:rPr>
              <a:t>It is known that </a:t>
            </a:r>
            <a:r>
              <a:rPr b="0" i="0" lang="en-US" sz="2800" u="none">
                <a:solidFill>
                  <a:srgbClr val="FF0000"/>
                </a:solidFill>
                <a:latin typeface="Gill Sans"/>
                <a:ea typeface="Gill Sans"/>
                <a:cs typeface="Gill Sans"/>
                <a:sym typeface="Gill Sans"/>
              </a:rPr>
              <a:t>finding square roots modulo </a:t>
            </a:r>
            <a:r>
              <a:rPr b="0" i="0" lang="en-US" sz="2800" u="none">
                <a:solidFill>
                  <a:srgbClr val="FF0000"/>
                </a:solidFill>
                <a:latin typeface="Times"/>
                <a:ea typeface="Times"/>
                <a:cs typeface="Times"/>
                <a:sym typeface="Times"/>
              </a:rPr>
              <a:t>N</a:t>
            </a:r>
            <a:r>
              <a:rPr b="0" i="0" lang="en-US" sz="2800" u="none">
                <a:solidFill>
                  <a:srgbClr val="FF0000"/>
                </a:solidFill>
                <a:latin typeface="Gill Sans"/>
                <a:ea typeface="Gill Sans"/>
                <a:cs typeface="Gill Sans"/>
                <a:sym typeface="Gill Sans"/>
              </a:rPr>
              <a:t> is difficult (like factoring)</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Suppose </a:t>
            </a:r>
            <a:r>
              <a:rPr b="0" i="0" lang="en-US" sz="2800" u="none">
                <a:solidFill>
                  <a:schemeClr val="dk2"/>
                </a:solidFill>
                <a:latin typeface="Times"/>
                <a:ea typeface="Times"/>
                <a:cs typeface="Times"/>
                <a:sym typeface="Times"/>
              </a:rPr>
              <a:t>N = pq</a:t>
            </a:r>
            <a:r>
              <a:rPr b="0" i="0" lang="en-US" sz="2800" u="none">
                <a:solidFill>
                  <a:schemeClr val="dk2"/>
                </a:solidFill>
                <a:latin typeface="Gill Sans"/>
                <a:ea typeface="Gill Sans"/>
                <a:cs typeface="Gill Sans"/>
                <a:sym typeface="Gill Sans"/>
              </a:rPr>
              <a:t>, where </a:t>
            </a:r>
            <a:r>
              <a:rPr b="0" i="0" lang="en-US" sz="2800" u="none">
                <a:solidFill>
                  <a:schemeClr val="dk2"/>
                </a:solidFill>
                <a:latin typeface="Times"/>
                <a:ea typeface="Times"/>
                <a:cs typeface="Times"/>
                <a:sym typeface="Times"/>
              </a:rPr>
              <a:t>p</a:t>
            </a:r>
            <a:r>
              <a:rPr b="0" i="0" lang="en-US" sz="2800" u="none">
                <a:solidFill>
                  <a:schemeClr val="dk2"/>
                </a:solidFill>
                <a:latin typeface="Gill Sans"/>
                <a:ea typeface="Gill Sans"/>
                <a:cs typeface="Gill Sans"/>
                <a:sym typeface="Gill Sans"/>
              </a:rPr>
              <a:t> and </a:t>
            </a:r>
            <a:r>
              <a:rPr b="0" i="0" lang="en-US" sz="2800" u="none">
                <a:solidFill>
                  <a:schemeClr val="dk2"/>
                </a:solidFill>
                <a:latin typeface="Times"/>
                <a:ea typeface="Times"/>
                <a:cs typeface="Times"/>
                <a:sym typeface="Times"/>
              </a:rPr>
              <a:t>q</a:t>
            </a:r>
            <a:r>
              <a:rPr b="0" i="0" lang="en-US" sz="2800" u="none">
                <a:solidFill>
                  <a:schemeClr val="dk2"/>
                </a:solidFill>
                <a:latin typeface="Gill Sans"/>
                <a:ea typeface="Gill Sans"/>
                <a:cs typeface="Gill Sans"/>
                <a:sym typeface="Gill Sans"/>
              </a:rPr>
              <a:t> prime</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Alice has a </a:t>
            </a:r>
            <a:r>
              <a:rPr b="1" i="0" lang="en-US" sz="2800" u="none">
                <a:solidFill>
                  <a:srgbClr val="FF0000"/>
                </a:solidFill>
                <a:latin typeface="Gill Sans"/>
                <a:ea typeface="Gill Sans"/>
                <a:cs typeface="Gill Sans"/>
                <a:sym typeface="Gill Sans"/>
              </a:rPr>
              <a:t>secret</a:t>
            </a:r>
            <a:r>
              <a:rPr b="0" i="0" lang="en-US" sz="2800" u="none">
                <a:solidFill>
                  <a:schemeClr val="dk2"/>
                </a:solidFill>
                <a:latin typeface="Gill Sans"/>
                <a:ea typeface="Gill Sans"/>
                <a:cs typeface="Gill Sans"/>
                <a:sym typeface="Gill Sans"/>
              </a:rPr>
              <a:t> </a:t>
            </a:r>
            <a:r>
              <a:rPr b="0" i="0" lang="en-US" sz="2800" u="none">
                <a:solidFill>
                  <a:srgbClr val="FF0000"/>
                </a:solidFill>
                <a:latin typeface="Times"/>
                <a:ea typeface="Times"/>
                <a:cs typeface="Times"/>
                <a:sym typeface="Times"/>
              </a:rPr>
              <a:t>S</a:t>
            </a:r>
            <a:endParaRPr b="0" i="0" sz="2800" u="none">
              <a:solidFill>
                <a:srgbClr val="FF0000"/>
              </a:solidFill>
              <a:latin typeface="Gill Sans"/>
              <a:ea typeface="Gill Sans"/>
              <a:cs typeface="Gill Sans"/>
              <a:sym typeface="Gill Sans"/>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rgbClr val="0000FF"/>
                </a:solidFill>
                <a:latin typeface="Times"/>
                <a:ea typeface="Times"/>
                <a:cs typeface="Times"/>
                <a:sym typeface="Times"/>
              </a:rPr>
              <a:t>N</a:t>
            </a:r>
            <a:r>
              <a:rPr b="0" i="0" lang="en-US" sz="2400" u="none" cap="none" strike="noStrike">
                <a:solidFill>
                  <a:srgbClr val="0000FF"/>
                </a:solidFill>
                <a:latin typeface="Gill Sans"/>
                <a:ea typeface="Gill Sans"/>
                <a:cs typeface="Gill Sans"/>
                <a:sym typeface="Gill Sans"/>
              </a:rPr>
              <a:t> and </a:t>
            </a:r>
            <a:r>
              <a:rPr b="0" i="0" lang="en-US" sz="2400" u="none" cap="none" strike="noStrike">
                <a:solidFill>
                  <a:srgbClr val="0000FF"/>
                </a:solidFill>
                <a:latin typeface="Times"/>
                <a:ea typeface="Times"/>
                <a:cs typeface="Times"/>
                <a:sym typeface="Times"/>
              </a:rPr>
              <a:t>v = </a:t>
            </a:r>
            <a:r>
              <a:rPr b="0" i="0" lang="en-US" sz="2400" u="none" cap="none" strike="noStrike">
                <a:solidFill>
                  <a:srgbClr val="FF0000"/>
                </a:solidFill>
                <a:latin typeface="Times"/>
                <a:ea typeface="Times"/>
                <a:cs typeface="Times"/>
                <a:sym typeface="Times"/>
              </a:rPr>
              <a:t>S</a:t>
            </a:r>
            <a:r>
              <a:rPr b="0" baseline="30000" i="0" lang="en-US" sz="2400" u="none" cap="none" strike="noStrike">
                <a:solidFill>
                  <a:srgbClr val="0000FF"/>
                </a:solidFill>
                <a:latin typeface="Times"/>
                <a:ea typeface="Times"/>
                <a:cs typeface="Times"/>
                <a:sym typeface="Times"/>
              </a:rPr>
              <a:t>2</a:t>
            </a:r>
            <a:r>
              <a:rPr b="0" i="0" lang="en-US" sz="2400" u="none" cap="none" strike="noStrike">
                <a:solidFill>
                  <a:srgbClr val="0000FF"/>
                </a:solidFill>
                <a:latin typeface="Times"/>
                <a:ea typeface="Times"/>
                <a:cs typeface="Times"/>
                <a:sym typeface="Times"/>
              </a:rPr>
              <a:t> mod N</a:t>
            </a:r>
            <a:r>
              <a:rPr b="0" i="0" lang="en-US" sz="2400" u="none" cap="none" strike="noStrike">
                <a:solidFill>
                  <a:srgbClr val="0000FF"/>
                </a:solidFill>
                <a:latin typeface="Gill Sans"/>
                <a:ea typeface="Gill Sans"/>
                <a:cs typeface="Gill Sans"/>
                <a:sym typeface="Gill Sans"/>
              </a:rPr>
              <a:t> are public, </a:t>
            </a:r>
            <a:r>
              <a:rPr b="0" i="0" lang="en-US" sz="2400" u="none" cap="none" strike="noStrike">
                <a:solidFill>
                  <a:srgbClr val="FF0000"/>
                </a:solidFill>
                <a:latin typeface="Times"/>
                <a:ea typeface="Times"/>
                <a:cs typeface="Times"/>
                <a:sym typeface="Times"/>
              </a:rPr>
              <a:t>S</a:t>
            </a:r>
            <a:r>
              <a:rPr b="0" i="0" lang="en-US" sz="2400" u="none" cap="none" strike="noStrike">
                <a:solidFill>
                  <a:srgbClr val="0000FF"/>
                </a:solidFill>
                <a:latin typeface="Gill Sans"/>
                <a:ea typeface="Gill Sans"/>
                <a:cs typeface="Gill Sans"/>
                <a:sym typeface="Gill Sans"/>
              </a:rPr>
              <a:t> is secret</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Alice must convince Bob that she knows </a:t>
            </a:r>
            <a:r>
              <a:rPr b="0" i="0" lang="en-US" sz="2800" u="none">
                <a:solidFill>
                  <a:srgbClr val="FF0000"/>
                </a:solidFill>
                <a:latin typeface="Times"/>
                <a:ea typeface="Times"/>
                <a:cs typeface="Times"/>
                <a:sym typeface="Times"/>
              </a:rPr>
              <a:t>S</a:t>
            </a:r>
            <a:r>
              <a:rPr b="0" i="0" lang="en-US" sz="2800" u="none">
                <a:solidFill>
                  <a:schemeClr val="dk2"/>
                </a:solidFill>
                <a:latin typeface="Gill Sans"/>
                <a:ea typeface="Gill Sans"/>
                <a:cs typeface="Gill Sans"/>
                <a:sym typeface="Gill Sans"/>
              </a:rPr>
              <a:t> without revealing any information about </a:t>
            </a:r>
            <a:r>
              <a:rPr b="0" i="0" lang="en-US" sz="2800" u="none">
                <a:solidFill>
                  <a:srgbClr val="FF0000"/>
                </a:solidFill>
                <a:latin typeface="Times"/>
                <a:ea typeface="Times"/>
                <a:cs typeface="Times"/>
                <a:sym typeface="Times"/>
              </a:rPr>
              <a:t>S</a:t>
            </a:r>
            <a:endParaRPr/>
          </a:p>
        </p:txBody>
      </p:sp>
      <p:sp>
        <p:nvSpPr>
          <p:cNvPr id="941" name="Google Shape;941;p62"/>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942" name="Google Shape;942;p62"/>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
                                            <p:txEl>
                                              <p:pRg end="0" st="0"/>
                                            </p:txEl>
                                          </p:spTgt>
                                        </p:tgtEl>
                                        <p:attrNameLst>
                                          <p:attrName>style.visibility</p:attrName>
                                        </p:attrNameLst>
                                      </p:cBhvr>
                                      <p:to>
                                        <p:strVal val="visible"/>
                                      </p:to>
                                    </p:set>
                                    <p:animEffect filter="fade" transition="in">
                                      <p:cBhvr>
                                        <p:cTn dur="500"/>
                                        <p:tgtEl>
                                          <p:spTgt spid="94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
                                            <p:txEl>
                                              <p:pRg end="1" st="1"/>
                                            </p:txEl>
                                          </p:spTgt>
                                        </p:tgtEl>
                                        <p:attrNameLst>
                                          <p:attrName>style.visibility</p:attrName>
                                        </p:attrNameLst>
                                      </p:cBhvr>
                                      <p:to>
                                        <p:strVal val="visible"/>
                                      </p:to>
                                    </p:set>
                                    <p:animEffect filter="fade" transition="in">
                                      <p:cBhvr>
                                        <p:cTn dur="500"/>
                                        <p:tgtEl>
                                          <p:spTgt spid="94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
                                            <p:txEl>
                                              <p:pRg end="2" st="2"/>
                                            </p:txEl>
                                          </p:spTgt>
                                        </p:tgtEl>
                                        <p:attrNameLst>
                                          <p:attrName>style.visibility</p:attrName>
                                        </p:attrNameLst>
                                      </p:cBhvr>
                                      <p:to>
                                        <p:strVal val="visible"/>
                                      </p:to>
                                    </p:set>
                                    <p:animEffect filter="fade" transition="in">
                                      <p:cBhvr>
                                        <p:cTn dur="500"/>
                                        <p:tgtEl>
                                          <p:spTgt spid="94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
                                            <p:txEl>
                                              <p:pRg end="3" st="3"/>
                                            </p:txEl>
                                          </p:spTgt>
                                        </p:tgtEl>
                                        <p:attrNameLst>
                                          <p:attrName>style.visibility</p:attrName>
                                        </p:attrNameLst>
                                      </p:cBhvr>
                                      <p:to>
                                        <p:strVal val="visible"/>
                                      </p:to>
                                    </p:set>
                                    <p:animEffect filter="fade" transition="in">
                                      <p:cBhvr>
                                        <p:cTn dur="500"/>
                                        <p:tgtEl>
                                          <p:spTgt spid="94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
                                            <p:txEl>
                                              <p:pRg end="4" st="4"/>
                                            </p:txEl>
                                          </p:spTgt>
                                        </p:tgtEl>
                                        <p:attrNameLst>
                                          <p:attrName>style.visibility</p:attrName>
                                        </p:attrNameLst>
                                      </p:cBhvr>
                                      <p:to>
                                        <p:strVal val="visible"/>
                                      </p:to>
                                    </p:set>
                                    <p:animEffect filter="fade" transition="in">
                                      <p:cBhvr>
                                        <p:cTn dur="500"/>
                                        <p:tgtEl>
                                          <p:spTgt spid="94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
                                            <p:txEl>
                                              <p:pRg end="5" st="5"/>
                                            </p:txEl>
                                          </p:spTgt>
                                        </p:tgtEl>
                                        <p:attrNameLst>
                                          <p:attrName>style.visibility</p:attrName>
                                        </p:attrNameLst>
                                      </p:cBhvr>
                                      <p:to>
                                        <p:strVal val="visible"/>
                                      </p:to>
                                    </p:set>
                                    <p:animEffect filter="fade" transition="in">
                                      <p:cBhvr>
                                        <p:cTn dur="500"/>
                                        <p:tgtEl>
                                          <p:spTgt spid="94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
                                            <p:txEl>
                                              <p:pRg end="6" st="6"/>
                                            </p:txEl>
                                          </p:spTgt>
                                        </p:tgtEl>
                                        <p:attrNameLst>
                                          <p:attrName>style.visibility</p:attrName>
                                        </p:attrNameLst>
                                      </p:cBhvr>
                                      <p:to>
                                        <p:strVal val="visible"/>
                                      </p:to>
                                    </p:set>
                                    <p:animEffect filter="fade" transition="in">
                                      <p:cBhvr>
                                        <p:cTn dur="500"/>
                                        <p:tgtEl>
                                          <p:spTgt spid="940">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63"/>
          <p:cNvSpPr txBox="1"/>
          <p:nvPr>
            <p:ph type="title"/>
          </p:nvPr>
        </p:nvSpPr>
        <p:spPr>
          <a:xfrm>
            <a:off x="785812" y="563562"/>
            <a:ext cx="7143750" cy="79375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FIAT-SHAMIR PROTOCOL</a:t>
            </a:r>
            <a:endParaRPr/>
          </a:p>
        </p:txBody>
      </p:sp>
      <p:sp>
        <p:nvSpPr>
          <p:cNvPr id="948" name="Google Shape;948;p63"/>
          <p:cNvSpPr txBox="1"/>
          <p:nvPr>
            <p:ph idx="1" type="body"/>
          </p:nvPr>
        </p:nvSpPr>
        <p:spPr>
          <a:xfrm>
            <a:off x="785812" y="1714500"/>
            <a:ext cx="7672387" cy="4457700"/>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90000"/>
              </a:lnSpc>
              <a:spcBef>
                <a:spcPts val="0"/>
              </a:spcBef>
              <a:spcAft>
                <a:spcPts val="0"/>
              </a:spcAft>
              <a:buClr>
                <a:schemeClr val="accent2"/>
              </a:buClr>
              <a:buSzPts val="2576"/>
              <a:buFont typeface="Noto Sans Symbols"/>
              <a:buChar char="◼"/>
            </a:pPr>
            <a:r>
              <a:rPr b="0" i="0" lang="en-US" sz="2800" u="none">
                <a:solidFill>
                  <a:srgbClr val="0000FF"/>
                </a:solidFill>
                <a:latin typeface="Times"/>
                <a:ea typeface="Times"/>
                <a:cs typeface="Times"/>
                <a:sym typeface="Times"/>
              </a:rPr>
              <a:t>N</a:t>
            </a:r>
            <a:r>
              <a:rPr b="0" i="0" lang="en-US" sz="2800" u="none">
                <a:solidFill>
                  <a:srgbClr val="0000FF"/>
                </a:solidFill>
                <a:latin typeface="Gill Sans"/>
                <a:ea typeface="Gill Sans"/>
                <a:cs typeface="Gill Sans"/>
                <a:sym typeface="Gill Sans"/>
              </a:rPr>
              <a:t> and </a:t>
            </a:r>
            <a:r>
              <a:rPr b="0" i="0" lang="en-US" sz="2800" u="none">
                <a:solidFill>
                  <a:srgbClr val="0000FF"/>
                </a:solidFill>
                <a:latin typeface="Times"/>
                <a:ea typeface="Times"/>
                <a:cs typeface="Times"/>
                <a:sym typeface="Times"/>
              </a:rPr>
              <a:t>v = </a:t>
            </a:r>
            <a:r>
              <a:rPr b="0" i="0" lang="en-US" sz="2800" u="none">
                <a:solidFill>
                  <a:srgbClr val="FF0000"/>
                </a:solidFill>
                <a:latin typeface="Times"/>
                <a:ea typeface="Times"/>
                <a:cs typeface="Times"/>
                <a:sym typeface="Times"/>
              </a:rPr>
              <a:t>S</a:t>
            </a:r>
            <a:r>
              <a:rPr b="0" baseline="30000" i="0" lang="en-US" sz="2800" u="none">
                <a:solidFill>
                  <a:srgbClr val="0000FF"/>
                </a:solidFill>
                <a:latin typeface="Times"/>
                <a:ea typeface="Times"/>
                <a:cs typeface="Times"/>
                <a:sym typeface="Times"/>
              </a:rPr>
              <a:t>2</a:t>
            </a:r>
            <a:r>
              <a:rPr b="0" i="0" lang="en-US" sz="2800" u="none">
                <a:solidFill>
                  <a:srgbClr val="0000FF"/>
                </a:solidFill>
                <a:latin typeface="Times"/>
                <a:ea typeface="Times"/>
                <a:cs typeface="Times"/>
                <a:sym typeface="Times"/>
              </a:rPr>
              <a:t> mod N</a:t>
            </a:r>
            <a:r>
              <a:rPr b="0" i="0" lang="en-US" sz="2800" u="none">
                <a:solidFill>
                  <a:srgbClr val="0000FF"/>
                </a:solidFill>
                <a:latin typeface="Gill Sans"/>
                <a:ea typeface="Gill Sans"/>
                <a:cs typeface="Gill Sans"/>
                <a:sym typeface="Gill Sans"/>
              </a:rPr>
              <a:t> are public, </a:t>
            </a:r>
            <a:r>
              <a:rPr b="0" i="0" lang="en-US" sz="2800" u="none">
                <a:solidFill>
                  <a:srgbClr val="FF0000"/>
                </a:solidFill>
                <a:latin typeface="Times"/>
                <a:ea typeface="Times"/>
                <a:cs typeface="Times"/>
                <a:sym typeface="Times"/>
              </a:rPr>
              <a:t>S</a:t>
            </a:r>
            <a:r>
              <a:rPr b="0" i="0" lang="en-US" sz="2800" u="none">
                <a:solidFill>
                  <a:srgbClr val="0000FF"/>
                </a:solidFill>
                <a:latin typeface="Gill Sans"/>
                <a:ea typeface="Gill Sans"/>
                <a:cs typeface="Gill Sans"/>
                <a:sym typeface="Gill Sans"/>
              </a:rPr>
              <a:t> is secret</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0" i="0" lang="en-US" sz="2800" u="none">
                <a:solidFill>
                  <a:srgbClr val="0000FF"/>
                </a:solidFill>
                <a:latin typeface="Gill Sans"/>
                <a:ea typeface="Gill Sans"/>
                <a:cs typeface="Gill Sans"/>
                <a:sym typeface="Gill Sans"/>
              </a:rPr>
              <a:t>Example</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rgbClr val="0000FF"/>
                </a:solidFill>
                <a:latin typeface="Gill Sans"/>
                <a:ea typeface="Gill Sans"/>
                <a:cs typeface="Gill Sans"/>
                <a:sym typeface="Gill Sans"/>
              </a:rPr>
              <a:t>P = 7, q = 5,  N = 35</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rgbClr val="0000FF"/>
                </a:solidFill>
                <a:latin typeface="Gill Sans"/>
                <a:ea typeface="Gill Sans"/>
                <a:cs typeface="Gill Sans"/>
                <a:sym typeface="Gill Sans"/>
              </a:rPr>
              <a:t>S=10,  S</a:t>
            </a:r>
            <a:r>
              <a:rPr b="0" baseline="30000" i="0" lang="en-US" sz="2400" u="none" cap="none" strike="noStrike">
                <a:solidFill>
                  <a:srgbClr val="0000FF"/>
                </a:solidFill>
                <a:latin typeface="Gill Sans"/>
                <a:ea typeface="Gill Sans"/>
                <a:cs typeface="Gill Sans"/>
                <a:sym typeface="Gill Sans"/>
              </a:rPr>
              <a:t>2</a:t>
            </a:r>
            <a:r>
              <a:rPr b="0" i="0" lang="en-US" sz="2400" u="none" cap="none" strike="noStrike">
                <a:solidFill>
                  <a:srgbClr val="0000FF"/>
                </a:solidFill>
                <a:latin typeface="Gill Sans"/>
                <a:ea typeface="Gill Sans"/>
                <a:cs typeface="Gill Sans"/>
                <a:sym typeface="Gill Sans"/>
              </a:rPr>
              <a:t> =100</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rgbClr val="0000FF"/>
                </a:solidFill>
                <a:latin typeface="Gill Sans"/>
                <a:ea typeface="Gill Sans"/>
                <a:cs typeface="Gill Sans"/>
                <a:sym typeface="Gill Sans"/>
              </a:rPr>
              <a:t>100 mod 35 = 30 mod 35</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rgbClr val="0000FF"/>
                </a:solidFill>
                <a:latin typeface="Gill Sans"/>
                <a:ea typeface="Gill Sans"/>
                <a:cs typeface="Gill Sans"/>
                <a:sym typeface="Gill Sans"/>
              </a:rPr>
              <a:t>35 and 30: public,    10: secret</a:t>
            </a:r>
            <a:endParaRPr/>
          </a:p>
          <a:p>
            <a:pPr indent="-164592" lvl="0" marL="304800" marR="0" rtl="0" algn="l">
              <a:spcBef>
                <a:spcPts val="1080"/>
              </a:spcBef>
              <a:spcAft>
                <a:spcPts val="0"/>
              </a:spcAft>
              <a:buClr>
                <a:schemeClr val="accent2"/>
              </a:buClr>
              <a:buSzPts val="2208"/>
              <a:buFont typeface="Noto Sans Symbols"/>
              <a:buNone/>
            </a:pPr>
            <a:r>
              <a:t/>
            </a:r>
            <a:endParaRPr b="0" i="0" sz="2400" u="none" cap="none" strike="noStrike">
              <a:solidFill>
                <a:srgbClr val="0000FF"/>
              </a:solidFill>
              <a:latin typeface="Gill Sans"/>
              <a:ea typeface="Gill Sans"/>
              <a:cs typeface="Gill Sans"/>
              <a:sym typeface="Gill Sans"/>
            </a:endParaRPr>
          </a:p>
        </p:txBody>
      </p:sp>
      <p:sp>
        <p:nvSpPr>
          <p:cNvPr id="949" name="Google Shape;949;p63"/>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950" name="Google Shape;950;p63"/>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pic>
        <p:nvPicPr>
          <p:cNvPr id="951" name="Google Shape;951;p63"/>
          <p:cNvPicPr preferRelativeResize="0"/>
          <p:nvPr/>
        </p:nvPicPr>
        <p:blipFill rotWithShape="1">
          <a:blip r:embed="rId3">
            <a:alphaModFix/>
          </a:blip>
          <a:srcRect b="0" l="0" r="0" t="0"/>
          <a:stretch/>
        </p:blipFill>
        <p:spPr>
          <a:xfrm>
            <a:off x="2874962" y="5508625"/>
            <a:ext cx="3394075" cy="6429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8">
                                            <p:txEl>
                                              <p:pRg end="0" st="0"/>
                                            </p:txEl>
                                          </p:spTgt>
                                        </p:tgtEl>
                                        <p:attrNameLst>
                                          <p:attrName>style.visibility</p:attrName>
                                        </p:attrNameLst>
                                      </p:cBhvr>
                                      <p:to>
                                        <p:strVal val="visible"/>
                                      </p:to>
                                    </p:set>
                                    <p:animEffect filter="fade" transition="in">
                                      <p:cBhvr>
                                        <p:cTn dur="500"/>
                                        <p:tgtEl>
                                          <p:spTgt spid="94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8">
                                            <p:txEl>
                                              <p:pRg end="1" st="1"/>
                                            </p:txEl>
                                          </p:spTgt>
                                        </p:tgtEl>
                                        <p:attrNameLst>
                                          <p:attrName>style.visibility</p:attrName>
                                        </p:attrNameLst>
                                      </p:cBhvr>
                                      <p:to>
                                        <p:strVal val="visible"/>
                                      </p:to>
                                    </p:set>
                                    <p:animEffect filter="fade" transition="in">
                                      <p:cBhvr>
                                        <p:cTn dur="500"/>
                                        <p:tgtEl>
                                          <p:spTgt spid="94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8">
                                            <p:txEl>
                                              <p:pRg end="2" st="2"/>
                                            </p:txEl>
                                          </p:spTgt>
                                        </p:tgtEl>
                                        <p:attrNameLst>
                                          <p:attrName>style.visibility</p:attrName>
                                        </p:attrNameLst>
                                      </p:cBhvr>
                                      <p:to>
                                        <p:strVal val="visible"/>
                                      </p:to>
                                    </p:set>
                                    <p:animEffect filter="fade" transition="in">
                                      <p:cBhvr>
                                        <p:cTn dur="500"/>
                                        <p:tgtEl>
                                          <p:spTgt spid="94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8">
                                            <p:txEl>
                                              <p:pRg end="3" st="3"/>
                                            </p:txEl>
                                          </p:spTgt>
                                        </p:tgtEl>
                                        <p:attrNameLst>
                                          <p:attrName>style.visibility</p:attrName>
                                        </p:attrNameLst>
                                      </p:cBhvr>
                                      <p:to>
                                        <p:strVal val="visible"/>
                                      </p:to>
                                    </p:set>
                                    <p:animEffect filter="fade" transition="in">
                                      <p:cBhvr>
                                        <p:cTn dur="500"/>
                                        <p:tgtEl>
                                          <p:spTgt spid="94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8">
                                            <p:txEl>
                                              <p:pRg end="4" st="4"/>
                                            </p:txEl>
                                          </p:spTgt>
                                        </p:tgtEl>
                                        <p:attrNameLst>
                                          <p:attrName>style.visibility</p:attrName>
                                        </p:attrNameLst>
                                      </p:cBhvr>
                                      <p:to>
                                        <p:strVal val="visible"/>
                                      </p:to>
                                    </p:set>
                                    <p:animEffect filter="fade" transition="in">
                                      <p:cBhvr>
                                        <p:cTn dur="500"/>
                                        <p:tgtEl>
                                          <p:spTgt spid="94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8">
                                            <p:txEl>
                                              <p:pRg end="5" st="5"/>
                                            </p:txEl>
                                          </p:spTgt>
                                        </p:tgtEl>
                                        <p:attrNameLst>
                                          <p:attrName>style.visibility</p:attrName>
                                        </p:attrNameLst>
                                      </p:cBhvr>
                                      <p:to>
                                        <p:strVal val="visible"/>
                                      </p:to>
                                    </p:set>
                                    <p:animEffect filter="fade" transition="in">
                                      <p:cBhvr>
                                        <p:cTn dur="500"/>
                                        <p:tgtEl>
                                          <p:spTgt spid="94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8">
                                            <p:txEl>
                                              <p:pRg end="6" st="6"/>
                                            </p:txEl>
                                          </p:spTgt>
                                        </p:tgtEl>
                                        <p:attrNameLst>
                                          <p:attrName>style.visibility</p:attrName>
                                        </p:attrNameLst>
                                      </p:cBhvr>
                                      <p:to>
                                        <p:strVal val="visible"/>
                                      </p:to>
                                    </p:set>
                                    <p:animEffect filter="fade" transition="in">
                                      <p:cBhvr>
                                        <p:cTn dur="500"/>
                                        <p:tgtEl>
                                          <p:spTgt spid="948">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p64"/>
          <p:cNvSpPr txBox="1"/>
          <p:nvPr>
            <p:ph type="title"/>
          </p:nvPr>
        </p:nvSpPr>
        <p:spPr>
          <a:xfrm>
            <a:off x="785812" y="304800"/>
            <a:ext cx="7143750" cy="105251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FIAT-SHAMIR</a:t>
            </a:r>
            <a:endParaRPr/>
          </a:p>
        </p:txBody>
      </p:sp>
      <p:sp>
        <p:nvSpPr>
          <p:cNvPr id="957" name="Google Shape;957;p64"/>
          <p:cNvSpPr txBox="1"/>
          <p:nvPr>
            <p:ph idx="1" type="body"/>
          </p:nvPr>
        </p:nvSpPr>
        <p:spPr>
          <a:xfrm>
            <a:off x="798512" y="4149725"/>
            <a:ext cx="7851775" cy="2033587"/>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80000"/>
              </a:lnSpc>
              <a:spcBef>
                <a:spcPts val="0"/>
              </a:spcBef>
              <a:spcAft>
                <a:spcPts val="0"/>
              </a:spcAft>
              <a:buClr>
                <a:schemeClr val="accent2"/>
              </a:buClr>
              <a:buSzPts val="2024"/>
              <a:buFont typeface="Noto Sans Symbols"/>
              <a:buChar char="◼"/>
            </a:pPr>
            <a:r>
              <a:rPr b="1" i="0" lang="en-US" sz="2200" u="none">
                <a:solidFill>
                  <a:srgbClr val="0000FF"/>
                </a:solidFill>
                <a:latin typeface="Gill Sans"/>
                <a:ea typeface="Gill Sans"/>
                <a:cs typeface="Gill Sans"/>
                <a:sym typeface="Gill Sans"/>
              </a:rPr>
              <a:t>Public:</a:t>
            </a:r>
            <a:r>
              <a:rPr b="0" i="0" lang="en-US" sz="2200" u="none">
                <a:solidFill>
                  <a:schemeClr val="dk2"/>
                </a:solidFill>
                <a:latin typeface="Gill Sans"/>
                <a:ea typeface="Gill Sans"/>
                <a:cs typeface="Gill Sans"/>
                <a:sym typeface="Gill Sans"/>
              </a:rPr>
              <a:t> Modulus </a:t>
            </a:r>
            <a:r>
              <a:rPr b="0" i="0" lang="en-US" sz="2200" u="none">
                <a:solidFill>
                  <a:schemeClr val="dk2"/>
                </a:solidFill>
                <a:latin typeface="Times"/>
                <a:ea typeface="Times"/>
                <a:cs typeface="Times"/>
                <a:sym typeface="Times"/>
              </a:rPr>
              <a:t>N</a:t>
            </a:r>
            <a:r>
              <a:rPr b="0" i="0" lang="en-US" sz="2200" u="none">
                <a:solidFill>
                  <a:schemeClr val="dk2"/>
                </a:solidFill>
                <a:latin typeface="Gill Sans"/>
                <a:ea typeface="Gill Sans"/>
                <a:cs typeface="Gill Sans"/>
                <a:sym typeface="Gill Sans"/>
              </a:rPr>
              <a:t>  and </a:t>
            </a:r>
            <a:r>
              <a:rPr b="0" i="0" lang="en-US" sz="2200" u="none">
                <a:solidFill>
                  <a:schemeClr val="dk2"/>
                </a:solidFill>
                <a:latin typeface="Times"/>
                <a:ea typeface="Times"/>
                <a:cs typeface="Times"/>
                <a:sym typeface="Times"/>
              </a:rPr>
              <a:t>v = </a:t>
            </a:r>
            <a:r>
              <a:rPr b="0" i="0" lang="en-US" sz="2200" u="none">
                <a:solidFill>
                  <a:srgbClr val="FF0000"/>
                </a:solidFill>
                <a:latin typeface="Times"/>
                <a:ea typeface="Times"/>
                <a:cs typeface="Times"/>
                <a:sym typeface="Times"/>
              </a:rPr>
              <a:t>S</a:t>
            </a:r>
            <a:r>
              <a:rPr b="0" baseline="30000" i="0" lang="en-US" sz="2200" u="none">
                <a:solidFill>
                  <a:schemeClr val="dk2"/>
                </a:solidFill>
                <a:latin typeface="Times"/>
                <a:ea typeface="Times"/>
                <a:cs typeface="Times"/>
                <a:sym typeface="Times"/>
              </a:rPr>
              <a:t>2</a:t>
            </a:r>
            <a:r>
              <a:rPr b="0" i="0" lang="en-US" sz="2200" u="none">
                <a:solidFill>
                  <a:schemeClr val="dk2"/>
                </a:solidFill>
                <a:latin typeface="Times"/>
                <a:ea typeface="Times"/>
                <a:cs typeface="Times"/>
                <a:sym typeface="Times"/>
              </a:rPr>
              <a:t> mod N</a:t>
            </a:r>
            <a:endParaRPr/>
          </a:p>
          <a:p>
            <a:pPr indent="-304800" lvl="0" marL="304800" marR="0" rtl="0" algn="l">
              <a:lnSpc>
                <a:spcPct val="80000"/>
              </a:lnSpc>
              <a:spcBef>
                <a:spcPts val="1040"/>
              </a:spcBef>
              <a:spcAft>
                <a:spcPts val="0"/>
              </a:spcAft>
              <a:buClr>
                <a:schemeClr val="accent2"/>
              </a:buClr>
              <a:buSzPts val="2024"/>
              <a:buFont typeface="Noto Sans Symbols"/>
              <a:buChar char="◼"/>
            </a:pPr>
            <a:r>
              <a:rPr b="0" i="0" lang="en-US" sz="2200" u="none">
                <a:solidFill>
                  <a:schemeClr val="dk2"/>
                </a:solidFill>
                <a:latin typeface="Gill Sans"/>
                <a:ea typeface="Gill Sans"/>
                <a:cs typeface="Gill Sans"/>
                <a:sym typeface="Gill Sans"/>
              </a:rPr>
              <a:t>Alice selects random </a:t>
            </a:r>
            <a:r>
              <a:rPr b="0" i="0" lang="en-US" sz="2200" u="none">
                <a:solidFill>
                  <a:schemeClr val="dk2"/>
                </a:solidFill>
                <a:latin typeface="Times"/>
                <a:ea typeface="Times"/>
                <a:cs typeface="Times"/>
                <a:sym typeface="Times"/>
              </a:rPr>
              <a:t>r</a:t>
            </a:r>
            <a:endParaRPr/>
          </a:p>
          <a:p>
            <a:pPr indent="-304800" lvl="0" marL="304800" marR="0" rtl="0" algn="l">
              <a:lnSpc>
                <a:spcPct val="80000"/>
              </a:lnSpc>
              <a:spcBef>
                <a:spcPts val="1040"/>
              </a:spcBef>
              <a:spcAft>
                <a:spcPts val="0"/>
              </a:spcAft>
              <a:buClr>
                <a:schemeClr val="accent2"/>
              </a:buClr>
              <a:buSzPts val="2024"/>
              <a:buFont typeface="Noto Sans Symbols"/>
              <a:buChar char="◼"/>
            </a:pPr>
            <a:r>
              <a:rPr b="0" i="0" lang="en-US" sz="2200" u="none">
                <a:solidFill>
                  <a:schemeClr val="dk2"/>
                </a:solidFill>
                <a:latin typeface="Gill Sans"/>
                <a:ea typeface="Gill Sans"/>
                <a:cs typeface="Gill Sans"/>
                <a:sym typeface="Gill Sans"/>
              </a:rPr>
              <a:t>Bob chooses </a:t>
            </a:r>
            <a:r>
              <a:rPr b="0" i="0" lang="en-US" sz="2200" u="none">
                <a:solidFill>
                  <a:schemeClr val="dk2"/>
                </a:solidFill>
                <a:latin typeface="Times"/>
                <a:ea typeface="Times"/>
                <a:cs typeface="Times"/>
                <a:sym typeface="Times"/>
              </a:rPr>
              <a:t>e ∈ {0,1}</a:t>
            </a:r>
            <a:r>
              <a:rPr b="0" i="0" lang="en-US" sz="2200" u="none">
                <a:solidFill>
                  <a:schemeClr val="dk2"/>
                </a:solidFill>
                <a:latin typeface="Gill Sans"/>
                <a:ea typeface="Gill Sans"/>
                <a:cs typeface="Gill Sans"/>
                <a:sym typeface="Gill Sans"/>
              </a:rPr>
              <a:t> </a:t>
            </a:r>
            <a:endParaRPr/>
          </a:p>
          <a:p>
            <a:pPr indent="-304800" lvl="0" marL="304800" marR="0" rtl="0" algn="l">
              <a:lnSpc>
                <a:spcPct val="80000"/>
              </a:lnSpc>
              <a:spcBef>
                <a:spcPts val="1040"/>
              </a:spcBef>
              <a:spcAft>
                <a:spcPts val="0"/>
              </a:spcAft>
              <a:buClr>
                <a:schemeClr val="accent2"/>
              </a:buClr>
              <a:buSzPts val="2024"/>
              <a:buFont typeface="Noto Sans Symbols"/>
              <a:buChar char="◼"/>
            </a:pPr>
            <a:r>
              <a:rPr b="0" i="0" lang="en-US" sz="2200" u="none">
                <a:solidFill>
                  <a:schemeClr val="dk2"/>
                </a:solidFill>
                <a:latin typeface="Gill Sans"/>
                <a:ea typeface="Gill Sans"/>
                <a:cs typeface="Gill Sans"/>
                <a:sym typeface="Gill Sans"/>
              </a:rPr>
              <a:t>Bob verifies that </a:t>
            </a:r>
            <a:r>
              <a:rPr b="0" i="0" lang="en-US" sz="2200" u="none">
                <a:solidFill>
                  <a:schemeClr val="dk2"/>
                </a:solidFill>
                <a:latin typeface="Times"/>
                <a:ea typeface="Times"/>
                <a:cs typeface="Times"/>
                <a:sym typeface="Times"/>
              </a:rPr>
              <a:t>y</a:t>
            </a:r>
            <a:r>
              <a:rPr b="0" baseline="30000" i="0" lang="en-US" sz="2200" u="none">
                <a:solidFill>
                  <a:schemeClr val="dk2"/>
                </a:solidFill>
                <a:latin typeface="Times"/>
                <a:ea typeface="Times"/>
                <a:cs typeface="Times"/>
                <a:sym typeface="Times"/>
              </a:rPr>
              <a:t>2</a:t>
            </a:r>
            <a:r>
              <a:rPr b="0" i="0" lang="en-US" sz="2200" u="none">
                <a:solidFill>
                  <a:schemeClr val="dk2"/>
                </a:solidFill>
                <a:latin typeface="Times"/>
                <a:ea typeface="Times"/>
                <a:cs typeface="Times"/>
                <a:sym typeface="Times"/>
              </a:rPr>
              <a:t> = x</a:t>
            </a:r>
            <a:r>
              <a:rPr b="0" i="0" lang="en-US" sz="1900" u="none">
                <a:solidFill>
                  <a:schemeClr val="dk2"/>
                </a:solidFill>
                <a:latin typeface="Times"/>
                <a:ea typeface="Times"/>
                <a:cs typeface="Times"/>
                <a:sym typeface="Times"/>
              </a:rPr>
              <a:t>*</a:t>
            </a:r>
            <a:r>
              <a:rPr b="0" i="0" lang="en-US" sz="2200" u="none">
                <a:solidFill>
                  <a:schemeClr val="dk2"/>
                </a:solidFill>
                <a:latin typeface="Times"/>
                <a:ea typeface="Times"/>
                <a:cs typeface="Times"/>
                <a:sym typeface="Times"/>
              </a:rPr>
              <a:t>v</a:t>
            </a:r>
            <a:r>
              <a:rPr b="0" baseline="30000" i="0" lang="en-US" sz="2200" u="none">
                <a:solidFill>
                  <a:schemeClr val="dk2"/>
                </a:solidFill>
                <a:latin typeface="Times"/>
                <a:ea typeface="Times"/>
                <a:cs typeface="Times"/>
                <a:sym typeface="Times"/>
              </a:rPr>
              <a:t>e</a:t>
            </a:r>
            <a:r>
              <a:rPr b="0" i="0" lang="en-US" sz="2200" u="none">
                <a:solidFill>
                  <a:schemeClr val="dk2"/>
                </a:solidFill>
                <a:latin typeface="Times"/>
                <a:ea typeface="Times"/>
                <a:cs typeface="Times"/>
                <a:sym typeface="Times"/>
              </a:rPr>
              <a:t> mod N</a:t>
            </a:r>
            <a:endParaRPr/>
          </a:p>
          <a:p>
            <a:pPr indent="-304800" lvl="1" marL="628650" marR="0" rtl="0" algn="l">
              <a:lnSpc>
                <a:spcPct val="80000"/>
              </a:lnSpc>
              <a:spcBef>
                <a:spcPts val="980"/>
              </a:spcBef>
              <a:spcAft>
                <a:spcPts val="0"/>
              </a:spcAft>
              <a:buClr>
                <a:schemeClr val="accent2"/>
              </a:buClr>
              <a:buSzPts val="1748"/>
              <a:buFont typeface="Noto Sans Symbols"/>
              <a:buChar char="◼"/>
            </a:pPr>
            <a:r>
              <a:rPr b="0" i="0" lang="en-US" sz="1900" u="none" cap="none" strike="noStrike">
                <a:solidFill>
                  <a:schemeClr val="dk2"/>
                </a:solidFill>
                <a:latin typeface="Gill Sans"/>
                <a:ea typeface="Gill Sans"/>
                <a:cs typeface="Gill Sans"/>
                <a:sym typeface="Gill Sans"/>
              </a:rPr>
              <a:t>Why? Because… </a:t>
            </a:r>
            <a:r>
              <a:rPr b="0" i="0" lang="en-US" sz="1900" u="none" cap="none" strike="noStrike">
                <a:solidFill>
                  <a:schemeClr val="dk2"/>
                </a:solidFill>
                <a:latin typeface="Times"/>
                <a:ea typeface="Times"/>
                <a:cs typeface="Times"/>
                <a:sym typeface="Times"/>
              </a:rPr>
              <a:t>y</a:t>
            </a:r>
            <a:r>
              <a:rPr b="0" baseline="30000" i="0" lang="en-US" sz="1900" u="none" cap="none" strike="noStrike">
                <a:solidFill>
                  <a:schemeClr val="dk2"/>
                </a:solidFill>
                <a:latin typeface="Times"/>
                <a:ea typeface="Times"/>
                <a:cs typeface="Times"/>
                <a:sym typeface="Times"/>
              </a:rPr>
              <a:t>2</a:t>
            </a:r>
            <a:r>
              <a:rPr b="0" i="0" lang="en-US" sz="1900" u="none" cap="none" strike="noStrike">
                <a:solidFill>
                  <a:schemeClr val="dk2"/>
                </a:solidFill>
                <a:latin typeface="Times"/>
                <a:ea typeface="Times"/>
                <a:cs typeface="Times"/>
                <a:sym typeface="Times"/>
              </a:rPr>
              <a:t> = r</a:t>
            </a:r>
            <a:r>
              <a:rPr b="0" baseline="30000" i="0" lang="en-US" sz="1900" u="none" cap="none" strike="noStrike">
                <a:solidFill>
                  <a:schemeClr val="dk2"/>
                </a:solidFill>
                <a:latin typeface="Times"/>
                <a:ea typeface="Times"/>
                <a:cs typeface="Times"/>
                <a:sym typeface="Times"/>
              </a:rPr>
              <a:t>2 </a:t>
            </a:r>
            <a:r>
              <a:rPr b="0" i="0" lang="en-US" sz="1900" u="none" cap="none" strike="noStrike">
                <a:solidFill>
                  <a:schemeClr val="dk2"/>
                </a:solidFill>
                <a:latin typeface="Times"/>
                <a:ea typeface="Times"/>
                <a:cs typeface="Times"/>
                <a:sym typeface="Times"/>
              </a:rPr>
              <a:t>⋅</a:t>
            </a:r>
            <a:r>
              <a:rPr b="0" baseline="30000" i="0" lang="en-US" sz="1900" u="none" cap="none" strike="noStrike">
                <a:solidFill>
                  <a:schemeClr val="dk2"/>
                </a:solidFill>
                <a:latin typeface="Times"/>
                <a:ea typeface="Times"/>
                <a:cs typeface="Times"/>
                <a:sym typeface="Times"/>
              </a:rPr>
              <a:t> </a:t>
            </a:r>
            <a:r>
              <a:rPr b="0" i="0" lang="en-US" sz="1900" u="none" cap="none" strike="noStrike">
                <a:solidFill>
                  <a:schemeClr val="dk2"/>
                </a:solidFill>
                <a:latin typeface="Times"/>
                <a:ea typeface="Times"/>
                <a:cs typeface="Times"/>
                <a:sym typeface="Times"/>
              </a:rPr>
              <a:t>S</a:t>
            </a:r>
            <a:r>
              <a:rPr b="0" baseline="30000" i="0" lang="en-US" sz="1900" u="none" cap="none" strike="noStrike">
                <a:solidFill>
                  <a:schemeClr val="dk2"/>
                </a:solidFill>
                <a:latin typeface="Times"/>
                <a:ea typeface="Times"/>
                <a:cs typeface="Times"/>
                <a:sym typeface="Times"/>
              </a:rPr>
              <a:t>2e</a:t>
            </a:r>
            <a:r>
              <a:rPr b="0" i="0" lang="en-US" sz="1900" u="none" cap="none" strike="noStrike">
                <a:solidFill>
                  <a:schemeClr val="dk2"/>
                </a:solidFill>
                <a:latin typeface="Times"/>
                <a:ea typeface="Times"/>
                <a:cs typeface="Times"/>
                <a:sym typeface="Times"/>
              </a:rPr>
              <a:t> = r</a:t>
            </a:r>
            <a:r>
              <a:rPr b="0" baseline="30000" i="0" lang="en-US" sz="1900" u="none" cap="none" strike="noStrike">
                <a:solidFill>
                  <a:schemeClr val="dk2"/>
                </a:solidFill>
                <a:latin typeface="Times"/>
                <a:ea typeface="Times"/>
                <a:cs typeface="Times"/>
                <a:sym typeface="Times"/>
              </a:rPr>
              <a:t>2 </a:t>
            </a:r>
            <a:r>
              <a:rPr b="0" i="0" lang="en-US" sz="1900" u="none" cap="none" strike="noStrike">
                <a:solidFill>
                  <a:schemeClr val="dk2"/>
                </a:solidFill>
                <a:latin typeface="Times"/>
                <a:ea typeface="Times"/>
                <a:cs typeface="Times"/>
                <a:sym typeface="Times"/>
              </a:rPr>
              <a:t>⋅</a:t>
            </a:r>
            <a:r>
              <a:rPr b="0" baseline="30000" i="0" lang="en-US" sz="1900" u="none" cap="none" strike="noStrike">
                <a:solidFill>
                  <a:schemeClr val="dk2"/>
                </a:solidFill>
                <a:latin typeface="Times"/>
                <a:ea typeface="Times"/>
                <a:cs typeface="Times"/>
                <a:sym typeface="Times"/>
              </a:rPr>
              <a:t> </a:t>
            </a:r>
            <a:r>
              <a:rPr b="0" i="0" lang="en-US" sz="1900" u="none" cap="none" strike="noStrike">
                <a:solidFill>
                  <a:schemeClr val="dk2"/>
                </a:solidFill>
                <a:latin typeface="Times"/>
                <a:ea typeface="Times"/>
                <a:cs typeface="Times"/>
                <a:sym typeface="Times"/>
              </a:rPr>
              <a:t>(S</a:t>
            </a:r>
            <a:r>
              <a:rPr b="0" baseline="30000" i="0" lang="en-US" sz="1900" u="none" cap="none" strike="noStrike">
                <a:solidFill>
                  <a:schemeClr val="dk2"/>
                </a:solidFill>
                <a:latin typeface="Times"/>
                <a:ea typeface="Times"/>
                <a:cs typeface="Times"/>
                <a:sym typeface="Times"/>
              </a:rPr>
              <a:t>2</a:t>
            </a:r>
            <a:r>
              <a:rPr b="0" i="0" lang="en-US" sz="1900" u="none" cap="none" strike="noStrike">
                <a:solidFill>
                  <a:schemeClr val="dk2"/>
                </a:solidFill>
                <a:latin typeface="Times"/>
                <a:ea typeface="Times"/>
                <a:cs typeface="Times"/>
                <a:sym typeface="Times"/>
              </a:rPr>
              <a:t>)</a:t>
            </a:r>
            <a:r>
              <a:rPr b="0" baseline="30000" i="0" lang="en-US" sz="1900" u="none" cap="none" strike="noStrike">
                <a:solidFill>
                  <a:schemeClr val="dk2"/>
                </a:solidFill>
                <a:latin typeface="Times"/>
                <a:ea typeface="Times"/>
                <a:cs typeface="Times"/>
                <a:sym typeface="Times"/>
              </a:rPr>
              <a:t>e</a:t>
            </a:r>
            <a:r>
              <a:rPr b="0" i="0" lang="en-US" sz="1900" u="none" cap="none" strike="noStrike">
                <a:solidFill>
                  <a:schemeClr val="dk2"/>
                </a:solidFill>
                <a:latin typeface="Times"/>
                <a:ea typeface="Times"/>
                <a:cs typeface="Times"/>
                <a:sym typeface="Times"/>
              </a:rPr>
              <a:t> = x</a:t>
            </a:r>
            <a:r>
              <a:rPr b="0" baseline="30000" i="0" lang="en-US" sz="1900" u="none" cap="none" strike="noStrike">
                <a:solidFill>
                  <a:schemeClr val="dk2"/>
                </a:solidFill>
                <a:latin typeface="Times"/>
                <a:ea typeface="Times"/>
                <a:cs typeface="Times"/>
                <a:sym typeface="Times"/>
              </a:rPr>
              <a:t> </a:t>
            </a:r>
            <a:r>
              <a:rPr b="0" i="0" lang="en-US" sz="1900" u="none" cap="none" strike="noStrike">
                <a:solidFill>
                  <a:schemeClr val="dk2"/>
                </a:solidFill>
                <a:latin typeface="Times"/>
                <a:ea typeface="Times"/>
                <a:cs typeface="Times"/>
                <a:sym typeface="Times"/>
              </a:rPr>
              <a:t>⋅</a:t>
            </a:r>
            <a:r>
              <a:rPr b="0" baseline="30000" i="0" lang="en-US" sz="1900" u="none" cap="none" strike="noStrike">
                <a:solidFill>
                  <a:schemeClr val="dk2"/>
                </a:solidFill>
                <a:latin typeface="Times"/>
                <a:ea typeface="Times"/>
                <a:cs typeface="Times"/>
                <a:sym typeface="Times"/>
              </a:rPr>
              <a:t> </a:t>
            </a:r>
            <a:r>
              <a:rPr b="0" i="0" lang="en-US" sz="1900" u="none" cap="none" strike="noStrike">
                <a:solidFill>
                  <a:schemeClr val="dk2"/>
                </a:solidFill>
                <a:latin typeface="Times"/>
                <a:ea typeface="Times"/>
                <a:cs typeface="Times"/>
                <a:sym typeface="Times"/>
              </a:rPr>
              <a:t>v</a:t>
            </a:r>
            <a:r>
              <a:rPr b="0" baseline="30000" i="0" lang="en-US" sz="1900" u="none" cap="none" strike="noStrike">
                <a:solidFill>
                  <a:schemeClr val="dk2"/>
                </a:solidFill>
                <a:latin typeface="Times"/>
                <a:ea typeface="Times"/>
                <a:cs typeface="Times"/>
                <a:sym typeface="Times"/>
              </a:rPr>
              <a:t>e</a:t>
            </a:r>
            <a:r>
              <a:rPr b="0" i="0" lang="en-US" sz="1900" u="none" cap="none" strike="noStrike">
                <a:solidFill>
                  <a:schemeClr val="dk2"/>
                </a:solidFill>
                <a:latin typeface="Times"/>
                <a:ea typeface="Times"/>
                <a:cs typeface="Times"/>
                <a:sym typeface="Times"/>
              </a:rPr>
              <a:t> mod N</a:t>
            </a:r>
            <a:r>
              <a:rPr b="0" i="0" lang="en-US" sz="1900" u="none" cap="none" strike="noStrike">
                <a:solidFill>
                  <a:schemeClr val="dk2"/>
                </a:solidFill>
                <a:latin typeface="Gill Sans"/>
                <a:ea typeface="Gill Sans"/>
                <a:cs typeface="Gill Sans"/>
                <a:sym typeface="Gill Sans"/>
              </a:rPr>
              <a:t>  </a:t>
            </a:r>
            <a:endParaRPr/>
          </a:p>
        </p:txBody>
      </p:sp>
      <p:sp>
        <p:nvSpPr>
          <p:cNvPr id="958" name="Google Shape;958;p64"/>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959" name="Google Shape;959;p64"/>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cxnSp>
        <p:nvCxnSpPr>
          <p:cNvPr id="960" name="Google Shape;960;p64"/>
          <p:cNvCxnSpPr/>
          <p:nvPr/>
        </p:nvCxnSpPr>
        <p:spPr>
          <a:xfrm>
            <a:off x="2400300" y="2425700"/>
            <a:ext cx="46482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961" name="Google Shape;961;p64"/>
          <p:cNvCxnSpPr/>
          <p:nvPr/>
        </p:nvCxnSpPr>
        <p:spPr>
          <a:xfrm rot="10800000">
            <a:off x="2324100" y="2933700"/>
            <a:ext cx="4724400" cy="0"/>
          </a:xfrm>
          <a:prstGeom prst="straightConnector1">
            <a:avLst/>
          </a:prstGeom>
          <a:noFill/>
          <a:ln cap="flat" cmpd="sng" w="50800">
            <a:solidFill>
              <a:schemeClr val="dk1"/>
            </a:solidFill>
            <a:prstDash val="solid"/>
            <a:miter lim="800000"/>
            <a:headEnd len="med" w="med" type="none"/>
            <a:tailEnd len="med" w="med" type="triangle"/>
          </a:ln>
        </p:spPr>
      </p:cxnSp>
      <p:sp>
        <p:nvSpPr>
          <p:cNvPr id="962" name="Google Shape;962;p64"/>
          <p:cNvSpPr txBox="1"/>
          <p:nvPr/>
        </p:nvSpPr>
        <p:spPr>
          <a:xfrm>
            <a:off x="1047750" y="3543300"/>
            <a:ext cx="1414462" cy="4064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Alice</a:t>
            </a:r>
            <a:endParaRPr/>
          </a:p>
        </p:txBody>
      </p:sp>
      <p:sp>
        <p:nvSpPr>
          <p:cNvPr id="963" name="Google Shape;963;p64"/>
          <p:cNvSpPr txBox="1"/>
          <p:nvPr/>
        </p:nvSpPr>
        <p:spPr>
          <a:xfrm>
            <a:off x="7402512" y="3511550"/>
            <a:ext cx="717550" cy="47466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a:t>
            </a:r>
            <a:endParaRPr/>
          </a:p>
        </p:txBody>
      </p:sp>
      <p:sp>
        <p:nvSpPr>
          <p:cNvPr id="964" name="Google Shape;964;p64"/>
          <p:cNvSpPr txBox="1"/>
          <p:nvPr/>
        </p:nvSpPr>
        <p:spPr>
          <a:xfrm>
            <a:off x="3643312" y="1928812"/>
            <a:ext cx="18811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x = r</a:t>
            </a:r>
            <a:r>
              <a:rPr b="0" baseline="30000" i="0" lang="en-US" sz="2400" u="none">
                <a:solidFill>
                  <a:schemeClr val="dk1"/>
                </a:solidFill>
                <a:latin typeface="Times"/>
                <a:ea typeface="Times"/>
                <a:cs typeface="Times"/>
                <a:sym typeface="Times"/>
              </a:rPr>
              <a:t>2</a:t>
            </a:r>
            <a:r>
              <a:rPr b="0" i="0" lang="en-US" sz="2400" u="none">
                <a:solidFill>
                  <a:schemeClr val="dk1"/>
                </a:solidFill>
                <a:latin typeface="Times"/>
                <a:ea typeface="Times"/>
                <a:cs typeface="Times"/>
                <a:sym typeface="Times"/>
              </a:rPr>
              <a:t> mod N</a:t>
            </a:r>
            <a:endParaRPr/>
          </a:p>
        </p:txBody>
      </p:sp>
      <p:sp>
        <p:nvSpPr>
          <p:cNvPr id="965" name="Google Shape;965;p64"/>
          <p:cNvSpPr txBox="1"/>
          <p:nvPr/>
        </p:nvSpPr>
        <p:spPr>
          <a:xfrm>
            <a:off x="3924300" y="2482850"/>
            <a:ext cx="13684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e ∈ {0,1}</a:t>
            </a:r>
            <a:endParaRPr/>
          </a:p>
        </p:txBody>
      </p:sp>
      <p:cxnSp>
        <p:nvCxnSpPr>
          <p:cNvPr id="966" name="Google Shape;966;p64"/>
          <p:cNvCxnSpPr/>
          <p:nvPr/>
        </p:nvCxnSpPr>
        <p:spPr>
          <a:xfrm>
            <a:off x="2400300" y="3452812"/>
            <a:ext cx="4648200" cy="0"/>
          </a:xfrm>
          <a:prstGeom prst="straightConnector1">
            <a:avLst/>
          </a:prstGeom>
          <a:noFill/>
          <a:ln cap="flat" cmpd="sng" w="50800">
            <a:solidFill>
              <a:schemeClr val="dk1"/>
            </a:solidFill>
            <a:prstDash val="solid"/>
            <a:miter lim="800000"/>
            <a:headEnd len="med" w="med" type="none"/>
            <a:tailEnd len="med" w="med" type="triangle"/>
          </a:ln>
        </p:spPr>
      </p:cxnSp>
      <p:sp>
        <p:nvSpPr>
          <p:cNvPr id="967" name="Google Shape;967;p64"/>
          <p:cNvSpPr txBox="1"/>
          <p:nvPr/>
        </p:nvSpPr>
        <p:spPr>
          <a:xfrm>
            <a:off x="3543300" y="2995612"/>
            <a:ext cx="22367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y = r*</a:t>
            </a:r>
            <a:r>
              <a:rPr b="0" i="0" lang="en-US" sz="2400" u="none">
                <a:solidFill>
                  <a:srgbClr val="FF0000"/>
                </a:solidFill>
                <a:latin typeface="Times"/>
                <a:ea typeface="Times"/>
                <a:cs typeface="Times"/>
                <a:sym typeface="Times"/>
              </a:rPr>
              <a:t>S</a:t>
            </a:r>
            <a:r>
              <a:rPr b="0" baseline="30000" i="0" lang="en-US" sz="2400" u="none">
                <a:solidFill>
                  <a:schemeClr val="dk1"/>
                </a:solidFill>
                <a:latin typeface="Times"/>
                <a:ea typeface="Times"/>
                <a:cs typeface="Times"/>
                <a:sym typeface="Times"/>
              </a:rPr>
              <a:t>e</a:t>
            </a:r>
            <a:r>
              <a:rPr b="0" i="0" lang="en-US" sz="2400" u="none">
                <a:solidFill>
                  <a:schemeClr val="dk1"/>
                </a:solidFill>
                <a:latin typeface="Times"/>
                <a:ea typeface="Times"/>
                <a:cs typeface="Times"/>
                <a:sym typeface="Times"/>
              </a:rPr>
              <a:t> mod N</a:t>
            </a:r>
            <a:endParaRPr/>
          </a:p>
        </p:txBody>
      </p:sp>
      <p:pic>
        <p:nvPicPr>
          <p:cNvPr id="968" name="Google Shape;968;p64"/>
          <p:cNvPicPr preferRelativeResize="0"/>
          <p:nvPr/>
        </p:nvPicPr>
        <p:blipFill rotWithShape="1">
          <a:blip r:embed="rId3">
            <a:alphaModFix/>
          </a:blip>
          <a:srcRect b="0" l="0" r="0" t="0"/>
          <a:stretch/>
        </p:blipFill>
        <p:spPr>
          <a:xfrm>
            <a:off x="1190625" y="1900237"/>
            <a:ext cx="946150" cy="1624012"/>
          </a:xfrm>
          <a:prstGeom prst="rect">
            <a:avLst/>
          </a:prstGeom>
          <a:noFill/>
          <a:ln>
            <a:noFill/>
          </a:ln>
        </p:spPr>
      </p:pic>
      <p:pic>
        <p:nvPicPr>
          <p:cNvPr id="969" name="Google Shape;969;p64"/>
          <p:cNvPicPr preferRelativeResize="0"/>
          <p:nvPr/>
        </p:nvPicPr>
        <p:blipFill rotWithShape="1">
          <a:blip r:embed="rId4">
            <a:alphaModFix/>
          </a:blip>
          <a:srcRect b="0" l="0" r="0" t="0"/>
          <a:stretch/>
        </p:blipFill>
        <p:spPr>
          <a:xfrm>
            <a:off x="7262812" y="1757362"/>
            <a:ext cx="1076325" cy="1665287"/>
          </a:xfrm>
          <a:prstGeom prst="rect">
            <a:avLst/>
          </a:prstGeom>
          <a:noFill/>
          <a:ln>
            <a:noFill/>
          </a:ln>
        </p:spPr>
      </p:pic>
      <p:sp>
        <p:nvSpPr>
          <p:cNvPr id="970" name="Google Shape;970;p64"/>
          <p:cNvSpPr txBox="1"/>
          <p:nvPr/>
        </p:nvSpPr>
        <p:spPr>
          <a:xfrm>
            <a:off x="1819275" y="1828800"/>
            <a:ext cx="1285875" cy="563562"/>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FF"/>
              </a:buClr>
              <a:buSzPts val="1800"/>
              <a:buFont typeface="Comic Sans MS"/>
              <a:buNone/>
            </a:pPr>
            <a:r>
              <a:rPr b="0" i="0" lang="en-US" sz="1800" u="none">
                <a:solidFill>
                  <a:srgbClr val="0000FF"/>
                </a:solidFill>
                <a:latin typeface="Comic Sans MS"/>
                <a:ea typeface="Comic Sans MS"/>
                <a:cs typeface="Comic Sans MS"/>
                <a:sym typeface="Comic Sans MS"/>
              </a:rPr>
              <a:t>secret </a:t>
            </a:r>
            <a:r>
              <a:rPr b="0" i="0" lang="en-US" sz="1800" u="none">
                <a:solidFill>
                  <a:srgbClr val="0000FF"/>
                </a:solidFill>
                <a:latin typeface="Times"/>
                <a:ea typeface="Times"/>
                <a:cs typeface="Times"/>
                <a:sym typeface="Times"/>
              </a:rPr>
              <a:t>S</a:t>
            </a:r>
            <a:endParaRPr/>
          </a:p>
          <a:p>
            <a:pPr indent="0" lvl="0" marL="0" marR="0" rtl="0" algn="ctr">
              <a:lnSpc>
                <a:spcPct val="85000"/>
              </a:lnSpc>
              <a:spcBef>
                <a:spcPts val="0"/>
              </a:spcBef>
              <a:spcAft>
                <a:spcPts val="0"/>
              </a:spcAft>
              <a:buClr>
                <a:srgbClr val="0000FF"/>
              </a:buClr>
              <a:buSzPts val="1800"/>
              <a:buFont typeface="Comic Sans MS"/>
              <a:buNone/>
            </a:pPr>
            <a:r>
              <a:rPr b="0" i="0" lang="en-US" sz="1800" u="none">
                <a:solidFill>
                  <a:srgbClr val="0000FF"/>
                </a:solidFill>
                <a:latin typeface="Comic Sans MS"/>
                <a:ea typeface="Comic Sans MS"/>
                <a:cs typeface="Comic Sans MS"/>
                <a:sym typeface="Comic Sans MS"/>
              </a:rPr>
              <a:t>random </a:t>
            </a:r>
            <a:r>
              <a:rPr b="0" i="0" lang="en-US" sz="1800" u="none">
                <a:solidFill>
                  <a:srgbClr val="0000FF"/>
                </a:solidFill>
                <a:latin typeface="Times"/>
                <a:ea typeface="Times"/>
                <a:cs typeface="Times"/>
                <a:sym typeface="Times"/>
              </a:rPr>
              <a:t>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0"/>
                                        </p:tgtEl>
                                        <p:attrNameLst>
                                          <p:attrName>style.visibility</p:attrName>
                                        </p:attrNameLst>
                                      </p:cBhvr>
                                      <p:to>
                                        <p:strVal val="visible"/>
                                      </p:to>
                                    </p:set>
                                    <p:animEffect filter="fade" transition="in">
                                      <p:cBhvr>
                                        <p:cTn dur="500"/>
                                        <p:tgtEl>
                                          <p:spTgt spid="960"/>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9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961"/>
                                        </p:tgtEl>
                                        <p:attrNameLst>
                                          <p:attrName>style.visibility</p:attrName>
                                        </p:attrNameLst>
                                      </p:cBhvr>
                                      <p:to>
                                        <p:strVal val="visible"/>
                                      </p:to>
                                    </p:set>
                                    <p:anim calcmode="lin" valueType="num">
                                      <p:cBhvr additive="base">
                                        <p:cTn dur="500"/>
                                        <p:tgtEl>
                                          <p:spTgt spid="961"/>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9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6"/>
                                        </p:tgtEl>
                                        <p:attrNameLst>
                                          <p:attrName>style.visibility</p:attrName>
                                        </p:attrNameLst>
                                      </p:cBhvr>
                                      <p:to>
                                        <p:strVal val="visible"/>
                                      </p:to>
                                    </p:set>
                                    <p:animEffect filter="fade" transition="in">
                                      <p:cBhvr>
                                        <p:cTn dur="500"/>
                                        <p:tgtEl>
                                          <p:spTgt spid="966"/>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9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7">
                                            <p:txEl>
                                              <p:pRg end="0" st="0"/>
                                            </p:txEl>
                                          </p:spTgt>
                                        </p:tgtEl>
                                        <p:attrNameLst>
                                          <p:attrName>style.visibility</p:attrName>
                                        </p:attrNameLst>
                                      </p:cBhvr>
                                      <p:to>
                                        <p:strVal val="visible"/>
                                      </p:to>
                                    </p:set>
                                    <p:animEffect filter="fade" transition="in">
                                      <p:cBhvr>
                                        <p:cTn dur="500"/>
                                        <p:tgtEl>
                                          <p:spTgt spid="9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7">
                                            <p:txEl>
                                              <p:pRg end="1" st="1"/>
                                            </p:txEl>
                                          </p:spTgt>
                                        </p:tgtEl>
                                        <p:attrNameLst>
                                          <p:attrName>style.visibility</p:attrName>
                                        </p:attrNameLst>
                                      </p:cBhvr>
                                      <p:to>
                                        <p:strVal val="visible"/>
                                      </p:to>
                                    </p:set>
                                    <p:animEffect filter="fade" transition="in">
                                      <p:cBhvr>
                                        <p:cTn dur="500"/>
                                        <p:tgtEl>
                                          <p:spTgt spid="95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7">
                                            <p:txEl>
                                              <p:pRg end="2" st="2"/>
                                            </p:txEl>
                                          </p:spTgt>
                                        </p:tgtEl>
                                        <p:attrNameLst>
                                          <p:attrName>style.visibility</p:attrName>
                                        </p:attrNameLst>
                                      </p:cBhvr>
                                      <p:to>
                                        <p:strVal val="visible"/>
                                      </p:to>
                                    </p:set>
                                    <p:animEffect filter="fade" transition="in">
                                      <p:cBhvr>
                                        <p:cTn dur="500"/>
                                        <p:tgtEl>
                                          <p:spTgt spid="95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7">
                                            <p:txEl>
                                              <p:pRg end="3" st="3"/>
                                            </p:txEl>
                                          </p:spTgt>
                                        </p:tgtEl>
                                        <p:attrNameLst>
                                          <p:attrName>style.visibility</p:attrName>
                                        </p:attrNameLst>
                                      </p:cBhvr>
                                      <p:to>
                                        <p:strVal val="visible"/>
                                      </p:to>
                                    </p:set>
                                    <p:animEffect filter="fade" transition="in">
                                      <p:cBhvr>
                                        <p:cTn dur="500"/>
                                        <p:tgtEl>
                                          <p:spTgt spid="95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7">
                                            <p:txEl>
                                              <p:pRg end="4" st="4"/>
                                            </p:txEl>
                                          </p:spTgt>
                                        </p:tgtEl>
                                        <p:attrNameLst>
                                          <p:attrName>style.visibility</p:attrName>
                                        </p:attrNameLst>
                                      </p:cBhvr>
                                      <p:to>
                                        <p:strVal val="visible"/>
                                      </p:to>
                                    </p:set>
                                    <p:animEffect filter="fade" transition="in">
                                      <p:cBhvr>
                                        <p:cTn dur="500"/>
                                        <p:tgtEl>
                                          <p:spTgt spid="957">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65"/>
          <p:cNvSpPr txBox="1"/>
          <p:nvPr>
            <p:ph type="title"/>
          </p:nvPr>
        </p:nvSpPr>
        <p:spPr>
          <a:xfrm>
            <a:off x="785812" y="501650"/>
            <a:ext cx="7143750" cy="85566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FIAT-SHAMIR: E = 1</a:t>
            </a:r>
            <a:endParaRPr/>
          </a:p>
        </p:txBody>
      </p:sp>
      <p:sp>
        <p:nvSpPr>
          <p:cNvPr id="976" name="Google Shape;976;p65"/>
          <p:cNvSpPr txBox="1"/>
          <p:nvPr>
            <p:ph idx="1" type="body"/>
          </p:nvPr>
        </p:nvSpPr>
        <p:spPr>
          <a:xfrm>
            <a:off x="785812" y="4143375"/>
            <a:ext cx="7962900" cy="2128837"/>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70000"/>
              </a:lnSpc>
              <a:spcBef>
                <a:spcPts val="0"/>
              </a:spcBef>
              <a:spcAft>
                <a:spcPts val="0"/>
              </a:spcAft>
              <a:buClr>
                <a:schemeClr val="accent2"/>
              </a:buClr>
              <a:buSzPts val="2208"/>
              <a:buFont typeface="Noto Sans Symbols"/>
              <a:buChar char="◼"/>
            </a:pPr>
            <a:r>
              <a:rPr b="1" i="0" lang="en-US" sz="2400" u="none">
                <a:solidFill>
                  <a:srgbClr val="0000FF"/>
                </a:solidFill>
                <a:latin typeface="Gill Sans"/>
                <a:ea typeface="Gill Sans"/>
                <a:cs typeface="Gill Sans"/>
                <a:sym typeface="Gill Sans"/>
              </a:rPr>
              <a:t>Public:</a:t>
            </a:r>
            <a:r>
              <a:rPr b="0" i="0" lang="en-US" sz="2400" u="none">
                <a:solidFill>
                  <a:schemeClr val="dk2"/>
                </a:solidFill>
                <a:latin typeface="Gill Sans"/>
                <a:ea typeface="Gill Sans"/>
                <a:cs typeface="Gill Sans"/>
                <a:sym typeface="Gill Sans"/>
              </a:rPr>
              <a:t> Modulus </a:t>
            </a:r>
            <a:r>
              <a:rPr b="0" i="0" lang="en-US" sz="2400" u="none">
                <a:solidFill>
                  <a:schemeClr val="dk2"/>
                </a:solidFill>
                <a:latin typeface="Times"/>
                <a:ea typeface="Times"/>
                <a:cs typeface="Times"/>
                <a:sym typeface="Times"/>
              </a:rPr>
              <a:t>N</a:t>
            </a:r>
            <a:r>
              <a:rPr b="0" i="0" lang="en-US" sz="2400" u="none">
                <a:solidFill>
                  <a:schemeClr val="dk2"/>
                </a:solidFill>
                <a:latin typeface="Gill Sans"/>
                <a:ea typeface="Gill Sans"/>
                <a:cs typeface="Gill Sans"/>
                <a:sym typeface="Gill Sans"/>
              </a:rPr>
              <a:t>  and </a:t>
            </a:r>
            <a:r>
              <a:rPr b="0" i="0" lang="en-US" sz="2400" u="none">
                <a:solidFill>
                  <a:schemeClr val="dk2"/>
                </a:solidFill>
                <a:latin typeface="Times"/>
                <a:ea typeface="Times"/>
                <a:cs typeface="Times"/>
                <a:sym typeface="Times"/>
              </a:rPr>
              <a:t>v = </a:t>
            </a:r>
            <a:r>
              <a:rPr b="0" i="0" lang="en-US" sz="2400" u="none">
                <a:solidFill>
                  <a:srgbClr val="FF0000"/>
                </a:solidFill>
                <a:latin typeface="Times"/>
                <a:ea typeface="Times"/>
                <a:cs typeface="Times"/>
                <a:sym typeface="Times"/>
              </a:rPr>
              <a:t>S</a:t>
            </a:r>
            <a:r>
              <a:rPr b="0" baseline="30000" i="0" lang="en-US" sz="2400" u="none">
                <a:solidFill>
                  <a:schemeClr val="dk2"/>
                </a:solidFill>
                <a:latin typeface="Times"/>
                <a:ea typeface="Times"/>
                <a:cs typeface="Times"/>
                <a:sym typeface="Times"/>
              </a:rPr>
              <a:t>2</a:t>
            </a:r>
            <a:r>
              <a:rPr b="0" i="0" lang="en-US" sz="2400" u="none">
                <a:solidFill>
                  <a:schemeClr val="dk2"/>
                </a:solidFill>
                <a:latin typeface="Times"/>
                <a:ea typeface="Times"/>
                <a:cs typeface="Times"/>
                <a:sym typeface="Times"/>
              </a:rPr>
              <a:t> mod N</a:t>
            </a:r>
            <a:endParaRPr/>
          </a:p>
          <a:p>
            <a:pPr indent="-304800" lvl="0" marL="304800" marR="0" rtl="0" algn="l">
              <a:lnSpc>
                <a:spcPct val="70000"/>
              </a:lnSpc>
              <a:spcBef>
                <a:spcPts val="1080"/>
              </a:spcBef>
              <a:spcAft>
                <a:spcPts val="0"/>
              </a:spcAft>
              <a:buClr>
                <a:schemeClr val="accent2"/>
              </a:buClr>
              <a:buSzPts val="2208"/>
              <a:buFont typeface="Noto Sans Symbols"/>
              <a:buChar char="◼"/>
            </a:pPr>
            <a:r>
              <a:rPr b="0" i="0" lang="en-US" sz="2400" u="none">
                <a:solidFill>
                  <a:schemeClr val="dk2"/>
                </a:solidFill>
                <a:latin typeface="Gill Sans"/>
                <a:ea typeface="Gill Sans"/>
                <a:cs typeface="Gill Sans"/>
                <a:sym typeface="Gill Sans"/>
              </a:rPr>
              <a:t>Alice selects random </a:t>
            </a:r>
            <a:r>
              <a:rPr b="0" i="0" lang="en-US" sz="2400" u="none">
                <a:solidFill>
                  <a:schemeClr val="dk2"/>
                </a:solidFill>
                <a:latin typeface="Times"/>
                <a:ea typeface="Times"/>
                <a:cs typeface="Times"/>
                <a:sym typeface="Times"/>
              </a:rPr>
              <a:t>r, </a:t>
            </a:r>
            <a:r>
              <a:rPr b="0" i="0" lang="en-US" sz="2400" u="none">
                <a:solidFill>
                  <a:schemeClr val="dk2"/>
                </a:solidFill>
                <a:latin typeface="Gill Sans"/>
                <a:ea typeface="Gill Sans"/>
                <a:cs typeface="Gill Sans"/>
                <a:sym typeface="Gill Sans"/>
              </a:rPr>
              <a:t>Bob chooses </a:t>
            </a:r>
            <a:r>
              <a:rPr b="0" i="0" lang="en-US" sz="2400" u="none">
                <a:solidFill>
                  <a:schemeClr val="dk2"/>
                </a:solidFill>
                <a:latin typeface="Times"/>
                <a:ea typeface="Times"/>
                <a:cs typeface="Times"/>
                <a:sym typeface="Times"/>
              </a:rPr>
              <a:t>e =1</a:t>
            </a:r>
            <a:r>
              <a:rPr b="0" i="0" lang="en-US" sz="2400" u="none">
                <a:solidFill>
                  <a:schemeClr val="dk2"/>
                </a:solidFill>
                <a:latin typeface="Gill Sans"/>
                <a:ea typeface="Gill Sans"/>
                <a:cs typeface="Gill Sans"/>
                <a:sym typeface="Gill Sans"/>
              </a:rPr>
              <a:t> </a:t>
            </a:r>
            <a:endParaRPr/>
          </a:p>
          <a:p>
            <a:pPr indent="-304800" lvl="0" marL="304800" marR="0" rtl="0" algn="l">
              <a:lnSpc>
                <a:spcPct val="70000"/>
              </a:lnSpc>
              <a:spcBef>
                <a:spcPts val="1080"/>
              </a:spcBef>
              <a:spcAft>
                <a:spcPts val="0"/>
              </a:spcAft>
              <a:buClr>
                <a:schemeClr val="accent2"/>
              </a:buClr>
              <a:buSzPts val="2208"/>
              <a:buFont typeface="Noto Sans Symbols"/>
              <a:buChar char="◼"/>
            </a:pPr>
            <a:r>
              <a:rPr b="0" i="0" lang="en-US" sz="2400" u="none">
                <a:solidFill>
                  <a:schemeClr val="dk2"/>
                </a:solidFill>
                <a:latin typeface="Gill Sans"/>
                <a:ea typeface="Gill Sans"/>
                <a:cs typeface="Gill Sans"/>
                <a:sym typeface="Gill Sans"/>
              </a:rPr>
              <a:t>If </a:t>
            </a:r>
            <a:r>
              <a:rPr b="0" i="0" lang="en-US" sz="2400" u="none">
                <a:solidFill>
                  <a:schemeClr val="dk2"/>
                </a:solidFill>
                <a:latin typeface="Times"/>
                <a:ea typeface="Times"/>
                <a:cs typeface="Times"/>
                <a:sym typeface="Times"/>
              </a:rPr>
              <a:t>y</a:t>
            </a:r>
            <a:r>
              <a:rPr b="0" baseline="30000" i="0" lang="en-US" sz="2400" u="none">
                <a:solidFill>
                  <a:schemeClr val="dk2"/>
                </a:solidFill>
                <a:latin typeface="Times"/>
                <a:ea typeface="Times"/>
                <a:cs typeface="Times"/>
                <a:sym typeface="Times"/>
              </a:rPr>
              <a:t>2</a:t>
            </a:r>
            <a:r>
              <a:rPr b="0" i="0" lang="en-US" sz="2400" u="none">
                <a:solidFill>
                  <a:schemeClr val="dk2"/>
                </a:solidFill>
                <a:latin typeface="Times"/>
                <a:ea typeface="Times"/>
                <a:cs typeface="Times"/>
                <a:sym typeface="Times"/>
              </a:rPr>
              <a:t> = x</a:t>
            </a:r>
            <a:r>
              <a:rPr b="0" baseline="30000" i="0" lang="en-US" sz="2400" u="none">
                <a:solidFill>
                  <a:schemeClr val="dk2"/>
                </a:solidFill>
                <a:latin typeface="Times"/>
                <a:ea typeface="Times"/>
                <a:cs typeface="Times"/>
                <a:sym typeface="Times"/>
              </a:rPr>
              <a:t> </a:t>
            </a:r>
            <a:r>
              <a:rPr b="0" i="0" lang="en-US" sz="2400" u="none">
                <a:solidFill>
                  <a:schemeClr val="dk2"/>
                </a:solidFill>
                <a:latin typeface="Times"/>
                <a:ea typeface="Times"/>
                <a:cs typeface="Times"/>
                <a:sym typeface="Times"/>
              </a:rPr>
              <a:t>⋅</a:t>
            </a:r>
            <a:r>
              <a:rPr b="0" baseline="30000" i="0" lang="en-US" sz="2400" u="none">
                <a:solidFill>
                  <a:schemeClr val="dk2"/>
                </a:solidFill>
                <a:latin typeface="Times"/>
                <a:ea typeface="Times"/>
                <a:cs typeface="Times"/>
                <a:sym typeface="Times"/>
              </a:rPr>
              <a:t> </a:t>
            </a:r>
            <a:r>
              <a:rPr b="0" i="0" lang="en-US" sz="2400" u="none">
                <a:solidFill>
                  <a:schemeClr val="dk2"/>
                </a:solidFill>
                <a:latin typeface="Times"/>
                <a:ea typeface="Times"/>
                <a:cs typeface="Times"/>
                <a:sym typeface="Times"/>
              </a:rPr>
              <a:t>v mod N</a:t>
            </a:r>
            <a:r>
              <a:rPr b="0" i="0" lang="en-US" sz="2400" u="none">
                <a:solidFill>
                  <a:schemeClr val="dk2"/>
                </a:solidFill>
                <a:latin typeface="Gill Sans"/>
                <a:ea typeface="Gill Sans"/>
                <a:cs typeface="Gill Sans"/>
                <a:sym typeface="Gill Sans"/>
              </a:rPr>
              <a:t> then Bob accepts it</a:t>
            </a:r>
            <a:endParaRPr/>
          </a:p>
          <a:p>
            <a:pPr indent="-304800" lvl="1" marL="628650" marR="0" rtl="0" algn="l">
              <a:lnSpc>
                <a:spcPct val="7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I.e., “Alice” passes this iteration of the protocol</a:t>
            </a:r>
            <a:endParaRPr/>
          </a:p>
          <a:p>
            <a:pPr indent="-304800" lvl="0" marL="304800" marR="0" rtl="0" algn="l">
              <a:lnSpc>
                <a:spcPct val="70000"/>
              </a:lnSpc>
              <a:spcBef>
                <a:spcPts val="1080"/>
              </a:spcBef>
              <a:spcAft>
                <a:spcPts val="0"/>
              </a:spcAft>
              <a:buClr>
                <a:schemeClr val="accent2"/>
              </a:buClr>
              <a:buSzPts val="2208"/>
              <a:buFont typeface="Noto Sans Symbols"/>
              <a:buChar char="◼"/>
            </a:pPr>
            <a:r>
              <a:rPr b="0" i="0" lang="en-US" sz="2400" u="none">
                <a:solidFill>
                  <a:schemeClr val="dk2"/>
                </a:solidFill>
                <a:latin typeface="Gill Sans"/>
                <a:ea typeface="Gill Sans"/>
                <a:cs typeface="Gill Sans"/>
                <a:sym typeface="Gill Sans"/>
              </a:rPr>
              <a:t>Note that Alice must know </a:t>
            </a:r>
            <a:r>
              <a:rPr b="0" i="0" lang="en-US" sz="2400" u="none">
                <a:solidFill>
                  <a:srgbClr val="FF0000"/>
                </a:solidFill>
                <a:latin typeface="Times"/>
                <a:ea typeface="Times"/>
                <a:cs typeface="Times"/>
                <a:sym typeface="Times"/>
              </a:rPr>
              <a:t>S</a:t>
            </a:r>
            <a:r>
              <a:rPr b="0" i="0" lang="en-US" sz="2400" u="none">
                <a:solidFill>
                  <a:schemeClr val="dk2"/>
                </a:solidFill>
                <a:latin typeface="Gill Sans"/>
                <a:ea typeface="Gill Sans"/>
                <a:cs typeface="Gill Sans"/>
                <a:sym typeface="Gill Sans"/>
              </a:rPr>
              <a:t> in this case</a:t>
            </a:r>
            <a:endParaRPr/>
          </a:p>
        </p:txBody>
      </p:sp>
      <p:sp>
        <p:nvSpPr>
          <p:cNvPr id="977" name="Google Shape;977;p65"/>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978" name="Google Shape;978;p65"/>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cxnSp>
        <p:nvCxnSpPr>
          <p:cNvPr id="979" name="Google Shape;979;p65"/>
          <p:cNvCxnSpPr/>
          <p:nvPr/>
        </p:nvCxnSpPr>
        <p:spPr>
          <a:xfrm>
            <a:off x="2400300" y="2425700"/>
            <a:ext cx="46482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980" name="Google Shape;980;p65"/>
          <p:cNvCxnSpPr/>
          <p:nvPr/>
        </p:nvCxnSpPr>
        <p:spPr>
          <a:xfrm rot="10800000">
            <a:off x="2324100" y="2933700"/>
            <a:ext cx="4724400" cy="0"/>
          </a:xfrm>
          <a:prstGeom prst="straightConnector1">
            <a:avLst/>
          </a:prstGeom>
          <a:noFill/>
          <a:ln cap="flat" cmpd="sng" w="50800">
            <a:solidFill>
              <a:schemeClr val="dk1"/>
            </a:solidFill>
            <a:prstDash val="solid"/>
            <a:miter lim="800000"/>
            <a:headEnd len="med" w="med" type="none"/>
            <a:tailEnd len="med" w="med" type="triangle"/>
          </a:ln>
        </p:spPr>
      </p:cxnSp>
      <p:sp>
        <p:nvSpPr>
          <p:cNvPr id="981" name="Google Shape;981;p65"/>
          <p:cNvSpPr txBox="1"/>
          <p:nvPr/>
        </p:nvSpPr>
        <p:spPr>
          <a:xfrm>
            <a:off x="1214437" y="3500437"/>
            <a:ext cx="908050" cy="4064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Alice</a:t>
            </a:r>
            <a:endParaRPr/>
          </a:p>
        </p:txBody>
      </p:sp>
      <p:sp>
        <p:nvSpPr>
          <p:cNvPr id="982" name="Google Shape;982;p65"/>
          <p:cNvSpPr txBox="1"/>
          <p:nvPr/>
        </p:nvSpPr>
        <p:spPr>
          <a:xfrm>
            <a:off x="7358062" y="3500437"/>
            <a:ext cx="7175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a:t>
            </a:r>
            <a:endParaRPr/>
          </a:p>
        </p:txBody>
      </p:sp>
      <p:sp>
        <p:nvSpPr>
          <p:cNvPr id="983" name="Google Shape;983;p65"/>
          <p:cNvSpPr txBox="1"/>
          <p:nvPr/>
        </p:nvSpPr>
        <p:spPr>
          <a:xfrm>
            <a:off x="3643312" y="1928812"/>
            <a:ext cx="18811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x = r</a:t>
            </a:r>
            <a:r>
              <a:rPr b="0" baseline="30000" i="0" lang="en-US" sz="2400" u="none">
                <a:solidFill>
                  <a:schemeClr val="dk1"/>
                </a:solidFill>
                <a:latin typeface="Times"/>
                <a:ea typeface="Times"/>
                <a:cs typeface="Times"/>
                <a:sym typeface="Times"/>
              </a:rPr>
              <a:t>2</a:t>
            </a:r>
            <a:r>
              <a:rPr b="0" i="0" lang="en-US" sz="2400" u="none">
                <a:solidFill>
                  <a:schemeClr val="dk1"/>
                </a:solidFill>
                <a:latin typeface="Times"/>
                <a:ea typeface="Times"/>
                <a:cs typeface="Times"/>
                <a:sym typeface="Times"/>
              </a:rPr>
              <a:t> mod N</a:t>
            </a:r>
            <a:endParaRPr/>
          </a:p>
        </p:txBody>
      </p:sp>
      <p:sp>
        <p:nvSpPr>
          <p:cNvPr id="984" name="Google Shape;984;p65"/>
          <p:cNvSpPr txBox="1"/>
          <p:nvPr/>
        </p:nvSpPr>
        <p:spPr>
          <a:xfrm>
            <a:off x="4143375" y="2500312"/>
            <a:ext cx="960437"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e = 1</a:t>
            </a:r>
            <a:r>
              <a:rPr b="0" i="0" lang="en-US" sz="2400" u="none">
                <a:solidFill>
                  <a:schemeClr val="dk1"/>
                </a:solidFill>
                <a:latin typeface="Comic Sans MS"/>
                <a:ea typeface="Comic Sans MS"/>
                <a:cs typeface="Comic Sans MS"/>
                <a:sym typeface="Comic Sans MS"/>
              </a:rPr>
              <a:t> </a:t>
            </a:r>
            <a:endParaRPr/>
          </a:p>
        </p:txBody>
      </p:sp>
      <p:cxnSp>
        <p:nvCxnSpPr>
          <p:cNvPr id="985" name="Google Shape;985;p65"/>
          <p:cNvCxnSpPr/>
          <p:nvPr/>
        </p:nvCxnSpPr>
        <p:spPr>
          <a:xfrm>
            <a:off x="2400300" y="3529012"/>
            <a:ext cx="4648200" cy="0"/>
          </a:xfrm>
          <a:prstGeom prst="straightConnector1">
            <a:avLst/>
          </a:prstGeom>
          <a:noFill/>
          <a:ln cap="flat" cmpd="sng" w="50800">
            <a:solidFill>
              <a:schemeClr val="dk1"/>
            </a:solidFill>
            <a:prstDash val="solid"/>
            <a:miter lim="800000"/>
            <a:headEnd len="med" w="med" type="none"/>
            <a:tailEnd len="med" w="med" type="triangle"/>
          </a:ln>
        </p:spPr>
      </p:cxnSp>
      <p:sp>
        <p:nvSpPr>
          <p:cNvPr id="986" name="Google Shape;986;p65"/>
          <p:cNvSpPr txBox="1"/>
          <p:nvPr/>
        </p:nvSpPr>
        <p:spPr>
          <a:xfrm>
            <a:off x="3543300" y="3071812"/>
            <a:ext cx="21240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y = r*</a:t>
            </a:r>
            <a:r>
              <a:rPr b="0" i="0" lang="en-US" sz="2400" u="none">
                <a:solidFill>
                  <a:srgbClr val="FF0000"/>
                </a:solidFill>
                <a:latin typeface="Times"/>
                <a:ea typeface="Times"/>
                <a:cs typeface="Times"/>
                <a:sym typeface="Times"/>
              </a:rPr>
              <a:t>S</a:t>
            </a:r>
            <a:r>
              <a:rPr b="0" i="0" lang="en-US" sz="2400" u="none">
                <a:solidFill>
                  <a:schemeClr val="dk1"/>
                </a:solidFill>
                <a:latin typeface="Times"/>
                <a:ea typeface="Times"/>
                <a:cs typeface="Times"/>
                <a:sym typeface="Times"/>
              </a:rPr>
              <a:t> mod N</a:t>
            </a:r>
            <a:endParaRPr/>
          </a:p>
        </p:txBody>
      </p:sp>
      <p:pic>
        <p:nvPicPr>
          <p:cNvPr id="987" name="Google Shape;987;p65"/>
          <p:cNvPicPr preferRelativeResize="0"/>
          <p:nvPr/>
        </p:nvPicPr>
        <p:blipFill rotWithShape="1">
          <a:blip r:embed="rId3">
            <a:alphaModFix/>
          </a:blip>
          <a:srcRect b="0" l="0" r="0" t="0"/>
          <a:stretch/>
        </p:blipFill>
        <p:spPr>
          <a:xfrm>
            <a:off x="1181100" y="1928812"/>
            <a:ext cx="946150" cy="1624012"/>
          </a:xfrm>
          <a:prstGeom prst="rect">
            <a:avLst/>
          </a:prstGeom>
          <a:noFill/>
          <a:ln>
            <a:noFill/>
          </a:ln>
        </p:spPr>
      </p:pic>
      <p:pic>
        <p:nvPicPr>
          <p:cNvPr id="988" name="Google Shape;988;p65"/>
          <p:cNvPicPr preferRelativeResize="0"/>
          <p:nvPr/>
        </p:nvPicPr>
        <p:blipFill rotWithShape="1">
          <a:blip r:embed="rId4">
            <a:alphaModFix/>
          </a:blip>
          <a:srcRect b="0" l="0" r="0" t="0"/>
          <a:stretch/>
        </p:blipFill>
        <p:spPr>
          <a:xfrm>
            <a:off x="7277100" y="1863725"/>
            <a:ext cx="1076325" cy="1665287"/>
          </a:xfrm>
          <a:prstGeom prst="rect">
            <a:avLst/>
          </a:prstGeom>
          <a:noFill/>
          <a:ln>
            <a:noFill/>
          </a:ln>
        </p:spPr>
      </p:pic>
      <p:sp>
        <p:nvSpPr>
          <p:cNvPr id="989" name="Google Shape;989;p65"/>
          <p:cNvSpPr txBox="1"/>
          <p:nvPr/>
        </p:nvSpPr>
        <p:spPr>
          <a:xfrm>
            <a:off x="1976437" y="1843087"/>
            <a:ext cx="1441450" cy="563562"/>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FF"/>
              </a:buClr>
              <a:buSzPts val="1800"/>
              <a:buFont typeface="Comic Sans MS"/>
              <a:buNone/>
            </a:pPr>
            <a:r>
              <a:rPr b="0" i="0" lang="en-US" sz="1800" u="none">
                <a:solidFill>
                  <a:srgbClr val="0000FF"/>
                </a:solidFill>
                <a:latin typeface="Comic Sans MS"/>
                <a:ea typeface="Comic Sans MS"/>
                <a:cs typeface="Comic Sans MS"/>
                <a:sym typeface="Comic Sans MS"/>
              </a:rPr>
              <a:t>Secret </a:t>
            </a:r>
            <a:r>
              <a:rPr b="0" i="0" lang="en-US" sz="1800" u="none">
                <a:solidFill>
                  <a:srgbClr val="0000FF"/>
                </a:solidFill>
                <a:latin typeface="Times"/>
                <a:ea typeface="Times"/>
                <a:cs typeface="Times"/>
                <a:sym typeface="Times"/>
              </a:rPr>
              <a:t>S</a:t>
            </a:r>
            <a:endParaRPr/>
          </a:p>
          <a:p>
            <a:pPr indent="0" lvl="0" marL="0" marR="0" rtl="0" algn="ctr">
              <a:lnSpc>
                <a:spcPct val="85000"/>
              </a:lnSpc>
              <a:spcBef>
                <a:spcPts val="0"/>
              </a:spcBef>
              <a:spcAft>
                <a:spcPts val="0"/>
              </a:spcAft>
              <a:buClr>
                <a:srgbClr val="0000FF"/>
              </a:buClr>
              <a:buSzPts val="1800"/>
              <a:buFont typeface="Comic Sans MS"/>
              <a:buNone/>
            </a:pPr>
            <a:r>
              <a:rPr b="0" i="0" lang="en-US" sz="1800" u="none">
                <a:solidFill>
                  <a:srgbClr val="0000FF"/>
                </a:solidFill>
                <a:latin typeface="Comic Sans MS"/>
                <a:ea typeface="Comic Sans MS"/>
                <a:cs typeface="Comic Sans MS"/>
                <a:sym typeface="Comic Sans MS"/>
              </a:rPr>
              <a:t>Random </a:t>
            </a:r>
            <a:r>
              <a:rPr b="0" i="0" lang="en-US" sz="1800" u="none">
                <a:solidFill>
                  <a:srgbClr val="0000FF"/>
                </a:solidFill>
                <a:latin typeface="Times"/>
                <a:ea typeface="Times"/>
                <a:cs typeface="Times"/>
                <a:sym typeface="Times"/>
              </a:rPr>
              <a:t>r</a:t>
            </a:r>
            <a:endParaRPr/>
          </a:p>
        </p:txBody>
      </p:sp>
      <p:sp>
        <p:nvSpPr>
          <p:cNvPr id="990" name="Google Shape;990;p65"/>
          <p:cNvSpPr txBox="1"/>
          <p:nvPr/>
        </p:nvSpPr>
        <p:spPr>
          <a:xfrm>
            <a:off x="7277100" y="3927475"/>
            <a:ext cx="1441450" cy="327025"/>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FF"/>
              </a:buClr>
              <a:buSzPts val="1800"/>
              <a:buFont typeface="Comic Sans MS"/>
              <a:buNone/>
            </a:pPr>
            <a:r>
              <a:rPr b="0" i="0" lang="en-US" sz="1800" u="none">
                <a:solidFill>
                  <a:srgbClr val="0000FF"/>
                </a:solidFill>
                <a:latin typeface="Comic Sans MS"/>
                <a:ea typeface="Comic Sans MS"/>
                <a:cs typeface="Comic Sans MS"/>
                <a:sym typeface="Comic Sans MS"/>
              </a:rPr>
              <a:t>Random </a:t>
            </a:r>
            <a:r>
              <a:rPr b="0" i="0" lang="en-US" sz="1800" u="none">
                <a:solidFill>
                  <a:srgbClr val="0000FF"/>
                </a:solidFill>
                <a:latin typeface="Times"/>
                <a:ea typeface="Times"/>
                <a:cs typeface="Times"/>
                <a:sym typeface="Times"/>
              </a:rPr>
              <a:t>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9"/>
                                        </p:tgtEl>
                                        <p:attrNameLst>
                                          <p:attrName>style.visibility</p:attrName>
                                        </p:attrNameLst>
                                      </p:cBhvr>
                                      <p:to>
                                        <p:strVal val="visible"/>
                                      </p:to>
                                    </p:set>
                                    <p:animEffect filter="fade" transition="in">
                                      <p:cBhvr>
                                        <p:cTn dur="500"/>
                                        <p:tgtEl>
                                          <p:spTgt spid="979"/>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9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980"/>
                                        </p:tgtEl>
                                        <p:attrNameLst>
                                          <p:attrName>style.visibility</p:attrName>
                                        </p:attrNameLst>
                                      </p:cBhvr>
                                      <p:to>
                                        <p:strVal val="visible"/>
                                      </p:to>
                                    </p:set>
                                    <p:anim calcmode="lin" valueType="num">
                                      <p:cBhvr additive="base">
                                        <p:cTn dur="500"/>
                                        <p:tgtEl>
                                          <p:spTgt spid="980"/>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9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5"/>
                                        </p:tgtEl>
                                        <p:attrNameLst>
                                          <p:attrName>style.visibility</p:attrName>
                                        </p:attrNameLst>
                                      </p:cBhvr>
                                      <p:to>
                                        <p:strVal val="visible"/>
                                      </p:to>
                                    </p:set>
                                    <p:animEffect filter="fade" transition="in">
                                      <p:cBhvr>
                                        <p:cTn dur="500"/>
                                        <p:tgtEl>
                                          <p:spTgt spid="985"/>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9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66"/>
          <p:cNvSpPr txBox="1"/>
          <p:nvPr>
            <p:ph type="title"/>
          </p:nvPr>
        </p:nvSpPr>
        <p:spPr>
          <a:xfrm>
            <a:off x="785812" y="501650"/>
            <a:ext cx="7072312" cy="855662"/>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FIAT-SHAMIR: E = 0</a:t>
            </a:r>
            <a:endParaRPr/>
          </a:p>
        </p:txBody>
      </p:sp>
      <p:sp>
        <p:nvSpPr>
          <p:cNvPr id="996" name="Google Shape;996;p66"/>
          <p:cNvSpPr txBox="1"/>
          <p:nvPr>
            <p:ph idx="1" type="body"/>
          </p:nvPr>
        </p:nvSpPr>
        <p:spPr>
          <a:xfrm>
            <a:off x="785812" y="4114800"/>
            <a:ext cx="7900987" cy="2133600"/>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80000"/>
              </a:lnSpc>
              <a:spcBef>
                <a:spcPts val="0"/>
              </a:spcBef>
              <a:spcAft>
                <a:spcPts val="0"/>
              </a:spcAft>
              <a:buClr>
                <a:schemeClr val="accent2"/>
              </a:buClr>
              <a:buSzPts val="2208"/>
              <a:buFont typeface="Noto Sans Symbols"/>
              <a:buChar char="◼"/>
            </a:pPr>
            <a:r>
              <a:rPr b="1" i="0" lang="en-US" sz="2400" u="none">
                <a:solidFill>
                  <a:srgbClr val="0000FF"/>
                </a:solidFill>
                <a:latin typeface="Gill Sans"/>
                <a:ea typeface="Gill Sans"/>
                <a:cs typeface="Gill Sans"/>
                <a:sym typeface="Gill Sans"/>
              </a:rPr>
              <a:t>Public:</a:t>
            </a:r>
            <a:r>
              <a:rPr b="0" i="0" lang="en-US" sz="2400" u="none">
                <a:solidFill>
                  <a:schemeClr val="dk2"/>
                </a:solidFill>
                <a:latin typeface="Gill Sans"/>
                <a:ea typeface="Gill Sans"/>
                <a:cs typeface="Gill Sans"/>
                <a:sym typeface="Gill Sans"/>
              </a:rPr>
              <a:t> Modulus </a:t>
            </a:r>
            <a:r>
              <a:rPr b="0" i="0" lang="en-US" sz="2400" u="none">
                <a:solidFill>
                  <a:schemeClr val="dk2"/>
                </a:solidFill>
                <a:latin typeface="Times"/>
                <a:ea typeface="Times"/>
                <a:cs typeface="Times"/>
                <a:sym typeface="Times"/>
              </a:rPr>
              <a:t>N</a:t>
            </a:r>
            <a:r>
              <a:rPr b="0" i="0" lang="en-US" sz="2400" u="none">
                <a:solidFill>
                  <a:schemeClr val="dk2"/>
                </a:solidFill>
                <a:latin typeface="Gill Sans"/>
                <a:ea typeface="Gill Sans"/>
                <a:cs typeface="Gill Sans"/>
                <a:sym typeface="Gill Sans"/>
              </a:rPr>
              <a:t>  and </a:t>
            </a:r>
            <a:r>
              <a:rPr b="0" i="0" lang="en-US" sz="2400" u="none">
                <a:solidFill>
                  <a:schemeClr val="dk2"/>
                </a:solidFill>
                <a:latin typeface="Times"/>
                <a:ea typeface="Times"/>
                <a:cs typeface="Times"/>
                <a:sym typeface="Times"/>
              </a:rPr>
              <a:t>v = </a:t>
            </a:r>
            <a:r>
              <a:rPr b="0" i="0" lang="en-US" sz="2400" u="none">
                <a:solidFill>
                  <a:srgbClr val="FF0000"/>
                </a:solidFill>
                <a:latin typeface="Times"/>
                <a:ea typeface="Times"/>
                <a:cs typeface="Times"/>
                <a:sym typeface="Times"/>
              </a:rPr>
              <a:t>S</a:t>
            </a:r>
            <a:r>
              <a:rPr b="0" baseline="30000" i="0" lang="en-US" sz="2400" u="none">
                <a:solidFill>
                  <a:schemeClr val="dk2"/>
                </a:solidFill>
                <a:latin typeface="Times"/>
                <a:ea typeface="Times"/>
                <a:cs typeface="Times"/>
                <a:sym typeface="Times"/>
              </a:rPr>
              <a:t>2</a:t>
            </a:r>
            <a:r>
              <a:rPr b="0" i="0" lang="en-US" sz="2400" u="none">
                <a:solidFill>
                  <a:schemeClr val="dk2"/>
                </a:solidFill>
                <a:latin typeface="Times"/>
                <a:ea typeface="Times"/>
                <a:cs typeface="Times"/>
                <a:sym typeface="Times"/>
              </a:rPr>
              <a:t> mod N</a:t>
            </a:r>
            <a:endParaRPr/>
          </a:p>
          <a:p>
            <a:pPr indent="-304800" lvl="0" marL="304800" marR="0" rtl="0" algn="l">
              <a:lnSpc>
                <a:spcPct val="80000"/>
              </a:lnSpc>
              <a:spcBef>
                <a:spcPts val="1080"/>
              </a:spcBef>
              <a:spcAft>
                <a:spcPts val="0"/>
              </a:spcAft>
              <a:buClr>
                <a:schemeClr val="accent2"/>
              </a:buClr>
              <a:buSzPts val="2208"/>
              <a:buFont typeface="Noto Sans Symbols"/>
              <a:buChar char="◼"/>
            </a:pPr>
            <a:r>
              <a:rPr b="0" i="0" lang="en-US" sz="2400" u="none">
                <a:solidFill>
                  <a:schemeClr val="dk2"/>
                </a:solidFill>
                <a:latin typeface="Gill Sans"/>
                <a:ea typeface="Gill Sans"/>
                <a:cs typeface="Gill Sans"/>
                <a:sym typeface="Gill Sans"/>
              </a:rPr>
              <a:t>Alice selects random </a:t>
            </a:r>
            <a:r>
              <a:rPr b="0" i="0" lang="en-US" sz="2400" u="none">
                <a:solidFill>
                  <a:schemeClr val="dk2"/>
                </a:solidFill>
                <a:latin typeface="Times"/>
                <a:ea typeface="Times"/>
                <a:cs typeface="Times"/>
                <a:sym typeface="Times"/>
              </a:rPr>
              <a:t>r, </a:t>
            </a:r>
            <a:r>
              <a:rPr b="0" i="0" lang="en-US" sz="2400" u="none">
                <a:solidFill>
                  <a:schemeClr val="dk2"/>
                </a:solidFill>
                <a:latin typeface="Gill Sans"/>
                <a:ea typeface="Gill Sans"/>
                <a:cs typeface="Gill Sans"/>
                <a:sym typeface="Gill Sans"/>
              </a:rPr>
              <a:t>Bob chooses </a:t>
            </a:r>
            <a:r>
              <a:rPr b="0" i="0" lang="en-US" sz="2400" u="none">
                <a:solidFill>
                  <a:schemeClr val="dk2"/>
                </a:solidFill>
                <a:latin typeface="Times"/>
                <a:ea typeface="Times"/>
                <a:cs typeface="Times"/>
                <a:sym typeface="Times"/>
              </a:rPr>
              <a:t>e = 0</a:t>
            </a:r>
            <a:endParaRPr/>
          </a:p>
          <a:p>
            <a:pPr indent="-304800" lvl="0" marL="304800" marR="0" rtl="0" algn="l">
              <a:lnSpc>
                <a:spcPct val="80000"/>
              </a:lnSpc>
              <a:spcBef>
                <a:spcPts val="1080"/>
              </a:spcBef>
              <a:spcAft>
                <a:spcPts val="0"/>
              </a:spcAft>
              <a:buClr>
                <a:schemeClr val="accent2"/>
              </a:buClr>
              <a:buSzPts val="2208"/>
              <a:buFont typeface="Noto Sans Symbols"/>
              <a:buChar char="◼"/>
            </a:pPr>
            <a:r>
              <a:rPr b="0" i="0" lang="en-US" sz="2400" u="none">
                <a:solidFill>
                  <a:schemeClr val="dk2"/>
                </a:solidFill>
                <a:latin typeface="Gill Sans"/>
                <a:ea typeface="Gill Sans"/>
                <a:cs typeface="Gill Sans"/>
                <a:sym typeface="Gill Sans"/>
              </a:rPr>
              <a:t>Bob must verify that </a:t>
            </a:r>
            <a:r>
              <a:rPr b="0" i="0" lang="en-US" sz="2400" u="none">
                <a:solidFill>
                  <a:schemeClr val="dk2"/>
                </a:solidFill>
                <a:latin typeface="Times"/>
                <a:ea typeface="Times"/>
                <a:cs typeface="Times"/>
                <a:sym typeface="Times"/>
              </a:rPr>
              <a:t>y</a:t>
            </a:r>
            <a:r>
              <a:rPr b="0" baseline="30000" i="0" lang="en-US" sz="2400" u="none">
                <a:solidFill>
                  <a:schemeClr val="dk2"/>
                </a:solidFill>
                <a:latin typeface="Times"/>
                <a:ea typeface="Times"/>
                <a:cs typeface="Times"/>
                <a:sym typeface="Times"/>
              </a:rPr>
              <a:t>2</a:t>
            </a:r>
            <a:r>
              <a:rPr b="0" i="0" lang="en-US" sz="2400" u="none">
                <a:solidFill>
                  <a:schemeClr val="dk2"/>
                </a:solidFill>
                <a:latin typeface="Times"/>
                <a:ea typeface="Times"/>
                <a:cs typeface="Times"/>
                <a:sym typeface="Times"/>
              </a:rPr>
              <a:t> = x mod N</a:t>
            </a:r>
            <a:r>
              <a:rPr b="0" i="0" lang="en-US" sz="2400" u="none">
                <a:solidFill>
                  <a:schemeClr val="dk2"/>
                </a:solidFill>
                <a:latin typeface="Gill Sans"/>
                <a:ea typeface="Gill Sans"/>
                <a:cs typeface="Gill Sans"/>
                <a:sym typeface="Gill Sans"/>
              </a:rPr>
              <a:t> </a:t>
            </a:r>
            <a:endParaRPr/>
          </a:p>
          <a:p>
            <a:pPr indent="-304800" lvl="0" marL="304800" marR="0" rtl="0" algn="l">
              <a:lnSpc>
                <a:spcPct val="80000"/>
              </a:lnSpc>
              <a:spcBef>
                <a:spcPts val="1080"/>
              </a:spcBef>
              <a:spcAft>
                <a:spcPts val="0"/>
              </a:spcAft>
              <a:buClr>
                <a:schemeClr val="accent2"/>
              </a:buClr>
              <a:buSzPts val="2208"/>
              <a:buFont typeface="Noto Sans Symbols"/>
              <a:buChar char="◼"/>
            </a:pPr>
            <a:r>
              <a:rPr b="0" i="0" lang="en-US" sz="2400" u="none">
                <a:solidFill>
                  <a:schemeClr val="dk2"/>
                </a:solidFill>
                <a:latin typeface="Gill Sans"/>
                <a:ea typeface="Gill Sans"/>
                <a:cs typeface="Gill Sans"/>
                <a:sym typeface="Gill Sans"/>
              </a:rPr>
              <a:t>Alice does </a:t>
            </a:r>
            <a:r>
              <a:rPr b="1" i="0" lang="en-US" sz="2400" u="none">
                <a:solidFill>
                  <a:srgbClr val="FF0000"/>
                </a:solidFill>
                <a:latin typeface="Gill Sans"/>
                <a:ea typeface="Gill Sans"/>
                <a:cs typeface="Gill Sans"/>
                <a:sym typeface="Gill Sans"/>
              </a:rPr>
              <a:t>not</a:t>
            </a:r>
            <a:r>
              <a:rPr b="0" i="0" lang="en-US" sz="2400" u="none">
                <a:solidFill>
                  <a:schemeClr val="dk2"/>
                </a:solidFill>
                <a:latin typeface="Gill Sans"/>
                <a:ea typeface="Gill Sans"/>
                <a:cs typeface="Gill Sans"/>
                <a:sym typeface="Gill Sans"/>
              </a:rPr>
              <a:t> need to know </a:t>
            </a:r>
            <a:r>
              <a:rPr b="0" i="0" lang="en-US" sz="2400" u="none">
                <a:solidFill>
                  <a:srgbClr val="FF0000"/>
                </a:solidFill>
                <a:latin typeface="Times"/>
                <a:ea typeface="Times"/>
                <a:cs typeface="Times"/>
                <a:sym typeface="Times"/>
              </a:rPr>
              <a:t>S</a:t>
            </a:r>
            <a:r>
              <a:rPr b="0" i="0" lang="en-US" sz="2400" u="none">
                <a:solidFill>
                  <a:schemeClr val="dk2"/>
                </a:solidFill>
                <a:latin typeface="Gill Sans"/>
                <a:ea typeface="Gill Sans"/>
                <a:cs typeface="Gill Sans"/>
                <a:sym typeface="Gill Sans"/>
              </a:rPr>
              <a:t> in this case!</a:t>
            </a:r>
            <a:endParaRPr/>
          </a:p>
        </p:txBody>
      </p:sp>
      <p:sp>
        <p:nvSpPr>
          <p:cNvPr id="997" name="Google Shape;997;p66"/>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998" name="Google Shape;998;p66"/>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cxnSp>
        <p:nvCxnSpPr>
          <p:cNvPr id="999" name="Google Shape;999;p66"/>
          <p:cNvCxnSpPr/>
          <p:nvPr/>
        </p:nvCxnSpPr>
        <p:spPr>
          <a:xfrm>
            <a:off x="2328862" y="2354262"/>
            <a:ext cx="4648200" cy="0"/>
          </a:xfrm>
          <a:prstGeom prst="straightConnector1">
            <a:avLst/>
          </a:prstGeom>
          <a:noFill/>
          <a:ln cap="flat" cmpd="sng" w="50800">
            <a:solidFill>
              <a:schemeClr val="dk1"/>
            </a:solidFill>
            <a:prstDash val="solid"/>
            <a:miter lim="800000"/>
            <a:headEnd len="med" w="med" type="none"/>
            <a:tailEnd len="med" w="med" type="triangle"/>
          </a:ln>
        </p:spPr>
      </p:cxnSp>
      <p:cxnSp>
        <p:nvCxnSpPr>
          <p:cNvPr id="1000" name="Google Shape;1000;p66"/>
          <p:cNvCxnSpPr/>
          <p:nvPr/>
        </p:nvCxnSpPr>
        <p:spPr>
          <a:xfrm rot="10800000">
            <a:off x="2252662" y="2862262"/>
            <a:ext cx="4724400" cy="0"/>
          </a:xfrm>
          <a:prstGeom prst="straightConnector1">
            <a:avLst/>
          </a:prstGeom>
          <a:noFill/>
          <a:ln cap="flat" cmpd="sng" w="50800">
            <a:solidFill>
              <a:schemeClr val="dk1"/>
            </a:solidFill>
            <a:prstDash val="solid"/>
            <a:miter lim="800000"/>
            <a:headEnd len="med" w="med" type="none"/>
            <a:tailEnd len="med" w="med" type="triangle"/>
          </a:ln>
        </p:spPr>
      </p:cxnSp>
      <p:sp>
        <p:nvSpPr>
          <p:cNvPr id="1001" name="Google Shape;1001;p66"/>
          <p:cNvSpPr txBox="1"/>
          <p:nvPr/>
        </p:nvSpPr>
        <p:spPr>
          <a:xfrm>
            <a:off x="1143000" y="3429000"/>
            <a:ext cx="908050" cy="4064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Alice</a:t>
            </a:r>
            <a:endParaRPr/>
          </a:p>
        </p:txBody>
      </p:sp>
      <p:sp>
        <p:nvSpPr>
          <p:cNvPr id="1002" name="Google Shape;1002;p66"/>
          <p:cNvSpPr txBox="1"/>
          <p:nvPr/>
        </p:nvSpPr>
        <p:spPr>
          <a:xfrm>
            <a:off x="7434262" y="3473450"/>
            <a:ext cx="7175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omic Sans MS"/>
              <a:buNone/>
            </a:pPr>
            <a:r>
              <a:rPr b="0" i="0" lang="en-US" sz="2400" u="none">
                <a:solidFill>
                  <a:schemeClr val="dk1"/>
                </a:solidFill>
                <a:latin typeface="Comic Sans MS"/>
                <a:ea typeface="Comic Sans MS"/>
                <a:cs typeface="Comic Sans MS"/>
                <a:sym typeface="Comic Sans MS"/>
              </a:rPr>
              <a:t>Bob</a:t>
            </a:r>
            <a:endParaRPr/>
          </a:p>
        </p:txBody>
      </p:sp>
      <p:sp>
        <p:nvSpPr>
          <p:cNvPr id="1003" name="Google Shape;1003;p66"/>
          <p:cNvSpPr txBox="1"/>
          <p:nvPr/>
        </p:nvSpPr>
        <p:spPr>
          <a:xfrm>
            <a:off x="3571875" y="1857375"/>
            <a:ext cx="18811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x = r</a:t>
            </a:r>
            <a:r>
              <a:rPr b="0" baseline="30000" i="0" lang="en-US" sz="2400" u="none">
                <a:solidFill>
                  <a:schemeClr val="dk1"/>
                </a:solidFill>
                <a:latin typeface="Times"/>
                <a:ea typeface="Times"/>
                <a:cs typeface="Times"/>
                <a:sym typeface="Times"/>
              </a:rPr>
              <a:t>2</a:t>
            </a:r>
            <a:r>
              <a:rPr b="0" i="0" lang="en-US" sz="2400" u="none">
                <a:solidFill>
                  <a:schemeClr val="dk1"/>
                </a:solidFill>
                <a:latin typeface="Times"/>
                <a:ea typeface="Times"/>
                <a:cs typeface="Times"/>
                <a:sym typeface="Times"/>
              </a:rPr>
              <a:t> mod N</a:t>
            </a:r>
            <a:endParaRPr/>
          </a:p>
        </p:txBody>
      </p:sp>
      <p:sp>
        <p:nvSpPr>
          <p:cNvPr id="1004" name="Google Shape;1004;p66"/>
          <p:cNvSpPr txBox="1"/>
          <p:nvPr/>
        </p:nvSpPr>
        <p:spPr>
          <a:xfrm>
            <a:off x="3883025" y="2428875"/>
            <a:ext cx="960437"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e = 0</a:t>
            </a:r>
            <a:r>
              <a:rPr b="0" i="0" lang="en-US" sz="2400" u="none">
                <a:solidFill>
                  <a:schemeClr val="dk1"/>
                </a:solidFill>
                <a:latin typeface="Comic Sans MS"/>
                <a:ea typeface="Comic Sans MS"/>
                <a:cs typeface="Comic Sans MS"/>
                <a:sym typeface="Comic Sans MS"/>
              </a:rPr>
              <a:t> </a:t>
            </a:r>
            <a:endParaRPr/>
          </a:p>
        </p:txBody>
      </p:sp>
      <p:cxnSp>
        <p:nvCxnSpPr>
          <p:cNvPr id="1005" name="Google Shape;1005;p66"/>
          <p:cNvCxnSpPr/>
          <p:nvPr/>
        </p:nvCxnSpPr>
        <p:spPr>
          <a:xfrm>
            <a:off x="2328862" y="3457575"/>
            <a:ext cx="4648200" cy="0"/>
          </a:xfrm>
          <a:prstGeom prst="straightConnector1">
            <a:avLst/>
          </a:prstGeom>
          <a:noFill/>
          <a:ln cap="flat" cmpd="sng" w="50800">
            <a:solidFill>
              <a:schemeClr val="dk1"/>
            </a:solidFill>
            <a:prstDash val="solid"/>
            <a:miter lim="800000"/>
            <a:headEnd len="med" w="med" type="none"/>
            <a:tailEnd len="med" w="med" type="triangle"/>
          </a:ln>
        </p:spPr>
      </p:cxnSp>
      <p:sp>
        <p:nvSpPr>
          <p:cNvPr id="1006" name="Google Shape;1006;p66"/>
          <p:cNvSpPr txBox="1"/>
          <p:nvPr/>
        </p:nvSpPr>
        <p:spPr>
          <a:xfrm>
            <a:off x="3608387" y="2979737"/>
            <a:ext cx="17684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y = r mod N</a:t>
            </a:r>
            <a:endParaRPr/>
          </a:p>
        </p:txBody>
      </p:sp>
      <p:pic>
        <p:nvPicPr>
          <p:cNvPr id="1007" name="Google Shape;1007;p66"/>
          <p:cNvPicPr preferRelativeResize="0"/>
          <p:nvPr/>
        </p:nvPicPr>
        <p:blipFill rotWithShape="1">
          <a:blip r:embed="rId3">
            <a:alphaModFix/>
          </a:blip>
          <a:srcRect b="0" l="0" r="0" t="0"/>
          <a:stretch/>
        </p:blipFill>
        <p:spPr>
          <a:xfrm>
            <a:off x="1033462" y="1909762"/>
            <a:ext cx="946150" cy="1624012"/>
          </a:xfrm>
          <a:prstGeom prst="rect">
            <a:avLst/>
          </a:prstGeom>
          <a:noFill/>
          <a:ln>
            <a:noFill/>
          </a:ln>
        </p:spPr>
      </p:pic>
      <p:pic>
        <p:nvPicPr>
          <p:cNvPr id="1008" name="Google Shape;1008;p66"/>
          <p:cNvPicPr preferRelativeResize="0"/>
          <p:nvPr/>
        </p:nvPicPr>
        <p:blipFill rotWithShape="1">
          <a:blip r:embed="rId4">
            <a:alphaModFix/>
          </a:blip>
          <a:srcRect b="0" l="0" r="0" t="0"/>
          <a:stretch/>
        </p:blipFill>
        <p:spPr>
          <a:xfrm>
            <a:off x="7272337" y="1868487"/>
            <a:ext cx="1076325" cy="1665287"/>
          </a:xfrm>
          <a:prstGeom prst="rect">
            <a:avLst/>
          </a:prstGeom>
          <a:noFill/>
          <a:ln>
            <a:noFill/>
          </a:ln>
        </p:spPr>
      </p:pic>
      <p:sp>
        <p:nvSpPr>
          <p:cNvPr id="1009" name="Google Shape;1009;p66"/>
          <p:cNvSpPr txBox="1"/>
          <p:nvPr/>
        </p:nvSpPr>
        <p:spPr>
          <a:xfrm>
            <a:off x="1905000" y="1771650"/>
            <a:ext cx="1428750" cy="563562"/>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FF"/>
              </a:buClr>
              <a:buSzPts val="1800"/>
              <a:buFont typeface="Comic Sans MS"/>
              <a:buNone/>
            </a:pPr>
            <a:r>
              <a:rPr b="0" i="0" lang="en-US" sz="1800" u="none">
                <a:solidFill>
                  <a:srgbClr val="0000FF"/>
                </a:solidFill>
                <a:latin typeface="Comic Sans MS"/>
                <a:ea typeface="Comic Sans MS"/>
                <a:cs typeface="Comic Sans MS"/>
                <a:sym typeface="Comic Sans MS"/>
              </a:rPr>
              <a:t>Secret </a:t>
            </a:r>
            <a:r>
              <a:rPr b="0" i="0" lang="en-US" sz="1800" u="none">
                <a:solidFill>
                  <a:srgbClr val="0000FF"/>
                </a:solidFill>
                <a:latin typeface="Times"/>
                <a:ea typeface="Times"/>
                <a:cs typeface="Times"/>
                <a:sym typeface="Times"/>
              </a:rPr>
              <a:t>S</a:t>
            </a:r>
            <a:endParaRPr/>
          </a:p>
          <a:p>
            <a:pPr indent="0" lvl="0" marL="0" marR="0" rtl="0" algn="ctr">
              <a:lnSpc>
                <a:spcPct val="85000"/>
              </a:lnSpc>
              <a:spcBef>
                <a:spcPts val="0"/>
              </a:spcBef>
              <a:spcAft>
                <a:spcPts val="0"/>
              </a:spcAft>
              <a:buClr>
                <a:srgbClr val="0000FF"/>
              </a:buClr>
              <a:buSzPts val="1800"/>
              <a:buFont typeface="Comic Sans MS"/>
              <a:buNone/>
            </a:pPr>
            <a:r>
              <a:rPr b="0" i="0" lang="en-US" sz="1800" u="none">
                <a:solidFill>
                  <a:srgbClr val="0000FF"/>
                </a:solidFill>
                <a:latin typeface="Comic Sans MS"/>
                <a:ea typeface="Comic Sans MS"/>
                <a:cs typeface="Comic Sans MS"/>
                <a:sym typeface="Comic Sans MS"/>
              </a:rPr>
              <a:t>Random </a:t>
            </a:r>
            <a:r>
              <a:rPr b="0" i="0" lang="en-US" sz="1800" u="none">
                <a:solidFill>
                  <a:srgbClr val="0000FF"/>
                </a:solidFill>
                <a:latin typeface="Times"/>
                <a:ea typeface="Times"/>
                <a:cs typeface="Times"/>
                <a:sym typeface="Times"/>
              </a:rPr>
              <a:t>r</a:t>
            </a:r>
            <a:endParaRPr/>
          </a:p>
        </p:txBody>
      </p:sp>
      <p:sp>
        <p:nvSpPr>
          <p:cNvPr id="1010" name="Google Shape;1010;p66"/>
          <p:cNvSpPr txBox="1"/>
          <p:nvPr/>
        </p:nvSpPr>
        <p:spPr>
          <a:xfrm>
            <a:off x="7277100" y="3927475"/>
            <a:ext cx="1441450" cy="327025"/>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FF"/>
              </a:buClr>
              <a:buSzPts val="1800"/>
              <a:buFont typeface="Comic Sans MS"/>
              <a:buNone/>
            </a:pPr>
            <a:r>
              <a:rPr b="0" i="0" lang="en-US" sz="1800" u="none">
                <a:solidFill>
                  <a:srgbClr val="0000FF"/>
                </a:solidFill>
                <a:latin typeface="Comic Sans MS"/>
                <a:ea typeface="Comic Sans MS"/>
                <a:cs typeface="Comic Sans MS"/>
                <a:sym typeface="Comic Sans MS"/>
              </a:rPr>
              <a:t>Random </a:t>
            </a:r>
            <a:r>
              <a:rPr b="0" i="0" lang="en-US" sz="1800" u="none">
                <a:solidFill>
                  <a:srgbClr val="0000FF"/>
                </a:solidFill>
                <a:latin typeface="Times"/>
                <a:ea typeface="Times"/>
                <a:cs typeface="Times"/>
                <a:sym typeface="Times"/>
              </a:rPr>
              <a:t>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9"/>
                                        </p:tgtEl>
                                        <p:attrNameLst>
                                          <p:attrName>style.visibility</p:attrName>
                                        </p:attrNameLst>
                                      </p:cBhvr>
                                      <p:to>
                                        <p:strVal val="visible"/>
                                      </p:to>
                                    </p:set>
                                    <p:animEffect filter="fade" transition="in">
                                      <p:cBhvr>
                                        <p:cTn dur="500"/>
                                        <p:tgtEl>
                                          <p:spTgt spid="999"/>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10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000"/>
                                        </p:tgtEl>
                                        <p:attrNameLst>
                                          <p:attrName>style.visibility</p:attrName>
                                        </p:attrNameLst>
                                      </p:cBhvr>
                                      <p:to>
                                        <p:strVal val="visible"/>
                                      </p:to>
                                    </p:set>
                                    <p:anim calcmode="lin" valueType="num">
                                      <p:cBhvr additive="base">
                                        <p:cTn dur="500"/>
                                        <p:tgtEl>
                                          <p:spTgt spid="1000"/>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10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5"/>
                                        </p:tgtEl>
                                        <p:attrNameLst>
                                          <p:attrName>style.visibility</p:attrName>
                                        </p:attrNameLst>
                                      </p:cBhvr>
                                      <p:to>
                                        <p:strVal val="visible"/>
                                      </p:to>
                                    </p:set>
                                    <p:animEffect filter="fade" transition="in">
                                      <p:cBhvr>
                                        <p:cTn dur="500"/>
                                        <p:tgtEl>
                                          <p:spTgt spid="1005"/>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10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67"/>
          <p:cNvSpPr txBox="1"/>
          <p:nvPr>
            <p:ph type="title"/>
          </p:nvPr>
        </p:nvSpPr>
        <p:spPr>
          <a:xfrm>
            <a:off x="785812" y="625475"/>
            <a:ext cx="7143750" cy="731837"/>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FIAT-SHAMIR</a:t>
            </a:r>
            <a:endParaRPr/>
          </a:p>
        </p:txBody>
      </p:sp>
      <p:sp>
        <p:nvSpPr>
          <p:cNvPr id="1016" name="Google Shape;1016;p67"/>
          <p:cNvSpPr txBox="1"/>
          <p:nvPr>
            <p:ph idx="1" type="body"/>
          </p:nvPr>
        </p:nvSpPr>
        <p:spPr>
          <a:xfrm>
            <a:off x="785812" y="1714500"/>
            <a:ext cx="7929562" cy="4429125"/>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100000"/>
              </a:lnSpc>
              <a:spcBef>
                <a:spcPts val="0"/>
              </a:spcBef>
              <a:spcAft>
                <a:spcPts val="0"/>
              </a:spcAft>
              <a:buClr>
                <a:schemeClr val="accent2"/>
              </a:buClr>
              <a:buSzPts val="2208"/>
              <a:buFont typeface="Noto Sans Symbols"/>
              <a:buChar char="◼"/>
            </a:pPr>
            <a:r>
              <a:rPr b="1" i="0" lang="en-US" sz="2400" u="none">
                <a:solidFill>
                  <a:srgbClr val="FF0000"/>
                </a:solidFill>
                <a:latin typeface="Gill Sans"/>
                <a:ea typeface="Gill Sans"/>
                <a:cs typeface="Gill Sans"/>
                <a:sym typeface="Gill Sans"/>
              </a:rPr>
              <a:t>Public:</a:t>
            </a:r>
            <a:r>
              <a:rPr b="0" i="0" lang="en-US" sz="2400" u="none">
                <a:solidFill>
                  <a:schemeClr val="dk2"/>
                </a:solidFill>
                <a:latin typeface="Gill Sans"/>
                <a:ea typeface="Gill Sans"/>
                <a:cs typeface="Gill Sans"/>
                <a:sym typeface="Gill Sans"/>
              </a:rPr>
              <a:t> modulus</a:t>
            </a:r>
            <a:r>
              <a:rPr b="0" i="0" lang="en-US" sz="2400" u="none">
                <a:solidFill>
                  <a:schemeClr val="dk2"/>
                </a:solidFill>
                <a:latin typeface="Times"/>
                <a:ea typeface="Times"/>
                <a:cs typeface="Times"/>
                <a:sym typeface="Times"/>
              </a:rPr>
              <a:t> N</a:t>
            </a:r>
            <a:r>
              <a:rPr b="0" i="0" lang="en-US" sz="2400" u="none">
                <a:solidFill>
                  <a:schemeClr val="dk2"/>
                </a:solidFill>
                <a:latin typeface="Gill Sans"/>
                <a:ea typeface="Gill Sans"/>
                <a:cs typeface="Gill Sans"/>
                <a:sym typeface="Gill Sans"/>
              </a:rPr>
              <a:t> and </a:t>
            </a:r>
            <a:r>
              <a:rPr b="0" i="0" lang="en-US" sz="2400" u="none">
                <a:solidFill>
                  <a:schemeClr val="dk2"/>
                </a:solidFill>
                <a:latin typeface="Times"/>
                <a:ea typeface="Times"/>
                <a:cs typeface="Times"/>
                <a:sym typeface="Times"/>
              </a:rPr>
              <a:t>v = </a:t>
            </a:r>
            <a:r>
              <a:rPr b="0" i="0" lang="en-US" sz="2400" u="none">
                <a:solidFill>
                  <a:srgbClr val="FF0000"/>
                </a:solidFill>
                <a:latin typeface="Times"/>
                <a:ea typeface="Times"/>
                <a:cs typeface="Times"/>
                <a:sym typeface="Times"/>
              </a:rPr>
              <a:t>S</a:t>
            </a:r>
            <a:r>
              <a:rPr b="0" baseline="30000" i="0" lang="en-US" sz="2400" u="none">
                <a:solidFill>
                  <a:schemeClr val="dk2"/>
                </a:solidFill>
                <a:latin typeface="Times"/>
                <a:ea typeface="Times"/>
                <a:cs typeface="Times"/>
                <a:sym typeface="Times"/>
              </a:rPr>
              <a:t>2</a:t>
            </a:r>
            <a:r>
              <a:rPr b="0" i="0" lang="en-US" sz="2400" u="none">
                <a:solidFill>
                  <a:schemeClr val="dk2"/>
                </a:solidFill>
                <a:latin typeface="Times"/>
                <a:ea typeface="Times"/>
                <a:cs typeface="Times"/>
                <a:sym typeface="Times"/>
              </a:rPr>
              <a:t> mod N</a:t>
            </a:r>
            <a:endParaRPr b="0" i="0" sz="2400" u="none">
              <a:solidFill>
                <a:schemeClr val="dk2"/>
              </a:solidFill>
              <a:latin typeface="Gill Sans"/>
              <a:ea typeface="Gill Sans"/>
              <a:cs typeface="Gill Sans"/>
              <a:sym typeface="Gill Sans"/>
            </a:endParaRPr>
          </a:p>
          <a:p>
            <a:pPr indent="-304800" lvl="0" marL="304800" marR="0" rtl="0" algn="l">
              <a:lnSpc>
                <a:spcPct val="100000"/>
              </a:lnSpc>
              <a:spcBef>
                <a:spcPts val="1080"/>
              </a:spcBef>
              <a:spcAft>
                <a:spcPts val="0"/>
              </a:spcAft>
              <a:buClr>
                <a:schemeClr val="accent2"/>
              </a:buClr>
              <a:buSzPts val="2208"/>
              <a:buFont typeface="Noto Sans Symbols"/>
              <a:buChar char="◼"/>
            </a:pPr>
            <a:r>
              <a:rPr b="1" i="0" lang="en-US" sz="2400" u="none">
                <a:solidFill>
                  <a:srgbClr val="FF0000"/>
                </a:solidFill>
                <a:latin typeface="Gill Sans"/>
                <a:ea typeface="Gill Sans"/>
                <a:cs typeface="Gill Sans"/>
                <a:sym typeface="Gill Sans"/>
              </a:rPr>
              <a:t>Secret:</a:t>
            </a:r>
            <a:r>
              <a:rPr b="0" i="0" lang="en-US" sz="2400" u="none">
                <a:solidFill>
                  <a:schemeClr val="dk2"/>
                </a:solidFill>
                <a:latin typeface="Gill Sans"/>
                <a:ea typeface="Gill Sans"/>
                <a:cs typeface="Gill Sans"/>
                <a:sym typeface="Gill Sans"/>
              </a:rPr>
              <a:t> Alice knows </a:t>
            </a:r>
            <a:r>
              <a:rPr b="0" i="0" lang="en-US" sz="2400" u="none">
                <a:solidFill>
                  <a:srgbClr val="FF0000"/>
                </a:solidFill>
                <a:latin typeface="Times"/>
                <a:ea typeface="Times"/>
                <a:cs typeface="Times"/>
                <a:sym typeface="Times"/>
              </a:rPr>
              <a:t>S</a:t>
            </a:r>
            <a:endParaRPr b="0" i="0" sz="2400" u="none">
              <a:solidFill>
                <a:srgbClr val="FF0000"/>
              </a:solidFill>
              <a:latin typeface="Gill Sans"/>
              <a:ea typeface="Gill Sans"/>
              <a:cs typeface="Gill Sans"/>
              <a:sym typeface="Gill Sans"/>
            </a:endParaRPr>
          </a:p>
          <a:p>
            <a:pPr indent="-304800" lvl="0" marL="304800" marR="0" rtl="0" algn="l">
              <a:lnSpc>
                <a:spcPct val="100000"/>
              </a:lnSpc>
              <a:spcBef>
                <a:spcPts val="1080"/>
              </a:spcBef>
              <a:spcAft>
                <a:spcPts val="0"/>
              </a:spcAft>
              <a:buClr>
                <a:schemeClr val="accent2"/>
              </a:buClr>
              <a:buSzPts val="2208"/>
              <a:buFont typeface="Noto Sans Symbols"/>
              <a:buChar char="◼"/>
            </a:pPr>
            <a:r>
              <a:rPr b="0" i="0" lang="en-US" sz="2400" u="none">
                <a:solidFill>
                  <a:schemeClr val="dk2"/>
                </a:solidFill>
                <a:latin typeface="Gill Sans"/>
                <a:ea typeface="Gill Sans"/>
                <a:cs typeface="Gill Sans"/>
                <a:sym typeface="Gill Sans"/>
              </a:rPr>
              <a:t>Alice selects random </a:t>
            </a:r>
            <a:r>
              <a:rPr b="0" i="0" lang="en-US" sz="2400" u="none">
                <a:solidFill>
                  <a:schemeClr val="dk2"/>
                </a:solidFill>
                <a:latin typeface="Times"/>
                <a:ea typeface="Times"/>
                <a:cs typeface="Times"/>
                <a:sym typeface="Times"/>
              </a:rPr>
              <a:t>r</a:t>
            </a:r>
            <a:r>
              <a:rPr b="0" i="0" lang="en-US" sz="2400" u="none">
                <a:solidFill>
                  <a:schemeClr val="dk2"/>
                </a:solidFill>
                <a:latin typeface="Gill Sans"/>
                <a:ea typeface="Gill Sans"/>
                <a:cs typeface="Gill Sans"/>
                <a:sym typeface="Gill Sans"/>
              </a:rPr>
              <a:t> and </a:t>
            </a:r>
            <a:r>
              <a:rPr b="1" i="0" lang="en-US" sz="2400" u="none">
                <a:solidFill>
                  <a:srgbClr val="0000FF"/>
                </a:solidFill>
                <a:latin typeface="Gill Sans"/>
                <a:ea typeface="Gill Sans"/>
                <a:cs typeface="Gill Sans"/>
                <a:sym typeface="Gill Sans"/>
              </a:rPr>
              <a:t>commits</a:t>
            </a:r>
            <a:r>
              <a:rPr b="0" i="0" lang="en-US" sz="2400" u="none">
                <a:solidFill>
                  <a:schemeClr val="dk2"/>
                </a:solidFill>
                <a:latin typeface="Gill Sans"/>
                <a:ea typeface="Gill Sans"/>
                <a:cs typeface="Gill Sans"/>
                <a:sym typeface="Gill Sans"/>
              </a:rPr>
              <a:t> to </a:t>
            </a:r>
            <a:r>
              <a:rPr b="0" i="0" lang="en-US" sz="2400" u="none">
                <a:solidFill>
                  <a:schemeClr val="dk2"/>
                </a:solidFill>
                <a:latin typeface="Times"/>
                <a:ea typeface="Times"/>
                <a:cs typeface="Times"/>
                <a:sym typeface="Times"/>
              </a:rPr>
              <a:t>r</a:t>
            </a:r>
            <a:r>
              <a:rPr b="0" i="0" lang="en-US" sz="2400" u="none">
                <a:solidFill>
                  <a:schemeClr val="dk2"/>
                </a:solidFill>
                <a:latin typeface="Gill Sans"/>
                <a:ea typeface="Gill Sans"/>
                <a:cs typeface="Gill Sans"/>
                <a:sym typeface="Gill Sans"/>
              </a:rPr>
              <a:t> by sending </a:t>
            </a:r>
            <a:r>
              <a:rPr b="0" i="0" lang="en-US" sz="2400" u="none">
                <a:solidFill>
                  <a:schemeClr val="dk2"/>
                </a:solidFill>
                <a:latin typeface="Times"/>
                <a:ea typeface="Times"/>
                <a:cs typeface="Times"/>
                <a:sym typeface="Times"/>
              </a:rPr>
              <a:t>x = r</a:t>
            </a:r>
            <a:r>
              <a:rPr b="0" baseline="30000" i="0" lang="en-US" sz="2400" u="none">
                <a:solidFill>
                  <a:schemeClr val="dk2"/>
                </a:solidFill>
                <a:latin typeface="Times"/>
                <a:ea typeface="Times"/>
                <a:cs typeface="Times"/>
                <a:sym typeface="Times"/>
              </a:rPr>
              <a:t>2</a:t>
            </a:r>
            <a:r>
              <a:rPr b="0" i="0" lang="en-US" sz="2400" u="none">
                <a:solidFill>
                  <a:schemeClr val="dk2"/>
                </a:solidFill>
                <a:latin typeface="Times"/>
                <a:ea typeface="Times"/>
                <a:cs typeface="Times"/>
                <a:sym typeface="Times"/>
              </a:rPr>
              <a:t> mod N</a:t>
            </a:r>
            <a:r>
              <a:rPr b="0" i="0" lang="en-US" sz="2400" u="none">
                <a:solidFill>
                  <a:schemeClr val="dk2"/>
                </a:solidFill>
                <a:latin typeface="Gill Sans"/>
                <a:ea typeface="Gill Sans"/>
                <a:cs typeface="Gill Sans"/>
                <a:sym typeface="Gill Sans"/>
              </a:rPr>
              <a:t> to Bob</a:t>
            </a:r>
            <a:endParaRPr/>
          </a:p>
          <a:p>
            <a:pPr indent="-304800" lvl="0" marL="304800" marR="0" rtl="0" algn="l">
              <a:lnSpc>
                <a:spcPct val="100000"/>
              </a:lnSpc>
              <a:spcBef>
                <a:spcPts val="1080"/>
              </a:spcBef>
              <a:spcAft>
                <a:spcPts val="0"/>
              </a:spcAft>
              <a:buClr>
                <a:schemeClr val="accent2"/>
              </a:buClr>
              <a:buSzPts val="2208"/>
              <a:buFont typeface="Noto Sans Symbols"/>
              <a:buChar char="◼"/>
            </a:pPr>
            <a:r>
              <a:rPr b="0" i="0" lang="en-US" sz="2400" u="none">
                <a:solidFill>
                  <a:schemeClr val="dk2"/>
                </a:solidFill>
                <a:latin typeface="Gill Sans"/>
                <a:ea typeface="Gill Sans"/>
                <a:cs typeface="Gill Sans"/>
                <a:sym typeface="Gill Sans"/>
              </a:rPr>
              <a:t>Bob sends </a:t>
            </a:r>
            <a:r>
              <a:rPr b="1" i="0" lang="en-US" sz="2400" u="none">
                <a:solidFill>
                  <a:srgbClr val="0000FF"/>
                </a:solidFill>
                <a:latin typeface="Gill Sans"/>
                <a:ea typeface="Gill Sans"/>
                <a:cs typeface="Gill Sans"/>
                <a:sym typeface="Gill Sans"/>
              </a:rPr>
              <a:t>challenge</a:t>
            </a:r>
            <a:r>
              <a:rPr b="0" i="0" lang="en-US" sz="2400" u="none">
                <a:solidFill>
                  <a:schemeClr val="dk2"/>
                </a:solidFill>
                <a:latin typeface="Gill Sans"/>
                <a:ea typeface="Gill Sans"/>
                <a:cs typeface="Gill Sans"/>
                <a:sym typeface="Gill Sans"/>
              </a:rPr>
              <a:t> </a:t>
            </a:r>
            <a:r>
              <a:rPr b="0" i="0" lang="en-US" sz="2400" u="none">
                <a:solidFill>
                  <a:schemeClr val="dk2"/>
                </a:solidFill>
                <a:latin typeface="Times"/>
                <a:ea typeface="Times"/>
                <a:cs typeface="Times"/>
                <a:sym typeface="Times"/>
              </a:rPr>
              <a:t>e ∈ {0,1}</a:t>
            </a:r>
            <a:r>
              <a:rPr b="0" i="0" lang="en-US" sz="2400" u="none">
                <a:solidFill>
                  <a:schemeClr val="dk2"/>
                </a:solidFill>
                <a:latin typeface="Gill Sans"/>
                <a:ea typeface="Gill Sans"/>
                <a:cs typeface="Gill Sans"/>
                <a:sym typeface="Gill Sans"/>
              </a:rPr>
              <a:t> to Alice</a:t>
            </a:r>
            <a:endParaRPr/>
          </a:p>
          <a:p>
            <a:pPr indent="-304800" lvl="0" marL="304800" marR="0" rtl="0" algn="l">
              <a:lnSpc>
                <a:spcPct val="100000"/>
              </a:lnSpc>
              <a:spcBef>
                <a:spcPts val="1080"/>
              </a:spcBef>
              <a:spcAft>
                <a:spcPts val="0"/>
              </a:spcAft>
              <a:buClr>
                <a:schemeClr val="accent2"/>
              </a:buClr>
              <a:buSzPts val="2208"/>
              <a:buFont typeface="Noto Sans Symbols"/>
              <a:buChar char="◼"/>
            </a:pPr>
            <a:r>
              <a:rPr b="0" i="0" lang="en-US" sz="2400" u="none">
                <a:solidFill>
                  <a:schemeClr val="dk2"/>
                </a:solidFill>
                <a:latin typeface="Gill Sans"/>
                <a:ea typeface="Gill Sans"/>
                <a:cs typeface="Gill Sans"/>
                <a:sym typeface="Gill Sans"/>
              </a:rPr>
              <a:t>Alice </a:t>
            </a:r>
            <a:r>
              <a:rPr b="1" i="0" lang="en-US" sz="2400" u="none">
                <a:solidFill>
                  <a:srgbClr val="0000FF"/>
                </a:solidFill>
                <a:latin typeface="Gill Sans"/>
                <a:ea typeface="Gill Sans"/>
                <a:cs typeface="Gill Sans"/>
                <a:sym typeface="Gill Sans"/>
              </a:rPr>
              <a:t>responds</a:t>
            </a:r>
            <a:r>
              <a:rPr b="0" i="0" lang="en-US" sz="2400" u="none">
                <a:solidFill>
                  <a:schemeClr val="dk2"/>
                </a:solidFill>
                <a:latin typeface="Gill Sans"/>
                <a:ea typeface="Gill Sans"/>
                <a:cs typeface="Gill Sans"/>
                <a:sym typeface="Gill Sans"/>
              </a:rPr>
              <a:t> with </a:t>
            </a:r>
            <a:r>
              <a:rPr b="0" i="0" lang="en-US" sz="2400" u="none">
                <a:solidFill>
                  <a:schemeClr val="dk2"/>
                </a:solidFill>
                <a:latin typeface="Times"/>
                <a:ea typeface="Times"/>
                <a:cs typeface="Times"/>
                <a:sym typeface="Times"/>
              </a:rPr>
              <a:t>y = r*</a:t>
            </a:r>
            <a:r>
              <a:rPr b="0" i="0" lang="en-US" sz="2400" u="none">
                <a:solidFill>
                  <a:srgbClr val="FF0000"/>
                </a:solidFill>
                <a:latin typeface="Times"/>
                <a:ea typeface="Times"/>
                <a:cs typeface="Times"/>
                <a:sym typeface="Times"/>
              </a:rPr>
              <a:t>S</a:t>
            </a:r>
            <a:r>
              <a:rPr b="0" baseline="30000" i="0" lang="en-US" sz="2400" u="none">
                <a:solidFill>
                  <a:schemeClr val="dk2"/>
                </a:solidFill>
                <a:latin typeface="Times"/>
                <a:ea typeface="Times"/>
                <a:cs typeface="Times"/>
                <a:sym typeface="Times"/>
              </a:rPr>
              <a:t>e</a:t>
            </a:r>
            <a:r>
              <a:rPr b="0" i="0" lang="en-US" sz="2400" u="none">
                <a:solidFill>
                  <a:schemeClr val="dk2"/>
                </a:solidFill>
                <a:latin typeface="Times"/>
                <a:ea typeface="Times"/>
                <a:cs typeface="Times"/>
                <a:sym typeface="Times"/>
              </a:rPr>
              <a:t> mod N</a:t>
            </a:r>
            <a:endParaRPr/>
          </a:p>
          <a:p>
            <a:pPr indent="-304800" lvl="0" marL="304800" marR="0" rtl="0" algn="l">
              <a:lnSpc>
                <a:spcPct val="100000"/>
              </a:lnSpc>
              <a:spcBef>
                <a:spcPts val="1320"/>
              </a:spcBef>
              <a:spcAft>
                <a:spcPts val="0"/>
              </a:spcAft>
              <a:buClr>
                <a:schemeClr val="accent2"/>
              </a:buClr>
              <a:buSzPts val="2208"/>
              <a:buFont typeface="Noto Sans Symbols"/>
              <a:buChar char="◼"/>
            </a:pPr>
            <a:r>
              <a:rPr b="0" i="0" lang="en-US" sz="2400" u="none">
                <a:solidFill>
                  <a:schemeClr val="dk2"/>
                </a:solidFill>
                <a:latin typeface="Gill Sans"/>
                <a:ea typeface="Gill Sans"/>
                <a:cs typeface="Gill Sans"/>
                <a:sym typeface="Gill Sans"/>
              </a:rPr>
              <a:t>Bob checks that </a:t>
            </a:r>
            <a:r>
              <a:rPr b="0" i="0" lang="en-US" sz="2400" u="none">
                <a:solidFill>
                  <a:schemeClr val="dk2"/>
                </a:solidFill>
                <a:latin typeface="Times"/>
                <a:ea typeface="Times"/>
                <a:cs typeface="Times"/>
                <a:sym typeface="Times"/>
              </a:rPr>
              <a:t>y</a:t>
            </a:r>
            <a:r>
              <a:rPr b="0" baseline="30000" i="0" lang="en-US" sz="2400" u="none">
                <a:solidFill>
                  <a:schemeClr val="dk2"/>
                </a:solidFill>
                <a:latin typeface="Times"/>
                <a:ea typeface="Times"/>
                <a:cs typeface="Times"/>
                <a:sym typeface="Times"/>
              </a:rPr>
              <a:t>2</a:t>
            </a:r>
            <a:r>
              <a:rPr b="0" i="0" lang="en-US" sz="2400" u="none">
                <a:solidFill>
                  <a:schemeClr val="dk2"/>
                </a:solidFill>
                <a:latin typeface="Times"/>
                <a:ea typeface="Times"/>
                <a:cs typeface="Times"/>
                <a:sym typeface="Times"/>
              </a:rPr>
              <a:t> = x</a:t>
            </a:r>
            <a:r>
              <a:rPr b="0" i="0" lang="en-US" sz="3600" u="none">
                <a:solidFill>
                  <a:schemeClr val="dk2"/>
                </a:solidFill>
                <a:latin typeface="Times"/>
                <a:ea typeface="Times"/>
                <a:cs typeface="Times"/>
                <a:sym typeface="Times"/>
              </a:rPr>
              <a:t>*</a:t>
            </a:r>
            <a:r>
              <a:rPr b="0" i="0" lang="en-US" sz="2400" u="none">
                <a:solidFill>
                  <a:schemeClr val="dk2"/>
                </a:solidFill>
                <a:latin typeface="Times"/>
                <a:ea typeface="Times"/>
                <a:cs typeface="Times"/>
                <a:sym typeface="Times"/>
              </a:rPr>
              <a:t>v</a:t>
            </a:r>
            <a:r>
              <a:rPr b="0" baseline="30000" i="0" lang="en-US" sz="2400" u="none">
                <a:solidFill>
                  <a:schemeClr val="dk2"/>
                </a:solidFill>
                <a:latin typeface="Times"/>
                <a:ea typeface="Times"/>
                <a:cs typeface="Times"/>
                <a:sym typeface="Times"/>
              </a:rPr>
              <a:t>e</a:t>
            </a:r>
            <a:r>
              <a:rPr b="0" i="0" lang="en-US" sz="2400" u="none">
                <a:solidFill>
                  <a:schemeClr val="dk2"/>
                </a:solidFill>
                <a:latin typeface="Times"/>
                <a:ea typeface="Times"/>
                <a:cs typeface="Times"/>
                <a:sym typeface="Times"/>
              </a:rPr>
              <a:t> mod N</a:t>
            </a:r>
            <a:r>
              <a:rPr b="0" i="0" lang="en-US" sz="2400" u="none">
                <a:solidFill>
                  <a:schemeClr val="dk2"/>
                </a:solidFill>
                <a:latin typeface="Gill Sans"/>
                <a:ea typeface="Gill Sans"/>
                <a:cs typeface="Gill Sans"/>
                <a:sym typeface="Gill Sans"/>
              </a:rPr>
              <a:t> </a:t>
            </a:r>
            <a:endParaRPr/>
          </a:p>
          <a:p>
            <a:pPr indent="-304800" lvl="1" marL="628650" marR="0" rtl="0" algn="l">
              <a:lnSpc>
                <a:spcPct val="100000"/>
              </a:lnSpc>
              <a:spcBef>
                <a:spcPts val="1000"/>
              </a:spcBef>
              <a:spcAft>
                <a:spcPts val="0"/>
              </a:spcAft>
              <a:buClr>
                <a:schemeClr val="accent2"/>
              </a:buClr>
              <a:buSzPts val="1840"/>
              <a:buFont typeface="Noto Sans Symbols"/>
              <a:buChar char="◼"/>
            </a:pPr>
            <a:r>
              <a:rPr b="1" i="0" lang="en-US" sz="2000" u="none" cap="none" strike="noStrike">
                <a:solidFill>
                  <a:srgbClr val="8B8B8B"/>
                </a:solidFill>
                <a:latin typeface="Gill Sans"/>
                <a:ea typeface="Gill Sans"/>
                <a:cs typeface="Gill Sans"/>
                <a:sym typeface="Gill Sans"/>
              </a:rPr>
              <a:t>Does this prove response is from Alice?</a:t>
            </a:r>
            <a:endParaRPr/>
          </a:p>
        </p:txBody>
      </p:sp>
      <p:sp>
        <p:nvSpPr>
          <p:cNvPr id="1017" name="Google Shape;1017;p67"/>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1018" name="Google Shape;1018;p67"/>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68"/>
          <p:cNvSpPr txBox="1"/>
          <p:nvPr>
            <p:ph type="title"/>
          </p:nvPr>
        </p:nvSpPr>
        <p:spPr>
          <a:xfrm>
            <a:off x="785812" y="428625"/>
            <a:ext cx="7197725" cy="928687"/>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DOES FIAT-SHAMIR WORK?</a:t>
            </a:r>
            <a:endParaRPr/>
          </a:p>
        </p:txBody>
      </p:sp>
      <p:sp>
        <p:nvSpPr>
          <p:cNvPr id="1024" name="Google Shape;1024;p68"/>
          <p:cNvSpPr txBox="1"/>
          <p:nvPr>
            <p:ph idx="1" type="body"/>
          </p:nvPr>
        </p:nvSpPr>
        <p:spPr>
          <a:xfrm>
            <a:off x="785812" y="1714500"/>
            <a:ext cx="8178800" cy="4667250"/>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80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If everyone follows protocol, math works:</a:t>
            </a:r>
            <a:endParaRPr/>
          </a:p>
          <a:p>
            <a:pPr indent="-304800" lvl="1" marL="628650" marR="0" rtl="0" algn="l">
              <a:lnSpc>
                <a:spcPct val="8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Public:</a:t>
            </a:r>
            <a:r>
              <a:rPr b="0" i="0" lang="en-US" sz="2400" u="none" cap="none" strike="noStrike">
                <a:solidFill>
                  <a:schemeClr val="dk2"/>
                </a:solidFill>
                <a:latin typeface="Times"/>
                <a:ea typeface="Times"/>
                <a:cs typeface="Times"/>
                <a:sym typeface="Times"/>
              </a:rPr>
              <a:t> v = S</a:t>
            </a:r>
            <a:r>
              <a:rPr b="0" baseline="30000" i="0" lang="en-US" sz="2400" u="none" cap="none" strike="noStrike">
                <a:solidFill>
                  <a:schemeClr val="dk2"/>
                </a:solidFill>
                <a:latin typeface="Times"/>
                <a:ea typeface="Times"/>
                <a:cs typeface="Times"/>
                <a:sym typeface="Times"/>
              </a:rPr>
              <a:t>2 </a:t>
            </a:r>
            <a:r>
              <a:rPr b="0" i="0" lang="en-US" sz="2400" u="none" cap="none" strike="noStrike">
                <a:solidFill>
                  <a:schemeClr val="dk2"/>
                </a:solidFill>
                <a:latin typeface="Times"/>
                <a:ea typeface="Times"/>
                <a:cs typeface="Times"/>
                <a:sym typeface="Times"/>
              </a:rPr>
              <a:t>mod N</a:t>
            </a:r>
            <a:r>
              <a:rPr b="0" i="0" lang="en-US" sz="2400" u="none" cap="none" strike="noStrike">
                <a:solidFill>
                  <a:schemeClr val="dk2"/>
                </a:solidFill>
                <a:latin typeface="Gill Sans"/>
                <a:ea typeface="Gill Sans"/>
                <a:cs typeface="Gill Sans"/>
                <a:sym typeface="Gill Sans"/>
              </a:rPr>
              <a:t> </a:t>
            </a:r>
            <a:endParaRPr/>
          </a:p>
          <a:p>
            <a:pPr indent="-304800" lvl="1" marL="628650" marR="0" rtl="0" algn="l">
              <a:lnSpc>
                <a:spcPct val="75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Alice to Bob:</a:t>
            </a:r>
            <a:r>
              <a:rPr b="0" baseline="30000" i="0" lang="en-US" sz="2400" u="none" cap="none" strike="noStrike">
                <a:solidFill>
                  <a:schemeClr val="dk2"/>
                </a:solidFill>
                <a:latin typeface="Times"/>
                <a:ea typeface="Times"/>
                <a:cs typeface="Times"/>
                <a:sym typeface="Times"/>
              </a:rPr>
              <a:t> </a:t>
            </a:r>
            <a:r>
              <a:rPr b="0" i="0" lang="en-US" sz="2400" u="none" cap="none" strike="noStrike">
                <a:solidFill>
                  <a:schemeClr val="dk2"/>
                </a:solidFill>
                <a:latin typeface="Times"/>
                <a:ea typeface="Times"/>
                <a:cs typeface="Times"/>
                <a:sym typeface="Times"/>
              </a:rPr>
              <a:t>x = r</a:t>
            </a:r>
            <a:r>
              <a:rPr b="0" baseline="30000" i="0" lang="en-US" sz="2400" u="none" cap="none" strike="noStrike">
                <a:solidFill>
                  <a:schemeClr val="dk2"/>
                </a:solidFill>
                <a:latin typeface="Times"/>
                <a:ea typeface="Times"/>
                <a:cs typeface="Times"/>
                <a:sym typeface="Times"/>
              </a:rPr>
              <a:t>2</a:t>
            </a:r>
            <a:r>
              <a:rPr b="0" i="0" lang="en-US" sz="2400" u="none" cap="none" strike="noStrike">
                <a:solidFill>
                  <a:schemeClr val="dk2"/>
                </a:solidFill>
                <a:latin typeface="Times"/>
                <a:ea typeface="Times"/>
                <a:cs typeface="Times"/>
                <a:sym typeface="Times"/>
              </a:rPr>
              <a:t> mod N</a:t>
            </a:r>
            <a:r>
              <a:rPr b="0" i="0" lang="en-US" sz="2400" u="none" cap="none" strike="noStrike">
                <a:solidFill>
                  <a:schemeClr val="dk2"/>
                </a:solidFill>
                <a:latin typeface="Gill Sans"/>
                <a:ea typeface="Gill Sans"/>
                <a:cs typeface="Gill Sans"/>
                <a:sym typeface="Gill Sans"/>
              </a:rPr>
              <a:t> and</a:t>
            </a:r>
            <a:r>
              <a:rPr b="0" i="0" lang="en-US" sz="2400" u="none" cap="none" strike="noStrike">
                <a:solidFill>
                  <a:schemeClr val="dk2"/>
                </a:solidFill>
                <a:latin typeface="Times"/>
                <a:ea typeface="Times"/>
                <a:cs typeface="Times"/>
                <a:sym typeface="Times"/>
              </a:rPr>
              <a:t> y = r</a:t>
            </a:r>
            <a:r>
              <a:rPr b="0" baseline="30000" i="0" lang="en-US" sz="2400" u="none" cap="none" strike="noStrike">
                <a:solidFill>
                  <a:schemeClr val="dk2"/>
                </a:solidFill>
                <a:latin typeface="Times"/>
                <a:ea typeface="Times"/>
                <a:cs typeface="Times"/>
                <a:sym typeface="Times"/>
              </a:rPr>
              <a:t> </a:t>
            </a:r>
            <a:r>
              <a:rPr b="0" i="0" lang="en-US" sz="2400" u="none" cap="none" strike="noStrike">
                <a:solidFill>
                  <a:schemeClr val="dk2"/>
                </a:solidFill>
                <a:latin typeface="Times"/>
                <a:ea typeface="Times"/>
                <a:cs typeface="Times"/>
                <a:sym typeface="Times"/>
              </a:rPr>
              <a:t>⋅</a:t>
            </a:r>
            <a:r>
              <a:rPr b="0" baseline="30000" i="0" lang="en-US" sz="2400" u="none" cap="none" strike="noStrike">
                <a:solidFill>
                  <a:schemeClr val="dk2"/>
                </a:solidFill>
                <a:latin typeface="Times"/>
                <a:ea typeface="Times"/>
                <a:cs typeface="Times"/>
                <a:sym typeface="Times"/>
              </a:rPr>
              <a:t> </a:t>
            </a:r>
            <a:r>
              <a:rPr b="0" i="0" lang="en-US" sz="2400" u="none" cap="none" strike="noStrike">
                <a:solidFill>
                  <a:schemeClr val="dk2"/>
                </a:solidFill>
                <a:latin typeface="Times"/>
                <a:ea typeface="Times"/>
                <a:cs typeface="Times"/>
                <a:sym typeface="Times"/>
              </a:rPr>
              <a:t>S</a:t>
            </a:r>
            <a:r>
              <a:rPr b="0" baseline="30000" i="0" lang="en-US" sz="2400" u="none" cap="none" strike="noStrike">
                <a:solidFill>
                  <a:schemeClr val="dk2"/>
                </a:solidFill>
                <a:latin typeface="Times"/>
                <a:ea typeface="Times"/>
                <a:cs typeface="Times"/>
                <a:sym typeface="Times"/>
              </a:rPr>
              <a:t>e </a:t>
            </a:r>
            <a:r>
              <a:rPr b="0" i="0" lang="en-US" sz="2400" u="none" cap="none" strike="noStrike">
                <a:solidFill>
                  <a:schemeClr val="dk2"/>
                </a:solidFill>
                <a:latin typeface="Times"/>
                <a:ea typeface="Times"/>
                <a:cs typeface="Times"/>
                <a:sym typeface="Times"/>
              </a:rPr>
              <a:t>mod N</a:t>
            </a:r>
            <a:r>
              <a:rPr b="0" i="0" lang="en-US" sz="2400" u="none" cap="none" strike="noStrike">
                <a:solidFill>
                  <a:schemeClr val="dk2"/>
                </a:solidFill>
                <a:latin typeface="Gill Sans"/>
                <a:ea typeface="Gill Sans"/>
                <a:cs typeface="Gill Sans"/>
                <a:sym typeface="Gill Sans"/>
              </a:rPr>
              <a:t> </a:t>
            </a:r>
            <a:endParaRPr b="0" i="0" sz="2400" u="none" cap="none" strike="noStrike">
              <a:solidFill>
                <a:schemeClr val="dk2"/>
              </a:solidFill>
              <a:latin typeface="Times"/>
              <a:ea typeface="Times"/>
              <a:cs typeface="Times"/>
              <a:sym typeface="Times"/>
            </a:endParaRPr>
          </a:p>
          <a:p>
            <a:pPr indent="-304800" lvl="1" marL="628650" marR="0" rtl="0" algn="l">
              <a:lnSpc>
                <a:spcPct val="75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Bob verifies: </a:t>
            </a:r>
            <a:r>
              <a:rPr b="0" i="0" lang="en-US" sz="2400" u="none" cap="none" strike="noStrike">
                <a:solidFill>
                  <a:schemeClr val="dk2"/>
                </a:solidFill>
                <a:latin typeface="Times"/>
                <a:ea typeface="Times"/>
                <a:cs typeface="Times"/>
                <a:sym typeface="Times"/>
              </a:rPr>
              <a:t>y</a:t>
            </a:r>
            <a:r>
              <a:rPr b="0" baseline="30000" i="0" lang="en-US" sz="2400" u="none" cap="none" strike="noStrike">
                <a:solidFill>
                  <a:schemeClr val="dk2"/>
                </a:solidFill>
                <a:latin typeface="Times"/>
                <a:ea typeface="Times"/>
                <a:cs typeface="Times"/>
                <a:sym typeface="Times"/>
              </a:rPr>
              <a:t>2</a:t>
            </a:r>
            <a:r>
              <a:rPr b="0" i="0" lang="en-US" sz="2400" u="none" cap="none" strike="noStrike">
                <a:solidFill>
                  <a:schemeClr val="dk2"/>
                </a:solidFill>
                <a:latin typeface="Times"/>
                <a:ea typeface="Times"/>
                <a:cs typeface="Times"/>
                <a:sym typeface="Times"/>
              </a:rPr>
              <a:t> = x</a:t>
            </a:r>
            <a:r>
              <a:rPr b="0" baseline="30000" i="0" lang="en-US" sz="2400" u="none" cap="none" strike="noStrike">
                <a:solidFill>
                  <a:schemeClr val="dk2"/>
                </a:solidFill>
                <a:latin typeface="Times"/>
                <a:ea typeface="Times"/>
                <a:cs typeface="Times"/>
                <a:sym typeface="Times"/>
              </a:rPr>
              <a:t> </a:t>
            </a:r>
            <a:r>
              <a:rPr b="0" i="0" lang="en-US" sz="2400" u="none" cap="none" strike="noStrike">
                <a:solidFill>
                  <a:schemeClr val="dk2"/>
                </a:solidFill>
                <a:latin typeface="Times"/>
                <a:ea typeface="Times"/>
                <a:cs typeface="Times"/>
                <a:sym typeface="Times"/>
              </a:rPr>
              <a:t>⋅</a:t>
            </a:r>
            <a:r>
              <a:rPr b="0" baseline="30000" i="0" lang="en-US" sz="2400" u="none" cap="none" strike="noStrike">
                <a:solidFill>
                  <a:schemeClr val="dk2"/>
                </a:solidFill>
                <a:latin typeface="Times"/>
                <a:ea typeface="Times"/>
                <a:cs typeface="Times"/>
                <a:sym typeface="Times"/>
              </a:rPr>
              <a:t> </a:t>
            </a:r>
            <a:r>
              <a:rPr b="0" i="0" lang="en-US" sz="2400" u="none" cap="none" strike="noStrike">
                <a:solidFill>
                  <a:schemeClr val="dk2"/>
                </a:solidFill>
                <a:latin typeface="Times"/>
                <a:ea typeface="Times"/>
                <a:cs typeface="Times"/>
                <a:sym typeface="Times"/>
              </a:rPr>
              <a:t>v</a:t>
            </a:r>
            <a:r>
              <a:rPr b="0" baseline="30000" i="0" lang="en-US" sz="2400" u="none" cap="none" strike="noStrike">
                <a:solidFill>
                  <a:schemeClr val="dk2"/>
                </a:solidFill>
                <a:latin typeface="Times"/>
                <a:ea typeface="Times"/>
                <a:cs typeface="Times"/>
                <a:sym typeface="Times"/>
              </a:rPr>
              <a:t>e</a:t>
            </a:r>
            <a:r>
              <a:rPr b="0" i="0" lang="en-US" sz="2400" u="none" cap="none" strike="noStrike">
                <a:solidFill>
                  <a:schemeClr val="dk2"/>
                </a:solidFill>
                <a:latin typeface="Times"/>
                <a:ea typeface="Times"/>
                <a:cs typeface="Times"/>
                <a:sym typeface="Times"/>
              </a:rPr>
              <a:t> mod N</a:t>
            </a:r>
            <a:r>
              <a:rPr b="0" i="0" lang="en-US" sz="2400" u="none" cap="none" strike="noStrike">
                <a:solidFill>
                  <a:schemeClr val="dk2"/>
                </a:solidFill>
                <a:latin typeface="Gill Sans"/>
                <a:ea typeface="Gill Sans"/>
                <a:cs typeface="Gill Sans"/>
                <a:sym typeface="Gill Sans"/>
              </a:rPr>
              <a:t> </a:t>
            </a:r>
            <a:endParaRPr/>
          </a:p>
          <a:p>
            <a:pPr indent="-304800" lvl="0" marL="304800" marR="0" rtl="0" algn="l">
              <a:lnSpc>
                <a:spcPct val="80000"/>
              </a:lnSpc>
              <a:spcBef>
                <a:spcPts val="1160"/>
              </a:spcBef>
              <a:spcAft>
                <a:spcPts val="0"/>
              </a:spcAft>
              <a:buClr>
                <a:schemeClr val="accent2"/>
              </a:buClr>
              <a:buSzPts val="2576"/>
              <a:buFont typeface="Noto Sans Symbols"/>
              <a:buChar char="◼"/>
            </a:pPr>
            <a:r>
              <a:rPr b="0" i="0" lang="en-US" sz="2800" u="none">
                <a:solidFill>
                  <a:srgbClr val="0000FF"/>
                </a:solidFill>
                <a:latin typeface="Gill Sans"/>
                <a:ea typeface="Gill Sans"/>
                <a:cs typeface="Gill Sans"/>
                <a:sym typeface="Gill Sans"/>
              </a:rPr>
              <a:t>Can Trudy convince Bob she is Alice?</a:t>
            </a:r>
            <a:endParaRPr/>
          </a:p>
          <a:p>
            <a:pPr indent="-304800" lvl="1" marL="628650" marR="0" rtl="0" algn="l">
              <a:lnSpc>
                <a:spcPct val="80000"/>
              </a:lnSpc>
              <a:spcBef>
                <a:spcPts val="1080"/>
              </a:spcBef>
              <a:spcAft>
                <a:spcPts val="0"/>
              </a:spcAft>
              <a:buClr>
                <a:schemeClr val="accent2"/>
              </a:buClr>
              <a:buSzPts val="2208"/>
              <a:buFont typeface="Noto Sans Symbols"/>
              <a:buChar char="◼"/>
            </a:pPr>
            <a:r>
              <a:rPr b="0" i="0" lang="en-US" sz="2400" u="none" cap="none" strike="noStrike">
                <a:solidFill>
                  <a:srgbClr val="FF0000"/>
                </a:solidFill>
                <a:latin typeface="Gill Sans"/>
                <a:ea typeface="Gill Sans"/>
                <a:cs typeface="Gill Sans"/>
                <a:sym typeface="Gill Sans"/>
              </a:rPr>
              <a:t>If Trudy expects </a:t>
            </a:r>
            <a:r>
              <a:rPr b="0" i="0" lang="en-US" sz="2400" u="none" cap="none" strike="noStrike">
                <a:solidFill>
                  <a:srgbClr val="FF0000"/>
                </a:solidFill>
                <a:latin typeface="Times"/>
                <a:ea typeface="Times"/>
                <a:cs typeface="Times"/>
                <a:sym typeface="Times"/>
              </a:rPr>
              <a:t>e = 0</a:t>
            </a:r>
            <a:r>
              <a:rPr b="0" i="0" lang="en-US" sz="2400" u="none" cap="none" strike="noStrike">
                <a:solidFill>
                  <a:srgbClr val="FF0000"/>
                </a:solidFill>
                <a:latin typeface="Gill Sans"/>
                <a:ea typeface="Gill Sans"/>
                <a:cs typeface="Gill Sans"/>
                <a:sym typeface="Gill Sans"/>
              </a:rPr>
              <a:t>, she can send </a:t>
            </a:r>
            <a:r>
              <a:rPr b="0" i="0" lang="en-US" sz="2400" u="none" cap="none" strike="noStrike">
                <a:solidFill>
                  <a:srgbClr val="FF0000"/>
                </a:solidFill>
                <a:latin typeface="Times"/>
                <a:ea typeface="Times"/>
                <a:cs typeface="Times"/>
                <a:sym typeface="Times"/>
              </a:rPr>
              <a:t>x = r</a:t>
            </a:r>
            <a:r>
              <a:rPr b="0" baseline="30000" i="0" lang="en-US" sz="2400" u="none" cap="none" strike="noStrike">
                <a:solidFill>
                  <a:srgbClr val="FF0000"/>
                </a:solidFill>
                <a:latin typeface="Times"/>
                <a:ea typeface="Times"/>
                <a:cs typeface="Times"/>
                <a:sym typeface="Times"/>
              </a:rPr>
              <a:t>2</a:t>
            </a:r>
            <a:r>
              <a:rPr b="0" i="0" lang="en-US" sz="2400" u="none" cap="none" strike="noStrike">
                <a:solidFill>
                  <a:srgbClr val="FF0000"/>
                </a:solidFill>
                <a:latin typeface="Gill Sans"/>
                <a:ea typeface="Gill Sans"/>
                <a:cs typeface="Gill Sans"/>
                <a:sym typeface="Gill Sans"/>
              </a:rPr>
              <a:t> in msg 1 and </a:t>
            </a:r>
            <a:r>
              <a:rPr b="0" i="0" lang="en-US" sz="2400" u="none" cap="none" strike="noStrike">
                <a:solidFill>
                  <a:srgbClr val="FF0000"/>
                </a:solidFill>
                <a:latin typeface="Times"/>
                <a:ea typeface="Times"/>
                <a:cs typeface="Times"/>
                <a:sym typeface="Times"/>
              </a:rPr>
              <a:t>y = r</a:t>
            </a:r>
            <a:r>
              <a:rPr b="0" i="0" lang="en-US" sz="2400" u="none" cap="none" strike="noStrike">
                <a:solidFill>
                  <a:srgbClr val="FF0000"/>
                </a:solidFill>
                <a:latin typeface="Gill Sans"/>
                <a:ea typeface="Gill Sans"/>
                <a:cs typeface="Gill Sans"/>
                <a:sym typeface="Gill Sans"/>
              </a:rPr>
              <a:t> in msg 3 (i.e., follow protocol)</a:t>
            </a:r>
            <a:endParaRPr/>
          </a:p>
          <a:p>
            <a:pPr indent="-304800" lvl="1" marL="628650" marR="0" rtl="0" algn="l">
              <a:lnSpc>
                <a:spcPct val="80000"/>
              </a:lnSpc>
              <a:spcBef>
                <a:spcPts val="1080"/>
              </a:spcBef>
              <a:spcAft>
                <a:spcPts val="0"/>
              </a:spcAft>
              <a:buClr>
                <a:schemeClr val="accent2"/>
              </a:buClr>
              <a:buSzPts val="2208"/>
              <a:buFont typeface="Noto Sans Symbols"/>
              <a:buChar char="◼"/>
            </a:pPr>
            <a:r>
              <a:rPr b="0" i="0" lang="en-US" sz="2400" u="none" cap="none" strike="noStrike">
                <a:solidFill>
                  <a:srgbClr val="FF0000"/>
                </a:solidFill>
                <a:latin typeface="Gill Sans"/>
                <a:ea typeface="Gill Sans"/>
                <a:cs typeface="Gill Sans"/>
                <a:sym typeface="Gill Sans"/>
              </a:rPr>
              <a:t>If Trudy expects </a:t>
            </a:r>
            <a:r>
              <a:rPr b="0" i="0" lang="en-US" sz="2400" u="none" cap="none" strike="noStrike">
                <a:solidFill>
                  <a:srgbClr val="FF0000"/>
                </a:solidFill>
                <a:latin typeface="Times"/>
                <a:ea typeface="Times"/>
                <a:cs typeface="Times"/>
                <a:sym typeface="Times"/>
              </a:rPr>
              <a:t>e = 1</a:t>
            </a:r>
            <a:r>
              <a:rPr b="0" i="0" lang="en-US" sz="2400" u="none" cap="none" strike="noStrike">
                <a:solidFill>
                  <a:srgbClr val="FF0000"/>
                </a:solidFill>
                <a:latin typeface="Gill Sans"/>
                <a:ea typeface="Gill Sans"/>
                <a:cs typeface="Gill Sans"/>
                <a:sym typeface="Gill Sans"/>
              </a:rPr>
              <a:t>, </a:t>
            </a:r>
            <a:br>
              <a:rPr b="0" i="0" lang="en-US" sz="2400" u="none" cap="none" strike="noStrike">
                <a:solidFill>
                  <a:srgbClr val="FF0000"/>
                </a:solidFill>
                <a:latin typeface="Gill Sans"/>
                <a:ea typeface="Gill Sans"/>
                <a:cs typeface="Gill Sans"/>
                <a:sym typeface="Gill Sans"/>
              </a:rPr>
            </a:br>
            <a:r>
              <a:rPr b="0" i="0" lang="en-US" sz="2400" u="none" cap="none" strike="noStrike">
                <a:solidFill>
                  <a:srgbClr val="FF0000"/>
                </a:solidFill>
                <a:latin typeface="Gill Sans"/>
                <a:ea typeface="Gill Sans"/>
                <a:cs typeface="Gill Sans"/>
                <a:sym typeface="Gill Sans"/>
              </a:rPr>
              <a:t>she can send </a:t>
            </a:r>
            <a:r>
              <a:rPr b="0" i="0" lang="en-US" sz="2400" u="none" cap="none" strike="noStrike">
                <a:solidFill>
                  <a:srgbClr val="FF0000"/>
                </a:solidFill>
                <a:latin typeface="Times"/>
                <a:ea typeface="Times"/>
                <a:cs typeface="Times"/>
                <a:sym typeface="Times"/>
              </a:rPr>
              <a:t>x = r</a:t>
            </a:r>
            <a:r>
              <a:rPr b="0" baseline="30000" i="0" lang="en-US" sz="2400" u="none" cap="none" strike="noStrike">
                <a:solidFill>
                  <a:srgbClr val="FF0000"/>
                </a:solidFill>
                <a:latin typeface="Times"/>
                <a:ea typeface="Times"/>
                <a:cs typeface="Times"/>
                <a:sym typeface="Times"/>
              </a:rPr>
              <a:t>2</a:t>
            </a:r>
            <a:r>
              <a:rPr b="0" i="0" lang="en-US" sz="2400" u="none" cap="none" strike="noStrike">
                <a:solidFill>
                  <a:srgbClr val="FF0000"/>
                </a:solidFill>
                <a:latin typeface="Times"/>
                <a:ea typeface="Times"/>
                <a:cs typeface="Times"/>
                <a:sym typeface="Times"/>
              </a:rPr>
              <a:t>*v</a:t>
            </a:r>
            <a:r>
              <a:rPr b="0" baseline="30000" i="0" lang="en-US" sz="2400" u="none" cap="none" strike="noStrike">
                <a:solidFill>
                  <a:srgbClr val="FF0000"/>
                </a:solidFill>
                <a:latin typeface="Times"/>
                <a:ea typeface="Times"/>
                <a:cs typeface="Times"/>
                <a:sym typeface="Times"/>
              </a:rPr>
              <a:t>−1</a:t>
            </a:r>
            <a:r>
              <a:rPr b="0" i="0" lang="en-US" sz="2400" u="none" cap="none" strike="noStrike">
                <a:solidFill>
                  <a:srgbClr val="FF0000"/>
                </a:solidFill>
                <a:latin typeface="Times"/>
                <a:ea typeface="Times"/>
                <a:cs typeface="Times"/>
                <a:sym typeface="Times"/>
              </a:rPr>
              <a:t> </a:t>
            </a:r>
            <a:r>
              <a:rPr b="0" i="0" lang="en-US" sz="2400" u="none" cap="none" strike="noStrike">
                <a:solidFill>
                  <a:srgbClr val="FF0000"/>
                </a:solidFill>
                <a:latin typeface="Gill Sans"/>
                <a:ea typeface="Gill Sans"/>
                <a:cs typeface="Gill Sans"/>
                <a:sym typeface="Gill Sans"/>
              </a:rPr>
              <a:t>in msg 1 and </a:t>
            </a:r>
            <a:r>
              <a:rPr b="0" i="0" lang="en-US" sz="2400" u="none" cap="none" strike="noStrike">
                <a:solidFill>
                  <a:srgbClr val="FF0000"/>
                </a:solidFill>
                <a:latin typeface="Times"/>
                <a:ea typeface="Times"/>
                <a:cs typeface="Times"/>
                <a:sym typeface="Times"/>
              </a:rPr>
              <a:t>y = r</a:t>
            </a:r>
            <a:r>
              <a:rPr b="0" i="0" lang="en-US" sz="2400" u="none" cap="none" strike="noStrike">
                <a:solidFill>
                  <a:srgbClr val="FF0000"/>
                </a:solidFill>
                <a:latin typeface="Gill Sans"/>
                <a:ea typeface="Gill Sans"/>
                <a:cs typeface="Gill Sans"/>
                <a:sym typeface="Gill Sans"/>
              </a:rPr>
              <a:t> in msg 3</a:t>
            </a:r>
            <a:endParaRPr/>
          </a:p>
          <a:p>
            <a:pPr indent="-304800" lvl="0" marL="304800" marR="0" rtl="0" algn="l">
              <a:lnSpc>
                <a:spcPct val="80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If Bob chooses </a:t>
            </a:r>
            <a:r>
              <a:rPr b="0" i="0" lang="en-US" sz="2800" u="none">
                <a:solidFill>
                  <a:schemeClr val="dk2"/>
                </a:solidFill>
                <a:latin typeface="Times"/>
                <a:ea typeface="Times"/>
                <a:cs typeface="Times"/>
                <a:sym typeface="Times"/>
              </a:rPr>
              <a:t>e ∈ {0,1}</a:t>
            </a:r>
            <a:r>
              <a:rPr b="0" i="0" lang="en-US" sz="2800" u="none">
                <a:solidFill>
                  <a:schemeClr val="dk2"/>
                </a:solidFill>
                <a:latin typeface="Gill Sans"/>
                <a:ea typeface="Gill Sans"/>
                <a:cs typeface="Gill Sans"/>
                <a:sym typeface="Gill Sans"/>
              </a:rPr>
              <a:t> at random, Trudy can only trick Bob with probability </a:t>
            </a:r>
            <a:r>
              <a:rPr b="0" i="0" lang="en-US" sz="2800" u="none">
                <a:solidFill>
                  <a:schemeClr val="dk2"/>
                </a:solidFill>
                <a:latin typeface="Times"/>
                <a:ea typeface="Times"/>
                <a:cs typeface="Times"/>
                <a:sym typeface="Times"/>
              </a:rPr>
              <a:t>1/2</a:t>
            </a:r>
            <a:endParaRPr/>
          </a:p>
        </p:txBody>
      </p:sp>
      <p:sp>
        <p:nvSpPr>
          <p:cNvPr id="1025" name="Google Shape;1025;p68"/>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1026" name="Google Shape;1026;p68"/>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69"/>
          <p:cNvSpPr txBox="1"/>
          <p:nvPr>
            <p:ph type="title"/>
          </p:nvPr>
        </p:nvSpPr>
        <p:spPr>
          <a:xfrm>
            <a:off x="785812" y="625475"/>
            <a:ext cx="7143750" cy="731837"/>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FIAT-SHAMIR FACTS</a:t>
            </a:r>
            <a:endParaRPr/>
          </a:p>
        </p:txBody>
      </p:sp>
      <p:sp>
        <p:nvSpPr>
          <p:cNvPr id="1032" name="Google Shape;1032;p69"/>
          <p:cNvSpPr txBox="1"/>
          <p:nvPr>
            <p:ph idx="1" type="body"/>
          </p:nvPr>
        </p:nvSpPr>
        <p:spPr>
          <a:xfrm>
            <a:off x="785812" y="1714500"/>
            <a:ext cx="8020050" cy="4495800"/>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90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Trudy can trick Bob with prob </a:t>
            </a:r>
            <a:r>
              <a:rPr b="0" i="0" lang="en-US" sz="2800" u="none">
                <a:solidFill>
                  <a:schemeClr val="dk2"/>
                </a:solidFill>
                <a:latin typeface="Times"/>
                <a:ea typeface="Times"/>
                <a:cs typeface="Times"/>
                <a:sym typeface="Times"/>
              </a:rPr>
              <a:t>1/2</a:t>
            </a:r>
            <a:r>
              <a:rPr b="0" i="0" lang="en-US" sz="2800" u="none">
                <a:solidFill>
                  <a:schemeClr val="dk2"/>
                </a:solidFill>
                <a:latin typeface="Gill Sans"/>
                <a:ea typeface="Gill Sans"/>
                <a:cs typeface="Gill Sans"/>
                <a:sym typeface="Gill Sans"/>
              </a:rPr>
              <a:t>, but…</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…after </a:t>
            </a:r>
            <a:r>
              <a:rPr b="0" i="0" lang="en-US" sz="2400" u="none" cap="none" strike="noStrike">
                <a:solidFill>
                  <a:srgbClr val="0000FF"/>
                </a:solidFill>
                <a:latin typeface="Times"/>
                <a:ea typeface="Times"/>
                <a:cs typeface="Times"/>
                <a:sym typeface="Times"/>
              </a:rPr>
              <a:t>n</a:t>
            </a:r>
            <a:r>
              <a:rPr b="0" i="0" lang="en-US" sz="2400" u="none" cap="none" strike="noStrike">
                <a:solidFill>
                  <a:schemeClr val="dk2"/>
                </a:solidFill>
                <a:latin typeface="Gill Sans"/>
                <a:ea typeface="Gill Sans"/>
                <a:cs typeface="Gill Sans"/>
                <a:sym typeface="Gill Sans"/>
              </a:rPr>
              <a:t> iterations, the probability that Trudy can convince Bob that she is Alice is only </a:t>
            </a:r>
            <a:r>
              <a:rPr b="0" i="0" lang="en-US" sz="2400" u="none" cap="none" strike="noStrike">
                <a:solidFill>
                  <a:srgbClr val="0000FF"/>
                </a:solidFill>
                <a:latin typeface="Times"/>
                <a:ea typeface="Times"/>
                <a:cs typeface="Times"/>
                <a:sym typeface="Times"/>
              </a:rPr>
              <a:t>1/2</a:t>
            </a:r>
            <a:r>
              <a:rPr b="0" baseline="30000" i="0" lang="en-US" sz="2400" u="none" cap="none" strike="noStrike">
                <a:solidFill>
                  <a:srgbClr val="0000FF"/>
                </a:solidFill>
                <a:latin typeface="Times"/>
                <a:ea typeface="Times"/>
                <a:cs typeface="Times"/>
                <a:sym typeface="Times"/>
              </a:rPr>
              <a:t>n</a:t>
            </a:r>
            <a:endParaRPr b="0" i="0" sz="2400" u="none" cap="none" strike="noStrike">
              <a:solidFill>
                <a:srgbClr val="0000FF"/>
              </a:solidFill>
              <a:latin typeface="Gill Sans"/>
              <a:ea typeface="Gill Sans"/>
              <a:cs typeface="Gill Sans"/>
              <a:sym typeface="Gill Sans"/>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Just like Bob’s cave!</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0" i="0" lang="en-US" sz="2800" u="none">
                <a:solidFill>
                  <a:srgbClr val="FF0000"/>
                </a:solidFill>
                <a:latin typeface="Gill Sans"/>
                <a:ea typeface="Gill Sans"/>
                <a:cs typeface="Gill Sans"/>
                <a:sym typeface="Gill Sans"/>
              </a:rPr>
              <a:t>Bob’s </a:t>
            </a:r>
            <a:r>
              <a:rPr b="0" i="0" lang="en-US" sz="2800" u="none">
                <a:solidFill>
                  <a:srgbClr val="FF0000"/>
                </a:solidFill>
                <a:latin typeface="Times"/>
                <a:ea typeface="Times"/>
                <a:cs typeface="Times"/>
                <a:sym typeface="Times"/>
              </a:rPr>
              <a:t>e ∈ {0,1}</a:t>
            </a:r>
            <a:r>
              <a:rPr b="0" i="0" lang="en-US" sz="2800" u="none">
                <a:solidFill>
                  <a:srgbClr val="FF0000"/>
                </a:solidFill>
                <a:latin typeface="Gill Sans"/>
                <a:ea typeface="Gill Sans"/>
                <a:cs typeface="Gill Sans"/>
                <a:sym typeface="Gill Sans"/>
              </a:rPr>
              <a:t> must be unpredictable</a:t>
            </a:r>
            <a:endParaRPr/>
          </a:p>
          <a:p>
            <a:pPr indent="-304800" lvl="0" marL="304800" marR="0" rtl="0" algn="l">
              <a:lnSpc>
                <a:spcPct val="90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Alice must use new </a:t>
            </a:r>
            <a:r>
              <a:rPr b="0" i="0" lang="en-US" sz="2800" u="none">
                <a:solidFill>
                  <a:schemeClr val="dk2"/>
                </a:solidFill>
                <a:latin typeface="Times"/>
                <a:ea typeface="Times"/>
                <a:cs typeface="Times"/>
                <a:sym typeface="Times"/>
              </a:rPr>
              <a:t>r</a:t>
            </a:r>
            <a:r>
              <a:rPr b="0" i="0" lang="en-US" sz="2800" u="none">
                <a:solidFill>
                  <a:schemeClr val="dk2"/>
                </a:solidFill>
                <a:latin typeface="Gill Sans"/>
                <a:ea typeface="Gill Sans"/>
                <a:cs typeface="Gill Sans"/>
                <a:sym typeface="Gill Sans"/>
              </a:rPr>
              <a:t> each iteration or else</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If </a:t>
            </a:r>
            <a:r>
              <a:rPr b="0" i="0" lang="en-US" sz="2400" u="none" cap="none" strike="noStrike">
                <a:solidFill>
                  <a:schemeClr val="dk2"/>
                </a:solidFill>
                <a:latin typeface="Times"/>
                <a:ea typeface="Times"/>
                <a:cs typeface="Times"/>
                <a:sym typeface="Times"/>
              </a:rPr>
              <a:t>e = 0</a:t>
            </a:r>
            <a:r>
              <a:rPr b="0" i="0" lang="en-US" sz="2400" u="none" cap="none" strike="noStrike">
                <a:solidFill>
                  <a:schemeClr val="dk2"/>
                </a:solidFill>
                <a:latin typeface="Gill Sans"/>
                <a:ea typeface="Gill Sans"/>
                <a:cs typeface="Gill Sans"/>
                <a:sym typeface="Gill Sans"/>
              </a:rPr>
              <a:t>, Alice sends </a:t>
            </a:r>
            <a:r>
              <a:rPr b="0" i="0" lang="en-US" sz="2400" u="none" cap="none" strike="noStrike">
                <a:solidFill>
                  <a:schemeClr val="dk2"/>
                </a:solidFill>
                <a:latin typeface="Times"/>
                <a:ea typeface="Times"/>
                <a:cs typeface="Times"/>
                <a:sym typeface="Times"/>
              </a:rPr>
              <a:t>r</a:t>
            </a:r>
            <a:r>
              <a:rPr b="0" i="0" lang="en-US" sz="2400" u="none" cap="none" strike="noStrike">
                <a:solidFill>
                  <a:schemeClr val="dk2"/>
                </a:solidFill>
                <a:latin typeface="Gill Sans"/>
                <a:ea typeface="Gill Sans"/>
                <a:cs typeface="Gill Sans"/>
                <a:sym typeface="Gill Sans"/>
              </a:rPr>
              <a:t> in message 3</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If </a:t>
            </a:r>
            <a:r>
              <a:rPr b="0" i="0" lang="en-US" sz="2400" u="none" cap="none" strike="noStrike">
                <a:solidFill>
                  <a:schemeClr val="dk2"/>
                </a:solidFill>
                <a:latin typeface="Times"/>
                <a:ea typeface="Times"/>
                <a:cs typeface="Times"/>
                <a:sym typeface="Times"/>
              </a:rPr>
              <a:t>e = 1</a:t>
            </a:r>
            <a:r>
              <a:rPr b="0" i="0" lang="en-US" sz="2400" u="none" cap="none" strike="noStrike">
                <a:solidFill>
                  <a:schemeClr val="dk2"/>
                </a:solidFill>
                <a:latin typeface="Gill Sans"/>
                <a:ea typeface="Gill Sans"/>
                <a:cs typeface="Gill Sans"/>
                <a:sym typeface="Gill Sans"/>
              </a:rPr>
              <a:t>, Alice sends </a:t>
            </a:r>
            <a:r>
              <a:rPr b="0" i="0" lang="en-US" sz="2400" u="none" cap="none" strike="noStrike">
                <a:solidFill>
                  <a:schemeClr val="dk2"/>
                </a:solidFill>
                <a:latin typeface="Times"/>
                <a:ea typeface="Times"/>
                <a:cs typeface="Times"/>
                <a:sym typeface="Times"/>
              </a:rPr>
              <a:t>r*S</a:t>
            </a:r>
            <a:r>
              <a:rPr b="0" i="0" lang="en-US" sz="2400" u="none" cap="none" strike="noStrike">
                <a:solidFill>
                  <a:schemeClr val="dk2"/>
                </a:solidFill>
                <a:latin typeface="Gill Sans"/>
                <a:ea typeface="Gill Sans"/>
                <a:cs typeface="Gill Sans"/>
                <a:sym typeface="Gill Sans"/>
              </a:rPr>
              <a:t> in message 3</a:t>
            </a:r>
            <a:endParaRPr/>
          </a:p>
          <a:p>
            <a:pPr indent="-304800" lvl="1" marL="628650"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Anyone can find </a:t>
            </a:r>
            <a:r>
              <a:rPr b="0" i="0" lang="en-US" sz="2400" u="none" cap="none" strike="noStrike">
                <a:solidFill>
                  <a:schemeClr val="dk2"/>
                </a:solidFill>
                <a:latin typeface="Times"/>
                <a:ea typeface="Times"/>
                <a:cs typeface="Times"/>
                <a:sym typeface="Times"/>
              </a:rPr>
              <a:t>S</a:t>
            </a:r>
            <a:r>
              <a:rPr b="0" i="0" lang="en-US" sz="2400" u="none" cap="none" strike="noStrike">
                <a:solidFill>
                  <a:schemeClr val="dk2"/>
                </a:solidFill>
                <a:latin typeface="Gill Sans"/>
                <a:ea typeface="Gill Sans"/>
                <a:cs typeface="Gill Sans"/>
                <a:sym typeface="Gill Sans"/>
              </a:rPr>
              <a:t> given </a:t>
            </a:r>
            <a:r>
              <a:rPr b="1" i="0" lang="en-US" sz="2400" u="none" cap="none" strike="noStrike">
                <a:solidFill>
                  <a:srgbClr val="0000FF"/>
                </a:solidFill>
                <a:latin typeface="Gill Sans"/>
                <a:ea typeface="Gill Sans"/>
                <a:cs typeface="Gill Sans"/>
                <a:sym typeface="Gill Sans"/>
              </a:rPr>
              <a:t>both</a:t>
            </a:r>
            <a:r>
              <a:rPr b="0" i="0" lang="en-US" sz="2400" u="none" cap="none" strike="noStrike">
                <a:solidFill>
                  <a:schemeClr val="dk2"/>
                </a:solidFill>
                <a:latin typeface="Gill Sans"/>
                <a:ea typeface="Gill Sans"/>
                <a:cs typeface="Gill Sans"/>
                <a:sym typeface="Gill Sans"/>
              </a:rPr>
              <a:t> </a:t>
            </a:r>
            <a:r>
              <a:rPr b="0" i="0" lang="en-US" sz="2400" u="none" cap="none" strike="noStrike">
                <a:solidFill>
                  <a:schemeClr val="dk2"/>
                </a:solidFill>
                <a:latin typeface="Times"/>
                <a:ea typeface="Times"/>
                <a:cs typeface="Times"/>
                <a:sym typeface="Times"/>
              </a:rPr>
              <a:t>r</a:t>
            </a:r>
            <a:r>
              <a:rPr b="0" i="0" lang="en-US" sz="2400" u="none" cap="none" strike="noStrike">
                <a:solidFill>
                  <a:schemeClr val="dk2"/>
                </a:solidFill>
                <a:latin typeface="Gill Sans"/>
                <a:ea typeface="Gill Sans"/>
                <a:cs typeface="Gill Sans"/>
                <a:sym typeface="Gill Sans"/>
              </a:rPr>
              <a:t> and </a:t>
            </a:r>
            <a:r>
              <a:rPr b="0" i="0" lang="en-US" sz="2400" u="none" cap="none" strike="noStrike">
                <a:solidFill>
                  <a:schemeClr val="dk2"/>
                </a:solidFill>
                <a:latin typeface="Times"/>
                <a:ea typeface="Times"/>
                <a:cs typeface="Times"/>
                <a:sym typeface="Times"/>
              </a:rPr>
              <a:t>r*S</a:t>
            </a:r>
            <a:r>
              <a:rPr b="0" i="0" lang="en-US" sz="2400" u="none" cap="none" strike="noStrike">
                <a:solidFill>
                  <a:schemeClr val="dk2"/>
                </a:solidFill>
                <a:latin typeface="Gill Sans"/>
                <a:ea typeface="Gill Sans"/>
                <a:cs typeface="Gill Sans"/>
                <a:sym typeface="Gill Sans"/>
              </a:rPr>
              <a:t> </a:t>
            </a:r>
            <a:endParaRPr/>
          </a:p>
        </p:txBody>
      </p:sp>
      <p:sp>
        <p:nvSpPr>
          <p:cNvPr id="1033" name="Google Shape;1033;p69"/>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1034" name="Google Shape;1034;p69"/>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70"/>
          <p:cNvSpPr txBox="1"/>
          <p:nvPr>
            <p:ph type="title"/>
          </p:nvPr>
        </p:nvSpPr>
        <p:spPr>
          <a:xfrm>
            <a:off x="785812" y="428625"/>
            <a:ext cx="7215187" cy="928687"/>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FIAT-SHAMIR ZERO KNOWLEDGE?</a:t>
            </a:r>
            <a:endParaRPr/>
          </a:p>
        </p:txBody>
      </p:sp>
      <p:sp>
        <p:nvSpPr>
          <p:cNvPr id="1040" name="Google Shape;1040;p70"/>
          <p:cNvSpPr txBox="1"/>
          <p:nvPr>
            <p:ph idx="1" type="body"/>
          </p:nvPr>
        </p:nvSpPr>
        <p:spPr>
          <a:xfrm>
            <a:off x="785812" y="1676400"/>
            <a:ext cx="7824787" cy="4495800"/>
          </a:xfrm>
          <a:prstGeom prst="rect">
            <a:avLst/>
          </a:prstGeom>
          <a:noFill/>
          <a:ln>
            <a:noFill/>
          </a:ln>
        </p:spPr>
        <p:txBody>
          <a:bodyPr anchorCtr="0" anchor="ctr" bIns="45700" lIns="91425" spcFirstLastPara="1" rIns="91425" wrap="square" tIns="45700">
            <a:normAutofit/>
          </a:bodyPr>
          <a:lstStyle/>
          <a:p>
            <a:pPr indent="-304800" lvl="0" marL="304800" marR="0" rtl="0" algn="l">
              <a:lnSpc>
                <a:spcPct val="75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Zero knowledge means that nobody learns </a:t>
            </a:r>
            <a:r>
              <a:rPr b="1" i="0" lang="en-US" sz="2800" u="none">
                <a:solidFill>
                  <a:srgbClr val="0000FF"/>
                </a:solidFill>
                <a:latin typeface="Gill Sans"/>
                <a:ea typeface="Gill Sans"/>
                <a:cs typeface="Gill Sans"/>
                <a:sym typeface="Gill Sans"/>
              </a:rPr>
              <a:t>anything</a:t>
            </a:r>
            <a:r>
              <a:rPr b="0" i="0" lang="en-US" sz="2800" u="none">
                <a:solidFill>
                  <a:srgbClr val="0000FF"/>
                </a:solidFill>
                <a:latin typeface="Gill Sans"/>
                <a:ea typeface="Gill Sans"/>
                <a:cs typeface="Gill Sans"/>
                <a:sym typeface="Gill Sans"/>
              </a:rPr>
              <a:t> </a:t>
            </a:r>
            <a:r>
              <a:rPr b="0" i="0" lang="en-US" sz="2800" u="none">
                <a:solidFill>
                  <a:schemeClr val="dk2"/>
                </a:solidFill>
                <a:latin typeface="Gill Sans"/>
                <a:ea typeface="Gill Sans"/>
                <a:cs typeface="Gill Sans"/>
                <a:sym typeface="Gill Sans"/>
              </a:rPr>
              <a:t>about the secret </a:t>
            </a:r>
            <a:r>
              <a:rPr b="0" i="0" lang="en-US" sz="2800" u="none">
                <a:solidFill>
                  <a:schemeClr val="dk2"/>
                </a:solidFill>
                <a:latin typeface="Times"/>
                <a:ea typeface="Times"/>
                <a:cs typeface="Times"/>
                <a:sym typeface="Times"/>
              </a:rPr>
              <a:t>S</a:t>
            </a:r>
            <a:endParaRPr b="0" i="0" sz="2800" u="none">
              <a:solidFill>
                <a:schemeClr val="dk2"/>
              </a:solidFill>
              <a:latin typeface="Gill Sans"/>
              <a:ea typeface="Gill Sans"/>
              <a:cs typeface="Gill Sans"/>
              <a:sym typeface="Gill Sans"/>
            </a:endParaRPr>
          </a:p>
          <a:p>
            <a:pPr indent="-304800" lvl="1" marL="628650" marR="0" rtl="0" algn="l">
              <a:lnSpc>
                <a:spcPct val="75000"/>
              </a:lnSpc>
              <a:spcBef>
                <a:spcPts val="1080"/>
              </a:spcBef>
              <a:spcAft>
                <a:spcPts val="0"/>
              </a:spcAft>
              <a:buClr>
                <a:schemeClr val="accent2"/>
              </a:buClr>
              <a:buSzPts val="2208"/>
              <a:buFont typeface="Noto Sans Symbols"/>
              <a:buChar char="◼"/>
            </a:pPr>
            <a:r>
              <a:rPr b="1" i="0" lang="en-US" sz="2400" u="none" cap="none" strike="noStrike">
                <a:solidFill>
                  <a:srgbClr val="FF0000"/>
                </a:solidFill>
                <a:latin typeface="Gill Sans"/>
                <a:ea typeface="Gill Sans"/>
                <a:cs typeface="Gill Sans"/>
                <a:sym typeface="Gill Sans"/>
              </a:rPr>
              <a:t>Public:</a:t>
            </a:r>
            <a:r>
              <a:rPr b="0" i="0" lang="en-US" sz="2400" u="none" cap="none" strike="noStrike">
                <a:solidFill>
                  <a:srgbClr val="FF0000"/>
                </a:solidFill>
                <a:latin typeface="Gill Sans"/>
                <a:ea typeface="Gill Sans"/>
                <a:cs typeface="Gill Sans"/>
                <a:sym typeface="Gill Sans"/>
              </a:rPr>
              <a:t> </a:t>
            </a:r>
            <a:r>
              <a:rPr b="0" i="0" lang="en-US" sz="2400" u="none" cap="none" strike="noStrike">
                <a:solidFill>
                  <a:srgbClr val="FF0000"/>
                </a:solidFill>
                <a:latin typeface="Times"/>
                <a:ea typeface="Times"/>
                <a:cs typeface="Times"/>
                <a:sym typeface="Times"/>
              </a:rPr>
              <a:t>v = S</a:t>
            </a:r>
            <a:r>
              <a:rPr b="0" baseline="30000" i="0" lang="en-US" sz="2400" u="none" cap="none" strike="noStrike">
                <a:solidFill>
                  <a:srgbClr val="FF0000"/>
                </a:solidFill>
                <a:latin typeface="Times"/>
                <a:ea typeface="Times"/>
                <a:cs typeface="Times"/>
                <a:sym typeface="Times"/>
              </a:rPr>
              <a:t>2</a:t>
            </a:r>
            <a:r>
              <a:rPr b="0" i="0" lang="en-US" sz="2400" u="none" cap="none" strike="noStrike">
                <a:solidFill>
                  <a:srgbClr val="FF0000"/>
                </a:solidFill>
                <a:latin typeface="Times"/>
                <a:ea typeface="Times"/>
                <a:cs typeface="Times"/>
                <a:sym typeface="Times"/>
              </a:rPr>
              <a:t> mod N</a:t>
            </a:r>
            <a:endParaRPr b="0" i="0" sz="2400" u="none" cap="none" strike="noStrike">
              <a:solidFill>
                <a:srgbClr val="FF0000"/>
              </a:solidFill>
              <a:latin typeface="Gill Sans"/>
              <a:ea typeface="Gill Sans"/>
              <a:cs typeface="Gill Sans"/>
              <a:sym typeface="Gill Sans"/>
            </a:endParaRPr>
          </a:p>
          <a:p>
            <a:pPr indent="-304800" lvl="1" marL="628650" marR="0" rtl="0" algn="l">
              <a:lnSpc>
                <a:spcPct val="75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Trudy sees </a:t>
            </a:r>
            <a:r>
              <a:rPr b="0" i="0" lang="en-US" sz="2400" u="none" cap="none" strike="noStrike">
                <a:solidFill>
                  <a:schemeClr val="dk2"/>
                </a:solidFill>
                <a:latin typeface="Times"/>
                <a:ea typeface="Times"/>
                <a:cs typeface="Times"/>
                <a:sym typeface="Times"/>
              </a:rPr>
              <a:t>r</a:t>
            </a:r>
            <a:r>
              <a:rPr b="0" baseline="30000" i="0" lang="en-US" sz="2400" u="none" cap="none" strike="noStrike">
                <a:solidFill>
                  <a:schemeClr val="dk2"/>
                </a:solidFill>
                <a:latin typeface="Times"/>
                <a:ea typeface="Times"/>
                <a:cs typeface="Times"/>
                <a:sym typeface="Times"/>
              </a:rPr>
              <a:t>2</a:t>
            </a:r>
            <a:r>
              <a:rPr b="0" i="0" lang="en-US" sz="2400" u="none" cap="none" strike="noStrike">
                <a:solidFill>
                  <a:schemeClr val="dk2"/>
                </a:solidFill>
                <a:latin typeface="Times"/>
                <a:ea typeface="Times"/>
                <a:cs typeface="Times"/>
                <a:sym typeface="Times"/>
              </a:rPr>
              <a:t> mod N</a:t>
            </a:r>
            <a:r>
              <a:rPr b="0" i="0" lang="en-US" sz="2400" u="none" cap="none" strike="noStrike">
                <a:solidFill>
                  <a:schemeClr val="dk2"/>
                </a:solidFill>
                <a:latin typeface="Gill Sans"/>
                <a:ea typeface="Gill Sans"/>
                <a:cs typeface="Gill Sans"/>
                <a:sym typeface="Gill Sans"/>
              </a:rPr>
              <a:t> in message 1</a:t>
            </a:r>
            <a:endParaRPr/>
          </a:p>
          <a:p>
            <a:pPr indent="-304800" lvl="1" marL="628650" marR="0" rtl="0" algn="l">
              <a:lnSpc>
                <a:spcPct val="75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Trudy sees </a:t>
            </a:r>
            <a:r>
              <a:rPr b="0" i="0" lang="en-US" sz="2400" u="none" cap="none" strike="noStrike">
                <a:solidFill>
                  <a:schemeClr val="dk2"/>
                </a:solidFill>
                <a:latin typeface="Times"/>
                <a:ea typeface="Times"/>
                <a:cs typeface="Times"/>
                <a:sym typeface="Times"/>
              </a:rPr>
              <a:t>r*S mod N</a:t>
            </a:r>
            <a:r>
              <a:rPr b="0" i="0" lang="en-US" sz="2400" u="none" cap="none" strike="noStrike">
                <a:solidFill>
                  <a:schemeClr val="dk2"/>
                </a:solidFill>
                <a:latin typeface="Gill Sans"/>
                <a:ea typeface="Gill Sans"/>
                <a:cs typeface="Gill Sans"/>
                <a:sym typeface="Gill Sans"/>
              </a:rPr>
              <a:t> in message 3 (if </a:t>
            </a:r>
            <a:r>
              <a:rPr b="0" i="0" lang="en-US" sz="2400" u="none" cap="none" strike="noStrike">
                <a:solidFill>
                  <a:schemeClr val="dk2"/>
                </a:solidFill>
                <a:latin typeface="Times"/>
                <a:ea typeface="Times"/>
                <a:cs typeface="Times"/>
                <a:sym typeface="Times"/>
              </a:rPr>
              <a:t>e = 1</a:t>
            </a:r>
            <a:r>
              <a:rPr b="0" i="0" lang="en-US" sz="2400" u="none" cap="none" strike="noStrike">
                <a:solidFill>
                  <a:schemeClr val="dk2"/>
                </a:solidFill>
                <a:latin typeface="Gill Sans"/>
                <a:ea typeface="Gill Sans"/>
                <a:cs typeface="Gill Sans"/>
                <a:sym typeface="Gill Sans"/>
              </a:rPr>
              <a:t>)</a:t>
            </a:r>
            <a:endParaRPr/>
          </a:p>
          <a:p>
            <a:pPr indent="-304800" lvl="0" marL="304800" marR="0" rtl="0" algn="l">
              <a:lnSpc>
                <a:spcPct val="75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If Trudy can find </a:t>
            </a:r>
            <a:r>
              <a:rPr b="0" i="0" lang="en-US" sz="2800" u="none">
                <a:solidFill>
                  <a:schemeClr val="dk2"/>
                </a:solidFill>
                <a:latin typeface="Times"/>
                <a:ea typeface="Times"/>
                <a:cs typeface="Times"/>
                <a:sym typeface="Times"/>
              </a:rPr>
              <a:t>r</a:t>
            </a:r>
            <a:r>
              <a:rPr b="0" i="0" lang="en-US" sz="2800" u="none">
                <a:solidFill>
                  <a:schemeClr val="dk2"/>
                </a:solidFill>
                <a:latin typeface="Gill Sans"/>
                <a:ea typeface="Gill Sans"/>
                <a:cs typeface="Gill Sans"/>
                <a:sym typeface="Gill Sans"/>
              </a:rPr>
              <a:t> from </a:t>
            </a:r>
            <a:r>
              <a:rPr b="0" i="0" lang="en-US" sz="2800" u="none">
                <a:solidFill>
                  <a:schemeClr val="dk2"/>
                </a:solidFill>
                <a:latin typeface="Times"/>
                <a:ea typeface="Times"/>
                <a:cs typeface="Times"/>
                <a:sym typeface="Times"/>
              </a:rPr>
              <a:t>r</a:t>
            </a:r>
            <a:r>
              <a:rPr b="0" baseline="30000" i="0" lang="en-US" sz="2800" u="none">
                <a:solidFill>
                  <a:schemeClr val="dk2"/>
                </a:solidFill>
                <a:latin typeface="Times"/>
                <a:ea typeface="Times"/>
                <a:cs typeface="Times"/>
                <a:sym typeface="Times"/>
              </a:rPr>
              <a:t>2</a:t>
            </a:r>
            <a:r>
              <a:rPr b="0" i="0" lang="en-US" sz="2800" u="none">
                <a:solidFill>
                  <a:schemeClr val="dk2"/>
                </a:solidFill>
                <a:latin typeface="Times"/>
                <a:ea typeface="Times"/>
                <a:cs typeface="Times"/>
                <a:sym typeface="Times"/>
              </a:rPr>
              <a:t> mod N</a:t>
            </a:r>
            <a:r>
              <a:rPr b="0" i="0" lang="en-US" sz="2800" u="none">
                <a:solidFill>
                  <a:schemeClr val="dk2"/>
                </a:solidFill>
                <a:latin typeface="Gill Sans"/>
                <a:ea typeface="Gill Sans"/>
                <a:cs typeface="Gill Sans"/>
                <a:sym typeface="Gill Sans"/>
              </a:rPr>
              <a:t>, gets </a:t>
            </a:r>
            <a:r>
              <a:rPr b="0" i="0" lang="en-US" sz="2800" u="none">
                <a:solidFill>
                  <a:schemeClr val="dk2"/>
                </a:solidFill>
                <a:latin typeface="Times"/>
                <a:ea typeface="Times"/>
                <a:cs typeface="Times"/>
                <a:sym typeface="Times"/>
              </a:rPr>
              <a:t>S</a:t>
            </a:r>
            <a:endParaRPr b="0" i="0" sz="2800" u="none">
              <a:solidFill>
                <a:schemeClr val="dk2"/>
              </a:solidFill>
              <a:latin typeface="Gill Sans"/>
              <a:ea typeface="Gill Sans"/>
              <a:cs typeface="Gill Sans"/>
              <a:sym typeface="Gill Sans"/>
            </a:endParaRPr>
          </a:p>
          <a:p>
            <a:pPr indent="-304800" lvl="1" marL="628650" marR="0" rtl="0" algn="l">
              <a:lnSpc>
                <a:spcPct val="75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But that requires modular square root</a:t>
            </a:r>
            <a:endParaRPr/>
          </a:p>
          <a:p>
            <a:pPr indent="-304800" lvl="1" marL="628650" marR="0" rtl="0" algn="l">
              <a:lnSpc>
                <a:spcPct val="75000"/>
              </a:lnSpc>
              <a:spcBef>
                <a:spcPts val="1080"/>
              </a:spcBef>
              <a:spcAft>
                <a:spcPts val="0"/>
              </a:spcAft>
              <a:buClr>
                <a:schemeClr val="accent2"/>
              </a:buClr>
              <a:buSzPts val="2208"/>
              <a:buFont typeface="Noto Sans Symbols"/>
              <a:buChar char="◼"/>
            </a:pPr>
            <a:r>
              <a:rPr b="0" i="0" lang="en-US" sz="2400" u="none" cap="none" strike="noStrike">
                <a:solidFill>
                  <a:srgbClr val="FF0000"/>
                </a:solidFill>
                <a:latin typeface="Gill Sans"/>
                <a:ea typeface="Gill Sans"/>
                <a:cs typeface="Gill Sans"/>
                <a:sym typeface="Gill Sans"/>
              </a:rPr>
              <a:t>If Trudy could find modular square roots, she can get </a:t>
            </a:r>
            <a:r>
              <a:rPr b="0" i="0" lang="en-US" sz="2400" u="none" cap="none" strike="noStrike">
                <a:solidFill>
                  <a:srgbClr val="FF0000"/>
                </a:solidFill>
                <a:latin typeface="Times"/>
                <a:ea typeface="Times"/>
                <a:cs typeface="Times"/>
                <a:sym typeface="Times"/>
              </a:rPr>
              <a:t>S</a:t>
            </a:r>
            <a:r>
              <a:rPr b="0" i="0" lang="en-US" sz="2400" u="none" cap="none" strike="noStrike">
                <a:solidFill>
                  <a:srgbClr val="FF0000"/>
                </a:solidFill>
                <a:latin typeface="Gill Sans"/>
                <a:ea typeface="Gill Sans"/>
                <a:cs typeface="Gill Sans"/>
                <a:sym typeface="Gill Sans"/>
              </a:rPr>
              <a:t> from </a:t>
            </a:r>
            <a:r>
              <a:rPr b="1" i="0" lang="en-US" sz="2400" u="none" cap="none" strike="noStrike">
                <a:solidFill>
                  <a:srgbClr val="FF0000"/>
                </a:solidFill>
                <a:latin typeface="Gill Sans"/>
                <a:ea typeface="Gill Sans"/>
                <a:cs typeface="Gill Sans"/>
                <a:sym typeface="Gill Sans"/>
              </a:rPr>
              <a:t>public</a:t>
            </a:r>
            <a:r>
              <a:rPr b="0" i="0" lang="en-US" sz="2400" u="none" cap="none" strike="noStrike">
                <a:solidFill>
                  <a:srgbClr val="FF0000"/>
                </a:solidFill>
                <a:latin typeface="Gill Sans"/>
                <a:ea typeface="Gill Sans"/>
                <a:cs typeface="Gill Sans"/>
                <a:sym typeface="Gill Sans"/>
              </a:rPr>
              <a:t> </a:t>
            </a:r>
            <a:r>
              <a:rPr b="0" i="0" lang="en-US" sz="2400" u="none" cap="none" strike="noStrike">
                <a:solidFill>
                  <a:srgbClr val="FF0000"/>
                </a:solidFill>
                <a:latin typeface="Times"/>
                <a:ea typeface="Times"/>
                <a:cs typeface="Times"/>
                <a:sym typeface="Times"/>
              </a:rPr>
              <a:t>v</a:t>
            </a:r>
            <a:endParaRPr b="0" i="0" sz="2400" u="none" cap="none" strike="noStrike">
              <a:solidFill>
                <a:srgbClr val="FF0000"/>
              </a:solidFill>
              <a:latin typeface="Gill Sans"/>
              <a:ea typeface="Gill Sans"/>
              <a:cs typeface="Gill Sans"/>
              <a:sym typeface="Gill Sans"/>
            </a:endParaRPr>
          </a:p>
          <a:p>
            <a:pPr indent="-304800" lvl="0" marL="304800" marR="0" rtl="0" algn="l">
              <a:lnSpc>
                <a:spcPct val="75000"/>
              </a:lnSpc>
              <a:spcBef>
                <a:spcPts val="2400"/>
              </a:spcBef>
              <a:spcAft>
                <a:spcPts val="0"/>
              </a:spcAft>
              <a:buClr>
                <a:schemeClr val="accent2"/>
              </a:buClr>
              <a:buSzPts val="2576"/>
              <a:buFont typeface="Noto Sans Symbols"/>
              <a:buChar char="◼"/>
            </a:pPr>
            <a:r>
              <a:rPr b="0" i="0" lang="en-US" sz="2800" u="none">
                <a:solidFill>
                  <a:srgbClr val="0000FF"/>
                </a:solidFill>
                <a:latin typeface="Gill Sans"/>
                <a:ea typeface="Gill Sans"/>
                <a:cs typeface="Gill Sans"/>
                <a:sym typeface="Gill Sans"/>
              </a:rPr>
              <a:t>The protocol does not “help” to find </a:t>
            </a:r>
            <a:r>
              <a:rPr b="0" i="0" lang="en-US" sz="2800" u="none">
                <a:solidFill>
                  <a:srgbClr val="0000FF"/>
                </a:solidFill>
                <a:latin typeface="Times"/>
                <a:ea typeface="Times"/>
                <a:cs typeface="Times"/>
                <a:sym typeface="Times"/>
              </a:rPr>
              <a:t>S</a:t>
            </a:r>
            <a:endParaRPr/>
          </a:p>
        </p:txBody>
      </p:sp>
      <p:sp>
        <p:nvSpPr>
          <p:cNvPr id="1041" name="Google Shape;1041;p70"/>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1042" name="Google Shape;1042;p70"/>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71"/>
          <p:cNvSpPr txBox="1"/>
          <p:nvPr>
            <p:ph type="title"/>
          </p:nvPr>
        </p:nvSpPr>
        <p:spPr>
          <a:xfrm>
            <a:off x="785812" y="533400"/>
            <a:ext cx="7143750" cy="823912"/>
          </a:xfrm>
          <a:prstGeom prst="rect">
            <a:avLst/>
          </a:prstGeom>
          <a:noFill/>
          <a:ln>
            <a:noFill/>
          </a:ln>
        </p:spPr>
        <p:txBody>
          <a:bodyPr anchorCtr="0" anchor="b" bIns="45700" lIns="91425" spcFirstLastPara="1" rIns="91425" wrap="square" tIns="45700">
            <a:normAutofit/>
          </a:bodyPr>
          <a:lstStyle/>
          <a:p>
            <a:pPr indent="0" lvl="0" marL="0" rtl="0" algn="l">
              <a:lnSpc>
                <a:spcPct val="95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ZKP IN THE REAL WORLD</a:t>
            </a:r>
            <a:endParaRPr/>
          </a:p>
        </p:txBody>
      </p:sp>
      <p:sp>
        <p:nvSpPr>
          <p:cNvPr id="1048" name="Google Shape;1048;p71"/>
          <p:cNvSpPr txBox="1"/>
          <p:nvPr>
            <p:ph idx="1" type="body"/>
          </p:nvPr>
        </p:nvSpPr>
        <p:spPr>
          <a:xfrm>
            <a:off x="785812" y="1714500"/>
            <a:ext cx="7929562" cy="4643437"/>
          </a:xfrm>
          <a:prstGeom prst="rect">
            <a:avLst/>
          </a:prstGeom>
          <a:noFill/>
          <a:ln>
            <a:noFill/>
          </a:ln>
        </p:spPr>
        <p:txBody>
          <a:bodyPr anchorCtr="0" anchor="ctr" bIns="45700" lIns="91425" spcFirstLastPara="1" rIns="91425" wrap="square" tIns="45700">
            <a:noAutofit/>
          </a:bodyPr>
          <a:lstStyle/>
          <a:p>
            <a:pPr indent="-304800" lvl="0" marL="304800" marR="0" rtl="0" algn="l">
              <a:lnSpc>
                <a:spcPct val="100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Public keys identify users</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No anonymity if public keys transmitted</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ZKP offers a  way to authenticate without revealing identities</a:t>
            </a:r>
            <a:endParaRPr/>
          </a:p>
          <a:p>
            <a:pPr indent="-304800" lvl="0" marL="304800" marR="0" rtl="0" algn="l">
              <a:lnSpc>
                <a:spcPct val="100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ZKP supported in </a:t>
            </a:r>
            <a:r>
              <a:rPr b="0" i="0" lang="en-US" sz="2800" u="none">
                <a:solidFill>
                  <a:srgbClr val="0000FF"/>
                </a:solidFill>
                <a:latin typeface="Gill Sans"/>
                <a:ea typeface="Gill Sans"/>
                <a:cs typeface="Gill Sans"/>
                <a:sym typeface="Gill Sans"/>
              </a:rPr>
              <a:t>Microsoft’s Next Generation Secure Computing Base (NGSCB)</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ZKP used to authenticate software </a:t>
            </a:r>
            <a:r>
              <a:rPr b="0" i="0" lang="en-US" sz="2400" u="none" cap="none" strike="noStrike">
                <a:solidFill>
                  <a:srgbClr val="FF0000"/>
                </a:solidFill>
                <a:latin typeface="Gill Sans"/>
                <a:ea typeface="Gill Sans"/>
                <a:cs typeface="Gill Sans"/>
                <a:sym typeface="Gill Sans"/>
              </a:rPr>
              <a:t>“without revealing machine identifying data”</a:t>
            </a:r>
            <a:endParaRPr/>
          </a:p>
          <a:p>
            <a:pPr indent="-304800" lvl="1" marL="628650" marR="0" rtl="0" algn="l">
              <a:lnSpc>
                <a:spcPct val="10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ZKP </a:t>
            </a:r>
            <a:r>
              <a:rPr b="1" i="0" lang="en-US" sz="2400" u="none" cap="none" strike="noStrike">
                <a:solidFill>
                  <a:srgbClr val="FF0000"/>
                </a:solidFill>
                <a:latin typeface="Gill Sans"/>
                <a:ea typeface="Gill Sans"/>
                <a:cs typeface="Gill Sans"/>
                <a:sym typeface="Gill Sans"/>
              </a:rPr>
              <a:t>not</a:t>
            </a:r>
            <a:r>
              <a:rPr b="0" i="0" lang="en-US" sz="2400" u="none" cap="none" strike="noStrike">
                <a:solidFill>
                  <a:schemeClr val="dk2"/>
                </a:solidFill>
                <a:latin typeface="Gill Sans"/>
                <a:ea typeface="Gill Sans"/>
                <a:cs typeface="Gill Sans"/>
                <a:sym typeface="Gill Sans"/>
              </a:rPr>
              <a:t> just fun and games for mathematicians!</a:t>
            </a:r>
            <a:endParaRPr/>
          </a:p>
        </p:txBody>
      </p:sp>
      <p:sp>
        <p:nvSpPr>
          <p:cNvPr id="1049" name="Google Shape;1049;p71"/>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1050" name="Google Shape;1050;p71"/>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72"/>
          <p:cNvSpPr txBox="1"/>
          <p:nvPr>
            <p:ph type="title"/>
          </p:nvPr>
        </p:nvSpPr>
        <p:spPr>
          <a:xfrm>
            <a:off x="785812" y="563562"/>
            <a:ext cx="7143750" cy="79375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2800"/>
              <a:buFont typeface="Gill Sans"/>
              <a:buNone/>
            </a:pPr>
            <a:r>
              <a:rPr b="0" i="0" lang="en-US" sz="2800" u="none">
                <a:solidFill>
                  <a:schemeClr val="lt1"/>
                </a:solidFill>
                <a:latin typeface="Gill Sans"/>
                <a:ea typeface="Gill Sans"/>
                <a:cs typeface="Gill Sans"/>
                <a:sym typeface="Gill Sans"/>
              </a:rPr>
              <a:t>BEST AUTHENTICATION PROTOCOL?</a:t>
            </a:r>
            <a:endParaRPr/>
          </a:p>
        </p:txBody>
      </p:sp>
      <p:sp>
        <p:nvSpPr>
          <p:cNvPr id="1056" name="Google Shape;1056;p72"/>
          <p:cNvSpPr txBox="1"/>
          <p:nvPr>
            <p:ph idx="1" type="body"/>
          </p:nvPr>
        </p:nvSpPr>
        <p:spPr>
          <a:xfrm>
            <a:off x="403225" y="1911350"/>
            <a:ext cx="7910512" cy="4381500"/>
          </a:xfrm>
          <a:prstGeom prst="rect">
            <a:avLst/>
          </a:prstGeom>
          <a:noFill/>
          <a:ln>
            <a:noFill/>
          </a:ln>
        </p:spPr>
        <p:txBody>
          <a:bodyPr anchorCtr="0" anchor="ctr" bIns="45700" lIns="91425" spcFirstLastPara="1" rIns="91425" wrap="square" tIns="45700">
            <a:normAutofit/>
          </a:bodyPr>
          <a:lstStyle/>
          <a:p>
            <a:pPr indent="-352425" lvl="0" marL="715962" marR="0" rtl="0" algn="l">
              <a:lnSpc>
                <a:spcPct val="90000"/>
              </a:lnSpc>
              <a:spcBef>
                <a:spcPts val="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It depends on… </a:t>
            </a:r>
            <a:endParaRPr/>
          </a:p>
          <a:p>
            <a:pPr indent="-352425" lvl="1" marL="1065212"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The sensitivity of the application/data</a:t>
            </a:r>
            <a:endParaRPr/>
          </a:p>
          <a:p>
            <a:pPr indent="-352425" lvl="1" marL="1065212"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The delay that is tolerable</a:t>
            </a:r>
            <a:endParaRPr/>
          </a:p>
          <a:p>
            <a:pPr indent="-352425" lvl="1" marL="1065212"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The cost (computation) that is tolerable</a:t>
            </a:r>
            <a:endParaRPr/>
          </a:p>
          <a:p>
            <a:pPr indent="-352425" lvl="1" marL="1065212"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What crypto is supported</a:t>
            </a:r>
            <a:endParaRPr/>
          </a:p>
          <a:p>
            <a:pPr indent="-363538" lvl="2" marL="1374775" marR="0" rtl="0" algn="l">
              <a:lnSpc>
                <a:spcPct val="90000"/>
              </a:lnSpc>
              <a:spcBef>
                <a:spcPts val="1000"/>
              </a:spcBef>
              <a:spcAft>
                <a:spcPts val="0"/>
              </a:spcAft>
              <a:buClr>
                <a:schemeClr val="accent2"/>
              </a:buClr>
              <a:buSzPts val="1840"/>
              <a:buFont typeface="Noto Sans Symbols"/>
              <a:buChar char="◼"/>
            </a:pPr>
            <a:r>
              <a:rPr b="0" i="0" lang="en-US" sz="2000" u="none" cap="none" strike="noStrike">
                <a:solidFill>
                  <a:schemeClr val="dk2"/>
                </a:solidFill>
                <a:latin typeface="Gill Sans"/>
                <a:ea typeface="Gill Sans"/>
                <a:cs typeface="Gill Sans"/>
                <a:sym typeface="Gill Sans"/>
              </a:rPr>
              <a:t>Public key, symmetric key, hash functions</a:t>
            </a:r>
            <a:endParaRPr/>
          </a:p>
          <a:p>
            <a:pPr indent="-352425" lvl="1" marL="1065212"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Whether mutual authentication is required</a:t>
            </a:r>
            <a:endParaRPr/>
          </a:p>
          <a:p>
            <a:pPr indent="-352425" lvl="1" marL="1065212" marR="0" rtl="0" algn="l">
              <a:lnSpc>
                <a:spcPct val="90000"/>
              </a:lnSpc>
              <a:spcBef>
                <a:spcPts val="1080"/>
              </a:spcBef>
              <a:spcAft>
                <a:spcPts val="0"/>
              </a:spcAft>
              <a:buClr>
                <a:schemeClr val="accent2"/>
              </a:buClr>
              <a:buSzPts val="2208"/>
              <a:buFont typeface="Noto Sans Symbols"/>
              <a:buChar char="◼"/>
            </a:pPr>
            <a:r>
              <a:rPr b="0" i="0" lang="en-US" sz="2400" u="none" cap="none" strike="noStrike">
                <a:solidFill>
                  <a:schemeClr val="dk2"/>
                </a:solidFill>
                <a:latin typeface="Gill Sans"/>
                <a:ea typeface="Gill Sans"/>
                <a:cs typeface="Gill Sans"/>
                <a:sym typeface="Gill Sans"/>
              </a:rPr>
              <a:t>Whether PFS, anonymity etc. area concern</a:t>
            </a:r>
            <a:endParaRPr/>
          </a:p>
          <a:p>
            <a:pPr indent="-352425" lvl="0" marL="715962" marR="0" rtl="0" algn="l">
              <a:lnSpc>
                <a:spcPct val="90000"/>
              </a:lnSpc>
              <a:spcBef>
                <a:spcPts val="1160"/>
              </a:spcBef>
              <a:spcAft>
                <a:spcPts val="0"/>
              </a:spcAft>
              <a:buClr>
                <a:schemeClr val="accent2"/>
              </a:buClr>
              <a:buSzPts val="2576"/>
              <a:buFont typeface="Noto Sans Symbols"/>
              <a:buChar char="◼"/>
            </a:pPr>
            <a:r>
              <a:rPr b="0" i="0" lang="en-US" sz="2800" u="none">
                <a:solidFill>
                  <a:schemeClr val="dk2"/>
                </a:solidFill>
                <a:latin typeface="Gill Sans"/>
                <a:ea typeface="Gill Sans"/>
                <a:cs typeface="Gill Sans"/>
                <a:sym typeface="Gill Sans"/>
              </a:rPr>
              <a:t>…and possibly other factors</a:t>
            </a:r>
            <a:endParaRPr/>
          </a:p>
        </p:txBody>
      </p:sp>
      <p:sp>
        <p:nvSpPr>
          <p:cNvPr id="1057" name="Google Shape;1057;p72"/>
          <p:cNvSpPr txBox="1"/>
          <p:nvPr/>
        </p:nvSpPr>
        <p:spPr>
          <a:xfrm>
            <a:off x="581025" y="6372225"/>
            <a:ext cx="7086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Comic Sans MS"/>
              <a:buNone/>
            </a:pPr>
            <a:r>
              <a:rPr b="0" i="0" lang="en-US" sz="900" u="none">
                <a:solidFill>
                  <a:schemeClr val="dk1"/>
                </a:solidFill>
                <a:latin typeface="Comic Sans MS"/>
                <a:ea typeface="Comic Sans MS"/>
                <a:cs typeface="Comic Sans MS"/>
                <a:sym typeface="Comic Sans MS"/>
              </a:rPr>
              <a:t>CHAPTER 9  SIMPLE AUTHENTICATION PROTOCOLS  PREPARED BY: DR. MUHAMMAD IQBAL HOSSAIN</a:t>
            </a:r>
            <a:endParaRPr/>
          </a:p>
        </p:txBody>
      </p:sp>
      <p:sp>
        <p:nvSpPr>
          <p:cNvPr id="1058" name="Google Shape;1058;p72"/>
          <p:cNvSpPr txBox="1"/>
          <p:nvPr/>
        </p:nvSpPr>
        <p:spPr>
          <a:xfrm>
            <a:off x="7800975" y="6376987"/>
            <a:ext cx="769937"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900"/>
              <a:buFont typeface="Gulim"/>
              <a:buNone/>
            </a:pPr>
            <a:fld id="{00000000-1234-1234-1234-123412341234}" type="slidenum">
              <a:rPr b="0" i="0" lang="en-US" sz="900" u="none">
                <a:solidFill>
                  <a:schemeClr val="dk1"/>
                </a:solidFill>
                <a:latin typeface="Gulim"/>
                <a:ea typeface="Gulim"/>
                <a:cs typeface="Gulim"/>
                <a:sym typeface="Gulim"/>
              </a:rP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2_Dividend">
  <a:themeElements>
    <a:clrScheme name="Dividend">
      <a:dk1>
        <a:srgbClr val="000000"/>
      </a:dk1>
      <a:lt1>
        <a:srgbClr val="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Dividend">
  <a:themeElements>
    <a:clrScheme name="Dividend">
      <a:dk1>
        <a:srgbClr val="000000"/>
      </a:dk1>
      <a:lt1>
        <a:srgbClr val="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2006-02-20T14:49:29Z</dcterms:created>
  <dc:creator>안태남</dc:creator>
</cp:coreProperties>
</file>