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9144000"/>
  <p:notesSz cx="7099300" cy="10234600"/>
  <p:embeddedFontLst>
    <p:embeddedFont>
      <p:font typeface="Gill Sans"/>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223">
          <p15:clr>
            <a:srgbClr val="000000"/>
          </p15:clr>
        </p15:guide>
        <p15:guide id="2" pos="2236">
          <p15:clr>
            <a:srgbClr val="000000"/>
          </p15:clr>
        </p15:guide>
      </p15:notesGuideLst>
    </p:ext>
    <p:ext uri="GoogleSlidesCustomDataVersion2">
      <go:slidesCustomData xmlns:go="http://customooxmlschemas.google.com/" r:id="rId39" roundtripDataSignature="AMtx7mhrwlZhnDfTJI0StrSzNLCMHJLI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223" orient="horz"/>
        <p:guide pos="2236"/>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GillSans-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Gill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6575" cy="511175"/>
          </a:xfrm>
          <a:prstGeom prst="rect">
            <a:avLst/>
          </a:prstGeom>
          <a:noFill/>
          <a:ln>
            <a:noFill/>
          </a:ln>
        </p:spPr>
        <p:txBody>
          <a:bodyPr anchorCtr="0" anchor="t" bIns="49500" lIns="99025" spcFirstLastPara="1" rIns="99025" wrap="square" tIns="495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9pPr>
          </a:lstStyle>
          <a:p/>
        </p:txBody>
      </p:sp>
      <p:sp>
        <p:nvSpPr>
          <p:cNvPr id="4" name="Google Shape;4;n"/>
          <p:cNvSpPr txBox="1"/>
          <p:nvPr>
            <p:ph idx="10" type="dt"/>
          </p:nvPr>
        </p:nvSpPr>
        <p:spPr>
          <a:xfrm>
            <a:off x="4021137" y="0"/>
            <a:ext cx="3076575" cy="511175"/>
          </a:xfrm>
          <a:prstGeom prst="rect">
            <a:avLst/>
          </a:prstGeom>
          <a:noFill/>
          <a:ln>
            <a:noFill/>
          </a:ln>
        </p:spPr>
        <p:txBody>
          <a:bodyPr anchorCtr="0" anchor="t" bIns="49500" lIns="99025" spcFirstLastPara="1" rIns="99025" wrap="square" tIns="49500">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rgbClr val="000000"/>
                </a:solidFill>
                <a:latin typeface="Gulim"/>
                <a:ea typeface="Gulim"/>
                <a:cs typeface="Gulim"/>
                <a:sym typeface="Guli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9pPr>
          </a:lstStyle>
          <a:p/>
        </p:txBody>
      </p:sp>
      <p:sp>
        <p:nvSpPr>
          <p:cNvPr id="5" name="Google Shape;5;n"/>
          <p:cNvSpPr/>
          <p:nvPr>
            <p:ph idx="3"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9721850"/>
            <a:ext cx="3076575" cy="511175"/>
          </a:xfrm>
          <a:prstGeom prst="rect">
            <a:avLst/>
          </a:prstGeom>
          <a:noFill/>
          <a:ln>
            <a:noFill/>
          </a:ln>
        </p:spPr>
        <p:txBody>
          <a:bodyPr anchorCtr="0" anchor="b" bIns="49500" lIns="99025" spcFirstLastPara="1" rIns="99025" wrap="square" tIns="495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Gulim"/>
                <a:ea typeface="Gulim"/>
                <a:cs typeface="Gulim"/>
                <a:sym typeface="Gulim"/>
              </a:defRPr>
            </a:lvl9pPr>
          </a:lstStyle>
          <a:p/>
        </p:txBody>
      </p:sp>
      <p:sp>
        <p:nvSpPr>
          <p:cNvPr id="8" name="Google Shape;8;n"/>
          <p:cNvSpPr txBox="1"/>
          <p:nvPr>
            <p:ph idx="12" type="sldNum"/>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41" name="Google Shape;41;p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51" name="Google Shape;51;p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59" name="Google Shape;59;p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67" name="Google Shape;67;p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15000"/>
              </a:lnSpc>
              <a:spcBef>
                <a:spcPts val="0"/>
              </a:spcBef>
              <a:spcAft>
                <a:spcPts val="0"/>
              </a:spcAft>
              <a:buSzPts val="1400"/>
              <a:buNone/>
            </a:pPr>
            <a:r>
              <a:rPr lang="en-US" sz="1300">
                <a:solidFill>
                  <a:schemeClr val="dk1"/>
                </a:solidFill>
                <a:latin typeface="Times"/>
                <a:ea typeface="Times"/>
                <a:cs typeface="Times"/>
                <a:sym typeface="Times"/>
              </a:rPr>
              <a:t>log into a remote machine over a network. Such a login typically requires a password and rlogin simply sends the password in the clear, which might be observed by a snooping Trudy.</a:t>
            </a:r>
            <a:endParaRPr sz="1300">
              <a:solidFill>
                <a:schemeClr val="dk1"/>
              </a:solidFill>
              <a:latin typeface="Times"/>
              <a:ea typeface="Times"/>
              <a:cs typeface="Times"/>
              <a:sym typeface="Times"/>
            </a:endParaRPr>
          </a:p>
          <a:p>
            <a:pPr indent="0" lvl="0" marL="0" rtl="0" algn="l">
              <a:lnSpc>
                <a:spcPct val="115000"/>
              </a:lnSpc>
              <a:spcBef>
                <a:spcPts val="0"/>
              </a:spcBef>
              <a:spcAft>
                <a:spcPts val="0"/>
              </a:spcAft>
              <a:buSzPts val="1400"/>
              <a:buNone/>
            </a:pPr>
            <a:r>
              <a:rPr lang="en-US" sz="1300">
                <a:solidFill>
                  <a:schemeClr val="dk1"/>
                </a:solidFill>
                <a:latin typeface="Times"/>
                <a:ea typeface="Times"/>
                <a:cs typeface="Times"/>
                <a:sym typeface="Times"/>
              </a:rPr>
              <a:t>By first establishing an SSH session, any inherently insecure command such as rlogin will be secure. That is, an SSH session provides confidentiality and integrity protection, thereby eliminating Trudy's ability to obtain passwords and other confidential information that would otherwise be sent unprotected.</a:t>
            </a:r>
            <a:endParaRPr sz="2300"/>
          </a:p>
        </p:txBody>
      </p:sp>
      <p:sp>
        <p:nvSpPr>
          <p:cNvPr id="76" name="Google Shape;76;p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6: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84" name="Google Shape;84;p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2" name="Google Shape;92;p7: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rmAutofit/>
          </a:bodyPr>
          <a:lstStyle/>
          <a:p>
            <a:pPr indent="-307975" lvl="0" marL="457200" rtl="0" algn="l">
              <a:lnSpc>
                <a:spcPct val="115000"/>
              </a:lnSpc>
              <a:spcBef>
                <a:spcPts val="0"/>
              </a:spcBef>
              <a:spcAft>
                <a:spcPts val="0"/>
              </a:spcAft>
              <a:buClr>
                <a:schemeClr val="dk1"/>
              </a:buClr>
              <a:buSzPts val="1250"/>
              <a:buFont typeface="Times"/>
              <a:buAutoNum type="arabicPeriod"/>
            </a:pPr>
            <a:r>
              <a:rPr lang="en-US" sz="1250">
                <a:solidFill>
                  <a:schemeClr val="dk1"/>
                </a:solidFill>
                <a:latin typeface="Times"/>
                <a:ea typeface="Times"/>
                <a:cs typeface="Times"/>
                <a:sym typeface="Times"/>
              </a:rPr>
              <a:t>Alice identifies herself and she sends information regarding the crypto parameters that she prefers (crypto algorithms, key lengths, etc.), along with her nonce, RA.</a:t>
            </a:r>
            <a:endParaRPr sz="1250">
              <a:solidFill>
                <a:schemeClr val="dk1"/>
              </a:solidFill>
              <a:latin typeface="Times"/>
              <a:ea typeface="Times"/>
              <a:cs typeface="Times"/>
              <a:sym typeface="Times"/>
            </a:endParaRPr>
          </a:p>
          <a:p>
            <a:pPr indent="-307975" lvl="0" marL="457200" rtl="0" algn="l">
              <a:lnSpc>
                <a:spcPct val="115000"/>
              </a:lnSpc>
              <a:spcBef>
                <a:spcPts val="0"/>
              </a:spcBef>
              <a:spcAft>
                <a:spcPts val="0"/>
              </a:spcAft>
              <a:buClr>
                <a:schemeClr val="dk1"/>
              </a:buClr>
              <a:buSzPts val="1250"/>
              <a:buFont typeface="Times"/>
              <a:buAutoNum type="arabicPeriod"/>
            </a:pPr>
            <a:r>
              <a:rPr lang="en-US" sz="1250">
                <a:solidFill>
                  <a:schemeClr val="dk1"/>
                </a:solidFill>
                <a:latin typeface="Times"/>
                <a:ea typeface="Times"/>
                <a:cs typeface="Times"/>
                <a:sym typeface="Times"/>
              </a:rPr>
              <a:t>In message two, Bob selects from Alice's crypto parameters and returns his selections, along with his nonce, RB.</a:t>
            </a:r>
            <a:endParaRPr sz="1250">
              <a:solidFill>
                <a:schemeClr val="dk1"/>
              </a:solidFill>
              <a:latin typeface="Times"/>
              <a:ea typeface="Times"/>
              <a:cs typeface="Times"/>
              <a:sym typeface="Times"/>
            </a:endParaRPr>
          </a:p>
          <a:p>
            <a:pPr indent="-307975" lvl="0" marL="457200" rtl="0" algn="l">
              <a:lnSpc>
                <a:spcPct val="115000"/>
              </a:lnSpc>
              <a:spcBef>
                <a:spcPts val="0"/>
              </a:spcBef>
              <a:spcAft>
                <a:spcPts val="0"/>
              </a:spcAft>
              <a:buClr>
                <a:schemeClr val="dk1"/>
              </a:buClr>
              <a:buSzPts val="1250"/>
              <a:buFont typeface="Times"/>
              <a:buAutoNum type="arabicPeriod"/>
            </a:pPr>
            <a:r>
              <a:rPr lang="en-US" sz="1250">
                <a:solidFill>
                  <a:schemeClr val="dk1"/>
                </a:solidFill>
                <a:latin typeface="Times"/>
                <a:ea typeface="Times"/>
                <a:cs typeface="Times"/>
                <a:sym typeface="Times"/>
              </a:rPr>
              <a:t>Alice sends her Diffie-Hellman value</a:t>
            </a:r>
            <a:endParaRPr sz="1250">
              <a:solidFill>
                <a:schemeClr val="dk1"/>
              </a:solidFill>
              <a:latin typeface="Times"/>
              <a:ea typeface="Times"/>
              <a:cs typeface="Times"/>
              <a:sym typeface="Times"/>
            </a:endParaRPr>
          </a:p>
          <a:p>
            <a:pPr indent="-307975" lvl="0" marL="457200" rtl="0" algn="l">
              <a:lnSpc>
                <a:spcPct val="115000"/>
              </a:lnSpc>
              <a:spcBef>
                <a:spcPts val="0"/>
              </a:spcBef>
              <a:spcAft>
                <a:spcPts val="0"/>
              </a:spcAft>
              <a:buClr>
                <a:schemeClr val="dk1"/>
              </a:buClr>
              <a:buSzPts val="1250"/>
              <a:buFont typeface="Times"/>
              <a:buAutoNum type="arabicPeriod"/>
            </a:pPr>
            <a:r>
              <a:rPr lang="en-US" sz="1250">
                <a:solidFill>
                  <a:schemeClr val="dk1"/>
                </a:solidFill>
                <a:latin typeface="Times"/>
                <a:ea typeface="Times"/>
                <a:cs typeface="Times"/>
                <a:sym typeface="Times"/>
              </a:rPr>
              <a:t>Bob responds with his Diffie-Hellman value, his certificate, and SB,  which consists of a signed hash value.</a:t>
            </a:r>
            <a:endParaRPr sz="1250">
              <a:solidFill>
                <a:schemeClr val="dk1"/>
              </a:solidFill>
              <a:latin typeface="Times"/>
              <a:ea typeface="Times"/>
              <a:cs typeface="Times"/>
              <a:sym typeface="Times"/>
            </a:endParaRPr>
          </a:p>
          <a:p>
            <a:pPr indent="-307975" lvl="0" marL="457200" rtl="0" algn="l">
              <a:lnSpc>
                <a:spcPct val="115000"/>
              </a:lnSpc>
              <a:spcBef>
                <a:spcPts val="0"/>
              </a:spcBef>
              <a:spcAft>
                <a:spcPts val="0"/>
              </a:spcAft>
              <a:buClr>
                <a:schemeClr val="dk1"/>
              </a:buClr>
              <a:buSzPts val="1250"/>
              <a:buFont typeface="Times"/>
              <a:buAutoNum type="arabicPeriod"/>
            </a:pPr>
            <a:r>
              <a:rPr lang="en-US" sz="1250">
                <a:solidFill>
                  <a:schemeClr val="dk1"/>
                </a:solidFill>
                <a:latin typeface="Times"/>
                <a:ea typeface="Times"/>
                <a:cs typeface="Times"/>
                <a:sym typeface="Times"/>
              </a:rPr>
              <a:t>At this point, Alice is able to compute the key K,  and in the final message, she sends an encrypted block that contains her identity, her certificate, and her signed value SA</a:t>
            </a:r>
            <a:endParaRPr sz="1250">
              <a:solidFill>
                <a:schemeClr val="dk1"/>
              </a:solidFill>
              <a:latin typeface="Times"/>
              <a:ea typeface="Times"/>
              <a:cs typeface="Times"/>
              <a:sym typeface="Times"/>
            </a:endParaRPr>
          </a:p>
          <a:p>
            <a:pPr indent="0" lvl="0" marL="0" rtl="0" algn="l">
              <a:lnSpc>
                <a:spcPct val="115000"/>
              </a:lnSpc>
              <a:spcBef>
                <a:spcPts val="0"/>
              </a:spcBef>
              <a:spcAft>
                <a:spcPts val="0"/>
              </a:spcAft>
              <a:buSzPts val="1400"/>
              <a:buNone/>
            </a:pPr>
            <a:r>
              <a:t/>
            </a:r>
            <a:endParaRPr sz="1250">
              <a:solidFill>
                <a:schemeClr val="dk1"/>
              </a:solidFill>
              <a:latin typeface="Times"/>
              <a:ea typeface="Times"/>
              <a:cs typeface="Times"/>
              <a:sym typeface="Times"/>
            </a:endParaRPr>
          </a:p>
          <a:p>
            <a:pPr indent="0" lvl="0" marL="0" rtl="0" algn="l">
              <a:lnSpc>
                <a:spcPct val="115000"/>
              </a:lnSpc>
              <a:spcBef>
                <a:spcPts val="0"/>
              </a:spcBef>
              <a:spcAft>
                <a:spcPts val="0"/>
              </a:spcAft>
              <a:buClr>
                <a:schemeClr val="dk1"/>
              </a:buClr>
              <a:buSzPts val="1100"/>
              <a:buFont typeface="Arial"/>
              <a:buNone/>
            </a:pPr>
            <a:r>
              <a:rPr lang="en-US" sz="1400">
                <a:solidFill>
                  <a:schemeClr val="dk1"/>
                </a:solidFill>
                <a:latin typeface="Times"/>
                <a:ea typeface="Times"/>
                <a:cs typeface="Times"/>
                <a:sym typeface="Times"/>
              </a:rPr>
              <a:t>The signatures are intended to provide mutual authentication. Note that the nonce RA  is Alice's challenge to Bob, and SB  is Bob's response. That is, the nonce RA  provides replay protection, and only Bob can give the correct response since a signature is required (assuming, of course, that his private key has not been compromised). A similar argument shows that Alice is authenticated in the final message. So, SSH provides mutual authentication.</a:t>
            </a:r>
            <a:endParaRPr sz="1400">
              <a:solidFill>
                <a:schemeClr val="dk1"/>
              </a:solidFill>
              <a:latin typeface="Times"/>
              <a:ea typeface="Times"/>
              <a:cs typeface="Times"/>
              <a:sym typeface="Times"/>
            </a:endParaRPr>
          </a:p>
          <a:p>
            <a:pPr indent="0" lvl="0" marL="0" rtl="0" algn="l">
              <a:lnSpc>
                <a:spcPct val="115000"/>
              </a:lnSpc>
              <a:spcBef>
                <a:spcPts val="0"/>
              </a:spcBef>
              <a:spcAft>
                <a:spcPts val="0"/>
              </a:spcAft>
              <a:buSzPts val="1400"/>
              <a:buNone/>
            </a:pPr>
            <a:r>
              <a:t/>
            </a:r>
            <a:endParaRPr sz="1250">
              <a:solidFill>
                <a:schemeClr val="dk1"/>
              </a:solidFill>
              <a:latin typeface="Times"/>
              <a:ea typeface="Times"/>
              <a:cs typeface="Times"/>
              <a:sym typeface="Times"/>
            </a:endParaRPr>
          </a:p>
        </p:txBody>
      </p:sp>
      <p:sp>
        <p:nvSpPr>
          <p:cNvPr id="93" name="Google Shape;93;p7: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rPr lang="en-US"/>
              <a:t>Bob can attack but its of no use. The authentication failed.</a:t>
            </a:r>
            <a:endParaRPr/>
          </a:p>
        </p:txBody>
      </p:sp>
      <p:sp>
        <p:nvSpPr>
          <p:cNvPr id="115" name="Google Shape;115;p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9: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800"/>
              <a:buNone/>
            </a:pPr>
            <a:r>
              <a:rPr lang="en-US"/>
              <a:t>http</a:t>
            </a:r>
            <a:endParaRPr/>
          </a:p>
          <a:p>
            <a:pPr indent="0" lvl="0" marL="0" rtl="0" algn="l">
              <a:lnSpc>
                <a:spcPct val="100000"/>
              </a:lnSpc>
              <a:spcBef>
                <a:spcPts val="0"/>
              </a:spcBef>
              <a:spcAft>
                <a:spcPts val="0"/>
              </a:spcAft>
              <a:buSzPts val="1800"/>
              <a:buNone/>
            </a:pPr>
            <a:r>
              <a:rPr lang="en-US"/>
              <a:t>…socket layer</a:t>
            </a:r>
            <a:endParaRPr/>
          </a:p>
          <a:p>
            <a:pPr indent="0" lvl="0" marL="0" rtl="0" algn="l">
              <a:lnSpc>
                <a:spcPct val="100000"/>
              </a:lnSpc>
              <a:spcBef>
                <a:spcPts val="0"/>
              </a:spcBef>
              <a:spcAft>
                <a:spcPts val="0"/>
              </a:spcAft>
              <a:buSzPts val="1800"/>
              <a:buNone/>
            </a:pPr>
            <a:r>
              <a:rPr lang="en-US"/>
              <a:t>tcp</a:t>
            </a:r>
            <a:endParaRPr/>
          </a:p>
          <a:p>
            <a:pPr indent="0" lvl="0" marL="0" rtl="0" algn="l">
              <a:lnSpc>
                <a:spcPct val="115000"/>
              </a:lnSpc>
              <a:spcBef>
                <a:spcPts val="0"/>
              </a:spcBef>
              <a:spcAft>
                <a:spcPts val="0"/>
              </a:spcAft>
              <a:buSzPts val="1100"/>
              <a:buNone/>
            </a:pPr>
            <a:r>
              <a:rPr lang="en-US" sz="1400">
                <a:solidFill>
                  <a:schemeClr val="dk1"/>
                </a:solidFill>
                <a:latin typeface="Times"/>
                <a:ea typeface="Times"/>
                <a:cs typeface="Times"/>
                <a:sym typeface="Times"/>
              </a:rPr>
              <a:t>"socket layer" lives between the application layer and the transport layer in the Internet protocol stack, as illustrated in Figure 10.2. In practice, </a:t>
            </a:r>
            <a:endParaRPr/>
          </a:p>
        </p:txBody>
      </p:sp>
      <p:sp>
        <p:nvSpPr>
          <p:cNvPr id="150" name="Google Shape;150;p9: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9" name="Google Shape;159;p10: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15000"/>
              </a:lnSpc>
              <a:spcBef>
                <a:spcPts val="0"/>
              </a:spcBef>
              <a:spcAft>
                <a:spcPts val="0"/>
              </a:spcAft>
              <a:buClr>
                <a:schemeClr val="dk1"/>
              </a:buClr>
              <a:buSzPts val="1100"/>
              <a:buFont typeface="Arial"/>
              <a:buNone/>
            </a:pPr>
            <a:r>
              <a:rPr lang="en-US" sz="1400">
                <a:solidFill>
                  <a:schemeClr val="dk1"/>
                </a:solidFill>
                <a:latin typeface="Times"/>
                <a:ea typeface="Times"/>
                <a:cs typeface="Times"/>
                <a:sym typeface="Times"/>
              </a:rPr>
              <a:t>SSL most often deals with Web browsing, in which case the application layer protocol is HTTP and the transport layer protocol is TCP.</a:t>
            </a:r>
            <a:endParaRPr sz="1400">
              <a:solidFill>
                <a:schemeClr val="dk1"/>
              </a:solidFill>
              <a:latin typeface="Times"/>
              <a:ea typeface="Times"/>
              <a:cs typeface="Times"/>
              <a:sym typeface="Times"/>
            </a:endParaRPr>
          </a:p>
          <a:p>
            <a:pPr indent="0" lvl="0" marL="0" rtl="0" algn="l">
              <a:lnSpc>
                <a:spcPct val="100000"/>
              </a:lnSpc>
              <a:spcBef>
                <a:spcPts val="0"/>
              </a:spcBef>
              <a:spcAft>
                <a:spcPts val="0"/>
              </a:spcAft>
              <a:buSzPts val="1400"/>
              <a:buNone/>
            </a:pPr>
            <a:r>
              <a:t/>
            </a:r>
            <a:endParaRPr/>
          </a:p>
        </p:txBody>
      </p:sp>
      <p:sp>
        <p:nvSpPr>
          <p:cNvPr id="160" name="Google Shape;160;p10: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188" name="Google Shape;188;p1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rPr lang="en-US" sz="1400"/>
              <a:t>2. Certificate have public key, identity, signed by CA. So Alice trust its bob.</a:t>
            </a:r>
            <a:endParaRPr sz="1400"/>
          </a:p>
          <a:p>
            <a:pPr indent="0" lvl="0" marL="0" rtl="0" algn="l">
              <a:lnSpc>
                <a:spcPct val="100000"/>
              </a:lnSpc>
              <a:spcBef>
                <a:spcPts val="0"/>
              </a:spcBef>
              <a:spcAft>
                <a:spcPts val="0"/>
              </a:spcAft>
              <a:buSzPts val="1400"/>
              <a:buNone/>
            </a:pPr>
            <a:r>
              <a:t/>
            </a:r>
            <a:endParaRPr sz="1400"/>
          </a:p>
          <a:p>
            <a:pPr indent="0" lvl="0" marL="0" rtl="0" algn="l">
              <a:lnSpc>
                <a:spcPct val="115000"/>
              </a:lnSpc>
              <a:spcBef>
                <a:spcPts val="0"/>
              </a:spcBef>
              <a:spcAft>
                <a:spcPts val="0"/>
              </a:spcAft>
              <a:buClr>
                <a:schemeClr val="dk1"/>
              </a:buClr>
              <a:buSzPts val="1100"/>
              <a:buFont typeface="Arial"/>
              <a:buNone/>
            </a:pPr>
            <a:r>
              <a:rPr lang="en-US" sz="1400">
                <a:solidFill>
                  <a:schemeClr val="dk1"/>
                </a:solidFill>
                <a:latin typeface="Times"/>
                <a:ea typeface="Times"/>
                <a:cs typeface="Times"/>
                <a:sym typeface="Times"/>
              </a:rPr>
              <a:t>3. Then Alice will encrypt a symmetric key KAB with Bob's public key and send the encrypted key to Bob. This symmetric key is used to encrypt and integrity protect subsequent communications.</a:t>
            </a:r>
            <a:endParaRPr sz="1400">
              <a:solidFill>
                <a:schemeClr val="dk1"/>
              </a:solidFill>
              <a:latin typeface="Times"/>
              <a:ea typeface="Times"/>
              <a:cs typeface="Times"/>
              <a:sym typeface="Times"/>
            </a:endParaRPr>
          </a:p>
          <a:p>
            <a:pPr indent="0" lvl="0" marL="0" rtl="0" algn="l">
              <a:lnSpc>
                <a:spcPct val="100000"/>
              </a:lnSpc>
              <a:spcBef>
                <a:spcPts val="0"/>
              </a:spcBef>
              <a:spcAft>
                <a:spcPts val="0"/>
              </a:spcAft>
              <a:buSzPts val="1400"/>
              <a:buNone/>
            </a:pPr>
            <a:r>
              <a:t/>
            </a:r>
            <a:endParaRPr sz="1400"/>
          </a:p>
          <a:p>
            <a:pPr indent="0" lvl="0" marL="0" rtl="0" algn="l">
              <a:lnSpc>
                <a:spcPct val="100000"/>
              </a:lnSpc>
              <a:spcBef>
                <a:spcPts val="0"/>
              </a:spcBef>
              <a:spcAft>
                <a:spcPts val="0"/>
              </a:spcAft>
              <a:buSzPts val="1400"/>
              <a:buNone/>
            </a:pPr>
            <a:r>
              <a:rPr lang="en-US" sz="1400"/>
              <a:t>Here is no authentication.</a:t>
            </a:r>
            <a:endParaRPr sz="1400"/>
          </a:p>
        </p:txBody>
      </p:sp>
      <p:sp>
        <p:nvSpPr>
          <p:cNvPr id="196" name="Google Shape;196;p1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3: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317500" lvl="0" marL="457200" rtl="0" algn="l">
              <a:lnSpc>
                <a:spcPct val="115000"/>
              </a:lnSpc>
              <a:spcBef>
                <a:spcPts val="0"/>
              </a:spcBef>
              <a:spcAft>
                <a:spcPts val="0"/>
              </a:spcAft>
              <a:buClr>
                <a:schemeClr val="dk1"/>
              </a:buClr>
              <a:buSzPts val="1400"/>
              <a:buFont typeface="Times"/>
              <a:buAutoNum type="arabicPeriod"/>
            </a:pPr>
            <a:r>
              <a:rPr lang="en-US" sz="1400">
                <a:solidFill>
                  <a:schemeClr val="dk1"/>
                </a:solidFill>
                <a:latin typeface="Times"/>
                <a:ea typeface="Times"/>
                <a:cs typeface="Times"/>
                <a:sym typeface="Times"/>
              </a:rPr>
              <a:t>Alice informs Bob that she would like to establish an SSL connection, and she passes a list of ciphers that she supports, along with a nonce RA.</a:t>
            </a:r>
            <a:endParaRPr sz="1400">
              <a:solidFill>
                <a:schemeClr val="dk1"/>
              </a:solidFill>
              <a:latin typeface="Times"/>
              <a:ea typeface="Times"/>
              <a:cs typeface="Times"/>
              <a:sym typeface="Times"/>
            </a:endParaRPr>
          </a:p>
          <a:p>
            <a:pPr indent="-317500" lvl="0" marL="457200" rtl="0" algn="l">
              <a:lnSpc>
                <a:spcPct val="115000"/>
              </a:lnSpc>
              <a:spcBef>
                <a:spcPts val="0"/>
              </a:spcBef>
              <a:spcAft>
                <a:spcPts val="0"/>
              </a:spcAft>
              <a:buClr>
                <a:schemeClr val="dk1"/>
              </a:buClr>
              <a:buSzPts val="1400"/>
              <a:buFont typeface="Times"/>
              <a:buAutoNum type="arabicPeriod"/>
            </a:pPr>
            <a:r>
              <a:rPr lang="en-US" sz="1400">
                <a:solidFill>
                  <a:schemeClr val="dk1"/>
                </a:solidFill>
                <a:latin typeface="Times"/>
                <a:ea typeface="Times"/>
                <a:cs typeface="Times"/>
                <a:sym typeface="Times"/>
              </a:rPr>
              <a:t>Bob responds with his certificate, he selects one of the ciphers from the cipher list that Alice sent in message one, and he sends a nonce RB.</a:t>
            </a:r>
            <a:endParaRPr sz="1400">
              <a:solidFill>
                <a:schemeClr val="dk1"/>
              </a:solidFill>
              <a:latin typeface="Times"/>
              <a:ea typeface="Times"/>
              <a:cs typeface="Times"/>
              <a:sym typeface="Times"/>
            </a:endParaRPr>
          </a:p>
          <a:p>
            <a:pPr indent="-317500" lvl="0" marL="457200" rtl="0" algn="l">
              <a:lnSpc>
                <a:spcPct val="115000"/>
              </a:lnSpc>
              <a:spcBef>
                <a:spcPts val="0"/>
              </a:spcBef>
              <a:spcAft>
                <a:spcPts val="0"/>
              </a:spcAft>
              <a:buClr>
                <a:schemeClr val="dk1"/>
              </a:buClr>
              <a:buSzPts val="1400"/>
              <a:buFont typeface="Times"/>
              <a:buAutoNum type="arabicPeriod"/>
            </a:pPr>
            <a:r>
              <a:rPr lang="en-US" sz="1400">
                <a:solidFill>
                  <a:schemeClr val="dk1"/>
                </a:solidFill>
                <a:latin typeface="Times"/>
                <a:ea typeface="Times"/>
                <a:cs typeface="Times"/>
                <a:sym typeface="Times"/>
              </a:rPr>
              <a:t>Alice sends the so-called pre-master secret S,  which she randomly generated, along with a hash that is encrypted with the key K. In this hash, "msgs" includes all previous messages and CLNT is a literal string. Why hash is used? Because the hash is used as an integrity check to verify that the previous messages have been received correctly.</a:t>
            </a:r>
            <a:endParaRPr sz="1400">
              <a:solidFill>
                <a:schemeClr val="dk1"/>
              </a:solidFill>
              <a:latin typeface="Times"/>
              <a:ea typeface="Times"/>
              <a:cs typeface="Times"/>
              <a:sym typeface="Times"/>
            </a:endParaRPr>
          </a:p>
          <a:p>
            <a:pPr indent="-317500" lvl="0" marL="457200" rtl="0" algn="l">
              <a:lnSpc>
                <a:spcPct val="115000"/>
              </a:lnSpc>
              <a:spcBef>
                <a:spcPts val="0"/>
              </a:spcBef>
              <a:spcAft>
                <a:spcPts val="0"/>
              </a:spcAft>
              <a:buClr>
                <a:schemeClr val="dk1"/>
              </a:buClr>
              <a:buSzPts val="1400"/>
              <a:buFont typeface="Times"/>
              <a:buAutoNum type="arabicPeriod"/>
            </a:pPr>
            <a:r>
              <a:rPr lang="en-US" sz="1400">
                <a:solidFill>
                  <a:schemeClr val="dk1"/>
                </a:solidFill>
                <a:latin typeface="Times"/>
                <a:ea typeface="Times"/>
                <a:cs typeface="Times"/>
                <a:sym typeface="Times"/>
              </a:rPr>
              <a:t>Bob responds with a similar hash. By computing this hash herself, Alice can verify that Bob received the messages correctly, and she can authenticate Bob, since only Bob could have decrypted S,  which is required to generate the key K. At this point, Alice has authenticated Bob, and Alice and Bob have established a shared session key K,  which they can use to encrypt and integrity protect subsequent messages.</a:t>
            </a:r>
            <a:endParaRPr sz="1400">
              <a:solidFill>
                <a:schemeClr val="dk1"/>
              </a:solidFill>
              <a:latin typeface="Times"/>
              <a:ea typeface="Times"/>
              <a:cs typeface="Times"/>
              <a:sym typeface="Times"/>
            </a:endParaRPr>
          </a:p>
          <a:p>
            <a:pPr indent="-317500" lvl="0" marL="457200" rtl="0" algn="l">
              <a:lnSpc>
                <a:spcPct val="115000"/>
              </a:lnSpc>
              <a:spcBef>
                <a:spcPts val="0"/>
              </a:spcBef>
              <a:spcAft>
                <a:spcPts val="0"/>
              </a:spcAft>
              <a:buClr>
                <a:schemeClr val="dk1"/>
              </a:buClr>
              <a:buSzPts val="1400"/>
              <a:buFont typeface="Times"/>
              <a:buAutoNum type="arabicPeriod"/>
            </a:pPr>
            <a:r>
              <a:rPr lang="en-US" sz="1400">
                <a:solidFill>
                  <a:schemeClr val="dk1"/>
                </a:solidFill>
                <a:latin typeface="Times"/>
                <a:ea typeface="Times"/>
                <a:cs typeface="Times"/>
                <a:sym typeface="Times"/>
              </a:rPr>
              <a:t>Bob cannot authenticate Alice.</a:t>
            </a:r>
            <a:endParaRPr sz="1400">
              <a:solidFill>
                <a:schemeClr val="dk1"/>
              </a:solidFill>
              <a:latin typeface="Times"/>
              <a:ea typeface="Times"/>
              <a:cs typeface="Times"/>
              <a:sym typeface="Times"/>
            </a:endParaRPr>
          </a:p>
          <a:p>
            <a:pPr indent="0" lvl="0" marL="0" rtl="0" algn="l">
              <a:lnSpc>
                <a:spcPct val="100000"/>
              </a:lnSpc>
              <a:spcBef>
                <a:spcPts val="0"/>
              </a:spcBef>
              <a:spcAft>
                <a:spcPts val="0"/>
              </a:spcAft>
              <a:buSzPts val="1400"/>
              <a:buNone/>
            </a:pPr>
            <a:r>
              <a:t/>
            </a:r>
            <a:endParaRPr sz="1400"/>
          </a:p>
        </p:txBody>
      </p:sp>
      <p:sp>
        <p:nvSpPr>
          <p:cNvPr id="216" name="Google Shape;216;p1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4: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15000"/>
              </a:lnSpc>
              <a:spcBef>
                <a:spcPts val="0"/>
              </a:spcBef>
              <a:spcAft>
                <a:spcPts val="0"/>
              </a:spcAft>
              <a:buClr>
                <a:schemeClr val="dk1"/>
              </a:buClr>
              <a:buSzPts val="1100"/>
              <a:buFont typeface="Arial"/>
              <a:buNone/>
            </a:pPr>
            <a:r>
              <a:rPr lang="en-US" sz="1400">
                <a:solidFill>
                  <a:schemeClr val="dk1"/>
                </a:solidFill>
                <a:latin typeface="Times"/>
                <a:ea typeface="Times"/>
                <a:cs typeface="Times"/>
                <a:sym typeface="Times"/>
              </a:rPr>
              <a:t>In reality, more than one key is derived from the hash h(S,RA,RB)- In fact, the following six quantities are generated from this hash.</a:t>
            </a:r>
            <a:endParaRPr sz="1400">
              <a:solidFill>
                <a:schemeClr val="dk1"/>
              </a:solidFill>
              <a:latin typeface="Times"/>
              <a:ea typeface="Times"/>
              <a:cs typeface="Times"/>
              <a:sym typeface="Times"/>
            </a:endParaRPr>
          </a:p>
          <a:p>
            <a:pPr indent="0" lvl="0" marL="0" rtl="0" algn="l">
              <a:lnSpc>
                <a:spcPct val="100000"/>
              </a:lnSpc>
              <a:spcBef>
                <a:spcPts val="0"/>
              </a:spcBef>
              <a:spcAft>
                <a:spcPts val="0"/>
              </a:spcAft>
              <a:buSzPts val="1400"/>
              <a:buNone/>
            </a:pPr>
            <a:r>
              <a:rPr lang="en-US" sz="1400"/>
              <a:t>Why we need this? Trudy can </a:t>
            </a:r>
            <a:endParaRPr sz="1400"/>
          </a:p>
        </p:txBody>
      </p:sp>
      <p:sp>
        <p:nvSpPr>
          <p:cNvPr id="238" name="Google Shape;238;p1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5: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rPr lang="en-US"/>
              <a:t>Everybody need CA for client. Why bother?</a:t>
            </a:r>
            <a:endParaRPr/>
          </a:p>
        </p:txBody>
      </p:sp>
      <p:sp>
        <p:nvSpPr>
          <p:cNvPr id="246" name="Google Shape;246;p1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rPr lang="en-US"/>
              <a:t>Who verify the certificate? does Alice check the certificate by herself? NO, the browser does that.</a:t>
            </a:r>
            <a:endParaRPr/>
          </a:p>
          <a:p>
            <a:pPr indent="0" lvl="0" marL="0" rtl="0" algn="l">
              <a:lnSpc>
                <a:spcPct val="100000"/>
              </a:lnSpc>
              <a:spcBef>
                <a:spcPts val="0"/>
              </a:spcBef>
              <a:spcAft>
                <a:spcPts val="0"/>
              </a:spcAft>
              <a:buSzPts val="1400"/>
              <a:buNone/>
            </a:pPr>
            <a:r>
              <a:rPr lang="en-US"/>
              <a:t>What Alice do, she ignore the message and accept the consequences and say i agree. It opens the door for trudy.</a:t>
            </a:r>
            <a:endParaRPr/>
          </a:p>
          <a:p>
            <a:pPr indent="0" lvl="0" marL="0" rtl="0" algn="l">
              <a:lnSpc>
                <a:spcPct val="100000"/>
              </a:lnSpc>
              <a:spcBef>
                <a:spcPts val="0"/>
              </a:spcBef>
              <a:spcAft>
                <a:spcPts val="0"/>
              </a:spcAft>
              <a:buSzPts val="1400"/>
              <a:buNone/>
            </a:pPr>
            <a:r>
              <a:t/>
            </a:r>
            <a:endParaRPr/>
          </a:p>
        </p:txBody>
      </p:sp>
      <p:sp>
        <p:nvSpPr>
          <p:cNvPr id="254" name="Google Shape;254;p16: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8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88" name="Google Shape;288;p8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70: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rPr b="0" i="0" lang="en-US" sz="1300" u="none" cap="none" strike="noStrike">
                <a:solidFill>
                  <a:srgbClr val="000000"/>
                </a:solidFill>
                <a:latin typeface="Arial"/>
                <a:ea typeface="Arial"/>
                <a:cs typeface="Arial"/>
                <a:sym typeface="Arial"/>
              </a:rPr>
              <a:t>Kerberos (/ˈkɜːrbərɒs/) is a computer-network authentication protocol that works on the basis of tickets to allow nodes communicating over a non-secure network to prove their identity to one another in a secure manner. The protocol was named after the character Kerberos (or Cerberus) from Greek mythology, the ferocious three-headed guard dog of Hades. Its designers aimed it primarily at a client–server model and it provides mutual authentication—both the user and the server verify each other's identity. Kerberos protocol messages are protected against eavesdropping and replay attacks.</a:t>
            </a:r>
            <a:endParaRPr b="0" sz="1300"/>
          </a:p>
        </p:txBody>
      </p:sp>
      <p:sp>
        <p:nvSpPr>
          <p:cNvPr id="295" name="Google Shape;295;p70: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04" name="Google Shape;304;p1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71: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rPr lang="en-US"/>
              <a:t>Works in local network</a:t>
            </a:r>
            <a:endParaRPr/>
          </a:p>
          <a:p>
            <a:pPr indent="0" lvl="0" marL="0" rtl="0" algn="l">
              <a:lnSpc>
                <a:spcPct val="100000"/>
              </a:lnSpc>
              <a:spcBef>
                <a:spcPts val="0"/>
              </a:spcBef>
              <a:spcAft>
                <a:spcPts val="0"/>
              </a:spcAft>
              <a:buSzPts val="1400"/>
              <a:buNone/>
            </a:pPr>
            <a:r>
              <a:rPr lang="en-US"/>
              <a:t>Symmetric key and timestamp</a:t>
            </a:r>
            <a:endParaRPr/>
          </a:p>
          <a:p>
            <a:pPr indent="0" lvl="0" marL="0" rtl="0" algn="l">
              <a:lnSpc>
                <a:spcPct val="100000"/>
              </a:lnSpc>
              <a:spcBef>
                <a:spcPts val="0"/>
              </a:spcBef>
              <a:spcAft>
                <a:spcPts val="0"/>
              </a:spcAft>
              <a:buSzPts val="1400"/>
              <a:buNone/>
            </a:pPr>
            <a:r>
              <a:t/>
            </a:r>
            <a:endParaRPr/>
          </a:p>
        </p:txBody>
      </p:sp>
      <p:sp>
        <p:nvSpPr>
          <p:cNvPr id="311" name="Google Shape;311;p71: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72: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rPr lang="en-US" sz="1600"/>
              <a:t>Setup a system with N user. Everybody need to have their own public, private key.</a:t>
            </a:r>
            <a:endParaRPr sz="1600"/>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Everybody need to share their key with others.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If I want to talk to you, we both go to the TTP for sharing session key and authenticate each other</a:t>
            </a:r>
            <a:endParaRPr/>
          </a:p>
          <a:p>
            <a:pPr indent="0" lvl="0" marL="0" rtl="0" algn="l">
              <a:lnSpc>
                <a:spcPct val="100000"/>
              </a:lnSpc>
              <a:spcBef>
                <a:spcPts val="0"/>
              </a:spcBef>
              <a:spcAft>
                <a:spcPts val="0"/>
              </a:spcAft>
              <a:buSzPts val="1400"/>
              <a:buNone/>
            </a:pPr>
            <a:r>
              <a:t/>
            </a:r>
            <a:endParaRPr/>
          </a:p>
        </p:txBody>
      </p:sp>
      <p:sp>
        <p:nvSpPr>
          <p:cNvPr id="319" name="Google Shape;319;p72: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73: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327" name="Google Shape;327;p73: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74: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rPr lang="en-US"/>
              <a:t>Master ticket is TGT</a:t>
            </a:r>
            <a:endParaRPr/>
          </a:p>
          <a:p>
            <a:pPr indent="0" lvl="0" marL="0" rtl="0" algn="l">
              <a:lnSpc>
                <a:spcPct val="100000"/>
              </a:lnSpc>
              <a:spcBef>
                <a:spcPts val="0"/>
              </a:spcBef>
              <a:spcAft>
                <a:spcPts val="0"/>
              </a:spcAft>
              <a:buSzPts val="1400"/>
              <a:buNone/>
            </a:pPr>
            <a:r>
              <a:rPr lang="en-US"/>
              <a:t>Simple ticket.</a:t>
            </a:r>
            <a:endParaRPr/>
          </a:p>
          <a:p>
            <a:pPr indent="0" lvl="0" marL="0" rtl="0" algn="l">
              <a:lnSpc>
                <a:spcPct val="100000"/>
              </a:lnSpc>
              <a:spcBef>
                <a:spcPts val="0"/>
              </a:spcBef>
              <a:spcAft>
                <a:spcPts val="0"/>
              </a:spcAft>
              <a:buSzPts val="1400"/>
              <a:buNone/>
            </a:pPr>
            <a:r>
              <a:rPr lang="en-US"/>
              <a:t>TGT-&gt;KDC-&gt;TTP</a:t>
            </a:r>
            <a:endParaRPr/>
          </a:p>
          <a:p>
            <a:pPr indent="0" lvl="0" marL="0" rtl="0" algn="l">
              <a:lnSpc>
                <a:spcPct val="100000"/>
              </a:lnSpc>
              <a:spcBef>
                <a:spcPts val="0"/>
              </a:spcBef>
              <a:spcAft>
                <a:spcPts val="0"/>
              </a:spcAft>
              <a:buSzPts val="1400"/>
              <a:buNone/>
            </a:pPr>
            <a:r>
              <a:rPr lang="en-US"/>
              <a:t>KDC dnt need to remember. </a:t>
            </a:r>
            <a:endParaRPr/>
          </a:p>
        </p:txBody>
      </p:sp>
      <p:sp>
        <p:nvSpPr>
          <p:cNvPr id="335" name="Google Shape;335;p74: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75: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343" name="Google Shape;343;p75: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76: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228600" lvl="0" marL="457200" marR="0" rtl="0" algn="l">
              <a:lnSpc>
                <a:spcPct val="100000"/>
              </a:lnSpc>
              <a:spcBef>
                <a:spcPts val="0"/>
              </a:spcBef>
              <a:spcAft>
                <a:spcPts val="0"/>
              </a:spcAft>
              <a:buSzPts val="1400"/>
              <a:buNone/>
            </a:pPr>
            <a:r>
              <a:rPr b="0" i="0" lang="en-US" sz="1800" u="none" cap="none" strike="noStrike">
                <a:solidFill>
                  <a:srgbClr val="000000"/>
                </a:solidFill>
                <a:latin typeface="Arial"/>
                <a:ea typeface="Arial"/>
                <a:cs typeface="Arial"/>
                <a:sym typeface="Arial"/>
              </a:rPr>
              <a:t>As on most systems, Alice first enters her username and password. In Kerberos, Alice's computer then derives the key </a:t>
            </a:r>
            <a:r>
              <a:rPr b="0" i="1" lang="en-US" sz="1800" u="none" cap="none" strike="noStrike">
                <a:solidFill>
                  <a:srgbClr val="000000"/>
                </a:solidFill>
                <a:latin typeface="Arial"/>
                <a:ea typeface="Arial"/>
                <a:cs typeface="Arial"/>
                <a:sym typeface="Arial"/>
              </a:rPr>
              <a:t>KA </a:t>
            </a:r>
            <a:r>
              <a:rPr b="0" i="0" lang="en-US" sz="1800" u="none" cap="none" strike="noStrike">
                <a:solidFill>
                  <a:srgbClr val="000000"/>
                </a:solidFill>
                <a:latin typeface="Arial"/>
                <a:ea typeface="Arial"/>
                <a:cs typeface="Arial"/>
                <a:sym typeface="Arial"/>
              </a:rPr>
              <a:t>from Alice's password, where </a:t>
            </a:r>
            <a:r>
              <a:rPr b="0" i="1" lang="en-US" sz="1800" u="none" cap="none" strike="noStrike">
                <a:solidFill>
                  <a:srgbClr val="000000"/>
                </a:solidFill>
                <a:latin typeface="Arial"/>
                <a:ea typeface="Arial"/>
                <a:cs typeface="Arial"/>
                <a:sym typeface="Arial"/>
              </a:rPr>
              <a:t>KA </a:t>
            </a:r>
            <a:r>
              <a:rPr b="0" i="0" lang="en-US" sz="1800" u="none" cap="none" strike="noStrike">
                <a:solidFill>
                  <a:srgbClr val="000000"/>
                </a:solidFill>
                <a:latin typeface="Arial"/>
                <a:ea typeface="Arial"/>
                <a:cs typeface="Arial"/>
                <a:sym typeface="Arial"/>
              </a:rPr>
              <a:t>is the key that Alice and the KDC share. Alice's computer uses </a:t>
            </a:r>
            <a:r>
              <a:rPr b="0" i="1" lang="en-US" sz="1800" u="none" cap="none" strike="noStrike">
                <a:solidFill>
                  <a:srgbClr val="000000"/>
                </a:solidFill>
                <a:latin typeface="Arial"/>
                <a:ea typeface="Arial"/>
                <a:cs typeface="Arial"/>
                <a:sym typeface="Arial"/>
              </a:rPr>
              <a:t>KA </a:t>
            </a:r>
            <a:r>
              <a:rPr b="0" i="0" lang="en-US" sz="1800" u="none" cap="none" strike="noStrike">
                <a:solidFill>
                  <a:srgbClr val="000000"/>
                </a:solidFill>
                <a:latin typeface="Arial"/>
                <a:ea typeface="Arial"/>
                <a:cs typeface="Arial"/>
                <a:sym typeface="Arial"/>
              </a:rPr>
              <a:t>to obtain Alice's TGT from the KDC.</a:t>
            </a:r>
            <a:endParaRPr/>
          </a:p>
          <a:p>
            <a:pPr indent="-228600" lvl="0" marL="457200" marR="0" rtl="0" algn="l">
              <a:lnSpc>
                <a:spcPct val="100000"/>
              </a:lnSpc>
              <a:spcBef>
                <a:spcPts val="0"/>
              </a:spcBef>
              <a:spcAft>
                <a:spcPts val="0"/>
              </a:spcAft>
              <a:buSzPts val="1400"/>
              <a:buNone/>
            </a:pPr>
            <a:r>
              <a:rPr b="0" i="0" lang="en-US" sz="1800" u="none" cap="none" strike="noStrike">
                <a:solidFill>
                  <a:srgbClr val="000000"/>
                </a:solidFill>
                <a:latin typeface="Arial"/>
                <a:ea typeface="Arial"/>
                <a:cs typeface="Arial"/>
                <a:sym typeface="Arial"/>
              </a:rPr>
              <a:t>Alice can then use her TGT (i.e., her credentials) to securely access network</a:t>
            </a:r>
            <a:endParaRPr/>
          </a:p>
          <a:p>
            <a:pPr indent="-228600" lvl="0" marL="457200" marR="0" rtl="0" algn="l">
              <a:lnSpc>
                <a:spcPct val="100000"/>
              </a:lnSpc>
              <a:spcBef>
                <a:spcPts val="0"/>
              </a:spcBef>
              <a:spcAft>
                <a:spcPts val="0"/>
              </a:spcAft>
              <a:buSzPts val="1400"/>
              <a:buNone/>
            </a:pPr>
            <a:r>
              <a:rPr b="0" i="0" lang="en-US" sz="1800" u="none" cap="none" strike="noStrike">
                <a:solidFill>
                  <a:srgbClr val="000000"/>
                </a:solidFill>
                <a:latin typeface="Arial"/>
                <a:ea typeface="Arial"/>
                <a:cs typeface="Arial"/>
                <a:sym typeface="Arial"/>
              </a:rPr>
              <a:t>resources. Once Alice has logged in, all of the security is automatic and takes</a:t>
            </a:r>
            <a:endParaRPr/>
          </a:p>
          <a:p>
            <a:pPr indent="-228600" lvl="0" marL="457200" marR="0" rtl="0" algn="l">
              <a:lnSpc>
                <a:spcPct val="100000"/>
              </a:lnSpc>
              <a:spcBef>
                <a:spcPts val="0"/>
              </a:spcBef>
              <a:spcAft>
                <a:spcPts val="0"/>
              </a:spcAft>
              <a:buSzPts val="1400"/>
              <a:buNone/>
            </a:pPr>
            <a:r>
              <a:rPr b="0" i="0" lang="en-US" sz="1800" u="none" cap="none" strike="noStrike">
                <a:solidFill>
                  <a:srgbClr val="000000"/>
                </a:solidFill>
                <a:latin typeface="Arial"/>
                <a:ea typeface="Arial"/>
                <a:cs typeface="Arial"/>
                <a:sym typeface="Arial"/>
              </a:rPr>
              <a:t>place behind the scenes, without any additional involvement by Alice.</a:t>
            </a:r>
            <a:endParaRPr/>
          </a:p>
        </p:txBody>
      </p:sp>
      <p:sp>
        <p:nvSpPr>
          <p:cNvPr id="351" name="Google Shape;351;p76: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78: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228600" lvl="0" marL="457200" marR="0" rtl="0" algn="l">
              <a:lnSpc>
                <a:spcPct val="100000"/>
              </a:lnSpc>
              <a:spcBef>
                <a:spcPts val="0"/>
              </a:spcBef>
              <a:spcAft>
                <a:spcPts val="0"/>
              </a:spcAft>
              <a:buSzPts val="1400"/>
              <a:buNone/>
            </a:pPr>
            <a:r>
              <a:rPr b="0" i="0" lang="en-US" sz="1800" u="none" cap="none" strike="noStrike">
                <a:solidFill>
                  <a:srgbClr val="000000"/>
                </a:solidFill>
                <a:latin typeface="Arial"/>
                <a:ea typeface="Arial"/>
                <a:cs typeface="Arial"/>
                <a:sym typeface="Arial"/>
              </a:rPr>
              <a:t>suppose that Alice wants to talk to Bob. Then Alice's computer presents its TGT to the KDC, along with an authenticator. The authenticator is an encrypted timestamp that serves to avoid a replay. After the KDC verifies Alice's authenticator, it responds with a "ticket to Bob." Alice's computer then uses this ticket to Bob to securely communicate directly with Bob's computer.</a:t>
            </a:r>
            <a:endParaRPr/>
          </a:p>
        </p:txBody>
      </p:sp>
      <p:sp>
        <p:nvSpPr>
          <p:cNvPr id="373" name="Google Shape;373;p78: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79: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228600" lvl="0" marL="457200" marR="0" rtl="0" algn="l">
              <a:lnSpc>
                <a:spcPct val="100000"/>
              </a:lnSpc>
              <a:spcBef>
                <a:spcPts val="0"/>
              </a:spcBef>
              <a:spcAft>
                <a:spcPts val="0"/>
              </a:spcAft>
              <a:buSzPts val="1400"/>
              <a:buNone/>
            </a:pPr>
            <a:r>
              <a:rPr b="0" i="0" lang="en-US" sz="1800" u="none" cap="none" strike="noStrike">
                <a:solidFill>
                  <a:srgbClr val="000000"/>
                </a:solidFill>
                <a:latin typeface="Arial"/>
                <a:ea typeface="Arial"/>
                <a:cs typeface="Arial"/>
                <a:sym typeface="Arial"/>
              </a:rPr>
              <a:t>Once Alice has obtained the "ticket to Bob," she can then securely communicate with Bob.</a:t>
            </a:r>
            <a:endParaRPr/>
          </a:p>
        </p:txBody>
      </p:sp>
      <p:sp>
        <p:nvSpPr>
          <p:cNvPr id="394" name="Google Shape;394;p79: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10" name="Google Shape;410;p1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80: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415" name="Google Shape;415;p80: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85: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lnSpc>
                <a:spcPct val="100000"/>
              </a:lnSpc>
              <a:spcBef>
                <a:spcPts val="0"/>
              </a:spcBef>
              <a:spcAft>
                <a:spcPts val="0"/>
              </a:spcAft>
              <a:buSzPts val="1400"/>
              <a:buNone/>
            </a:pPr>
            <a:r>
              <a:t/>
            </a:r>
            <a:endParaRPr/>
          </a:p>
        </p:txBody>
      </p:sp>
      <p:sp>
        <p:nvSpPr>
          <p:cNvPr id="423" name="Google Shape;423;p85:notes"/>
          <p:cNvSpPr/>
          <p:nvPr>
            <p:ph idx="2" type="sldImg"/>
          </p:nvPr>
        </p:nvSpPr>
        <p:spPr>
          <a:xfrm>
            <a:off x="992188" y="768350"/>
            <a:ext cx="5114925" cy="38369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88"/>
          <p:cNvSpPr txBox="1"/>
          <p:nvPr>
            <p:ph type="ctrTitle"/>
          </p:nvPr>
        </p:nvSpPr>
        <p:spPr>
          <a:xfrm>
            <a:off x="581192" y="990600"/>
            <a:ext cx="7989752" cy="150484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8"/>
          <p:cNvSpPr txBox="1"/>
          <p:nvPr>
            <p:ph idx="1" type="subTitle"/>
          </p:nvPr>
        </p:nvSpPr>
        <p:spPr>
          <a:xfrm>
            <a:off x="581192" y="2495444"/>
            <a:ext cx="7989752" cy="590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p:txBody>
      </p:sp>
      <p:sp>
        <p:nvSpPr>
          <p:cNvPr id="21" name="Google Shape;21;p88"/>
          <p:cNvSpPr txBox="1"/>
          <p:nvPr>
            <p:ph idx="11" type="ftr"/>
          </p:nvPr>
        </p:nvSpPr>
        <p:spPr>
          <a:xfrm>
            <a:off x="581025" y="6486525"/>
            <a:ext cx="665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2F5A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8"/>
          <p:cNvSpPr txBox="1"/>
          <p:nvPr>
            <p:ph idx="12" type="sldNum"/>
          </p:nvPr>
        </p:nvSpPr>
        <p:spPr>
          <a:xfrm>
            <a:off x="7800975" y="6486525"/>
            <a:ext cx="76993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1pPr>
            <a:lvl2pPr indent="0" lvl="1"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2pPr>
            <a:lvl3pPr indent="0" lvl="2"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3pPr>
            <a:lvl4pPr indent="0" lvl="3"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4pPr>
            <a:lvl5pPr indent="0" lvl="4"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5pPr>
            <a:lvl6pPr indent="0" lvl="5"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6pPr>
            <a:lvl7pPr indent="0" lvl="6"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7pPr>
            <a:lvl8pPr indent="0" lvl="7"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8pPr>
            <a:lvl9pPr indent="0" lvl="8"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90"/>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90"/>
          <p:cNvSpPr txBox="1"/>
          <p:nvPr>
            <p:ph idx="1" type="body"/>
          </p:nvPr>
        </p:nvSpPr>
        <p:spPr>
          <a:xfrm>
            <a:off x="581192" y="2228003"/>
            <a:ext cx="7989752" cy="3630795"/>
          </a:xfrm>
          <a:prstGeom prst="rect">
            <a:avLst/>
          </a:prstGeom>
          <a:noFill/>
          <a:ln>
            <a:noFill/>
          </a:ln>
        </p:spPr>
        <p:txBody>
          <a:bodyPr anchorCtr="0" anchor="ctr" bIns="45700" lIns="91425" spcFirstLastPara="1" rIns="91425" wrap="square" tIns="45700">
            <a:no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37" name="Google Shape;37;p90"/>
          <p:cNvSpPr txBox="1"/>
          <p:nvPr>
            <p:ph idx="11" type="ftr"/>
          </p:nvPr>
        </p:nvSpPr>
        <p:spPr>
          <a:xfrm>
            <a:off x="581025" y="6486525"/>
            <a:ext cx="665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2F5A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0"/>
          <p:cNvSpPr txBox="1"/>
          <p:nvPr>
            <p:ph idx="12" type="sldNum"/>
          </p:nvPr>
        </p:nvSpPr>
        <p:spPr>
          <a:xfrm>
            <a:off x="7800975" y="6486525"/>
            <a:ext cx="76993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1pPr>
            <a:lvl2pPr indent="0" lvl="1"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2pPr>
            <a:lvl3pPr indent="0" lvl="2"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3pPr>
            <a:lvl4pPr indent="0" lvl="3"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4pPr>
            <a:lvl5pPr indent="0" lvl="4"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5pPr>
            <a:lvl6pPr indent="0" lvl="5"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6pPr>
            <a:lvl7pPr indent="0" lvl="6"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7pPr>
            <a:lvl8pPr indent="0" lvl="7"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8pPr>
            <a:lvl9pPr indent="0" lvl="8" marL="0" marR="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9.png"/><Relationship Id="rId3" Type="http://schemas.openxmlformats.org/officeDocument/2006/relationships/slideLayout" Target="../slideLayouts/slideLayout2.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7"/>
          <p:cNvSpPr/>
          <p:nvPr/>
        </p:nvSpPr>
        <p:spPr>
          <a:xfrm>
            <a:off x="447675" y="441325"/>
            <a:ext cx="2720975" cy="10795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ulim"/>
              <a:ea typeface="Gulim"/>
              <a:cs typeface="Gulim"/>
              <a:sym typeface="Gulim"/>
            </a:endParaRPr>
          </a:p>
        </p:txBody>
      </p:sp>
      <p:sp>
        <p:nvSpPr>
          <p:cNvPr id="11" name="Google Shape;11;p87"/>
          <p:cNvSpPr/>
          <p:nvPr/>
        </p:nvSpPr>
        <p:spPr>
          <a:xfrm>
            <a:off x="5975350" y="441325"/>
            <a:ext cx="2711450" cy="107950"/>
          </a:xfrm>
          <a:prstGeom prst="rect">
            <a:avLst/>
          </a:prstGeom>
          <a:solidFill>
            <a:srgbClr val="969F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ulim"/>
              <a:ea typeface="Gulim"/>
              <a:cs typeface="Gulim"/>
              <a:sym typeface="Gulim"/>
            </a:endParaRPr>
          </a:p>
        </p:txBody>
      </p:sp>
      <p:sp>
        <p:nvSpPr>
          <p:cNvPr id="12" name="Google Shape;12;p87"/>
          <p:cNvSpPr/>
          <p:nvPr/>
        </p:nvSpPr>
        <p:spPr>
          <a:xfrm>
            <a:off x="3216275" y="441325"/>
            <a:ext cx="2711450" cy="1079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ulim"/>
              <a:ea typeface="Gulim"/>
              <a:cs typeface="Gulim"/>
              <a:sym typeface="Gulim"/>
            </a:endParaRPr>
          </a:p>
        </p:txBody>
      </p:sp>
      <p:sp>
        <p:nvSpPr>
          <p:cNvPr id="13" name="Google Shape;13;p87"/>
          <p:cNvSpPr/>
          <p:nvPr/>
        </p:nvSpPr>
        <p:spPr>
          <a:xfrm>
            <a:off x="447675" y="3086100"/>
            <a:ext cx="8240712" cy="33051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ulim"/>
              <a:ea typeface="Gulim"/>
              <a:cs typeface="Gulim"/>
              <a:sym typeface="Gulim"/>
            </a:endParaRPr>
          </a:p>
        </p:txBody>
      </p:sp>
      <p:sp>
        <p:nvSpPr>
          <p:cNvPr id="14" name="Google Shape;14;p87"/>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5" name="Google Shape;15;p87"/>
          <p:cNvSpPr txBox="1"/>
          <p:nvPr>
            <p:ph idx="1" type="body"/>
          </p:nvPr>
        </p:nvSpPr>
        <p:spPr>
          <a:xfrm>
            <a:off x="581025" y="2227262"/>
            <a:ext cx="7989887" cy="3632200"/>
          </a:xfrm>
          <a:prstGeom prst="rect">
            <a:avLst/>
          </a:prstGeom>
          <a:noFill/>
          <a:ln>
            <a:noFill/>
          </a:ln>
        </p:spPr>
        <p:txBody>
          <a:bodyPr anchorCtr="0" anchor="ctr" bIns="45700" lIns="91425" spcFirstLastPara="1" rIns="91425" wrap="square" tIns="45700">
            <a:noAutofit/>
          </a:bodyPr>
          <a:lstStyle>
            <a:lvl1pPr indent="-333756" lvl="0" marL="457200" marR="0" rtl="0" algn="l">
              <a:lnSpc>
                <a:spcPct val="100000"/>
              </a:lnSpc>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lnSpc>
                <a:spcPct val="100000"/>
              </a:lnSpc>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lnSpc>
                <a:spcPct val="100000"/>
              </a:lnSpc>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3" lvl="3" marL="18288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lnSpc>
                <a:spcPct val="100000"/>
              </a:lnSpc>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16" name="Google Shape;16;p87"/>
          <p:cNvSpPr txBox="1"/>
          <p:nvPr>
            <p:ph idx="11" type="ftr"/>
          </p:nvPr>
        </p:nvSpPr>
        <p:spPr>
          <a:xfrm>
            <a:off x="581025" y="6486525"/>
            <a:ext cx="665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2F5AAC"/>
                </a:solidFill>
                <a:latin typeface="Gulim"/>
                <a:ea typeface="Gulim"/>
                <a:cs typeface="Gulim"/>
                <a:sym typeface="Guli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9pPr>
          </a:lstStyle>
          <a:p/>
        </p:txBody>
      </p:sp>
      <p:sp>
        <p:nvSpPr>
          <p:cNvPr id="17" name="Google Shape;17;p87"/>
          <p:cNvSpPr txBox="1"/>
          <p:nvPr>
            <p:ph idx="12" type="sldNum"/>
          </p:nvPr>
        </p:nvSpPr>
        <p:spPr>
          <a:xfrm>
            <a:off x="7800975" y="6486525"/>
            <a:ext cx="76993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1pPr>
            <a:lvl2pPr indent="0" lvl="1"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2pPr>
            <a:lvl3pPr indent="0" lvl="2"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3pPr>
            <a:lvl4pPr indent="0" lvl="3"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4pPr>
            <a:lvl5pPr indent="0" lvl="4"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5pPr>
            <a:lvl6pPr indent="0" lvl="5"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6pPr>
            <a:lvl7pPr indent="0" lvl="6"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7pPr>
            <a:lvl8pPr indent="0" lvl="7"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8pPr>
            <a:lvl9pPr indent="0" lvl="8"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 name="Shape 23"/>
        <p:cNvGrpSpPr/>
        <p:nvPr/>
      </p:nvGrpSpPr>
      <p:grpSpPr>
        <a:xfrm>
          <a:off x="0" y="0"/>
          <a:ext cx="0" cy="0"/>
          <a:chOff x="0" y="0"/>
          <a:chExt cx="0" cy="0"/>
        </a:xfrm>
      </p:grpSpPr>
      <p:sp>
        <p:nvSpPr>
          <p:cNvPr id="24" name="Google Shape;24;p89"/>
          <p:cNvSpPr/>
          <p:nvPr/>
        </p:nvSpPr>
        <p:spPr>
          <a:xfrm>
            <a:off x="447675" y="441325"/>
            <a:ext cx="2720975" cy="10795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ulim"/>
              <a:ea typeface="Gulim"/>
              <a:cs typeface="Gulim"/>
              <a:sym typeface="Gulim"/>
            </a:endParaRPr>
          </a:p>
        </p:txBody>
      </p:sp>
      <p:sp>
        <p:nvSpPr>
          <p:cNvPr id="25" name="Google Shape;25;p89"/>
          <p:cNvSpPr/>
          <p:nvPr/>
        </p:nvSpPr>
        <p:spPr>
          <a:xfrm>
            <a:off x="5975350" y="441325"/>
            <a:ext cx="2711450" cy="107950"/>
          </a:xfrm>
          <a:prstGeom prst="rect">
            <a:avLst/>
          </a:prstGeom>
          <a:solidFill>
            <a:srgbClr val="969F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ulim"/>
              <a:ea typeface="Gulim"/>
              <a:cs typeface="Gulim"/>
              <a:sym typeface="Gulim"/>
            </a:endParaRPr>
          </a:p>
        </p:txBody>
      </p:sp>
      <p:sp>
        <p:nvSpPr>
          <p:cNvPr id="26" name="Google Shape;26;p89"/>
          <p:cNvSpPr/>
          <p:nvPr/>
        </p:nvSpPr>
        <p:spPr>
          <a:xfrm>
            <a:off x="3216275" y="441325"/>
            <a:ext cx="2711450" cy="1079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ulim"/>
              <a:ea typeface="Gulim"/>
              <a:cs typeface="Gulim"/>
              <a:sym typeface="Gulim"/>
            </a:endParaRPr>
          </a:p>
        </p:txBody>
      </p:sp>
      <p:sp>
        <p:nvSpPr>
          <p:cNvPr id="27" name="Google Shape;27;p89"/>
          <p:cNvSpPr/>
          <p:nvPr/>
        </p:nvSpPr>
        <p:spPr>
          <a:xfrm>
            <a:off x="447675" y="600075"/>
            <a:ext cx="8239125" cy="125888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ulim"/>
              <a:ea typeface="Gulim"/>
              <a:cs typeface="Gulim"/>
              <a:sym typeface="Gulim"/>
            </a:endParaRPr>
          </a:p>
        </p:txBody>
      </p:sp>
      <p:pic>
        <p:nvPicPr>
          <p:cNvPr id="28" name="Google Shape;28;p89"/>
          <p:cNvPicPr preferRelativeResize="0"/>
          <p:nvPr/>
        </p:nvPicPr>
        <p:blipFill rotWithShape="1">
          <a:blip r:embed="rId1">
            <a:alphaModFix/>
          </a:blip>
          <a:srcRect b="0" l="0" r="0" t="0"/>
          <a:stretch/>
        </p:blipFill>
        <p:spPr>
          <a:xfrm>
            <a:off x="7235825" y="620712"/>
            <a:ext cx="1408112" cy="1150937"/>
          </a:xfrm>
          <a:prstGeom prst="rect">
            <a:avLst/>
          </a:prstGeom>
          <a:noFill/>
          <a:ln>
            <a:noFill/>
          </a:ln>
        </p:spPr>
      </p:pic>
      <p:pic>
        <p:nvPicPr>
          <p:cNvPr id="29" name="Google Shape;29;p89"/>
          <p:cNvPicPr preferRelativeResize="0"/>
          <p:nvPr/>
        </p:nvPicPr>
        <p:blipFill rotWithShape="1">
          <a:blip r:embed="rId2">
            <a:alphaModFix/>
          </a:blip>
          <a:srcRect b="0" l="0" r="0" t="0"/>
          <a:stretch/>
        </p:blipFill>
        <p:spPr>
          <a:xfrm>
            <a:off x="7380287" y="692150"/>
            <a:ext cx="1147762" cy="1062037"/>
          </a:xfrm>
          <a:prstGeom prst="rect">
            <a:avLst/>
          </a:prstGeom>
          <a:noFill/>
          <a:ln>
            <a:noFill/>
          </a:ln>
        </p:spPr>
      </p:pic>
      <p:sp>
        <p:nvSpPr>
          <p:cNvPr id="30" name="Google Shape;30;p89"/>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31" name="Google Shape;31;p89"/>
          <p:cNvSpPr txBox="1"/>
          <p:nvPr>
            <p:ph idx="1" type="body"/>
          </p:nvPr>
        </p:nvSpPr>
        <p:spPr>
          <a:xfrm>
            <a:off x="581025" y="2227262"/>
            <a:ext cx="7989887" cy="3632200"/>
          </a:xfrm>
          <a:prstGeom prst="rect">
            <a:avLst/>
          </a:prstGeom>
          <a:noFill/>
          <a:ln>
            <a:noFill/>
          </a:ln>
        </p:spPr>
        <p:txBody>
          <a:bodyPr anchorCtr="0" anchor="ctr" bIns="45700" lIns="91425" spcFirstLastPara="1" rIns="91425" wrap="square" tIns="45700">
            <a:noAutofit/>
          </a:bodyPr>
          <a:lstStyle>
            <a:lvl1pPr indent="-333756" lvl="0" marL="457200" marR="0" rtl="0" algn="l">
              <a:lnSpc>
                <a:spcPct val="100000"/>
              </a:lnSpc>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lnSpc>
                <a:spcPct val="100000"/>
              </a:lnSpc>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lnSpc>
                <a:spcPct val="100000"/>
              </a:lnSpc>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3" lvl="3" marL="18288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lnSpc>
                <a:spcPct val="100000"/>
              </a:lnSpc>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32" name="Google Shape;32;p89"/>
          <p:cNvSpPr txBox="1"/>
          <p:nvPr>
            <p:ph idx="11" type="ftr"/>
          </p:nvPr>
        </p:nvSpPr>
        <p:spPr>
          <a:xfrm>
            <a:off x="581025" y="6486525"/>
            <a:ext cx="665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2F5AAC"/>
                </a:solidFill>
                <a:latin typeface="Gulim"/>
                <a:ea typeface="Gulim"/>
                <a:cs typeface="Gulim"/>
                <a:sym typeface="Guli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ulim"/>
                <a:ea typeface="Gulim"/>
                <a:cs typeface="Gulim"/>
                <a:sym typeface="Gulim"/>
              </a:defRPr>
            </a:lvl9pPr>
          </a:lstStyle>
          <a:p/>
        </p:txBody>
      </p:sp>
      <p:sp>
        <p:nvSpPr>
          <p:cNvPr id="33" name="Google Shape;33;p89"/>
          <p:cNvSpPr txBox="1"/>
          <p:nvPr>
            <p:ph idx="12" type="sldNum"/>
          </p:nvPr>
        </p:nvSpPr>
        <p:spPr>
          <a:xfrm>
            <a:off x="7800975" y="6486525"/>
            <a:ext cx="76993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1pPr>
            <a:lvl2pPr indent="0" lvl="1"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2pPr>
            <a:lvl3pPr indent="0" lvl="2"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3pPr>
            <a:lvl4pPr indent="0" lvl="3"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4pPr>
            <a:lvl5pPr indent="0" lvl="4"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5pPr>
            <a:lvl6pPr indent="0" lvl="5"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6pPr>
            <a:lvl7pPr indent="0" lvl="6"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7pPr>
            <a:lvl8pPr indent="0" lvl="7"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8pPr>
            <a:lvl9pPr indent="0" lvl="8" marL="0" marR="0" rtl="0" algn="r">
              <a:lnSpc>
                <a:spcPct val="100000"/>
              </a:lnSpc>
              <a:spcBef>
                <a:spcPts val="0"/>
              </a:spcBef>
              <a:spcAft>
                <a:spcPts val="0"/>
              </a:spcAft>
              <a:buClr>
                <a:srgbClr val="2F5AAC"/>
              </a:buClr>
              <a:buSzPts val="900"/>
              <a:buFont typeface="Gulim"/>
              <a:buNone/>
              <a:defRPr b="0" i="0" sz="900" u="none" cap="none" strike="noStrike">
                <a:solidFill>
                  <a:srgbClr val="2F5AAC"/>
                </a:solidFill>
                <a:latin typeface="Gulim"/>
                <a:ea typeface="Gulim"/>
                <a:cs typeface="Gulim"/>
                <a:sym typeface="Gulim"/>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jpg"/><Relationship Id="rId4" Type="http://schemas.openxmlformats.org/officeDocument/2006/relationships/image" Target="../media/image23.jpg"/><Relationship Id="rId5" Type="http://schemas.openxmlformats.org/officeDocument/2006/relationships/image" Target="../media/image2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1"/>
          <p:cNvSpPr txBox="1"/>
          <p:nvPr>
            <p:ph type="ctrTitle"/>
          </p:nvPr>
        </p:nvSpPr>
        <p:spPr>
          <a:xfrm>
            <a:off x="581025" y="990600"/>
            <a:ext cx="7989887" cy="150495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accent1"/>
              </a:buClr>
              <a:buSzPts val="3600"/>
              <a:buFont typeface="Gill Sans"/>
              <a:buNone/>
            </a:pPr>
            <a:r>
              <a:rPr b="0" i="0" lang="en-US" sz="3600" u="none">
                <a:solidFill>
                  <a:schemeClr val="accent1"/>
                </a:solidFill>
                <a:latin typeface="Gill Sans"/>
                <a:ea typeface="Gill Sans"/>
                <a:cs typeface="Gill Sans"/>
                <a:sym typeface="Gill Sans"/>
              </a:rPr>
              <a:t>CHAPTER 10</a:t>
            </a:r>
            <a:br>
              <a:rPr b="0" i="0" lang="en-US" sz="3600" u="none">
                <a:solidFill>
                  <a:schemeClr val="accent1"/>
                </a:solidFill>
                <a:latin typeface="Gill Sans"/>
                <a:ea typeface="Gill Sans"/>
                <a:cs typeface="Gill Sans"/>
                <a:sym typeface="Gill Sans"/>
              </a:rPr>
            </a:br>
            <a:r>
              <a:rPr b="0" i="0" lang="en-US" sz="3600" u="none">
                <a:solidFill>
                  <a:schemeClr val="accent1"/>
                </a:solidFill>
                <a:latin typeface="Gill Sans"/>
                <a:ea typeface="Gill Sans"/>
                <a:cs typeface="Gill Sans"/>
                <a:sym typeface="Gill Sans"/>
              </a:rPr>
              <a:t>REAL-WORLD PROTOCOLS</a:t>
            </a:r>
            <a:endParaRPr/>
          </a:p>
        </p:txBody>
      </p:sp>
      <p:sp>
        <p:nvSpPr>
          <p:cNvPr id="44" name="Google Shape;44;p1"/>
          <p:cNvSpPr txBox="1"/>
          <p:nvPr>
            <p:ph idx="1" type="subTitle"/>
          </p:nvPr>
        </p:nvSpPr>
        <p:spPr>
          <a:xfrm>
            <a:off x="849312" y="3284537"/>
            <a:ext cx="6365875" cy="309721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944"/>
              <a:buNone/>
            </a:pPr>
            <a:r>
              <a:rPr b="0" i="0" lang="en-US" sz="3200" u="none">
                <a:solidFill>
                  <a:schemeClr val="accent2"/>
                </a:solidFill>
                <a:latin typeface="Gill Sans"/>
                <a:ea typeface="Gill Sans"/>
                <a:cs typeface="Gill Sans"/>
                <a:sym typeface="Gill Sans"/>
              </a:rPr>
              <a:t>SSH</a:t>
            </a:r>
            <a:endParaRPr/>
          </a:p>
          <a:p>
            <a:pPr indent="0" lvl="0" marL="0" rtl="0" algn="l">
              <a:lnSpc>
                <a:spcPct val="100000"/>
              </a:lnSpc>
              <a:spcBef>
                <a:spcPts val="1240"/>
              </a:spcBef>
              <a:spcAft>
                <a:spcPts val="0"/>
              </a:spcAft>
              <a:buSzPts val="2944"/>
              <a:buNone/>
            </a:pPr>
            <a:r>
              <a:rPr b="0" i="0" lang="en-US" sz="3200" u="none">
                <a:solidFill>
                  <a:schemeClr val="accent2"/>
                </a:solidFill>
                <a:latin typeface="Gill Sans"/>
                <a:ea typeface="Gill Sans"/>
                <a:cs typeface="Gill Sans"/>
                <a:sym typeface="Gill Sans"/>
              </a:rPr>
              <a:t>SECURE SOCKET LAYER</a:t>
            </a:r>
            <a:endParaRPr/>
          </a:p>
          <a:p>
            <a:pPr indent="0" lvl="0" marL="0" rtl="0" algn="l">
              <a:lnSpc>
                <a:spcPct val="100000"/>
              </a:lnSpc>
              <a:spcBef>
                <a:spcPts val="1240"/>
              </a:spcBef>
              <a:spcAft>
                <a:spcPts val="0"/>
              </a:spcAft>
              <a:buSzPts val="2944"/>
              <a:buNone/>
            </a:pPr>
            <a:r>
              <a:rPr b="0" i="0" lang="en-US" sz="3200" u="none">
                <a:solidFill>
                  <a:schemeClr val="accent2"/>
                </a:solidFill>
                <a:latin typeface="Gill Sans"/>
                <a:ea typeface="Gill Sans"/>
                <a:cs typeface="Gill Sans"/>
                <a:sym typeface="Gill Sans"/>
              </a:rPr>
              <a:t>IPSEC</a:t>
            </a:r>
            <a:endParaRPr/>
          </a:p>
          <a:p>
            <a:pPr indent="0" lvl="0" marL="0" rtl="0" algn="l">
              <a:lnSpc>
                <a:spcPct val="100000"/>
              </a:lnSpc>
              <a:spcBef>
                <a:spcPts val="1240"/>
              </a:spcBef>
              <a:spcAft>
                <a:spcPts val="0"/>
              </a:spcAft>
              <a:buSzPts val="2944"/>
              <a:buNone/>
            </a:pPr>
            <a:r>
              <a:rPr b="0" i="0" lang="en-US" sz="3200" u="none">
                <a:solidFill>
                  <a:schemeClr val="accent2"/>
                </a:solidFill>
                <a:latin typeface="Gill Sans"/>
                <a:ea typeface="Gill Sans"/>
                <a:cs typeface="Gill Sans"/>
                <a:sym typeface="Gill Sans"/>
              </a:rPr>
              <a:t>KERBEROS</a:t>
            </a:r>
            <a:endParaRPr/>
          </a:p>
        </p:txBody>
      </p:sp>
      <p:pic>
        <p:nvPicPr>
          <p:cNvPr id="45" name="Google Shape;45;p1"/>
          <p:cNvPicPr preferRelativeResize="0"/>
          <p:nvPr/>
        </p:nvPicPr>
        <p:blipFill rotWithShape="1">
          <a:blip r:embed="rId3">
            <a:alphaModFix/>
          </a:blip>
          <a:srcRect b="0" l="0" r="0" t="0"/>
          <a:stretch/>
        </p:blipFill>
        <p:spPr>
          <a:xfrm>
            <a:off x="7235825" y="620712"/>
            <a:ext cx="1408112" cy="1150937"/>
          </a:xfrm>
          <a:prstGeom prst="rect">
            <a:avLst/>
          </a:prstGeom>
          <a:noFill/>
          <a:ln>
            <a:noFill/>
          </a:ln>
        </p:spPr>
      </p:pic>
      <p:pic>
        <p:nvPicPr>
          <p:cNvPr id="46" name="Google Shape;46;p1"/>
          <p:cNvPicPr preferRelativeResize="0"/>
          <p:nvPr/>
        </p:nvPicPr>
        <p:blipFill rotWithShape="1">
          <a:blip r:embed="rId4">
            <a:alphaModFix/>
          </a:blip>
          <a:srcRect b="0" l="0" r="0" t="0"/>
          <a:stretch/>
        </p:blipFill>
        <p:spPr>
          <a:xfrm>
            <a:off x="7380287" y="692150"/>
            <a:ext cx="1147762" cy="1062037"/>
          </a:xfrm>
          <a:prstGeom prst="rect">
            <a:avLst/>
          </a:prstGeom>
          <a:noFill/>
          <a:ln>
            <a:noFill/>
          </a:ln>
        </p:spPr>
      </p:pic>
      <p:sp>
        <p:nvSpPr>
          <p:cNvPr id="47" name="Google Shape;47;p1"/>
          <p:cNvSpPr txBox="1"/>
          <p:nvPr/>
        </p:nvSpPr>
        <p:spPr>
          <a:xfrm>
            <a:off x="581025" y="6486525"/>
            <a:ext cx="66548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F5AAC"/>
              </a:buClr>
              <a:buSzPts val="900"/>
              <a:buFont typeface="Gulim"/>
              <a:buNone/>
            </a:pPr>
            <a:r>
              <a:rPr b="0" i="0" lang="en-US" sz="900" u="none" cap="none" strike="noStrike">
                <a:solidFill>
                  <a:srgbClr val="2F5AAC"/>
                </a:solidFill>
                <a:latin typeface="Gulim"/>
                <a:ea typeface="Gulim"/>
                <a:cs typeface="Gulim"/>
                <a:sym typeface="Gulim"/>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48" name="Google Shape;48;p1"/>
          <p:cNvSpPr txBox="1"/>
          <p:nvPr/>
        </p:nvSpPr>
        <p:spPr>
          <a:xfrm>
            <a:off x="7800975" y="6486525"/>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2F5AAC"/>
              </a:buClr>
              <a:buSzPts val="900"/>
              <a:buFont typeface="Gulim"/>
              <a:buNone/>
            </a:pPr>
            <a:fld id="{00000000-1234-1234-1234-123412341234}" type="slidenum">
              <a:rPr b="0" i="0" lang="en-US" sz="900" u="none" cap="none" strike="noStrike">
                <a:solidFill>
                  <a:srgbClr val="2F5AAC"/>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REAL TIME SECURITY COMM	</a:t>
            </a:r>
            <a:endParaRPr/>
          </a:p>
        </p:txBody>
      </p:sp>
      <p:sp>
        <p:nvSpPr>
          <p:cNvPr id="54" name="Google Shape;54;p2"/>
          <p:cNvSpPr txBox="1"/>
          <p:nvPr>
            <p:ph idx="1" type="body"/>
          </p:nvPr>
        </p:nvSpPr>
        <p:spPr>
          <a:xfrm>
            <a:off x="581025" y="2049462"/>
            <a:ext cx="7989887" cy="24257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Real time protocol</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The parties negotiate interactively to authenticate each other and establish a </a:t>
            </a:r>
            <a:r>
              <a:rPr b="0" i="0" lang="en-US" sz="2400" u="none" cap="none" strike="noStrike">
                <a:solidFill>
                  <a:srgbClr val="FF0000"/>
                </a:solidFill>
                <a:latin typeface="Gill Sans"/>
                <a:ea typeface="Gill Sans"/>
                <a:cs typeface="Gill Sans"/>
                <a:sym typeface="Gill Sans"/>
              </a:rPr>
              <a:t>session key</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rgbClr val="0000FF"/>
                </a:solidFill>
                <a:latin typeface="Gill Sans"/>
                <a:ea typeface="Gill Sans"/>
                <a:cs typeface="Gill Sans"/>
                <a:sym typeface="Gill Sans"/>
              </a:rPr>
              <a:t>Security Association (SA)</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The conversation protected with </a:t>
            </a:r>
            <a:r>
              <a:rPr b="0" i="0" lang="en-US" sz="2400" u="none" cap="none" strike="noStrike">
                <a:solidFill>
                  <a:srgbClr val="FF0000"/>
                </a:solidFill>
                <a:latin typeface="Gill Sans"/>
                <a:ea typeface="Gill Sans"/>
                <a:cs typeface="Gill Sans"/>
                <a:sym typeface="Gill Sans"/>
              </a:rPr>
              <a:t>that session key</a:t>
            </a:r>
            <a:endParaRPr/>
          </a:p>
        </p:txBody>
      </p:sp>
      <p:sp>
        <p:nvSpPr>
          <p:cNvPr id="55" name="Google Shape;55;p2"/>
          <p:cNvSpPr txBox="1"/>
          <p:nvPr/>
        </p:nvSpPr>
        <p:spPr>
          <a:xfrm>
            <a:off x="581025" y="6235700"/>
            <a:ext cx="721995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56" name="Google Shape;56;p2"/>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3"/>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REAL-WORLD PROTOCOLS</a:t>
            </a:r>
            <a:endParaRPr/>
          </a:p>
        </p:txBody>
      </p:sp>
      <p:sp>
        <p:nvSpPr>
          <p:cNvPr id="62" name="Google Shape;62;p3"/>
          <p:cNvSpPr txBox="1"/>
          <p:nvPr>
            <p:ph idx="1" type="body"/>
          </p:nvPr>
        </p:nvSpPr>
        <p:spPr>
          <a:xfrm>
            <a:off x="714375" y="1801812"/>
            <a:ext cx="7715250" cy="434498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944"/>
              <a:buFont typeface="Noto Sans Symbols"/>
              <a:buChar char="◼"/>
            </a:pPr>
            <a:r>
              <a:rPr b="0" i="0" lang="en-US" sz="3200" u="none" cap="none" strike="noStrike">
                <a:solidFill>
                  <a:schemeClr val="dk2"/>
                </a:solidFill>
                <a:latin typeface="Gill Sans"/>
                <a:ea typeface="Gill Sans"/>
                <a:cs typeface="Gill Sans"/>
                <a:sym typeface="Gill Sans"/>
              </a:rPr>
              <a:t>Next, we’ll look at specific protocols</a:t>
            </a:r>
            <a:endParaRPr/>
          </a:p>
          <a:p>
            <a:pPr indent="-304800" lvl="1" marL="62865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SSH ⎯ a simple &amp; useful security protocol</a:t>
            </a:r>
            <a:endParaRPr/>
          </a:p>
          <a:p>
            <a:pPr indent="-304800" lvl="1" marL="62865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SSL ⎯ practical security on the Web</a:t>
            </a:r>
            <a:endParaRPr/>
          </a:p>
          <a:p>
            <a:pPr indent="-304800" lvl="1" marL="62865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IPSec ⎯ security at the IP layer</a:t>
            </a:r>
            <a:endParaRPr/>
          </a:p>
          <a:p>
            <a:pPr indent="-304800" lvl="1" marL="62865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Kerberos ⎯ symmetric key, single sign-on</a:t>
            </a:r>
            <a:endParaRPr/>
          </a:p>
          <a:p>
            <a:pPr indent="-304800" lvl="1" marL="62865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WEP ⎯ “Swiss cheese” of security protocols</a:t>
            </a:r>
            <a:endParaRPr/>
          </a:p>
          <a:p>
            <a:pPr indent="-304800" lvl="1" marL="62865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GSM ⎯ mobile phone (in)security</a:t>
            </a:r>
            <a:endParaRPr/>
          </a:p>
        </p:txBody>
      </p:sp>
      <p:sp>
        <p:nvSpPr>
          <p:cNvPr id="63" name="Google Shape;63;p3"/>
          <p:cNvSpPr txBox="1"/>
          <p:nvPr/>
        </p:nvSpPr>
        <p:spPr>
          <a:xfrm>
            <a:off x="581025" y="6219825"/>
            <a:ext cx="721995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64" name="Google Shape;64;p3"/>
          <p:cNvSpPr txBox="1"/>
          <p:nvPr/>
        </p:nvSpPr>
        <p:spPr>
          <a:xfrm>
            <a:off x="7788275" y="6170612"/>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4"/>
          <p:cNvSpPr txBox="1"/>
          <p:nvPr>
            <p:ph type="title"/>
          </p:nvPr>
        </p:nvSpPr>
        <p:spPr>
          <a:xfrm>
            <a:off x="2205037" y="2420937"/>
            <a:ext cx="5391150" cy="9667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00099"/>
              </a:buClr>
              <a:buSzPts val="2800"/>
              <a:buFont typeface="Gill Sans"/>
              <a:buNone/>
            </a:pPr>
            <a:r>
              <a:rPr b="0" i="0" lang="en-US" sz="2800" u="none">
                <a:solidFill>
                  <a:srgbClr val="000099"/>
                </a:solidFill>
                <a:latin typeface="Gill Sans"/>
                <a:ea typeface="Gill Sans"/>
                <a:cs typeface="Gill Sans"/>
                <a:sym typeface="Gill Sans"/>
              </a:rPr>
              <a:t>SECURE SHELL (SSH)</a:t>
            </a:r>
            <a:endParaRPr/>
          </a:p>
        </p:txBody>
      </p:sp>
      <p:sp>
        <p:nvSpPr>
          <p:cNvPr id="70" name="Google Shape;70;p4"/>
          <p:cNvSpPr txBox="1"/>
          <p:nvPr/>
        </p:nvSpPr>
        <p:spPr>
          <a:xfrm>
            <a:off x="642937" y="6248400"/>
            <a:ext cx="695325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Gulim"/>
              <a:buNone/>
            </a:pPr>
            <a:r>
              <a:rPr b="0" i="0" lang="en-US" sz="900" u="none" cap="none" strike="noStrike">
                <a:solidFill>
                  <a:schemeClr val="dk1"/>
                </a:solidFill>
                <a:latin typeface="Gulim"/>
                <a:ea typeface="Gulim"/>
                <a:cs typeface="Gulim"/>
                <a:sym typeface="Gulim"/>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pic>
        <p:nvPicPr>
          <p:cNvPr descr="shell.gif" id="71" name="Google Shape;71;p4"/>
          <p:cNvPicPr preferRelativeResize="0"/>
          <p:nvPr/>
        </p:nvPicPr>
        <p:blipFill rotWithShape="1">
          <a:blip r:embed="rId3">
            <a:alphaModFix/>
          </a:blip>
          <a:srcRect b="0" l="0" r="0" t="0"/>
          <a:stretch/>
        </p:blipFill>
        <p:spPr>
          <a:xfrm>
            <a:off x="197925" y="2420925"/>
            <a:ext cx="1241425" cy="1447800"/>
          </a:xfrm>
          <a:prstGeom prst="rect">
            <a:avLst/>
          </a:prstGeom>
          <a:noFill/>
          <a:ln>
            <a:noFill/>
          </a:ln>
        </p:spPr>
      </p:pic>
      <p:pic>
        <p:nvPicPr>
          <p:cNvPr descr="shell.gif" id="72" name="Google Shape;72;p4"/>
          <p:cNvPicPr preferRelativeResize="0"/>
          <p:nvPr/>
        </p:nvPicPr>
        <p:blipFill rotWithShape="1">
          <a:blip r:embed="rId3">
            <a:alphaModFix/>
          </a:blip>
          <a:srcRect b="0" l="0" r="0" t="0"/>
          <a:stretch/>
        </p:blipFill>
        <p:spPr>
          <a:xfrm>
            <a:off x="7635075" y="2420925"/>
            <a:ext cx="1241425" cy="1447800"/>
          </a:xfrm>
          <a:prstGeom prst="rect">
            <a:avLst/>
          </a:prstGeom>
          <a:noFill/>
          <a:ln>
            <a:noFill/>
          </a:ln>
        </p:spPr>
      </p:pic>
      <p:sp>
        <p:nvSpPr>
          <p:cNvPr id="73" name="Google Shape;73;p4"/>
          <p:cNvSpPr txBox="1"/>
          <p:nvPr/>
        </p:nvSpPr>
        <p:spPr>
          <a:xfrm>
            <a:off x="7870825" y="629443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2F5AAC"/>
              </a:buClr>
              <a:buSzPts val="900"/>
              <a:buFont typeface="Gulim"/>
              <a:buNone/>
            </a:pPr>
            <a:fld id="{00000000-1234-1234-1234-123412341234}" type="slidenum">
              <a:rPr b="0" i="0" lang="en-US" sz="900" u="none" cap="none" strike="noStrike">
                <a:solidFill>
                  <a:srgbClr val="2F5AAC"/>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5"/>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SSH</a:t>
            </a:r>
            <a:endParaRPr/>
          </a:p>
        </p:txBody>
      </p:sp>
      <p:sp>
        <p:nvSpPr>
          <p:cNvPr id="79" name="Google Shape;79;p5"/>
          <p:cNvSpPr txBox="1"/>
          <p:nvPr>
            <p:ph idx="1" type="body"/>
          </p:nvPr>
        </p:nvSpPr>
        <p:spPr>
          <a:xfrm>
            <a:off x="576262" y="1865312"/>
            <a:ext cx="7991475" cy="409098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Creates a “secure tunnel”</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Insecure command sent thru SSH tunnel are then secure</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SSH used with things like </a:t>
            </a:r>
            <a:r>
              <a:rPr b="0" i="0" lang="en-US" sz="2800" u="none" cap="none" strike="noStrike">
                <a:solidFill>
                  <a:schemeClr val="dk2"/>
                </a:solidFill>
                <a:latin typeface="Times New Roman"/>
                <a:ea typeface="Times New Roman"/>
                <a:cs typeface="Times New Roman"/>
                <a:sym typeface="Times New Roman"/>
              </a:rPr>
              <a:t>rlogin</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Why is </a:t>
            </a:r>
            <a:r>
              <a:rPr b="0" i="0" lang="en-US" sz="2400" u="none" cap="none" strike="noStrike">
                <a:solidFill>
                  <a:schemeClr val="dk2"/>
                </a:solidFill>
                <a:latin typeface="Times New Roman"/>
                <a:ea typeface="Times New Roman"/>
                <a:cs typeface="Times New Roman"/>
                <a:sym typeface="Times New Roman"/>
              </a:rPr>
              <a:t>rlogin</a:t>
            </a:r>
            <a:r>
              <a:rPr b="0" i="0" lang="en-US" sz="2400" u="none" cap="none" strike="noStrike">
                <a:solidFill>
                  <a:schemeClr val="dk2"/>
                </a:solidFill>
                <a:latin typeface="Gill Sans"/>
                <a:ea typeface="Gill Sans"/>
                <a:cs typeface="Gill Sans"/>
                <a:sym typeface="Gill Sans"/>
              </a:rPr>
              <a:t> insecure without SSH?</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Why is </a:t>
            </a:r>
            <a:r>
              <a:rPr b="0" i="0" lang="en-US" sz="2400" u="none" cap="none" strike="noStrike">
                <a:solidFill>
                  <a:schemeClr val="dk2"/>
                </a:solidFill>
                <a:latin typeface="Times New Roman"/>
                <a:ea typeface="Times New Roman"/>
                <a:cs typeface="Times New Roman"/>
                <a:sym typeface="Times New Roman"/>
              </a:rPr>
              <a:t>rlogin</a:t>
            </a:r>
            <a:r>
              <a:rPr b="0" i="0" lang="en-US" sz="2400" u="none" cap="none" strike="noStrike">
                <a:solidFill>
                  <a:schemeClr val="dk2"/>
                </a:solidFill>
                <a:latin typeface="Gill Sans"/>
                <a:ea typeface="Gill Sans"/>
                <a:cs typeface="Gill Sans"/>
                <a:sym typeface="Gill Sans"/>
              </a:rPr>
              <a:t> secure with SSH?</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SSH is very simple protocol</a:t>
            </a:r>
            <a:endParaRPr/>
          </a:p>
        </p:txBody>
      </p:sp>
      <p:sp>
        <p:nvSpPr>
          <p:cNvPr id="80" name="Google Shape;80;p5"/>
          <p:cNvSpPr txBox="1"/>
          <p:nvPr/>
        </p:nvSpPr>
        <p:spPr>
          <a:xfrm>
            <a:off x="642937" y="6248400"/>
            <a:ext cx="652145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Gulim"/>
              <a:buNone/>
            </a:pPr>
            <a:r>
              <a:rPr b="0" i="0" lang="en-US" sz="900" u="none" cap="none" strike="noStrike">
                <a:solidFill>
                  <a:schemeClr val="dk1"/>
                </a:solidFill>
                <a:latin typeface="Gulim"/>
                <a:ea typeface="Gulim"/>
                <a:cs typeface="Gulim"/>
                <a:sym typeface="Gulim"/>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81" name="Google Shape;81;p5"/>
          <p:cNvSpPr txBox="1"/>
          <p:nvPr/>
        </p:nvSpPr>
        <p:spPr>
          <a:xfrm>
            <a:off x="7796212" y="6248400"/>
            <a:ext cx="771525"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2F5AAC"/>
              </a:buClr>
              <a:buSzPts val="900"/>
              <a:buFont typeface="Gulim"/>
              <a:buNone/>
            </a:pPr>
            <a:fld id="{00000000-1234-1234-1234-123412341234}" type="slidenum">
              <a:rPr b="0" i="0" lang="en-US" sz="900" u="none" cap="none" strike="noStrike">
                <a:solidFill>
                  <a:srgbClr val="2F5AAC"/>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6"/>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SSH</a:t>
            </a:r>
            <a:endParaRPr/>
          </a:p>
        </p:txBody>
      </p:sp>
      <p:sp>
        <p:nvSpPr>
          <p:cNvPr id="87" name="Google Shape;87;p6"/>
          <p:cNvSpPr txBox="1"/>
          <p:nvPr>
            <p:ph idx="1" type="body"/>
          </p:nvPr>
        </p:nvSpPr>
        <p:spPr>
          <a:xfrm>
            <a:off x="581025" y="2227262"/>
            <a:ext cx="7989887" cy="36322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SSH authentication can be based on…</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Public keys, or</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Digital certificates, or</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Passwords</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Here, we consider certificate mode</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Other modes in homework problems</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We consider slightly simplified SSH…</a:t>
            </a:r>
            <a:endParaRPr/>
          </a:p>
        </p:txBody>
      </p:sp>
      <p:sp>
        <p:nvSpPr>
          <p:cNvPr id="88" name="Google Shape;88;p6"/>
          <p:cNvSpPr txBox="1"/>
          <p:nvPr/>
        </p:nvSpPr>
        <p:spPr>
          <a:xfrm>
            <a:off x="642937" y="6248400"/>
            <a:ext cx="645001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Gulim"/>
              <a:buNone/>
            </a:pPr>
            <a:r>
              <a:rPr b="0" i="0" lang="en-US" sz="900" u="none" cap="none" strike="noStrike">
                <a:solidFill>
                  <a:schemeClr val="dk1"/>
                </a:solidFill>
                <a:latin typeface="Gulim"/>
                <a:ea typeface="Gulim"/>
                <a:cs typeface="Gulim"/>
                <a:sym typeface="Gulim"/>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89" name="Google Shape;89;p6"/>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2F5AAC"/>
              </a:buClr>
              <a:buSzPts val="900"/>
              <a:buFont typeface="Gulim"/>
              <a:buNone/>
            </a:pPr>
            <a:fld id="{00000000-1234-1234-1234-123412341234}" type="slidenum">
              <a:rPr b="0" i="0" lang="en-US" sz="900" u="none" cap="none" strike="noStrike">
                <a:solidFill>
                  <a:srgbClr val="2F5AAC"/>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7"/>
          <p:cNvSpPr txBox="1"/>
          <p:nvPr>
            <p:ph type="title"/>
          </p:nvPr>
        </p:nvSpPr>
        <p:spPr>
          <a:xfrm>
            <a:off x="685800" y="381000"/>
            <a:ext cx="7772400" cy="838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SIMPLIFIED SSH</a:t>
            </a:r>
            <a:endParaRPr/>
          </a:p>
        </p:txBody>
      </p:sp>
      <p:sp>
        <p:nvSpPr>
          <p:cNvPr id="96" name="Google Shape;96;p7"/>
          <p:cNvSpPr txBox="1"/>
          <p:nvPr>
            <p:ph idx="1" type="body"/>
          </p:nvPr>
        </p:nvSpPr>
        <p:spPr>
          <a:xfrm>
            <a:off x="781050" y="4294187"/>
            <a:ext cx="7921625" cy="2087562"/>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90000"/>
              </a:lnSpc>
              <a:spcBef>
                <a:spcPts val="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CP = “crypto proposed”, and CS = “crypto selected”</a:t>
            </a:r>
            <a:endParaRPr/>
          </a:p>
          <a:p>
            <a:pPr indent="-304800" lvl="0" marL="304800" marR="0" rtl="0" algn="l">
              <a:lnSpc>
                <a:spcPct val="90000"/>
              </a:lnSpc>
              <a:spcBef>
                <a:spcPts val="98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H = h(Alice,Bob,CP,CS,R</a:t>
            </a:r>
            <a:r>
              <a:rPr b="0" baseline="-25000" i="0" lang="en-US" sz="1900" u="none" cap="none" strike="noStrike">
                <a:solidFill>
                  <a:schemeClr val="dk2"/>
                </a:solidFill>
                <a:latin typeface="Gill Sans"/>
                <a:ea typeface="Gill Sans"/>
                <a:cs typeface="Gill Sans"/>
                <a:sym typeface="Gill Sans"/>
              </a:rPr>
              <a:t>A</a:t>
            </a:r>
            <a:r>
              <a:rPr b="0" i="0" lang="en-US" sz="1900" u="none" cap="none" strike="noStrike">
                <a:solidFill>
                  <a:schemeClr val="dk2"/>
                </a:solidFill>
                <a:latin typeface="Gill Sans"/>
                <a:ea typeface="Gill Sans"/>
                <a:cs typeface="Gill Sans"/>
                <a:sym typeface="Gill Sans"/>
              </a:rPr>
              <a:t>,R</a:t>
            </a:r>
            <a:r>
              <a:rPr b="0" baseline="-25000" i="0" lang="en-US" sz="1900" u="none" cap="none" strike="noStrike">
                <a:solidFill>
                  <a:schemeClr val="dk2"/>
                </a:solidFill>
                <a:latin typeface="Gill Sans"/>
                <a:ea typeface="Gill Sans"/>
                <a:cs typeface="Gill Sans"/>
                <a:sym typeface="Gill Sans"/>
              </a:rPr>
              <a:t>B</a:t>
            </a:r>
            <a:r>
              <a:rPr b="0" i="0" lang="en-US" sz="1900" u="none" cap="none" strike="noStrike">
                <a:solidFill>
                  <a:schemeClr val="dk2"/>
                </a:solidFill>
                <a:latin typeface="Gill Sans"/>
                <a:ea typeface="Gill Sans"/>
                <a:cs typeface="Gill Sans"/>
                <a:sym typeface="Gill Sans"/>
              </a:rPr>
              <a:t>,g</a:t>
            </a:r>
            <a:r>
              <a:rPr b="0" baseline="30000" i="0" lang="en-US" sz="1900" u="none" cap="none" strike="noStrike">
                <a:solidFill>
                  <a:schemeClr val="dk2"/>
                </a:solidFill>
                <a:latin typeface="Gill Sans"/>
                <a:ea typeface="Gill Sans"/>
                <a:cs typeface="Gill Sans"/>
                <a:sym typeface="Gill Sans"/>
              </a:rPr>
              <a:t>a</a:t>
            </a:r>
            <a:r>
              <a:rPr b="0" i="0" lang="en-US" sz="1900" u="none" cap="none" strike="noStrike">
                <a:solidFill>
                  <a:schemeClr val="dk2"/>
                </a:solidFill>
                <a:latin typeface="Gill Sans"/>
                <a:ea typeface="Gill Sans"/>
                <a:cs typeface="Gill Sans"/>
                <a:sym typeface="Gill Sans"/>
              </a:rPr>
              <a:t> mod p,g</a:t>
            </a:r>
            <a:r>
              <a:rPr b="0" baseline="30000" i="0" lang="en-US" sz="1900" u="none" cap="none" strike="noStrike">
                <a:solidFill>
                  <a:schemeClr val="dk2"/>
                </a:solidFill>
                <a:latin typeface="Gill Sans"/>
                <a:ea typeface="Gill Sans"/>
                <a:cs typeface="Gill Sans"/>
                <a:sym typeface="Gill Sans"/>
              </a:rPr>
              <a:t>b</a:t>
            </a:r>
            <a:r>
              <a:rPr b="0" i="0" lang="en-US" sz="1900" u="none" cap="none" strike="noStrike">
                <a:solidFill>
                  <a:schemeClr val="dk2"/>
                </a:solidFill>
                <a:latin typeface="Gill Sans"/>
                <a:ea typeface="Gill Sans"/>
                <a:cs typeface="Gill Sans"/>
                <a:sym typeface="Gill Sans"/>
              </a:rPr>
              <a:t> mod p,g</a:t>
            </a:r>
            <a:r>
              <a:rPr b="0" baseline="30000" i="0" lang="en-US" sz="1900" u="none" cap="none" strike="noStrike">
                <a:solidFill>
                  <a:schemeClr val="dk2"/>
                </a:solidFill>
                <a:latin typeface="Gill Sans"/>
                <a:ea typeface="Gill Sans"/>
                <a:cs typeface="Gill Sans"/>
                <a:sym typeface="Gill Sans"/>
              </a:rPr>
              <a:t>ab</a:t>
            </a:r>
            <a:r>
              <a:rPr b="0" i="0" lang="en-US" sz="1900" u="none" cap="none" strike="noStrike">
                <a:solidFill>
                  <a:schemeClr val="dk2"/>
                </a:solidFill>
                <a:latin typeface="Gill Sans"/>
                <a:ea typeface="Gill Sans"/>
                <a:cs typeface="Gill Sans"/>
                <a:sym typeface="Gill Sans"/>
              </a:rPr>
              <a:t> mod p)</a:t>
            </a:r>
            <a:endParaRPr/>
          </a:p>
          <a:p>
            <a:pPr indent="-304800" lvl="0" marL="304800" marR="0" rtl="0" algn="l">
              <a:lnSpc>
                <a:spcPct val="90000"/>
              </a:lnSpc>
              <a:spcBef>
                <a:spcPts val="98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S</a:t>
            </a:r>
            <a:r>
              <a:rPr b="0" baseline="-25000" i="0" lang="en-US" sz="1900" u="none" cap="none" strike="noStrike">
                <a:solidFill>
                  <a:schemeClr val="dk2"/>
                </a:solidFill>
                <a:latin typeface="Gill Sans"/>
                <a:ea typeface="Gill Sans"/>
                <a:cs typeface="Gill Sans"/>
                <a:sym typeface="Gill Sans"/>
              </a:rPr>
              <a:t>B</a:t>
            </a:r>
            <a:r>
              <a:rPr b="0" i="0" lang="en-US" sz="1900" u="none" cap="none" strike="noStrike">
                <a:solidFill>
                  <a:schemeClr val="dk2"/>
                </a:solidFill>
                <a:latin typeface="Gill Sans"/>
                <a:ea typeface="Gill Sans"/>
                <a:cs typeface="Gill Sans"/>
                <a:sym typeface="Gill Sans"/>
              </a:rPr>
              <a:t> = [H]</a:t>
            </a:r>
            <a:r>
              <a:rPr b="0" baseline="-25000" i="0" lang="en-US" sz="1900" u="none" cap="none" strike="noStrike">
                <a:solidFill>
                  <a:schemeClr val="dk2"/>
                </a:solidFill>
                <a:latin typeface="Gill Sans"/>
                <a:ea typeface="Gill Sans"/>
                <a:cs typeface="Gill Sans"/>
                <a:sym typeface="Gill Sans"/>
              </a:rPr>
              <a:t>Bob</a:t>
            </a:r>
            <a:endParaRPr/>
          </a:p>
          <a:p>
            <a:pPr indent="-304800" lvl="0" marL="304800" marR="0" rtl="0" algn="l">
              <a:lnSpc>
                <a:spcPct val="90000"/>
              </a:lnSpc>
              <a:spcBef>
                <a:spcPts val="98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S</a:t>
            </a:r>
            <a:r>
              <a:rPr b="0" baseline="-25000" i="0" lang="en-US" sz="1900" u="none" cap="none" strike="noStrike">
                <a:solidFill>
                  <a:schemeClr val="dk2"/>
                </a:solidFill>
                <a:latin typeface="Gill Sans"/>
                <a:ea typeface="Gill Sans"/>
                <a:cs typeface="Gill Sans"/>
                <a:sym typeface="Gill Sans"/>
              </a:rPr>
              <a:t>A</a:t>
            </a:r>
            <a:r>
              <a:rPr b="0" i="0" lang="en-US" sz="1900" u="none" cap="none" strike="noStrike">
                <a:solidFill>
                  <a:schemeClr val="dk2"/>
                </a:solidFill>
                <a:latin typeface="Gill Sans"/>
                <a:ea typeface="Gill Sans"/>
                <a:cs typeface="Gill Sans"/>
                <a:sym typeface="Gill Sans"/>
              </a:rPr>
              <a:t> = [H, Alice, certificate</a:t>
            </a:r>
            <a:r>
              <a:rPr b="0" baseline="-25000" i="0" lang="en-US" sz="1900" u="none" cap="none" strike="noStrike">
                <a:solidFill>
                  <a:schemeClr val="dk2"/>
                </a:solidFill>
                <a:latin typeface="Gill Sans"/>
                <a:ea typeface="Gill Sans"/>
                <a:cs typeface="Gill Sans"/>
                <a:sym typeface="Gill Sans"/>
              </a:rPr>
              <a:t>A</a:t>
            </a:r>
            <a:r>
              <a:rPr b="0" i="0" lang="en-US" sz="1900" u="none" cap="none" strike="noStrike">
                <a:solidFill>
                  <a:schemeClr val="dk2"/>
                </a:solidFill>
                <a:latin typeface="Gill Sans"/>
                <a:ea typeface="Gill Sans"/>
                <a:cs typeface="Gill Sans"/>
                <a:sym typeface="Gill Sans"/>
              </a:rPr>
              <a:t>]</a:t>
            </a:r>
            <a:r>
              <a:rPr b="0" baseline="-25000" i="0" lang="en-US" sz="1900" u="none" cap="none" strike="noStrike">
                <a:solidFill>
                  <a:schemeClr val="dk2"/>
                </a:solidFill>
                <a:latin typeface="Gill Sans"/>
                <a:ea typeface="Gill Sans"/>
                <a:cs typeface="Gill Sans"/>
                <a:sym typeface="Gill Sans"/>
              </a:rPr>
              <a:t>Alice</a:t>
            </a:r>
            <a:endParaRPr/>
          </a:p>
          <a:p>
            <a:pPr indent="-304800" lvl="0" marL="304800" marR="0" rtl="0" algn="l">
              <a:lnSpc>
                <a:spcPct val="90000"/>
              </a:lnSpc>
              <a:spcBef>
                <a:spcPts val="98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K = g</a:t>
            </a:r>
            <a:r>
              <a:rPr b="0" baseline="30000" i="0" lang="en-US" sz="1900" u="none" cap="none" strike="noStrike">
                <a:solidFill>
                  <a:schemeClr val="dk2"/>
                </a:solidFill>
                <a:latin typeface="Gill Sans"/>
                <a:ea typeface="Gill Sans"/>
                <a:cs typeface="Gill Sans"/>
                <a:sym typeface="Gill Sans"/>
              </a:rPr>
              <a:t>ab</a:t>
            </a:r>
            <a:r>
              <a:rPr b="0" i="0" lang="en-US" sz="1900" u="none" cap="none" strike="noStrike">
                <a:solidFill>
                  <a:schemeClr val="dk2"/>
                </a:solidFill>
                <a:latin typeface="Gill Sans"/>
                <a:ea typeface="Gill Sans"/>
                <a:cs typeface="Gill Sans"/>
                <a:sym typeface="Gill Sans"/>
              </a:rPr>
              <a:t> mod p</a:t>
            </a:r>
            <a:endParaRPr/>
          </a:p>
          <a:p>
            <a:pPr indent="-193802" lvl="0" marL="304800" marR="0" rtl="0" algn="l">
              <a:lnSpc>
                <a:spcPct val="100000"/>
              </a:lnSpc>
              <a:spcBef>
                <a:spcPts val="980"/>
              </a:spcBef>
              <a:spcAft>
                <a:spcPts val="0"/>
              </a:spcAft>
              <a:buClr>
                <a:schemeClr val="accent2"/>
              </a:buClr>
              <a:buSzPts val="1748"/>
              <a:buFont typeface="Noto Sans Symbols"/>
              <a:buNone/>
            </a:pPr>
            <a:r>
              <a:t/>
            </a:r>
            <a:endParaRPr b="0" i="0" sz="1900" u="none">
              <a:solidFill>
                <a:schemeClr val="dk2"/>
              </a:solidFill>
              <a:latin typeface="Gill Sans"/>
              <a:ea typeface="Gill Sans"/>
              <a:cs typeface="Gill Sans"/>
              <a:sym typeface="Gill Sans"/>
            </a:endParaRPr>
          </a:p>
        </p:txBody>
      </p:sp>
      <p:sp>
        <p:nvSpPr>
          <p:cNvPr id="97" name="Google Shape;97;p7"/>
          <p:cNvSpPr txBox="1"/>
          <p:nvPr/>
        </p:nvSpPr>
        <p:spPr>
          <a:xfrm>
            <a:off x="642937" y="6248400"/>
            <a:ext cx="7927975"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Gulim"/>
              <a:buNone/>
            </a:pPr>
            <a:r>
              <a:rPr b="0" i="0" lang="en-US" sz="900" u="none" cap="none" strike="noStrike">
                <a:solidFill>
                  <a:schemeClr val="dk1"/>
                </a:solidFill>
                <a:latin typeface="Gulim"/>
                <a:ea typeface="Gulim"/>
                <a:cs typeface="Gulim"/>
                <a:sym typeface="Gulim"/>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pic>
        <p:nvPicPr>
          <p:cNvPr descr="drinkme.gif                                                    000A0185Macintosh HD                   ABA78158:" id="98" name="Google Shape;98;p7"/>
          <p:cNvPicPr preferRelativeResize="0"/>
          <p:nvPr/>
        </p:nvPicPr>
        <p:blipFill rotWithShape="1">
          <a:blip r:embed="rId3">
            <a:alphaModFix/>
          </a:blip>
          <a:srcRect b="0" l="0" r="0" t="0"/>
          <a:stretch/>
        </p:blipFill>
        <p:spPr>
          <a:xfrm>
            <a:off x="838200" y="2033587"/>
            <a:ext cx="990600" cy="1474787"/>
          </a:xfrm>
          <a:prstGeom prst="rect">
            <a:avLst/>
          </a:prstGeom>
          <a:noFill/>
          <a:ln>
            <a:noFill/>
          </a:ln>
        </p:spPr>
      </p:pic>
      <p:cxnSp>
        <p:nvCxnSpPr>
          <p:cNvPr id="99" name="Google Shape;99;p7"/>
          <p:cNvCxnSpPr/>
          <p:nvPr/>
        </p:nvCxnSpPr>
        <p:spPr>
          <a:xfrm>
            <a:off x="2133600" y="2149475"/>
            <a:ext cx="46482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100" name="Google Shape;100;p7"/>
          <p:cNvCxnSpPr/>
          <p:nvPr/>
        </p:nvCxnSpPr>
        <p:spPr>
          <a:xfrm rot="10800000">
            <a:off x="2057400" y="2606675"/>
            <a:ext cx="4724400" cy="0"/>
          </a:xfrm>
          <a:prstGeom prst="straightConnector1">
            <a:avLst/>
          </a:prstGeom>
          <a:noFill/>
          <a:ln cap="flat" cmpd="sng" w="50800">
            <a:solidFill>
              <a:schemeClr val="dk1"/>
            </a:solidFill>
            <a:prstDash val="solid"/>
            <a:miter lim="800000"/>
            <a:headEnd len="sm" w="sm" type="none"/>
            <a:tailEnd len="med" w="med" type="triangle"/>
          </a:ln>
        </p:spPr>
      </p:cxnSp>
      <p:sp>
        <p:nvSpPr>
          <p:cNvPr id="101" name="Google Shape;101;p7"/>
          <p:cNvSpPr txBox="1"/>
          <p:nvPr/>
        </p:nvSpPr>
        <p:spPr>
          <a:xfrm>
            <a:off x="909637" y="3468687"/>
            <a:ext cx="906462"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Gulim"/>
              <a:buNone/>
            </a:pPr>
            <a:r>
              <a:rPr b="0" i="0" lang="en-US" sz="1800" u="none" cap="none" strike="noStrike">
                <a:solidFill>
                  <a:schemeClr val="dk1"/>
                </a:solidFill>
                <a:latin typeface="Gulim"/>
                <a:ea typeface="Gulim"/>
                <a:cs typeface="Gulim"/>
                <a:sym typeface="Gulim"/>
              </a:rPr>
              <a:t>Alice</a:t>
            </a:r>
            <a:endParaRPr b="0" i="0" sz="1400" u="none" cap="none" strike="noStrike">
              <a:solidFill>
                <a:srgbClr val="000000"/>
              </a:solidFill>
              <a:latin typeface="Arial"/>
              <a:ea typeface="Arial"/>
              <a:cs typeface="Arial"/>
              <a:sym typeface="Arial"/>
            </a:endParaRPr>
          </a:p>
        </p:txBody>
      </p:sp>
      <p:sp>
        <p:nvSpPr>
          <p:cNvPr id="102" name="Google Shape;102;p7"/>
          <p:cNvSpPr txBox="1"/>
          <p:nvPr/>
        </p:nvSpPr>
        <p:spPr>
          <a:xfrm>
            <a:off x="7235825" y="3497262"/>
            <a:ext cx="723900" cy="4619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Gulim"/>
              <a:buNone/>
            </a:pPr>
            <a:r>
              <a:rPr b="0" i="0" lang="en-US" sz="1800" u="none" cap="none" strike="noStrike">
                <a:solidFill>
                  <a:schemeClr val="dk1"/>
                </a:solidFill>
                <a:latin typeface="Gulim"/>
                <a:ea typeface="Gulim"/>
                <a:cs typeface="Gulim"/>
                <a:sym typeface="Gulim"/>
              </a:rPr>
              <a:t>Bob</a:t>
            </a:r>
            <a:endParaRPr b="0" i="0" sz="1400" u="none" cap="none" strike="noStrike">
              <a:solidFill>
                <a:srgbClr val="000000"/>
              </a:solidFill>
              <a:latin typeface="Arial"/>
              <a:ea typeface="Arial"/>
              <a:cs typeface="Arial"/>
              <a:sym typeface="Arial"/>
            </a:endParaRPr>
          </a:p>
        </p:txBody>
      </p:sp>
      <p:cxnSp>
        <p:nvCxnSpPr>
          <p:cNvPr id="103" name="Google Shape;103;p7"/>
          <p:cNvCxnSpPr/>
          <p:nvPr/>
        </p:nvCxnSpPr>
        <p:spPr>
          <a:xfrm>
            <a:off x="2133600" y="3048000"/>
            <a:ext cx="4648200" cy="0"/>
          </a:xfrm>
          <a:prstGeom prst="straightConnector1">
            <a:avLst/>
          </a:prstGeom>
          <a:noFill/>
          <a:ln cap="flat" cmpd="sng" w="50800">
            <a:solidFill>
              <a:schemeClr val="dk1"/>
            </a:solidFill>
            <a:prstDash val="solid"/>
            <a:miter lim="800000"/>
            <a:headEnd len="sm" w="sm" type="none"/>
            <a:tailEnd len="med" w="med" type="triangle"/>
          </a:ln>
        </p:spPr>
      </p:cxnSp>
      <p:sp>
        <p:nvSpPr>
          <p:cNvPr id="104" name="Google Shape;104;p7"/>
          <p:cNvSpPr txBox="1"/>
          <p:nvPr/>
        </p:nvSpPr>
        <p:spPr>
          <a:xfrm>
            <a:off x="3492500" y="1839912"/>
            <a:ext cx="18542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Alice, CP, R</a:t>
            </a:r>
            <a:r>
              <a:rPr b="0" baseline="-25000" i="0" lang="en-US" sz="1800" u="none" cap="none" strike="noStrike">
                <a:solidFill>
                  <a:schemeClr val="dk1"/>
                </a:solidFill>
                <a:latin typeface="Times"/>
                <a:ea typeface="Times"/>
                <a:cs typeface="Times"/>
                <a:sym typeface="Times"/>
              </a:rPr>
              <a:t>A</a:t>
            </a:r>
            <a:endParaRPr b="0" i="0" sz="1400" u="none" cap="none" strike="noStrike">
              <a:solidFill>
                <a:srgbClr val="000000"/>
              </a:solidFill>
              <a:latin typeface="Arial"/>
              <a:ea typeface="Arial"/>
              <a:cs typeface="Arial"/>
              <a:sym typeface="Arial"/>
            </a:endParaRPr>
          </a:p>
        </p:txBody>
      </p:sp>
      <p:sp>
        <p:nvSpPr>
          <p:cNvPr id="105" name="Google Shape;105;p7"/>
          <p:cNvSpPr txBox="1"/>
          <p:nvPr/>
        </p:nvSpPr>
        <p:spPr>
          <a:xfrm>
            <a:off x="3890962" y="2241550"/>
            <a:ext cx="10572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CS, R</a:t>
            </a:r>
            <a:r>
              <a:rPr b="0" baseline="-25000" i="0" lang="en-US" sz="1800" u="none" cap="none" strike="noStrike">
                <a:solidFill>
                  <a:schemeClr val="dk1"/>
                </a:solidFill>
                <a:latin typeface="Times"/>
                <a:ea typeface="Times"/>
                <a:cs typeface="Times"/>
                <a:sym typeface="Times"/>
              </a:rPr>
              <a:t>B</a:t>
            </a:r>
            <a:endParaRPr b="0" i="0" sz="1400" u="none" cap="none" strike="noStrike">
              <a:solidFill>
                <a:srgbClr val="000000"/>
              </a:solidFill>
              <a:latin typeface="Arial"/>
              <a:ea typeface="Arial"/>
              <a:cs typeface="Arial"/>
              <a:sym typeface="Arial"/>
            </a:endParaRPr>
          </a:p>
        </p:txBody>
      </p:sp>
      <p:sp>
        <p:nvSpPr>
          <p:cNvPr id="106" name="Google Shape;106;p7"/>
          <p:cNvSpPr txBox="1"/>
          <p:nvPr/>
        </p:nvSpPr>
        <p:spPr>
          <a:xfrm>
            <a:off x="3814762" y="2682875"/>
            <a:ext cx="128428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g</a:t>
            </a:r>
            <a:r>
              <a:rPr b="0" baseline="30000" i="0" lang="en-US" sz="1800" u="none" cap="none" strike="noStrike">
                <a:solidFill>
                  <a:schemeClr val="dk1"/>
                </a:solidFill>
                <a:latin typeface="Times"/>
                <a:ea typeface="Times"/>
                <a:cs typeface="Times"/>
                <a:sym typeface="Times"/>
              </a:rPr>
              <a:t>a</a:t>
            </a:r>
            <a:r>
              <a:rPr b="0" i="0" lang="en-US" sz="1800" u="none" cap="none" strike="noStrike">
                <a:solidFill>
                  <a:schemeClr val="dk1"/>
                </a:solidFill>
                <a:latin typeface="Times"/>
                <a:ea typeface="Times"/>
                <a:cs typeface="Times"/>
                <a:sym typeface="Times"/>
              </a:rPr>
              <a:t> mod p</a:t>
            </a:r>
            <a:endParaRPr b="0" i="0" sz="1400" u="none" cap="none" strike="noStrike">
              <a:solidFill>
                <a:srgbClr val="000000"/>
              </a:solidFill>
              <a:latin typeface="Arial"/>
              <a:ea typeface="Arial"/>
              <a:cs typeface="Arial"/>
              <a:sym typeface="Arial"/>
            </a:endParaRPr>
          </a:p>
        </p:txBody>
      </p:sp>
      <p:pic>
        <p:nvPicPr>
          <p:cNvPr descr="rabbit3.tiff                                                   0010273EMacintosh HD                   BC93A1CC:" id="107" name="Google Shape;107;p7"/>
          <p:cNvPicPr preferRelativeResize="0"/>
          <p:nvPr/>
        </p:nvPicPr>
        <p:blipFill rotWithShape="1">
          <a:blip r:embed="rId4">
            <a:alphaModFix/>
          </a:blip>
          <a:srcRect b="0" l="0" r="0" t="0"/>
          <a:stretch/>
        </p:blipFill>
        <p:spPr>
          <a:xfrm>
            <a:off x="7086600" y="2033587"/>
            <a:ext cx="935037" cy="1447800"/>
          </a:xfrm>
          <a:prstGeom prst="rect">
            <a:avLst/>
          </a:prstGeom>
          <a:noFill/>
          <a:ln>
            <a:noFill/>
          </a:ln>
        </p:spPr>
      </p:pic>
      <p:cxnSp>
        <p:nvCxnSpPr>
          <p:cNvPr id="108" name="Google Shape;108;p7"/>
          <p:cNvCxnSpPr/>
          <p:nvPr/>
        </p:nvCxnSpPr>
        <p:spPr>
          <a:xfrm rot="10800000">
            <a:off x="2057400" y="3557587"/>
            <a:ext cx="47244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109" name="Google Shape;109;p7"/>
          <p:cNvCxnSpPr/>
          <p:nvPr/>
        </p:nvCxnSpPr>
        <p:spPr>
          <a:xfrm>
            <a:off x="2133600" y="4014787"/>
            <a:ext cx="4648200" cy="0"/>
          </a:xfrm>
          <a:prstGeom prst="straightConnector1">
            <a:avLst/>
          </a:prstGeom>
          <a:noFill/>
          <a:ln cap="flat" cmpd="sng" w="50800">
            <a:solidFill>
              <a:schemeClr val="dk1"/>
            </a:solidFill>
            <a:prstDash val="solid"/>
            <a:miter lim="800000"/>
            <a:headEnd len="sm" w="sm" type="none"/>
            <a:tailEnd len="med" w="med" type="triangle"/>
          </a:ln>
        </p:spPr>
      </p:cxnSp>
      <p:sp>
        <p:nvSpPr>
          <p:cNvPr id="110" name="Google Shape;110;p7"/>
          <p:cNvSpPr txBox="1"/>
          <p:nvPr/>
        </p:nvSpPr>
        <p:spPr>
          <a:xfrm>
            <a:off x="3101975" y="3109912"/>
            <a:ext cx="29384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g</a:t>
            </a:r>
            <a:r>
              <a:rPr b="0" baseline="30000" i="0" lang="en-US" sz="1800" u="none" cap="none" strike="noStrike">
                <a:solidFill>
                  <a:schemeClr val="dk1"/>
                </a:solidFill>
                <a:latin typeface="Times"/>
                <a:ea typeface="Times"/>
                <a:cs typeface="Times"/>
                <a:sym typeface="Times"/>
              </a:rPr>
              <a:t>b</a:t>
            </a:r>
            <a:r>
              <a:rPr b="0" i="0" lang="en-US" sz="1800" u="none" cap="none" strike="noStrike">
                <a:solidFill>
                  <a:schemeClr val="dk1"/>
                </a:solidFill>
                <a:latin typeface="Times"/>
                <a:ea typeface="Times"/>
                <a:cs typeface="Times"/>
                <a:sym typeface="Times"/>
              </a:rPr>
              <a:t> mod p, certificate</a:t>
            </a:r>
            <a:r>
              <a:rPr b="0" baseline="-25000" i="0" lang="en-US" sz="1800" u="none" cap="none" strike="noStrike">
                <a:solidFill>
                  <a:schemeClr val="dk1"/>
                </a:solidFill>
                <a:latin typeface="Times"/>
                <a:ea typeface="Times"/>
                <a:cs typeface="Times"/>
                <a:sym typeface="Times"/>
              </a:rPr>
              <a:t>B</a:t>
            </a:r>
            <a:r>
              <a:rPr b="0" i="0" lang="en-US" sz="1800" u="none" cap="none" strike="noStrike">
                <a:solidFill>
                  <a:schemeClr val="dk1"/>
                </a:solidFill>
                <a:latin typeface="Times"/>
                <a:ea typeface="Times"/>
                <a:cs typeface="Times"/>
                <a:sym typeface="Times"/>
              </a:rPr>
              <a:t>, S</a:t>
            </a:r>
            <a:r>
              <a:rPr b="0" baseline="-25000" i="0" lang="en-US" sz="1800" u="none" cap="none" strike="noStrike">
                <a:solidFill>
                  <a:schemeClr val="dk1"/>
                </a:solidFill>
                <a:latin typeface="Times"/>
                <a:ea typeface="Times"/>
                <a:cs typeface="Times"/>
                <a:sym typeface="Times"/>
              </a:rPr>
              <a:t>B</a:t>
            </a:r>
            <a:endParaRPr b="0" i="0" sz="1400" u="none" cap="none" strike="noStrike">
              <a:solidFill>
                <a:srgbClr val="000000"/>
              </a:solidFill>
              <a:latin typeface="Arial"/>
              <a:ea typeface="Arial"/>
              <a:cs typeface="Arial"/>
              <a:sym typeface="Arial"/>
            </a:endParaRPr>
          </a:p>
        </p:txBody>
      </p:sp>
      <p:sp>
        <p:nvSpPr>
          <p:cNvPr id="111" name="Google Shape;111;p7"/>
          <p:cNvSpPr txBox="1"/>
          <p:nvPr/>
        </p:nvSpPr>
        <p:spPr>
          <a:xfrm>
            <a:off x="2954337" y="3629025"/>
            <a:ext cx="30861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E(Alice, certificate</a:t>
            </a:r>
            <a:r>
              <a:rPr b="0" baseline="-25000" i="0" lang="en-US" sz="1800" u="none" cap="none" strike="noStrike">
                <a:solidFill>
                  <a:schemeClr val="dk1"/>
                </a:solidFill>
                <a:latin typeface="Times"/>
                <a:ea typeface="Times"/>
                <a:cs typeface="Times"/>
                <a:sym typeface="Times"/>
              </a:rPr>
              <a:t>A</a:t>
            </a:r>
            <a:r>
              <a:rPr b="0" i="0" lang="en-US" sz="1800" u="none" cap="none" strike="noStrike">
                <a:solidFill>
                  <a:schemeClr val="dk1"/>
                </a:solidFill>
                <a:latin typeface="Times"/>
                <a:ea typeface="Times"/>
                <a:cs typeface="Times"/>
                <a:sym typeface="Times"/>
              </a:rPr>
              <a:t>, S</a:t>
            </a:r>
            <a:r>
              <a:rPr b="0" baseline="-25000" i="0" lang="en-US" sz="1800" u="none" cap="none" strike="noStrike">
                <a:solidFill>
                  <a:schemeClr val="dk1"/>
                </a:solidFill>
                <a:latin typeface="Times"/>
                <a:ea typeface="Times"/>
                <a:cs typeface="Times"/>
                <a:sym typeface="Times"/>
              </a:rPr>
              <a:t>A</a:t>
            </a:r>
            <a:r>
              <a:rPr b="0" i="0" lang="en-US" sz="1800" u="none" cap="none" strike="noStrike">
                <a:solidFill>
                  <a:schemeClr val="dk1"/>
                </a:solidFill>
                <a:latin typeface="Times"/>
                <a:ea typeface="Times"/>
                <a:cs typeface="Times"/>
                <a:sym typeface="Times"/>
              </a:rPr>
              <a:t>, K)</a:t>
            </a:r>
            <a:endParaRPr b="0" i="0" sz="1400" u="none" cap="none" strike="noStrike">
              <a:solidFill>
                <a:srgbClr val="000000"/>
              </a:solidFill>
              <a:latin typeface="Arial"/>
              <a:ea typeface="Arial"/>
              <a:cs typeface="Arial"/>
              <a:sym typeface="Arial"/>
            </a:endParaRPr>
          </a:p>
        </p:txBody>
      </p:sp>
      <p:sp>
        <p:nvSpPr>
          <p:cNvPr id="112" name="Google Shape;112;p7"/>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2F5AAC"/>
              </a:buClr>
              <a:buSzPts val="900"/>
              <a:buFont typeface="Gulim"/>
              <a:buNone/>
            </a:pPr>
            <a:fld id="{00000000-1234-1234-1234-123412341234}" type="slidenum">
              <a:rPr b="0" i="0" lang="en-US" sz="900" u="none" cap="none" strike="noStrike">
                <a:solidFill>
                  <a:srgbClr val="2F5AAC"/>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500"/>
                                        <p:tgtEl>
                                          <p:spTgt spid="9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3"/>
                                        </p:tgtEl>
                                        <p:attrNameLst>
                                          <p:attrName>style.visibility</p:attrName>
                                        </p:attrNameLst>
                                      </p:cBhvr>
                                      <p:to>
                                        <p:strVal val="visible"/>
                                      </p:to>
                                    </p:set>
                                    <p:anim calcmode="lin" valueType="num">
                                      <p:cBhvr additive="base">
                                        <p:cTn dur="500"/>
                                        <p:tgtEl>
                                          <p:spTgt spid="103"/>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8"/>
                                        </p:tgtEl>
                                        <p:attrNameLst>
                                          <p:attrName>style.visibility</p:attrName>
                                        </p:attrNameLst>
                                      </p:cBhvr>
                                      <p:to>
                                        <p:strVal val="visible"/>
                                      </p:to>
                                    </p:set>
                                    <p:anim calcmode="lin" valueType="num">
                                      <p:cBhvr additive="base">
                                        <p:cTn dur="500"/>
                                        <p:tgtEl>
                                          <p:spTgt spid="10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500"/>
                                        <p:tgtEl>
                                          <p:spTgt spid="10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8"/>
          <p:cNvSpPr txBox="1"/>
          <p:nvPr>
            <p:ph type="title"/>
          </p:nvPr>
        </p:nvSpPr>
        <p:spPr>
          <a:xfrm>
            <a:off x="685800" y="381000"/>
            <a:ext cx="7772400" cy="838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MIM ATTACK ON SSH?</a:t>
            </a:r>
            <a:endParaRPr/>
          </a:p>
        </p:txBody>
      </p:sp>
      <p:sp>
        <p:nvSpPr>
          <p:cNvPr id="118" name="Google Shape;118;p8"/>
          <p:cNvSpPr txBox="1"/>
          <p:nvPr>
            <p:ph idx="1" type="body"/>
          </p:nvPr>
        </p:nvSpPr>
        <p:spPr>
          <a:xfrm>
            <a:off x="450850" y="4294187"/>
            <a:ext cx="8383587" cy="211455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80000"/>
              </a:lnSpc>
              <a:spcBef>
                <a:spcPts val="0"/>
              </a:spcBef>
              <a:spcAft>
                <a:spcPts val="0"/>
              </a:spcAft>
              <a:buClr>
                <a:schemeClr val="accent2"/>
              </a:buClr>
              <a:buSzPts val="2024"/>
              <a:buFont typeface="Noto Sans Symbols"/>
              <a:buChar char="◼"/>
            </a:pPr>
            <a:r>
              <a:rPr b="0" i="0" lang="en-US" sz="2200" u="none">
                <a:solidFill>
                  <a:schemeClr val="dk2"/>
                </a:solidFill>
                <a:latin typeface="Gill Sans"/>
                <a:ea typeface="Gill Sans"/>
                <a:cs typeface="Gill Sans"/>
                <a:sym typeface="Gill Sans"/>
              </a:rPr>
              <a:t>Where does this attack fail?</a:t>
            </a:r>
            <a:endParaRPr/>
          </a:p>
          <a:p>
            <a:pPr indent="-304800" lvl="0" marL="304800" marR="0" rtl="0" algn="l">
              <a:lnSpc>
                <a:spcPct val="80000"/>
              </a:lnSpc>
              <a:spcBef>
                <a:spcPts val="1040"/>
              </a:spcBef>
              <a:spcAft>
                <a:spcPts val="0"/>
              </a:spcAft>
              <a:buClr>
                <a:schemeClr val="accent2"/>
              </a:buClr>
              <a:buSzPts val="2024"/>
              <a:buFont typeface="Noto Sans Symbols"/>
              <a:buChar char="◼"/>
            </a:pPr>
            <a:r>
              <a:rPr b="0" i="0" lang="en-US" sz="2200" u="none">
                <a:solidFill>
                  <a:schemeClr val="dk2"/>
                </a:solidFill>
                <a:latin typeface="Gill Sans"/>
                <a:ea typeface="Gill Sans"/>
                <a:cs typeface="Gill Sans"/>
                <a:sym typeface="Gill Sans"/>
              </a:rPr>
              <a:t>Alice computes:</a:t>
            </a:r>
            <a:endParaRPr/>
          </a:p>
          <a:p>
            <a:pPr indent="-304800" lvl="1" marL="628650" marR="0" rtl="0" algn="l">
              <a:lnSpc>
                <a:spcPct val="80000"/>
              </a:lnSpc>
              <a:spcBef>
                <a:spcPts val="98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H</a:t>
            </a:r>
            <a:r>
              <a:rPr b="0" baseline="-25000" i="0" lang="en-US" sz="1900" u="none" cap="none" strike="noStrike">
                <a:solidFill>
                  <a:schemeClr val="dk2"/>
                </a:solidFill>
                <a:latin typeface="Gill Sans"/>
                <a:ea typeface="Gill Sans"/>
                <a:cs typeface="Gill Sans"/>
                <a:sym typeface="Gill Sans"/>
              </a:rPr>
              <a:t>a</a:t>
            </a:r>
            <a:r>
              <a:rPr b="0" i="0" lang="en-US" sz="1900" u="none" cap="none" strike="noStrike">
                <a:solidFill>
                  <a:schemeClr val="dk2"/>
                </a:solidFill>
                <a:latin typeface="Gill Sans"/>
                <a:ea typeface="Gill Sans"/>
                <a:cs typeface="Gill Sans"/>
                <a:sym typeface="Gill Sans"/>
              </a:rPr>
              <a:t> = h(Alice,Bob,CP,CS,R</a:t>
            </a:r>
            <a:r>
              <a:rPr b="0" baseline="-25000" i="0" lang="en-US" sz="1900" u="none" cap="none" strike="noStrike">
                <a:solidFill>
                  <a:schemeClr val="dk2"/>
                </a:solidFill>
                <a:latin typeface="Gill Sans"/>
                <a:ea typeface="Gill Sans"/>
                <a:cs typeface="Gill Sans"/>
                <a:sym typeface="Gill Sans"/>
              </a:rPr>
              <a:t>A</a:t>
            </a:r>
            <a:r>
              <a:rPr b="0" i="0" lang="en-US" sz="1900" u="none" cap="none" strike="noStrike">
                <a:solidFill>
                  <a:schemeClr val="dk2"/>
                </a:solidFill>
                <a:latin typeface="Gill Sans"/>
                <a:ea typeface="Gill Sans"/>
                <a:cs typeface="Gill Sans"/>
                <a:sym typeface="Gill Sans"/>
              </a:rPr>
              <a:t>,R</a:t>
            </a:r>
            <a:r>
              <a:rPr b="0" baseline="-25000" i="0" lang="en-US" sz="1900" u="none" cap="none" strike="noStrike">
                <a:solidFill>
                  <a:schemeClr val="dk2"/>
                </a:solidFill>
                <a:latin typeface="Gill Sans"/>
                <a:ea typeface="Gill Sans"/>
                <a:cs typeface="Gill Sans"/>
                <a:sym typeface="Gill Sans"/>
              </a:rPr>
              <a:t>B</a:t>
            </a:r>
            <a:r>
              <a:rPr b="0" i="0" lang="en-US" sz="1900" u="none" cap="none" strike="noStrike">
                <a:solidFill>
                  <a:schemeClr val="dk2"/>
                </a:solidFill>
                <a:latin typeface="Gill Sans"/>
                <a:ea typeface="Gill Sans"/>
                <a:cs typeface="Gill Sans"/>
                <a:sym typeface="Gill Sans"/>
              </a:rPr>
              <a:t>,g</a:t>
            </a:r>
            <a:r>
              <a:rPr b="0" baseline="30000" i="0" lang="en-US" sz="1900" u="none" cap="none" strike="noStrike">
                <a:solidFill>
                  <a:schemeClr val="dk2"/>
                </a:solidFill>
                <a:latin typeface="Gill Sans"/>
                <a:ea typeface="Gill Sans"/>
                <a:cs typeface="Gill Sans"/>
                <a:sym typeface="Gill Sans"/>
              </a:rPr>
              <a:t>a</a:t>
            </a:r>
            <a:r>
              <a:rPr b="0" i="0" lang="en-US" sz="1900" u="none" cap="none" strike="noStrike">
                <a:solidFill>
                  <a:schemeClr val="dk2"/>
                </a:solidFill>
                <a:latin typeface="Gill Sans"/>
                <a:ea typeface="Gill Sans"/>
                <a:cs typeface="Gill Sans"/>
                <a:sym typeface="Gill Sans"/>
              </a:rPr>
              <a:t> mod p,g</a:t>
            </a:r>
            <a:r>
              <a:rPr b="0" baseline="30000" i="0" lang="en-US" sz="1900" u="none" cap="none" strike="noStrike">
                <a:solidFill>
                  <a:schemeClr val="dk2"/>
                </a:solidFill>
                <a:latin typeface="Gill Sans"/>
                <a:ea typeface="Gill Sans"/>
                <a:cs typeface="Gill Sans"/>
                <a:sym typeface="Gill Sans"/>
              </a:rPr>
              <a:t>t</a:t>
            </a:r>
            <a:r>
              <a:rPr b="0" i="0" lang="en-US" sz="1900" u="none" cap="none" strike="noStrike">
                <a:solidFill>
                  <a:schemeClr val="dk2"/>
                </a:solidFill>
                <a:latin typeface="Gill Sans"/>
                <a:ea typeface="Gill Sans"/>
                <a:cs typeface="Gill Sans"/>
                <a:sym typeface="Gill Sans"/>
              </a:rPr>
              <a:t> mod p,g</a:t>
            </a:r>
            <a:r>
              <a:rPr b="0" baseline="30000" i="0" lang="en-US" sz="1900" u="none" cap="none" strike="noStrike">
                <a:solidFill>
                  <a:schemeClr val="dk2"/>
                </a:solidFill>
                <a:latin typeface="Gill Sans"/>
                <a:ea typeface="Gill Sans"/>
                <a:cs typeface="Gill Sans"/>
                <a:sym typeface="Gill Sans"/>
              </a:rPr>
              <a:t>at</a:t>
            </a:r>
            <a:r>
              <a:rPr b="0" i="0" lang="en-US" sz="1900" u="none" cap="none" strike="noStrike">
                <a:solidFill>
                  <a:schemeClr val="dk2"/>
                </a:solidFill>
                <a:latin typeface="Gill Sans"/>
                <a:ea typeface="Gill Sans"/>
                <a:cs typeface="Gill Sans"/>
                <a:sym typeface="Gill Sans"/>
              </a:rPr>
              <a:t> mod p)</a:t>
            </a:r>
            <a:endParaRPr/>
          </a:p>
          <a:p>
            <a:pPr indent="-304800" lvl="0" marL="304800" marR="0" rtl="0" algn="l">
              <a:lnSpc>
                <a:spcPct val="80000"/>
              </a:lnSpc>
              <a:spcBef>
                <a:spcPts val="1040"/>
              </a:spcBef>
              <a:spcAft>
                <a:spcPts val="0"/>
              </a:spcAft>
              <a:buClr>
                <a:schemeClr val="accent2"/>
              </a:buClr>
              <a:buSzPts val="2024"/>
              <a:buFont typeface="Noto Sans Symbols"/>
              <a:buChar char="◼"/>
            </a:pPr>
            <a:r>
              <a:rPr b="0" i="0" lang="en-US" sz="2200" u="none">
                <a:solidFill>
                  <a:schemeClr val="dk2"/>
                </a:solidFill>
                <a:latin typeface="Gill Sans"/>
                <a:ea typeface="Gill Sans"/>
                <a:cs typeface="Gill Sans"/>
                <a:sym typeface="Gill Sans"/>
              </a:rPr>
              <a:t>But Bob signs:</a:t>
            </a:r>
            <a:endParaRPr/>
          </a:p>
          <a:p>
            <a:pPr indent="-304800" lvl="1" marL="628650" marR="0" rtl="0" algn="l">
              <a:lnSpc>
                <a:spcPct val="80000"/>
              </a:lnSpc>
              <a:spcBef>
                <a:spcPts val="98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H</a:t>
            </a:r>
            <a:r>
              <a:rPr b="0" baseline="-25000" i="0" lang="en-US" sz="1900" u="none" cap="none" strike="noStrike">
                <a:solidFill>
                  <a:schemeClr val="dk2"/>
                </a:solidFill>
                <a:latin typeface="Gill Sans"/>
                <a:ea typeface="Gill Sans"/>
                <a:cs typeface="Gill Sans"/>
                <a:sym typeface="Gill Sans"/>
              </a:rPr>
              <a:t>b</a:t>
            </a:r>
            <a:r>
              <a:rPr b="0" i="0" lang="en-US" sz="1900" u="none" cap="none" strike="noStrike">
                <a:solidFill>
                  <a:schemeClr val="dk2"/>
                </a:solidFill>
                <a:latin typeface="Gill Sans"/>
                <a:ea typeface="Gill Sans"/>
                <a:cs typeface="Gill Sans"/>
                <a:sym typeface="Gill Sans"/>
              </a:rPr>
              <a:t> = h(Alice,Bob,CP,CS,R</a:t>
            </a:r>
            <a:r>
              <a:rPr b="0" baseline="-25000" i="0" lang="en-US" sz="1900" u="none" cap="none" strike="noStrike">
                <a:solidFill>
                  <a:schemeClr val="dk2"/>
                </a:solidFill>
                <a:latin typeface="Gill Sans"/>
                <a:ea typeface="Gill Sans"/>
                <a:cs typeface="Gill Sans"/>
                <a:sym typeface="Gill Sans"/>
              </a:rPr>
              <a:t>A</a:t>
            </a:r>
            <a:r>
              <a:rPr b="0" i="0" lang="en-US" sz="1900" u="none" cap="none" strike="noStrike">
                <a:solidFill>
                  <a:schemeClr val="dk2"/>
                </a:solidFill>
                <a:latin typeface="Gill Sans"/>
                <a:ea typeface="Gill Sans"/>
                <a:cs typeface="Gill Sans"/>
                <a:sym typeface="Gill Sans"/>
              </a:rPr>
              <a:t>,R</a:t>
            </a:r>
            <a:r>
              <a:rPr b="0" baseline="-25000" i="0" lang="en-US" sz="1900" u="none" cap="none" strike="noStrike">
                <a:solidFill>
                  <a:schemeClr val="dk2"/>
                </a:solidFill>
                <a:latin typeface="Gill Sans"/>
                <a:ea typeface="Gill Sans"/>
                <a:cs typeface="Gill Sans"/>
                <a:sym typeface="Gill Sans"/>
              </a:rPr>
              <a:t>B</a:t>
            </a:r>
            <a:r>
              <a:rPr b="0" i="0" lang="en-US" sz="1900" u="none" cap="none" strike="noStrike">
                <a:solidFill>
                  <a:schemeClr val="dk2"/>
                </a:solidFill>
                <a:latin typeface="Gill Sans"/>
                <a:ea typeface="Gill Sans"/>
                <a:cs typeface="Gill Sans"/>
                <a:sym typeface="Gill Sans"/>
              </a:rPr>
              <a:t>,g</a:t>
            </a:r>
            <a:r>
              <a:rPr b="0" baseline="30000" i="0" lang="en-US" sz="1900" u="none" cap="none" strike="noStrike">
                <a:solidFill>
                  <a:schemeClr val="dk2"/>
                </a:solidFill>
                <a:latin typeface="Gill Sans"/>
                <a:ea typeface="Gill Sans"/>
                <a:cs typeface="Gill Sans"/>
                <a:sym typeface="Gill Sans"/>
              </a:rPr>
              <a:t>t</a:t>
            </a:r>
            <a:r>
              <a:rPr b="0" i="0" lang="en-US" sz="1900" u="none" cap="none" strike="noStrike">
                <a:solidFill>
                  <a:schemeClr val="dk2"/>
                </a:solidFill>
                <a:latin typeface="Gill Sans"/>
                <a:ea typeface="Gill Sans"/>
                <a:cs typeface="Gill Sans"/>
                <a:sym typeface="Gill Sans"/>
              </a:rPr>
              <a:t> mod p,g</a:t>
            </a:r>
            <a:r>
              <a:rPr b="0" baseline="30000" i="0" lang="en-US" sz="1900" u="none" cap="none" strike="noStrike">
                <a:solidFill>
                  <a:schemeClr val="dk2"/>
                </a:solidFill>
                <a:latin typeface="Gill Sans"/>
                <a:ea typeface="Gill Sans"/>
                <a:cs typeface="Gill Sans"/>
                <a:sym typeface="Gill Sans"/>
              </a:rPr>
              <a:t>b</a:t>
            </a:r>
            <a:r>
              <a:rPr b="0" i="0" lang="en-US" sz="1900" u="none" cap="none" strike="noStrike">
                <a:solidFill>
                  <a:schemeClr val="dk2"/>
                </a:solidFill>
                <a:latin typeface="Gill Sans"/>
                <a:ea typeface="Gill Sans"/>
                <a:cs typeface="Gill Sans"/>
                <a:sym typeface="Gill Sans"/>
              </a:rPr>
              <a:t> mod p,g</a:t>
            </a:r>
            <a:r>
              <a:rPr b="0" baseline="30000" i="0" lang="en-US" sz="1900" u="none" cap="none" strike="noStrike">
                <a:solidFill>
                  <a:schemeClr val="dk2"/>
                </a:solidFill>
                <a:latin typeface="Gill Sans"/>
                <a:ea typeface="Gill Sans"/>
                <a:cs typeface="Gill Sans"/>
                <a:sym typeface="Gill Sans"/>
              </a:rPr>
              <a:t>bt</a:t>
            </a:r>
            <a:r>
              <a:rPr b="0" i="0" lang="en-US" sz="1900" u="none" cap="none" strike="noStrike">
                <a:solidFill>
                  <a:schemeClr val="dk2"/>
                </a:solidFill>
                <a:latin typeface="Gill Sans"/>
                <a:ea typeface="Gill Sans"/>
                <a:cs typeface="Gill Sans"/>
                <a:sym typeface="Gill Sans"/>
              </a:rPr>
              <a:t> mod p)</a:t>
            </a:r>
            <a:endParaRPr/>
          </a:p>
          <a:p>
            <a:pPr indent="-193802" lvl="0" marL="304800" marR="0" rtl="0" algn="l">
              <a:lnSpc>
                <a:spcPct val="100000"/>
              </a:lnSpc>
              <a:spcBef>
                <a:spcPts val="980"/>
              </a:spcBef>
              <a:spcAft>
                <a:spcPts val="0"/>
              </a:spcAft>
              <a:buClr>
                <a:schemeClr val="accent2"/>
              </a:buClr>
              <a:buSzPts val="1748"/>
              <a:buFont typeface="Noto Sans Symbols"/>
              <a:buNone/>
            </a:pPr>
            <a:r>
              <a:t/>
            </a:r>
            <a:endParaRPr b="0" i="0" sz="1900" u="none" cap="none" strike="noStrike">
              <a:solidFill>
                <a:schemeClr val="dk2"/>
              </a:solidFill>
              <a:latin typeface="Gill Sans"/>
              <a:ea typeface="Gill Sans"/>
              <a:cs typeface="Gill Sans"/>
              <a:sym typeface="Gill Sans"/>
            </a:endParaRPr>
          </a:p>
        </p:txBody>
      </p:sp>
      <p:sp>
        <p:nvSpPr>
          <p:cNvPr id="119" name="Google Shape;119;p8"/>
          <p:cNvSpPr txBox="1"/>
          <p:nvPr/>
        </p:nvSpPr>
        <p:spPr>
          <a:xfrm>
            <a:off x="76200" y="6370637"/>
            <a:ext cx="7927975"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Gulim"/>
              <a:buNone/>
            </a:pPr>
            <a:r>
              <a:rPr b="0" i="0" lang="en-US" sz="900" u="none" cap="none" strike="noStrike">
                <a:solidFill>
                  <a:schemeClr val="dk1"/>
                </a:solidFill>
                <a:latin typeface="Gulim"/>
                <a:ea typeface="Gulim"/>
                <a:cs typeface="Gulim"/>
                <a:sym typeface="Gulim"/>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pic>
        <p:nvPicPr>
          <p:cNvPr descr="drinkme.gif                                                    000A0185Macintosh HD                   ABA78158:" id="120" name="Google Shape;120;p8"/>
          <p:cNvPicPr preferRelativeResize="0"/>
          <p:nvPr/>
        </p:nvPicPr>
        <p:blipFill rotWithShape="1">
          <a:blip r:embed="rId3">
            <a:alphaModFix/>
          </a:blip>
          <a:srcRect b="0" l="0" r="0" t="0"/>
          <a:stretch/>
        </p:blipFill>
        <p:spPr>
          <a:xfrm>
            <a:off x="304800" y="2036762"/>
            <a:ext cx="990600" cy="1474787"/>
          </a:xfrm>
          <a:prstGeom prst="rect">
            <a:avLst/>
          </a:prstGeom>
          <a:noFill/>
          <a:ln>
            <a:noFill/>
          </a:ln>
        </p:spPr>
      </p:pic>
      <p:cxnSp>
        <p:nvCxnSpPr>
          <p:cNvPr id="121" name="Google Shape;121;p8"/>
          <p:cNvCxnSpPr/>
          <p:nvPr/>
        </p:nvCxnSpPr>
        <p:spPr>
          <a:xfrm>
            <a:off x="1600200" y="2152650"/>
            <a:ext cx="18288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122" name="Google Shape;122;p8"/>
          <p:cNvCxnSpPr/>
          <p:nvPr/>
        </p:nvCxnSpPr>
        <p:spPr>
          <a:xfrm rot="10800000">
            <a:off x="1524000" y="2609850"/>
            <a:ext cx="1828800" cy="0"/>
          </a:xfrm>
          <a:prstGeom prst="straightConnector1">
            <a:avLst/>
          </a:prstGeom>
          <a:noFill/>
          <a:ln cap="flat" cmpd="sng" w="50800">
            <a:solidFill>
              <a:schemeClr val="dk1"/>
            </a:solidFill>
            <a:prstDash val="solid"/>
            <a:miter lim="800000"/>
            <a:headEnd len="sm" w="sm" type="none"/>
            <a:tailEnd len="med" w="med" type="triangle"/>
          </a:ln>
        </p:spPr>
      </p:cxnSp>
      <p:sp>
        <p:nvSpPr>
          <p:cNvPr id="123" name="Google Shape;123;p8"/>
          <p:cNvSpPr txBox="1"/>
          <p:nvPr/>
        </p:nvSpPr>
        <p:spPr>
          <a:xfrm>
            <a:off x="466725" y="3471862"/>
            <a:ext cx="725487"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Gill Sans"/>
              <a:buNone/>
            </a:pPr>
            <a:r>
              <a:rPr b="0" i="0" lang="en-US" sz="1800" u="none" cap="none" strike="noStrike">
                <a:solidFill>
                  <a:schemeClr val="dk1"/>
                </a:solidFill>
                <a:latin typeface="Gill Sans"/>
                <a:ea typeface="Gill Sans"/>
                <a:cs typeface="Gill Sans"/>
                <a:sym typeface="Gill Sans"/>
              </a:rPr>
              <a:t>Alice</a:t>
            </a:r>
            <a:endParaRPr b="0" i="0" sz="1400" u="none" cap="none" strike="noStrike">
              <a:solidFill>
                <a:srgbClr val="000000"/>
              </a:solidFill>
              <a:latin typeface="Arial"/>
              <a:ea typeface="Arial"/>
              <a:cs typeface="Arial"/>
              <a:sym typeface="Arial"/>
            </a:endParaRPr>
          </a:p>
        </p:txBody>
      </p:sp>
      <p:sp>
        <p:nvSpPr>
          <p:cNvPr id="124" name="Google Shape;124;p8"/>
          <p:cNvSpPr txBox="1"/>
          <p:nvPr/>
        </p:nvSpPr>
        <p:spPr>
          <a:xfrm>
            <a:off x="7989887" y="3500437"/>
            <a:ext cx="587375"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Gill Sans"/>
              <a:buNone/>
            </a:pPr>
            <a:r>
              <a:rPr b="0" i="0" lang="en-US" sz="1800" u="none" cap="none" strike="noStrike">
                <a:solidFill>
                  <a:schemeClr val="dk1"/>
                </a:solidFill>
                <a:latin typeface="Gill Sans"/>
                <a:ea typeface="Gill Sans"/>
                <a:cs typeface="Gill Sans"/>
                <a:sym typeface="Gill Sans"/>
              </a:rPr>
              <a:t>Bob</a:t>
            </a:r>
            <a:endParaRPr b="0" i="0" sz="1400" u="none" cap="none" strike="noStrike">
              <a:solidFill>
                <a:srgbClr val="000000"/>
              </a:solidFill>
              <a:latin typeface="Arial"/>
              <a:ea typeface="Arial"/>
              <a:cs typeface="Arial"/>
              <a:sym typeface="Arial"/>
            </a:endParaRPr>
          </a:p>
        </p:txBody>
      </p:sp>
      <p:cxnSp>
        <p:nvCxnSpPr>
          <p:cNvPr id="125" name="Google Shape;125;p8"/>
          <p:cNvCxnSpPr/>
          <p:nvPr/>
        </p:nvCxnSpPr>
        <p:spPr>
          <a:xfrm>
            <a:off x="1524000" y="3051175"/>
            <a:ext cx="1828800" cy="0"/>
          </a:xfrm>
          <a:prstGeom prst="straightConnector1">
            <a:avLst/>
          </a:prstGeom>
          <a:noFill/>
          <a:ln cap="flat" cmpd="sng" w="50800">
            <a:solidFill>
              <a:schemeClr val="dk1"/>
            </a:solidFill>
            <a:prstDash val="solid"/>
            <a:miter lim="800000"/>
            <a:headEnd len="sm" w="sm" type="none"/>
            <a:tailEnd len="med" w="med" type="triangle"/>
          </a:ln>
        </p:spPr>
      </p:cxnSp>
      <p:sp>
        <p:nvSpPr>
          <p:cNvPr id="126" name="Google Shape;126;p8"/>
          <p:cNvSpPr txBox="1"/>
          <p:nvPr/>
        </p:nvSpPr>
        <p:spPr>
          <a:xfrm>
            <a:off x="1633537" y="1801812"/>
            <a:ext cx="13589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Alice, R</a:t>
            </a:r>
            <a:r>
              <a:rPr b="0" baseline="-25000" i="0" lang="en-US" sz="1800" u="none" cap="none" strike="noStrike">
                <a:solidFill>
                  <a:schemeClr val="dk1"/>
                </a:solidFill>
                <a:latin typeface="Times"/>
                <a:ea typeface="Times"/>
                <a:cs typeface="Times"/>
                <a:sym typeface="Times"/>
              </a:rPr>
              <a:t>A</a:t>
            </a:r>
            <a:endParaRPr b="0" i="0" sz="1400" u="none" cap="none" strike="noStrike">
              <a:solidFill>
                <a:srgbClr val="000000"/>
              </a:solidFill>
              <a:latin typeface="Arial"/>
              <a:ea typeface="Arial"/>
              <a:cs typeface="Arial"/>
              <a:sym typeface="Arial"/>
            </a:endParaRPr>
          </a:p>
        </p:txBody>
      </p:sp>
      <p:sp>
        <p:nvSpPr>
          <p:cNvPr id="127" name="Google Shape;127;p8"/>
          <p:cNvSpPr txBox="1"/>
          <p:nvPr/>
        </p:nvSpPr>
        <p:spPr>
          <a:xfrm>
            <a:off x="6850062" y="2208212"/>
            <a:ext cx="525462"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R</a:t>
            </a:r>
            <a:r>
              <a:rPr b="0" baseline="-25000" i="0" lang="en-US" sz="1800" u="none" cap="none" strike="noStrike">
                <a:solidFill>
                  <a:schemeClr val="dk1"/>
                </a:solidFill>
                <a:latin typeface="Times"/>
                <a:ea typeface="Times"/>
                <a:cs typeface="Times"/>
                <a:sym typeface="Times"/>
              </a:rPr>
              <a:t>B</a:t>
            </a:r>
            <a:endParaRPr b="0" i="0" sz="1400" u="none" cap="none" strike="noStrike">
              <a:solidFill>
                <a:srgbClr val="000000"/>
              </a:solidFill>
              <a:latin typeface="Arial"/>
              <a:ea typeface="Arial"/>
              <a:cs typeface="Arial"/>
              <a:sym typeface="Arial"/>
            </a:endParaRPr>
          </a:p>
        </p:txBody>
      </p:sp>
      <p:sp>
        <p:nvSpPr>
          <p:cNvPr id="128" name="Google Shape;128;p8"/>
          <p:cNvSpPr txBox="1"/>
          <p:nvPr/>
        </p:nvSpPr>
        <p:spPr>
          <a:xfrm>
            <a:off x="1568450" y="2674937"/>
            <a:ext cx="128428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g</a:t>
            </a:r>
            <a:r>
              <a:rPr b="0" baseline="30000" i="0" lang="en-US" sz="1800" u="none" cap="none" strike="noStrike">
                <a:solidFill>
                  <a:schemeClr val="dk1"/>
                </a:solidFill>
                <a:latin typeface="Times"/>
                <a:ea typeface="Times"/>
                <a:cs typeface="Times"/>
                <a:sym typeface="Times"/>
              </a:rPr>
              <a:t>a</a:t>
            </a:r>
            <a:r>
              <a:rPr b="0" i="0" lang="en-US" sz="1800" u="none" cap="none" strike="noStrike">
                <a:solidFill>
                  <a:schemeClr val="dk1"/>
                </a:solidFill>
                <a:latin typeface="Times"/>
                <a:ea typeface="Times"/>
                <a:cs typeface="Times"/>
                <a:sym typeface="Times"/>
              </a:rPr>
              <a:t> mod p</a:t>
            </a:r>
            <a:endParaRPr b="0" i="0" sz="1400" u="none" cap="none" strike="noStrike">
              <a:solidFill>
                <a:srgbClr val="000000"/>
              </a:solidFill>
              <a:latin typeface="Arial"/>
              <a:ea typeface="Arial"/>
              <a:cs typeface="Arial"/>
              <a:sym typeface="Arial"/>
            </a:endParaRPr>
          </a:p>
        </p:txBody>
      </p:sp>
      <p:pic>
        <p:nvPicPr>
          <p:cNvPr descr="rabbit3.tiff                                                   0010273EMacintosh HD                   BC93A1CC:" id="129" name="Google Shape;129;p8"/>
          <p:cNvPicPr preferRelativeResize="0"/>
          <p:nvPr/>
        </p:nvPicPr>
        <p:blipFill rotWithShape="1">
          <a:blip r:embed="rId4">
            <a:alphaModFix/>
          </a:blip>
          <a:srcRect b="0" l="0" r="0" t="0"/>
          <a:stretch/>
        </p:blipFill>
        <p:spPr>
          <a:xfrm>
            <a:off x="7772400" y="2036762"/>
            <a:ext cx="935037" cy="1447800"/>
          </a:xfrm>
          <a:prstGeom prst="rect">
            <a:avLst/>
          </a:prstGeom>
          <a:noFill/>
          <a:ln>
            <a:noFill/>
          </a:ln>
        </p:spPr>
      </p:pic>
      <p:cxnSp>
        <p:nvCxnSpPr>
          <p:cNvPr id="130" name="Google Shape;130;p8"/>
          <p:cNvCxnSpPr/>
          <p:nvPr/>
        </p:nvCxnSpPr>
        <p:spPr>
          <a:xfrm rot="10800000">
            <a:off x="1524000" y="3560762"/>
            <a:ext cx="18288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131" name="Google Shape;131;p8"/>
          <p:cNvCxnSpPr/>
          <p:nvPr/>
        </p:nvCxnSpPr>
        <p:spPr>
          <a:xfrm>
            <a:off x="1600200" y="4017962"/>
            <a:ext cx="1828800" cy="0"/>
          </a:xfrm>
          <a:prstGeom prst="straightConnector1">
            <a:avLst/>
          </a:prstGeom>
          <a:noFill/>
          <a:ln cap="flat" cmpd="sng" w="50800">
            <a:solidFill>
              <a:schemeClr val="dk1"/>
            </a:solidFill>
            <a:prstDash val="solid"/>
            <a:miter lim="800000"/>
            <a:headEnd len="sm" w="sm" type="none"/>
            <a:tailEnd len="med" w="med" type="triangle"/>
          </a:ln>
        </p:spPr>
      </p:cxnSp>
      <p:sp>
        <p:nvSpPr>
          <p:cNvPr id="132" name="Google Shape;132;p8"/>
          <p:cNvSpPr txBox="1"/>
          <p:nvPr/>
        </p:nvSpPr>
        <p:spPr>
          <a:xfrm>
            <a:off x="5541962" y="3122612"/>
            <a:ext cx="212248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cap="none" strike="noStrike">
                <a:solidFill>
                  <a:schemeClr val="dk1"/>
                </a:solidFill>
                <a:latin typeface="Times"/>
                <a:ea typeface="Times"/>
                <a:cs typeface="Times"/>
                <a:sym typeface="Times"/>
              </a:rPr>
              <a:t>g</a:t>
            </a:r>
            <a:r>
              <a:rPr b="0" baseline="30000" i="0" lang="en-US" sz="2000" u="none" cap="none" strike="noStrike">
                <a:solidFill>
                  <a:schemeClr val="dk1"/>
                </a:solidFill>
                <a:latin typeface="Times"/>
                <a:ea typeface="Times"/>
                <a:cs typeface="Times"/>
                <a:sym typeface="Times"/>
              </a:rPr>
              <a:t>b</a:t>
            </a:r>
            <a:r>
              <a:rPr b="0" i="0" lang="en-US" sz="2000" u="none" cap="none" strike="noStrike">
                <a:solidFill>
                  <a:schemeClr val="dk1"/>
                </a:solidFill>
                <a:latin typeface="Times"/>
                <a:ea typeface="Times"/>
                <a:cs typeface="Times"/>
                <a:sym typeface="Times"/>
              </a:rPr>
              <a:t> mod p, cert</a:t>
            </a:r>
            <a:r>
              <a:rPr b="0" baseline="-25000" i="0" lang="en-US" sz="2000" u="none" cap="none" strike="noStrike">
                <a:solidFill>
                  <a:schemeClr val="dk1"/>
                </a:solidFill>
                <a:latin typeface="Times"/>
                <a:ea typeface="Times"/>
                <a:cs typeface="Times"/>
                <a:sym typeface="Times"/>
              </a:rPr>
              <a:t>B</a:t>
            </a:r>
            <a:r>
              <a:rPr b="0" i="0" lang="en-US" sz="2000" u="none" cap="none" strike="noStrike">
                <a:solidFill>
                  <a:schemeClr val="dk1"/>
                </a:solidFill>
                <a:latin typeface="Times"/>
                <a:ea typeface="Times"/>
                <a:cs typeface="Times"/>
                <a:sym typeface="Times"/>
              </a:rPr>
              <a:t>, S</a:t>
            </a:r>
            <a:r>
              <a:rPr b="0" baseline="-25000" i="0" lang="en-US" sz="2000" u="none" cap="none" strike="noStrike">
                <a:solidFill>
                  <a:schemeClr val="dk1"/>
                </a:solidFill>
                <a:latin typeface="Times"/>
                <a:ea typeface="Times"/>
                <a:cs typeface="Times"/>
                <a:sym typeface="Times"/>
              </a:rPr>
              <a:t>B</a:t>
            </a:r>
            <a:endParaRPr b="0" i="0" sz="1400" u="none" cap="none" strike="noStrike">
              <a:solidFill>
                <a:srgbClr val="000000"/>
              </a:solidFill>
              <a:latin typeface="Arial"/>
              <a:ea typeface="Arial"/>
              <a:cs typeface="Arial"/>
              <a:sym typeface="Arial"/>
            </a:endParaRPr>
          </a:p>
        </p:txBody>
      </p:sp>
      <p:sp>
        <p:nvSpPr>
          <p:cNvPr id="133" name="Google Shape;133;p8"/>
          <p:cNvSpPr txBox="1"/>
          <p:nvPr/>
        </p:nvSpPr>
        <p:spPr>
          <a:xfrm>
            <a:off x="1381125" y="3541712"/>
            <a:ext cx="2217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cap="none" strike="noStrike">
                <a:solidFill>
                  <a:schemeClr val="dk1"/>
                </a:solidFill>
                <a:latin typeface="Times"/>
                <a:ea typeface="Times"/>
                <a:cs typeface="Times"/>
                <a:sym typeface="Times"/>
              </a:rPr>
              <a:t>E(Alice,cert</a:t>
            </a:r>
            <a:r>
              <a:rPr b="0" baseline="-25000" i="0" lang="en-US" sz="2000" u="none" cap="none" strike="noStrike">
                <a:solidFill>
                  <a:schemeClr val="dk1"/>
                </a:solidFill>
                <a:latin typeface="Times"/>
                <a:ea typeface="Times"/>
                <a:cs typeface="Times"/>
                <a:sym typeface="Times"/>
              </a:rPr>
              <a:t>A</a:t>
            </a:r>
            <a:r>
              <a:rPr b="0" i="0" lang="en-US" sz="2000" u="none" cap="none" strike="noStrike">
                <a:solidFill>
                  <a:schemeClr val="dk1"/>
                </a:solidFill>
                <a:latin typeface="Times"/>
                <a:ea typeface="Times"/>
                <a:cs typeface="Times"/>
                <a:sym typeface="Times"/>
              </a:rPr>
              <a:t>,S</a:t>
            </a:r>
            <a:r>
              <a:rPr b="0" baseline="-25000" i="0" lang="en-US" sz="2000" u="none" cap="none" strike="noStrike">
                <a:solidFill>
                  <a:schemeClr val="dk1"/>
                </a:solidFill>
                <a:latin typeface="Times"/>
                <a:ea typeface="Times"/>
                <a:cs typeface="Times"/>
                <a:sym typeface="Times"/>
              </a:rPr>
              <a:t>A</a:t>
            </a:r>
            <a:r>
              <a:rPr b="0" i="0" lang="en-US" sz="2000" u="none" cap="none" strike="noStrike">
                <a:solidFill>
                  <a:schemeClr val="dk1"/>
                </a:solidFill>
                <a:latin typeface="Times"/>
                <a:ea typeface="Times"/>
                <a:cs typeface="Times"/>
                <a:sym typeface="Times"/>
              </a:rPr>
              <a:t>,K)</a:t>
            </a:r>
            <a:endParaRPr b="0" i="0" sz="1400" u="none" cap="none" strike="noStrike">
              <a:solidFill>
                <a:srgbClr val="000000"/>
              </a:solidFill>
              <a:latin typeface="Arial"/>
              <a:ea typeface="Arial"/>
              <a:cs typeface="Arial"/>
              <a:sym typeface="Arial"/>
            </a:endParaRPr>
          </a:p>
        </p:txBody>
      </p:sp>
      <p:cxnSp>
        <p:nvCxnSpPr>
          <p:cNvPr id="134" name="Google Shape;134;p8"/>
          <p:cNvCxnSpPr/>
          <p:nvPr/>
        </p:nvCxnSpPr>
        <p:spPr>
          <a:xfrm>
            <a:off x="5618162" y="2189162"/>
            <a:ext cx="18288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135" name="Google Shape;135;p8"/>
          <p:cNvCxnSpPr/>
          <p:nvPr/>
        </p:nvCxnSpPr>
        <p:spPr>
          <a:xfrm rot="10800000">
            <a:off x="5541962" y="2646362"/>
            <a:ext cx="18288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136" name="Google Shape;136;p8"/>
          <p:cNvCxnSpPr/>
          <p:nvPr/>
        </p:nvCxnSpPr>
        <p:spPr>
          <a:xfrm>
            <a:off x="5618162" y="3103562"/>
            <a:ext cx="18288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137" name="Google Shape;137;p8"/>
          <p:cNvCxnSpPr/>
          <p:nvPr/>
        </p:nvCxnSpPr>
        <p:spPr>
          <a:xfrm rot="10800000">
            <a:off x="5541962" y="3560762"/>
            <a:ext cx="18288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138" name="Google Shape;138;p8"/>
          <p:cNvCxnSpPr/>
          <p:nvPr/>
        </p:nvCxnSpPr>
        <p:spPr>
          <a:xfrm>
            <a:off x="5618162" y="4017962"/>
            <a:ext cx="1828800" cy="0"/>
          </a:xfrm>
          <a:prstGeom prst="straightConnector1">
            <a:avLst/>
          </a:prstGeom>
          <a:noFill/>
          <a:ln cap="flat" cmpd="sng" w="50800">
            <a:solidFill>
              <a:schemeClr val="dk1"/>
            </a:solidFill>
            <a:prstDash val="solid"/>
            <a:miter lim="800000"/>
            <a:headEnd len="sm" w="sm" type="none"/>
            <a:tailEnd len="med" w="med" type="triangle"/>
          </a:ln>
        </p:spPr>
      </p:cxnSp>
      <p:sp>
        <p:nvSpPr>
          <p:cNvPr id="139" name="Google Shape;139;p8"/>
          <p:cNvSpPr txBox="1"/>
          <p:nvPr/>
        </p:nvSpPr>
        <p:spPr>
          <a:xfrm>
            <a:off x="5680075" y="1808162"/>
            <a:ext cx="13589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Alice, R</a:t>
            </a:r>
            <a:r>
              <a:rPr b="0" baseline="-25000" i="0" lang="en-US" sz="1800" u="none" cap="none" strike="noStrike">
                <a:solidFill>
                  <a:schemeClr val="dk1"/>
                </a:solidFill>
                <a:latin typeface="Times"/>
                <a:ea typeface="Times"/>
                <a:cs typeface="Times"/>
                <a:sym typeface="Times"/>
              </a:rPr>
              <a:t>A</a:t>
            </a:r>
            <a:endParaRPr b="0" i="0" sz="1400" u="none" cap="none" strike="noStrike">
              <a:solidFill>
                <a:srgbClr val="000000"/>
              </a:solidFill>
              <a:latin typeface="Arial"/>
              <a:ea typeface="Arial"/>
              <a:cs typeface="Arial"/>
              <a:sym typeface="Arial"/>
            </a:endParaRPr>
          </a:p>
        </p:txBody>
      </p:sp>
      <p:sp>
        <p:nvSpPr>
          <p:cNvPr id="140" name="Google Shape;140;p8"/>
          <p:cNvSpPr txBox="1"/>
          <p:nvPr/>
        </p:nvSpPr>
        <p:spPr>
          <a:xfrm>
            <a:off x="2825750" y="2203450"/>
            <a:ext cx="52705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R</a:t>
            </a:r>
            <a:r>
              <a:rPr b="0" baseline="-25000" i="0" lang="en-US" sz="1800" u="none" cap="none" strike="noStrike">
                <a:solidFill>
                  <a:schemeClr val="dk1"/>
                </a:solidFill>
                <a:latin typeface="Times"/>
                <a:ea typeface="Times"/>
                <a:cs typeface="Times"/>
                <a:sym typeface="Times"/>
              </a:rPr>
              <a:t>B</a:t>
            </a:r>
            <a:endParaRPr b="0" i="0" sz="1400" u="none" cap="none" strike="noStrike">
              <a:solidFill>
                <a:srgbClr val="000000"/>
              </a:solidFill>
              <a:latin typeface="Arial"/>
              <a:ea typeface="Arial"/>
              <a:cs typeface="Arial"/>
              <a:sym typeface="Arial"/>
            </a:endParaRPr>
          </a:p>
        </p:txBody>
      </p:sp>
      <p:sp>
        <p:nvSpPr>
          <p:cNvPr id="141" name="Google Shape;141;p8"/>
          <p:cNvSpPr txBox="1"/>
          <p:nvPr/>
        </p:nvSpPr>
        <p:spPr>
          <a:xfrm>
            <a:off x="6224587" y="2689225"/>
            <a:ext cx="1249362"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g</a:t>
            </a:r>
            <a:r>
              <a:rPr b="0" baseline="30000" i="0" lang="en-US" sz="1800" u="none" cap="none" strike="noStrike">
                <a:solidFill>
                  <a:schemeClr val="dk1"/>
                </a:solidFill>
                <a:latin typeface="Times"/>
                <a:ea typeface="Times"/>
                <a:cs typeface="Times"/>
                <a:sym typeface="Times"/>
              </a:rPr>
              <a:t>t</a:t>
            </a:r>
            <a:r>
              <a:rPr b="0" i="0" lang="en-US" sz="1800" u="none" cap="none" strike="noStrike">
                <a:solidFill>
                  <a:schemeClr val="dk1"/>
                </a:solidFill>
                <a:latin typeface="Times"/>
                <a:ea typeface="Times"/>
                <a:cs typeface="Times"/>
                <a:sym typeface="Times"/>
              </a:rPr>
              <a:t> mod p</a:t>
            </a:r>
            <a:endParaRPr b="0" i="0" sz="1400" u="none" cap="none" strike="noStrike">
              <a:solidFill>
                <a:srgbClr val="000000"/>
              </a:solidFill>
              <a:latin typeface="Arial"/>
              <a:ea typeface="Arial"/>
              <a:cs typeface="Arial"/>
              <a:sym typeface="Arial"/>
            </a:endParaRPr>
          </a:p>
        </p:txBody>
      </p:sp>
      <p:sp>
        <p:nvSpPr>
          <p:cNvPr id="142" name="Google Shape;142;p8"/>
          <p:cNvSpPr txBox="1"/>
          <p:nvPr/>
        </p:nvSpPr>
        <p:spPr>
          <a:xfrm>
            <a:off x="1447800" y="3103562"/>
            <a:ext cx="208438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cap="none" strike="noStrike">
                <a:solidFill>
                  <a:schemeClr val="dk1"/>
                </a:solidFill>
                <a:latin typeface="Times"/>
                <a:ea typeface="Times"/>
                <a:cs typeface="Times"/>
                <a:sym typeface="Times"/>
              </a:rPr>
              <a:t>g</a:t>
            </a:r>
            <a:r>
              <a:rPr b="0" baseline="30000" i="0" lang="en-US" sz="2000" u="none" cap="none" strike="noStrike">
                <a:solidFill>
                  <a:schemeClr val="dk1"/>
                </a:solidFill>
                <a:latin typeface="Times"/>
                <a:ea typeface="Times"/>
                <a:cs typeface="Times"/>
                <a:sym typeface="Times"/>
              </a:rPr>
              <a:t>t</a:t>
            </a:r>
            <a:r>
              <a:rPr b="0" i="0" lang="en-US" sz="2000" u="none" cap="none" strike="noStrike">
                <a:solidFill>
                  <a:schemeClr val="dk1"/>
                </a:solidFill>
                <a:latin typeface="Times"/>
                <a:ea typeface="Times"/>
                <a:cs typeface="Times"/>
                <a:sym typeface="Times"/>
              </a:rPr>
              <a:t> mod p, cert</a:t>
            </a:r>
            <a:r>
              <a:rPr b="0" baseline="-25000" i="0" lang="en-US" sz="2000" u="none" cap="none" strike="noStrike">
                <a:solidFill>
                  <a:schemeClr val="dk1"/>
                </a:solidFill>
                <a:latin typeface="Times"/>
                <a:ea typeface="Times"/>
                <a:cs typeface="Times"/>
                <a:sym typeface="Times"/>
              </a:rPr>
              <a:t>B</a:t>
            </a:r>
            <a:r>
              <a:rPr b="0" i="0" lang="en-US" sz="2000" u="none" cap="none" strike="noStrike">
                <a:solidFill>
                  <a:schemeClr val="dk1"/>
                </a:solidFill>
                <a:latin typeface="Times"/>
                <a:ea typeface="Times"/>
                <a:cs typeface="Times"/>
                <a:sym typeface="Times"/>
              </a:rPr>
              <a:t>, S</a:t>
            </a:r>
            <a:r>
              <a:rPr b="0" baseline="-25000" i="0" lang="en-US" sz="2000" u="none" cap="none" strike="noStrike">
                <a:solidFill>
                  <a:schemeClr val="dk1"/>
                </a:solidFill>
                <a:latin typeface="Times"/>
                <a:ea typeface="Times"/>
                <a:cs typeface="Times"/>
                <a:sym typeface="Times"/>
              </a:rPr>
              <a:t>B</a:t>
            </a:r>
            <a:endParaRPr b="0" i="0" sz="1400" u="none" cap="none" strike="noStrike">
              <a:solidFill>
                <a:srgbClr val="000000"/>
              </a:solidFill>
              <a:latin typeface="Arial"/>
              <a:ea typeface="Arial"/>
              <a:cs typeface="Arial"/>
              <a:sym typeface="Arial"/>
            </a:endParaRPr>
          </a:p>
        </p:txBody>
      </p:sp>
      <p:sp>
        <p:nvSpPr>
          <p:cNvPr id="143" name="Google Shape;143;p8"/>
          <p:cNvSpPr txBox="1"/>
          <p:nvPr/>
        </p:nvSpPr>
        <p:spPr>
          <a:xfrm>
            <a:off x="5413375" y="3538537"/>
            <a:ext cx="2236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cap="none" strike="noStrike">
                <a:solidFill>
                  <a:schemeClr val="dk1"/>
                </a:solidFill>
                <a:latin typeface="Times"/>
                <a:ea typeface="Times"/>
                <a:cs typeface="Times"/>
                <a:sym typeface="Times"/>
              </a:rPr>
              <a:t>E(Alice,cert</a:t>
            </a:r>
            <a:r>
              <a:rPr b="0" baseline="-25000" i="0" lang="en-US" sz="2000" u="none" cap="none" strike="noStrike">
                <a:solidFill>
                  <a:schemeClr val="dk1"/>
                </a:solidFill>
                <a:latin typeface="Times"/>
                <a:ea typeface="Times"/>
                <a:cs typeface="Times"/>
                <a:sym typeface="Times"/>
              </a:rPr>
              <a:t>A</a:t>
            </a:r>
            <a:r>
              <a:rPr b="0" i="0" lang="en-US" sz="2000" u="none" cap="none" strike="noStrike">
                <a:solidFill>
                  <a:schemeClr val="dk1"/>
                </a:solidFill>
                <a:latin typeface="Times"/>
                <a:ea typeface="Times"/>
                <a:cs typeface="Times"/>
                <a:sym typeface="Times"/>
              </a:rPr>
              <a:t>,S</a:t>
            </a:r>
            <a:r>
              <a:rPr b="0" baseline="-25000" i="0" lang="en-US" sz="2000" u="none" cap="none" strike="noStrike">
                <a:solidFill>
                  <a:schemeClr val="dk1"/>
                </a:solidFill>
                <a:latin typeface="Times"/>
                <a:ea typeface="Times"/>
                <a:cs typeface="Times"/>
                <a:sym typeface="Times"/>
              </a:rPr>
              <a:t>A</a:t>
            </a:r>
            <a:r>
              <a:rPr b="0" i="0" lang="en-US" sz="2000" u="none" cap="none" strike="noStrike">
                <a:solidFill>
                  <a:schemeClr val="dk1"/>
                </a:solidFill>
                <a:latin typeface="Times"/>
                <a:ea typeface="Times"/>
                <a:cs typeface="Times"/>
                <a:sym typeface="Times"/>
              </a:rPr>
              <a:t>,K</a:t>
            </a:r>
            <a:r>
              <a:rPr b="0" i="0" lang="en-US" sz="1800" u="none" cap="none" strike="noStrike">
                <a:solidFill>
                  <a:schemeClr val="dk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p:txBody>
      </p:sp>
      <p:sp>
        <p:nvSpPr>
          <p:cNvPr id="144" name="Google Shape;144;p8"/>
          <p:cNvSpPr txBox="1"/>
          <p:nvPr/>
        </p:nvSpPr>
        <p:spPr>
          <a:xfrm>
            <a:off x="3989387" y="3424237"/>
            <a:ext cx="103346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Gulim"/>
              <a:buNone/>
            </a:pPr>
            <a:r>
              <a:rPr b="0" i="0" lang="en-US" sz="1800" u="none" cap="none" strike="noStrike">
                <a:solidFill>
                  <a:schemeClr val="dk1"/>
                </a:solidFill>
                <a:latin typeface="Gulim"/>
                <a:ea typeface="Gulim"/>
                <a:cs typeface="Gulim"/>
                <a:sym typeface="Gulim"/>
              </a:rPr>
              <a:t>Trudy</a:t>
            </a:r>
            <a:endParaRPr b="0" i="0" sz="1400" u="none" cap="none" strike="noStrike">
              <a:solidFill>
                <a:srgbClr val="000000"/>
              </a:solidFill>
              <a:latin typeface="Arial"/>
              <a:ea typeface="Arial"/>
              <a:cs typeface="Arial"/>
              <a:sym typeface="Arial"/>
            </a:endParaRPr>
          </a:p>
        </p:txBody>
      </p:sp>
      <p:pic>
        <p:nvPicPr>
          <p:cNvPr descr="deedum2.tiff                                                   0010273EMacintosh HD                   BC93A1CC:" id="145" name="Google Shape;145;p8"/>
          <p:cNvPicPr preferRelativeResize="0"/>
          <p:nvPr/>
        </p:nvPicPr>
        <p:blipFill rotWithShape="1">
          <a:blip r:embed="rId5">
            <a:alphaModFix/>
          </a:blip>
          <a:srcRect b="0" l="0" r="0" t="0"/>
          <a:stretch/>
        </p:blipFill>
        <p:spPr>
          <a:xfrm>
            <a:off x="3989387" y="2189162"/>
            <a:ext cx="1039812" cy="1282700"/>
          </a:xfrm>
          <a:prstGeom prst="rect">
            <a:avLst/>
          </a:prstGeom>
          <a:noFill/>
          <a:ln>
            <a:noFill/>
          </a:ln>
        </p:spPr>
      </p:pic>
      <p:sp>
        <p:nvSpPr>
          <p:cNvPr id="146" name="Google Shape;146;p8"/>
          <p:cNvSpPr txBox="1"/>
          <p:nvPr/>
        </p:nvSpPr>
        <p:spPr>
          <a:xfrm>
            <a:off x="7897812" y="6373812"/>
            <a:ext cx="771525"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2F5AAC"/>
              </a:buClr>
              <a:buSzPts val="900"/>
              <a:buFont typeface="Gulim"/>
              <a:buNone/>
            </a:pPr>
            <a:fld id="{00000000-1234-1234-1234-123412341234}" type="slidenum">
              <a:rPr b="0" i="0" lang="en-US" sz="900" u="none" cap="none" strike="noStrike">
                <a:solidFill>
                  <a:srgbClr val="2F5AAC"/>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500"/>
                                        <p:tgtEl>
                                          <p:spTgt spid="12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4"/>
                                        </p:tgtEl>
                                        <p:attrNameLst>
                                          <p:attrName>style.visibility</p:attrName>
                                        </p:attrNameLst>
                                      </p:cBhvr>
                                      <p:to>
                                        <p:strVal val="visible"/>
                                      </p:to>
                                    </p:set>
                                    <p:anim calcmode="lin" valueType="num">
                                      <p:cBhvr additive="base">
                                        <p:cTn dur="500"/>
                                        <p:tgtEl>
                                          <p:spTgt spid="13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500"/>
                                        <p:tgtEl>
                                          <p:spTgt spid="135"/>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500"/>
                                        <p:tgtEl>
                                          <p:spTgt spid="12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7"/>
                                        </p:tgtEl>
                                        <p:attrNameLst>
                                          <p:attrName>style.visibility</p:attrName>
                                        </p:attrNameLst>
                                      </p:cBhvr>
                                      <p:to>
                                        <p:strVal val="visible"/>
                                      </p:to>
                                    </p:set>
                                    <p:anim calcmode="lin" valueType="num">
                                      <p:cBhvr additive="base">
                                        <p:cTn dur="500"/>
                                        <p:tgtEl>
                                          <p:spTgt spid="137"/>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500"/>
                                        <p:tgtEl>
                                          <p:spTgt spid="13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500"/>
                                        <p:tgtEl>
                                          <p:spTgt spid="13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Effect filter="fade" transition="in">
                                      <p:cBhvr>
                                        <p:cTn dur="2000"/>
                                        <p:tgtEl>
                                          <p:spTgt spid="1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animEffect filter="fade" transition="in">
                                      <p:cBhvr>
                                        <p:cTn dur="2000"/>
                                        <p:tgtEl>
                                          <p:spTgt spid="1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animEffect filter="fade" transition="in">
                                      <p:cBhvr>
                                        <p:cTn dur="2000"/>
                                        <p:tgtEl>
                                          <p:spTgt spid="1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animEffect filter="fade" transition="in">
                                      <p:cBhvr>
                                        <p:cTn dur="2000"/>
                                        <p:tgtEl>
                                          <p:spTgt spid="1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animEffect filter="fade" transition="in">
                                      <p:cBhvr>
                                        <p:cTn dur="2000"/>
                                        <p:tgtEl>
                                          <p:spTgt spid="1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animEffect filter="fade" transition="in">
                                      <p:cBhvr>
                                        <p:cTn dur="2000"/>
                                        <p:tgtEl>
                                          <p:spTgt spid="11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idx="4294967295" type="title"/>
          </p:nvPr>
        </p:nvSpPr>
        <p:spPr>
          <a:xfrm>
            <a:off x="1285875" y="2357438"/>
            <a:ext cx="6643688" cy="1143000"/>
          </a:xfrm>
          <a:prstGeom prst="rect">
            <a:avLst/>
          </a:prstGeom>
          <a:noFill/>
          <a:ln>
            <a:noFill/>
          </a:ln>
        </p:spPr>
        <p:txBody>
          <a:bodyPr anchorCtr="0" anchor="b" bIns="45700" lIns="91425" spcFirstLastPara="1" rIns="91425" wrap="square" tIns="45700">
            <a:normAutofit fontScale="90000"/>
          </a:bodyPr>
          <a:lstStyle/>
          <a:p>
            <a:pPr indent="0" lvl="0" marL="0" marR="0" rtl="0" algn="l">
              <a:lnSpc>
                <a:spcPct val="100000"/>
              </a:lnSpc>
              <a:spcBef>
                <a:spcPts val="0"/>
              </a:spcBef>
              <a:spcAft>
                <a:spcPts val="0"/>
              </a:spcAft>
              <a:buClr>
                <a:schemeClr val="lt1"/>
              </a:buClr>
              <a:buSzPct val="111111"/>
              <a:buFont typeface="Gill Sans"/>
              <a:buNone/>
            </a:pPr>
            <a:r>
              <a:rPr b="0" i="0" lang="en-US" sz="4800" u="none" cap="none" strike="noStrike">
                <a:solidFill>
                  <a:srgbClr val="000000"/>
                </a:solidFill>
                <a:latin typeface="Gill Sans"/>
                <a:ea typeface="Gill Sans"/>
                <a:cs typeface="Gill Sans"/>
                <a:sym typeface="Gill Sans"/>
              </a:rPr>
              <a:t>SECURE SOCKET LAYER</a:t>
            </a:r>
            <a:endParaRPr>
              <a:solidFill>
                <a:srgbClr val="000000"/>
              </a:solidFill>
            </a:endParaRPr>
          </a:p>
        </p:txBody>
      </p:sp>
      <p:sp>
        <p:nvSpPr>
          <p:cNvPr id="153" name="Google Shape;153;p9"/>
          <p:cNvSpPr txBox="1"/>
          <p:nvPr/>
        </p:nvSpPr>
        <p:spPr>
          <a:xfrm>
            <a:off x="581175" y="6100750"/>
            <a:ext cx="72198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154" name="Google Shape;154;p9"/>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pic>
        <p:nvPicPr>
          <p:cNvPr id="155" name="Google Shape;155;p9"/>
          <p:cNvPicPr preferRelativeResize="0"/>
          <p:nvPr/>
        </p:nvPicPr>
        <p:blipFill rotWithShape="1">
          <a:blip r:embed="rId3">
            <a:alphaModFix/>
          </a:blip>
          <a:srcRect b="0" l="0" r="0" t="0"/>
          <a:stretch/>
        </p:blipFill>
        <p:spPr>
          <a:xfrm>
            <a:off x="7500937" y="5357812"/>
            <a:ext cx="742950" cy="742950"/>
          </a:xfrm>
          <a:prstGeom prst="rect">
            <a:avLst/>
          </a:prstGeom>
          <a:noFill/>
          <a:ln>
            <a:noFill/>
          </a:ln>
        </p:spPr>
      </p:pic>
      <p:pic>
        <p:nvPicPr>
          <p:cNvPr id="156" name="Google Shape;156;p9"/>
          <p:cNvPicPr preferRelativeResize="0"/>
          <p:nvPr/>
        </p:nvPicPr>
        <p:blipFill rotWithShape="1">
          <a:blip r:embed="rId4">
            <a:alphaModFix/>
          </a:blip>
          <a:srcRect b="0" l="0" r="0" t="0"/>
          <a:stretch/>
        </p:blipFill>
        <p:spPr>
          <a:xfrm>
            <a:off x="785812" y="714375"/>
            <a:ext cx="742950" cy="742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SOCKET LAYER</a:t>
            </a:r>
            <a:endParaRPr/>
          </a:p>
        </p:txBody>
      </p:sp>
      <p:sp>
        <p:nvSpPr>
          <p:cNvPr id="163" name="Google Shape;163;p10"/>
          <p:cNvSpPr txBox="1"/>
          <p:nvPr>
            <p:ph idx="1" type="body"/>
          </p:nvPr>
        </p:nvSpPr>
        <p:spPr>
          <a:xfrm>
            <a:off x="785812" y="1857375"/>
            <a:ext cx="3063875" cy="4049712"/>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8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“Socket layer” lives between application and transport layers</a:t>
            </a:r>
            <a:endParaRPr/>
          </a:p>
          <a:p>
            <a:pPr indent="-304800" lvl="0" marL="304800" marR="0" rtl="0" algn="l">
              <a:lnSpc>
                <a:spcPct val="8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SSL usually lies between HTTP (application) and TCP (transport)</a:t>
            </a:r>
            <a:endParaRPr/>
          </a:p>
        </p:txBody>
      </p:sp>
      <p:sp>
        <p:nvSpPr>
          <p:cNvPr id="164" name="Google Shape;164;p10"/>
          <p:cNvSpPr txBox="1"/>
          <p:nvPr/>
        </p:nvSpPr>
        <p:spPr>
          <a:xfrm>
            <a:off x="366712" y="6334125"/>
            <a:ext cx="7038975"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165" name="Google Shape;165;p10"/>
          <p:cNvSpPr txBox="1"/>
          <p:nvPr/>
        </p:nvSpPr>
        <p:spPr>
          <a:xfrm>
            <a:off x="7786687" y="6327775"/>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
        <p:nvSpPr>
          <p:cNvPr id="166" name="Google Shape;166;p10"/>
          <p:cNvSpPr txBox="1"/>
          <p:nvPr/>
        </p:nvSpPr>
        <p:spPr>
          <a:xfrm>
            <a:off x="5803900" y="2070100"/>
            <a:ext cx="1892300" cy="3530600"/>
          </a:xfrm>
          <a:prstGeom prst="rect">
            <a:avLst/>
          </a:prstGeom>
          <a:solidFill>
            <a:schemeClr val="accent2"/>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ulim"/>
              <a:ea typeface="Gulim"/>
              <a:cs typeface="Gulim"/>
              <a:sym typeface="Gulim"/>
            </a:endParaRPr>
          </a:p>
        </p:txBody>
      </p:sp>
      <p:grpSp>
        <p:nvGrpSpPr>
          <p:cNvPr id="167" name="Google Shape;167;p10"/>
          <p:cNvGrpSpPr/>
          <p:nvPr/>
        </p:nvGrpSpPr>
        <p:grpSpPr>
          <a:xfrm>
            <a:off x="5734050" y="2184400"/>
            <a:ext cx="1898650" cy="3530600"/>
            <a:chOff x="3076" y="888"/>
            <a:chExt cx="1196" cy="2224"/>
          </a:xfrm>
        </p:grpSpPr>
        <p:sp>
          <p:nvSpPr>
            <p:cNvPr id="168" name="Google Shape;168;p10"/>
            <p:cNvSpPr txBox="1"/>
            <p:nvPr/>
          </p:nvSpPr>
          <p:spPr>
            <a:xfrm>
              <a:off x="3080" y="888"/>
              <a:ext cx="1192" cy="2224"/>
            </a:xfrm>
            <a:prstGeom prst="rect">
              <a:avLst/>
            </a:prstGeom>
            <a:solidFill>
              <a:schemeClr val="lt1"/>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ulim"/>
                <a:ea typeface="Gulim"/>
                <a:cs typeface="Gulim"/>
                <a:sym typeface="Gulim"/>
              </a:endParaRPr>
            </a:p>
          </p:txBody>
        </p:sp>
        <p:sp>
          <p:nvSpPr>
            <p:cNvPr id="169" name="Google Shape;169;p10"/>
            <p:cNvSpPr txBox="1"/>
            <p:nvPr/>
          </p:nvSpPr>
          <p:spPr>
            <a:xfrm>
              <a:off x="3091" y="949"/>
              <a:ext cx="1111" cy="215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Gulim"/>
                <a:buNone/>
              </a:pPr>
              <a:r>
                <a:t/>
              </a:r>
              <a:endParaRPr b="0" i="0" sz="2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Gulim"/>
                <a:buNone/>
              </a:pPr>
              <a:r>
                <a:t/>
              </a:r>
              <a:endParaRPr b="0" i="0" sz="2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Gulim"/>
                <a:buNone/>
              </a:pPr>
              <a:r>
                <a:t/>
              </a:r>
              <a:endParaRPr b="0" i="0" sz="2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Gulim"/>
                <a:buNone/>
              </a:pPr>
              <a:r>
                <a:t/>
              </a:r>
              <a:endParaRPr b="0" i="0" sz="2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physical</a:t>
              </a:r>
              <a:endParaRPr b="0" i="0" sz="1400" u="none" cap="none" strike="noStrike">
                <a:solidFill>
                  <a:srgbClr val="000000"/>
                </a:solidFill>
                <a:latin typeface="Arial"/>
                <a:ea typeface="Arial"/>
                <a:cs typeface="Arial"/>
                <a:sym typeface="Arial"/>
              </a:endParaRPr>
            </a:p>
          </p:txBody>
        </p:sp>
        <p:cxnSp>
          <p:nvCxnSpPr>
            <p:cNvPr id="170" name="Google Shape;170;p10"/>
            <p:cNvCxnSpPr/>
            <p:nvPr/>
          </p:nvCxnSpPr>
          <p:spPr>
            <a:xfrm>
              <a:off x="3076" y="1324"/>
              <a:ext cx="1188" cy="0"/>
            </a:xfrm>
            <a:prstGeom prst="straightConnector1">
              <a:avLst/>
            </a:prstGeom>
            <a:noFill/>
            <a:ln cap="flat" cmpd="sng" w="38100">
              <a:solidFill>
                <a:schemeClr val="accent2"/>
              </a:solidFill>
              <a:prstDash val="solid"/>
              <a:miter lim="800000"/>
              <a:headEnd len="sm" w="sm" type="none"/>
              <a:tailEnd len="sm" w="sm" type="none"/>
            </a:ln>
          </p:spPr>
        </p:cxnSp>
        <p:cxnSp>
          <p:nvCxnSpPr>
            <p:cNvPr id="171" name="Google Shape;171;p10"/>
            <p:cNvCxnSpPr/>
            <p:nvPr/>
          </p:nvCxnSpPr>
          <p:spPr>
            <a:xfrm>
              <a:off x="3076" y="1768"/>
              <a:ext cx="1188" cy="0"/>
            </a:xfrm>
            <a:prstGeom prst="straightConnector1">
              <a:avLst/>
            </a:prstGeom>
            <a:noFill/>
            <a:ln cap="flat" cmpd="sng" w="38100">
              <a:solidFill>
                <a:schemeClr val="accent2"/>
              </a:solidFill>
              <a:prstDash val="solid"/>
              <a:miter lim="800000"/>
              <a:headEnd len="sm" w="sm" type="none"/>
              <a:tailEnd len="sm" w="sm" type="none"/>
            </a:ln>
          </p:spPr>
        </p:cxnSp>
        <p:cxnSp>
          <p:nvCxnSpPr>
            <p:cNvPr id="172" name="Google Shape;172;p10"/>
            <p:cNvCxnSpPr/>
            <p:nvPr/>
          </p:nvCxnSpPr>
          <p:spPr>
            <a:xfrm>
              <a:off x="3076" y="2216"/>
              <a:ext cx="1188" cy="0"/>
            </a:xfrm>
            <a:prstGeom prst="straightConnector1">
              <a:avLst/>
            </a:prstGeom>
            <a:noFill/>
            <a:ln cap="flat" cmpd="sng" w="38100">
              <a:solidFill>
                <a:schemeClr val="accent2"/>
              </a:solidFill>
              <a:prstDash val="solid"/>
              <a:miter lim="800000"/>
              <a:headEnd len="sm" w="sm" type="none"/>
              <a:tailEnd len="sm" w="sm" type="none"/>
            </a:ln>
          </p:spPr>
        </p:cxnSp>
        <p:cxnSp>
          <p:nvCxnSpPr>
            <p:cNvPr id="173" name="Google Shape;173;p10"/>
            <p:cNvCxnSpPr/>
            <p:nvPr/>
          </p:nvCxnSpPr>
          <p:spPr>
            <a:xfrm>
              <a:off x="3076" y="2664"/>
              <a:ext cx="1188" cy="0"/>
            </a:xfrm>
            <a:prstGeom prst="straightConnector1">
              <a:avLst/>
            </a:prstGeom>
            <a:noFill/>
            <a:ln cap="flat" cmpd="sng" w="38100">
              <a:solidFill>
                <a:schemeClr val="accent2"/>
              </a:solidFill>
              <a:prstDash val="solid"/>
              <a:miter lim="800000"/>
              <a:headEnd len="sm" w="sm" type="none"/>
              <a:tailEnd len="sm" w="sm" type="none"/>
            </a:ln>
          </p:spPr>
        </p:cxnSp>
      </p:grpSp>
      <p:cxnSp>
        <p:nvCxnSpPr>
          <p:cNvPr id="174" name="Google Shape;174;p10"/>
          <p:cNvCxnSpPr/>
          <p:nvPr/>
        </p:nvCxnSpPr>
        <p:spPr>
          <a:xfrm>
            <a:off x="5072062" y="2857500"/>
            <a:ext cx="685800" cy="0"/>
          </a:xfrm>
          <a:prstGeom prst="straightConnector1">
            <a:avLst/>
          </a:prstGeom>
          <a:noFill/>
          <a:ln cap="flat" cmpd="sng" w="50800">
            <a:solidFill>
              <a:srgbClr val="FF0000"/>
            </a:solidFill>
            <a:prstDash val="solid"/>
            <a:miter lim="800000"/>
            <a:headEnd len="sm" w="sm" type="none"/>
            <a:tailEnd len="med" w="med" type="triangle"/>
          </a:ln>
        </p:spPr>
      </p:cxnSp>
      <p:sp>
        <p:nvSpPr>
          <p:cNvPr id="175" name="Google Shape;175;p10"/>
          <p:cNvSpPr txBox="1"/>
          <p:nvPr/>
        </p:nvSpPr>
        <p:spPr>
          <a:xfrm>
            <a:off x="3886200" y="2433637"/>
            <a:ext cx="1187450" cy="942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Socket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“layer”</a:t>
            </a:r>
            <a:endParaRPr b="0" i="0" sz="1400" u="none" cap="none" strike="noStrike">
              <a:solidFill>
                <a:srgbClr val="000000"/>
              </a:solidFill>
              <a:latin typeface="Arial"/>
              <a:ea typeface="Arial"/>
              <a:cs typeface="Arial"/>
              <a:sym typeface="Arial"/>
            </a:endParaRPr>
          </a:p>
        </p:txBody>
      </p:sp>
      <p:sp>
        <p:nvSpPr>
          <p:cNvPr id="176" name="Google Shape;176;p10"/>
          <p:cNvSpPr txBox="1"/>
          <p:nvPr/>
        </p:nvSpPr>
        <p:spPr>
          <a:xfrm>
            <a:off x="3929062" y="2428875"/>
            <a:ext cx="1143000" cy="838200"/>
          </a:xfrm>
          <a:prstGeom prst="rect">
            <a:avLst/>
          </a:prstGeom>
          <a:solidFill>
            <a:schemeClr val="accent1">
              <a:alpha val="0"/>
            </a:schemeClr>
          </a:solidFill>
          <a:ln cap="flat" cmpd="sng" w="38100">
            <a:solidFill>
              <a:schemeClr va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ulim"/>
              <a:ea typeface="Gulim"/>
              <a:cs typeface="Gulim"/>
              <a:sym typeface="Gulim"/>
            </a:endParaRPr>
          </a:p>
        </p:txBody>
      </p:sp>
      <p:cxnSp>
        <p:nvCxnSpPr>
          <p:cNvPr id="177" name="Google Shape;177;p10"/>
          <p:cNvCxnSpPr/>
          <p:nvPr/>
        </p:nvCxnSpPr>
        <p:spPr>
          <a:xfrm>
            <a:off x="7696200" y="2895600"/>
            <a:ext cx="228600" cy="609600"/>
          </a:xfrm>
          <a:prstGeom prst="straightConnector1">
            <a:avLst/>
          </a:prstGeom>
          <a:noFill/>
          <a:ln cap="flat" cmpd="sng" w="9525">
            <a:solidFill>
              <a:schemeClr val="dk1"/>
            </a:solidFill>
            <a:prstDash val="solid"/>
            <a:miter lim="800000"/>
            <a:headEnd len="sm" w="sm" type="none"/>
            <a:tailEnd len="sm" w="sm" type="none"/>
          </a:ln>
        </p:spPr>
      </p:cxnSp>
      <p:cxnSp>
        <p:nvCxnSpPr>
          <p:cNvPr id="178" name="Google Shape;178;p10"/>
          <p:cNvCxnSpPr/>
          <p:nvPr/>
        </p:nvCxnSpPr>
        <p:spPr>
          <a:xfrm flipH="1">
            <a:off x="7696200" y="3505200"/>
            <a:ext cx="228600" cy="685800"/>
          </a:xfrm>
          <a:prstGeom prst="straightConnector1">
            <a:avLst/>
          </a:prstGeom>
          <a:noFill/>
          <a:ln cap="flat" cmpd="sng" w="9525">
            <a:solidFill>
              <a:schemeClr val="dk1"/>
            </a:solidFill>
            <a:prstDash val="solid"/>
            <a:miter lim="800000"/>
            <a:headEnd len="sm" w="sm" type="none"/>
            <a:tailEnd len="sm" w="sm" type="none"/>
          </a:ln>
        </p:spPr>
      </p:cxnSp>
      <p:sp>
        <p:nvSpPr>
          <p:cNvPr id="179" name="Google Shape;179;p10"/>
          <p:cNvSpPr txBox="1"/>
          <p:nvPr/>
        </p:nvSpPr>
        <p:spPr>
          <a:xfrm>
            <a:off x="8001000" y="3216275"/>
            <a:ext cx="638175"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OS</a:t>
            </a:r>
            <a:endParaRPr b="0" i="0" sz="1400" u="none" cap="none" strike="noStrike">
              <a:solidFill>
                <a:srgbClr val="000000"/>
              </a:solidFill>
              <a:latin typeface="Arial"/>
              <a:ea typeface="Arial"/>
              <a:cs typeface="Arial"/>
              <a:sym typeface="Arial"/>
            </a:endParaRPr>
          </a:p>
        </p:txBody>
      </p:sp>
      <p:cxnSp>
        <p:nvCxnSpPr>
          <p:cNvPr id="180" name="Google Shape;180;p10"/>
          <p:cNvCxnSpPr/>
          <p:nvPr/>
        </p:nvCxnSpPr>
        <p:spPr>
          <a:xfrm>
            <a:off x="7696200" y="2057400"/>
            <a:ext cx="228600" cy="457200"/>
          </a:xfrm>
          <a:prstGeom prst="straightConnector1">
            <a:avLst/>
          </a:prstGeom>
          <a:noFill/>
          <a:ln cap="flat" cmpd="sng" w="9525">
            <a:solidFill>
              <a:schemeClr val="dk1"/>
            </a:solidFill>
            <a:prstDash val="solid"/>
            <a:miter lim="800000"/>
            <a:headEnd len="sm" w="sm" type="none"/>
            <a:tailEnd len="sm" w="sm" type="none"/>
          </a:ln>
        </p:spPr>
      </p:cxnSp>
      <p:cxnSp>
        <p:nvCxnSpPr>
          <p:cNvPr id="181" name="Google Shape;181;p10"/>
          <p:cNvCxnSpPr/>
          <p:nvPr/>
        </p:nvCxnSpPr>
        <p:spPr>
          <a:xfrm flipH="1">
            <a:off x="7696200" y="2514600"/>
            <a:ext cx="228600" cy="304800"/>
          </a:xfrm>
          <a:prstGeom prst="straightConnector1">
            <a:avLst/>
          </a:prstGeom>
          <a:noFill/>
          <a:ln cap="flat" cmpd="sng" w="9525">
            <a:solidFill>
              <a:schemeClr val="dk1"/>
            </a:solidFill>
            <a:prstDash val="solid"/>
            <a:miter lim="800000"/>
            <a:headEnd len="sm" w="sm" type="none"/>
            <a:tailEnd len="sm" w="sm" type="none"/>
          </a:ln>
        </p:spPr>
      </p:cxnSp>
      <p:sp>
        <p:nvSpPr>
          <p:cNvPr id="182" name="Google Shape;182;p10"/>
          <p:cNvSpPr txBox="1"/>
          <p:nvPr/>
        </p:nvSpPr>
        <p:spPr>
          <a:xfrm>
            <a:off x="7969250" y="2225675"/>
            <a:ext cx="8699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User</a:t>
            </a:r>
            <a:endParaRPr b="0" i="0" sz="1400" u="none" cap="none" strike="noStrike">
              <a:solidFill>
                <a:srgbClr val="000000"/>
              </a:solidFill>
              <a:latin typeface="Arial"/>
              <a:ea typeface="Arial"/>
              <a:cs typeface="Arial"/>
              <a:sym typeface="Arial"/>
            </a:endParaRPr>
          </a:p>
        </p:txBody>
      </p:sp>
      <p:cxnSp>
        <p:nvCxnSpPr>
          <p:cNvPr id="183" name="Google Shape;183;p10"/>
          <p:cNvCxnSpPr/>
          <p:nvPr/>
        </p:nvCxnSpPr>
        <p:spPr>
          <a:xfrm>
            <a:off x="7696200" y="4343400"/>
            <a:ext cx="228600" cy="609600"/>
          </a:xfrm>
          <a:prstGeom prst="straightConnector1">
            <a:avLst/>
          </a:prstGeom>
          <a:noFill/>
          <a:ln cap="flat" cmpd="sng" w="9525">
            <a:solidFill>
              <a:schemeClr val="dk1"/>
            </a:solidFill>
            <a:prstDash val="solid"/>
            <a:miter lim="800000"/>
            <a:headEnd len="sm" w="sm" type="none"/>
            <a:tailEnd len="sm" w="sm" type="none"/>
          </a:ln>
        </p:spPr>
      </p:cxnSp>
      <p:cxnSp>
        <p:nvCxnSpPr>
          <p:cNvPr id="184" name="Google Shape;184;p10"/>
          <p:cNvCxnSpPr/>
          <p:nvPr/>
        </p:nvCxnSpPr>
        <p:spPr>
          <a:xfrm flipH="1">
            <a:off x="7696200" y="4953000"/>
            <a:ext cx="228600" cy="685800"/>
          </a:xfrm>
          <a:prstGeom prst="straightConnector1">
            <a:avLst/>
          </a:prstGeom>
          <a:noFill/>
          <a:ln cap="flat" cmpd="sng" w="9525">
            <a:solidFill>
              <a:schemeClr val="dk1"/>
            </a:solidFill>
            <a:prstDash val="solid"/>
            <a:miter lim="800000"/>
            <a:headEnd len="sm" w="sm" type="none"/>
            <a:tailEnd len="sm" w="sm" type="none"/>
          </a:ln>
        </p:spPr>
      </p:cxnSp>
      <p:sp>
        <p:nvSpPr>
          <p:cNvPr id="185" name="Google Shape;185;p10"/>
          <p:cNvSpPr txBox="1"/>
          <p:nvPr/>
        </p:nvSpPr>
        <p:spPr>
          <a:xfrm>
            <a:off x="8008937" y="4724400"/>
            <a:ext cx="677862" cy="446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NIC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ph type="title"/>
          </p:nvPr>
        </p:nvSpPr>
        <p:spPr>
          <a:xfrm>
            <a:off x="785812" y="381000"/>
            <a:ext cx="7143750" cy="9763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WHAT IS SSL?</a:t>
            </a:r>
            <a:endParaRPr/>
          </a:p>
        </p:txBody>
      </p:sp>
      <p:sp>
        <p:nvSpPr>
          <p:cNvPr id="191" name="Google Shape;191;p11"/>
          <p:cNvSpPr txBox="1"/>
          <p:nvPr>
            <p:ph idx="1" type="body"/>
          </p:nvPr>
        </p:nvSpPr>
        <p:spPr>
          <a:xfrm>
            <a:off x="785812" y="1714500"/>
            <a:ext cx="7748587" cy="445770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rgbClr val="0000FF"/>
                </a:solidFill>
                <a:latin typeface="Gill Sans"/>
                <a:ea typeface="Gill Sans"/>
                <a:cs typeface="Gill Sans"/>
                <a:sym typeface="Gill Sans"/>
              </a:rPr>
              <a:t>SSL is the</a:t>
            </a:r>
            <a:r>
              <a:rPr b="1" i="0" lang="en-US" sz="2800" u="none">
                <a:solidFill>
                  <a:srgbClr val="0000FF"/>
                </a:solidFill>
                <a:latin typeface="Gill Sans"/>
                <a:ea typeface="Gill Sans"/>
                <a:cs typeface="Gill Sans"/>
                <a:sym typeface="Gill Sans"/>
              </a:rPr>
              <a:t> </a:t>
            </a:r>
            <a:r>
              <a:rPr b="0" i="0" lang="en-US" sz="2800" u="none">
                <a:solidFill>
                  <a:srgbClr val="0000FF"/>
                </a:solidFill>
                <a:latin typeface="Gill Sans"/>
                <a:ea typeface="Gill Sans"/>
                <a:cs typeface="Gill Sans"/>
                <a:sym typeface="Gill Sans"/>
              </a:rPr>
              <a:t>protocol used for majority of secure transactions over the Internet</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For example, if you want to buy a book at amazon.com…</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You want to be sure you are dealing with Amazon (</a:t>
            </a:r>
            <a:r>
              <a:rPr b="1" i="0" lang="en-US" sz="2400" u="none" cap="none" strike="noStrike">
                <a:solidFill>
                  <a:srgbClr val="0000FF"/>
                </a:solidFill>
                <a:latin typeface="Gill Sans"/>
                <a:ea typeface="Gill Sans"/>
                <a:cs typeface="Gill Sans"/>
                <a:sym typeface="Gill Sans"/>
              </a:rPr>
              <a:t>authentication</a:t>
            </a:r>
            <a:r>
              <a:rPr b="0" i="0" lang="en-US" sz="2400" u="none" cap="none" strike="noStrike">
                <a:solidFill>
                  <a:schemeClr val="dk2"/>
                </a:solidFill>
                <a:latin typeface="Gill Sans"/>
                <a:ea typeface="Gill Sans"/>
                <a:cs typeface="Gill Sans"/>
                <a:sym typeface="Gill Sans"/>
              </a:rPr>
              <a:t>)</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Your credit card information must be protected in transit (</a:t>
            </a:r>
            <a:r>
              <a:rPr b="1" i="0" lang="en-US" sz="2400" u="none" cap="none" strike="noStrike">
                <a:solidFill>
                  <a:srgbClr val="0000FF"/>
                </a:solidFill>
                <a:latin typeface="Gill Sans"/>
                <a:ea typeface="Gill Sans"/>
                <a:cs typeface="Gill Sans"/>
                <a:sym typeface="Gill Sans"/>
              </a:rPr>
              <a:t>confidentiality</a:t>
            </a:r>
            <a:r>
              <a:rPr b="0" i="0" lang="en-US" sz="2400" u="none" cap="none" strike="noStrike">
                <a:solidFill>
                  <a:schemeClr val="dk2"/>
                </a:solidFill>
                <a:latin typeface="Gill Sans"/>
                <a:ea typeface="Gill Sans"/>
                <a:cs typeface="Gill Sans"/>
                <a:sym typeface="Gill Sans"/>
              </a:rPr>
              <a:t> and/or </a:t>
            </a:r>
            <a:r>
              <a:rPr b="1" i="0" lang="en-US" sz="2400" u="none" cap="none" strike="noStrike">
                <a:solidFill>
                  <a:srgbClr val="0000FF"/>
                </a:solidFill>
                <a:latin typeface="Gill Sans"/>
                <a:ea typeface="Gill Sans"/>
                <a:cs typeface="Gill Sans"/>
                <a:sym typeface="Gill Sans"/>
              </a:rPr>
              <a:t>integrity</a:t>
            </a:r>
            <a:r>
              <a:rPr b="0" i="0" lang="en-US" sz="2400" u="none" cap="none" strike="noStrike">
                <a:solidFill>
                  <a:schemeClr val="dk2"/>
                </a:solidFill>
                <a:latin typeface="Gill Sans"/>
                <a:ea typeface="Gill Sans"/>
                <a:cs typeface="Gill Sans"/>
                <a:sym typeface="Gill Sans"/>
              </a:rPr>
              <a:t>)</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As long as you have money, Amazon doesn’t care who you are (</a:t>
            </a:r>
            <a:r>
              <a:rPr b="0" i="0" lang="en-US" sz="2400" u="none" cap="none" strike="noStrike">
                <a:solidFill>
                  <a:srgbClr val="0000FF"/>
                </a:solidFill>
                <a:latin typeface="Gill Sans"/>
                <a:ea typeface="Gill Sans"/>
                <a:cs typeface="Gill Sans"/>
                <a:sym typeface="Gill Sans"/>
              </a:rPr>
              <a:t>authentication need not be mutual</a:t>
            </a:r>
            <a:r>
              <a:rPr b="0" i="0" lang="en-US" sz="2400" u="none" cap="none" strike="noStrike">
                <a:solidFill>
                  <a:schemeClr val="dk2"/>
                </a:solidFill>
                <a:latin typeface="Gill Sans"/>
                <a:ea typeface="Gill Sans"/>
                <a:cs typeface="Gill Sans"/>
                <a:sym typeface="Gill Sans"/>
              </a:rPr>
              <a:t>)</a:t>
            </a:r>
            <a:endParaRPr/>
          </a:p>
        </p:txBody>
      </p:sp>
      <p:sp>
        <p:nvSpPr>
          <p:cNvPr id="192" name="Google Shape;192;p11"/>
          <p:cNvSpPr txBox="1"/>
          <p:nvPr/>
        </p:nvSpPr>
        <p:spPr>
          <a:xfrm>
            <a:off x="468312" y="6346825"/>
            <a:ext cx="714375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193" name="Google Shape;193;p11"/>
          <p:cNvSpPr txBox="1"/>
          <p:nvPr/>
        </p:nvSpPr>
        <p:spPr>
          <a:xfrm>
            <a:off x="7764462" y="6346825"/>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type="title"/>
          </p:nvPr>
        </p:nvSpPr>
        <p:spPr>
          <a:xfrm>
            <a:off x="785812" y="533400"/>
            <a:ext cx="7143750" cy="8239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SIMPLE SSL-LIKE PROTOCOL</a:t>
            </a:r>
            <a:endParaRPr/>
          </a:p>
        </p:txBody>
      </p:sp>
      <p:sp>
        <p:nvSpPr>
          <p:cNvPr id="199" name="Google Shape;199;p12"/>
          <p:cNvSpPr txBox="1"/>
          <p:nvPr>
            <p:ph idx="1" type="body"/>
          </p:nvPr>
        </p:nvSpPr>
        <p:spPr>
          <a:xfrm>
            <a:off x="1116012" y="4837112"/>
            <a:ext cx="6694487" cy="1222375"/>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Is Alice sure she’s talking to Bob?</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Is Bob sure he’s talking to Alice?</a:t>
            </a:r>
            <a:endParaRPr/>
          </a:p>
        </p:txBody>
      </p:sp>
      <p:sp>
        <p:nvSpPr>
          <p:cNvPr id="200" name="Google Shape;200;p12"/>
          <p:cNvSpPr txBox="1"/>
          <p:nvPr/>
        </p:nvSpPr>
        <p:spPr>
          <a:xfrm>
            <a:off x="382587" y="6370637"/>
            <a:ext cx="66929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201" name="Google Shape;201;p12"/>
          <p:cNvSpPr txBox="1"/>
          <p:nvPr/>
        </p:nvSpPr>
        <p:spPr>
          <a:xfrm>
            <a:off x="7810500" y="6337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cxnSp>
        <p:nvCxnSpPr>
          <p:cNvPr id="202" name="Google Shape;202;p12"/>
          <p:cNvCxnSpPr/>
          <p:nvPr/>
        </p:nvCxnSpPr>
        <p:spPr>
          <a:xfrm>
            <a:off x="2286000" y="2478087"/>
            <a:ext cx="46482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203" name="Google Shape;203;p12"/>
          <p:cNvCxnSpPr/>
          <p:nvPr/>
        </p:nvCxnSpPr>
        <p:spPr>
          <a:xfrm rot="10800000">
            <a:off x="2209800" y="3087687"/>
            <a:ext cx="4724400" cy="0"/>
          </a:xfrm>
          <a:prstGeom prst="straightConnector1">
            <a:avLst/>
          </a:prstGeom>
          <a:noFill/>
          <a:ln cap="flat" cmpd="sng" w="50800">
            <a:solidFill>
              <a:schemeClr val="dk1"/>
            </a:solidFill>
            <a:prstDash val="solid"/>
            <a:miter lim="800000"/>
            <a:headEnd len="sm" w="sm" type="none"/>
            <a:tailEnd len="med" w="med" type="triangle"/>
          </a:ln>
        </p:spPr>
      </p:cxnSp>
      <p:sp>
        <p:nvSpPr>
          <p:cNvPr id="204" name="Google Shape;204;p12"/>
          <p:cNvSpPr txBox="1"/>
          <p:nvPr/>
        </p:nvSpPr>
        <p:spPr>
          <a:xfrm>
            <a:off x="1143000" y="3902075"/>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Alice</a:t>
            </a:r>
            <a:endParaRPr b="0" i="0" sz="1400" u="none" cap="none" strike="noStrike">
              <a:solidFill>
                <a:srgbClr val="000000"/>
              </a:solidFill>
              <a:latin typeface="Arial"/>
              <a:ea typeface="Arial"/>
              <a:cs typeface="Arial"/>
              <a:sym typeface="Arial"/>
            </a:endParaRPr>
          </a:p>
        </p:txBody>
      </p:sp>
      <p:sp>
        <p:nvSpPr>
          <p:cNvPr id="205" name="Google Shape;205;p12"/>
          <p:cNvSpPr txBox="1"/>
          <p:nvPr/>
        </p:nvSpPr>
        <p:spPr>
          <a:xfrm>
            <a:off x="7346950" y="382587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Bob</a:t>
            </a:r>
            <a:endParaRPr b="0" i="0" sz="1400" u="none" cap="none" strike="noStrike">
              <a:solidFill>
                <a:srgbClr val="000000"/>
              </a:solidFill>
              <a:latin typeface="Arial"/>
              <a:ea typeface="Arial"/>
              <a:cs typeface="Arial"/>
              <a:sym typeface="Arial"/>
            </a:endParaRPr>
          </a:p>
        </p:txBody>
      </p:sp>
      <p:cxnSp>
        <p:nvCxnSpPr>
          <p:cNvPr id="206" name="Google Shape;206;p12"/>
          <p:cNvCxnSpPr/>
          <p:nvPr/>
        </p:nvCxnSpPr>
        <p:spPr>
          <a:xfrm>
            <a:off x="2286000" y="3681412"/>
            <a:ext cx="4648200" cy="0"/>
          </a:xfrm>
          <a:prstGeom prst="straightConnector1">
            <a:avLst/>
          </a:prstGeom>
          <a:noFill/>
          <a:ln cap="flat" cmpd="sng" w="50800">
            <a:solidFill>
              <a:schemeClr val="dk1"/>
            </a:solidFill>
            <a:prstDash val="solid"/>
            <a:miter lim="800000"/>
            <a:headEnd len="sm" w="sm" type="none"/>
            <a:tailEnd len="med" w="med" type="triangle"/>
          </a:ln>
        </p:spPr>
      </p:cxnSp>
      <p:sp>
        <p:nvSpPr>
          <p:cNvPr id="207" name="Google Shape;207;p12"/>
          <p:cNvSpPr txBox="1"/>
          <p:nvPr/>
        </p:nvSpPr>
        <p:spPr>
          <a:xfrm>
            <a:off x="2590800" y="1981200"/>
            <a:ext cx="4079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I’d like to talk to you securely</a:t>
            </a:r>
            <a:endParaRPr b="0" i="0" sz="1400" u="none" cap="none" strike="noStrike">
              <a:solidFill>
                <a:srgbClr val="000000"/>
              </a:solidFill>
              <a:latin typeface="Arial"/>
              <a:ea typeface="Arial"/>
              <a:cs typeface="Arial"/>
              <a:sym typeface="Arial"/>
            </a:endParaRPr>
          </a:p>
        </p:txBody>
      </p:sp>
      <p:sp>
        <p:nvSpPr>
          <p:cNvPr id="208" name="Google Shape;208;p12"/>
          <p:cNvSpPr txBox="1"/>
          <p:nvPr/>
        </p:nvSpPr>
        <p:spPr>
          <a:xfrm>
            <a:off x="3124200" y="2590800"/>
            <a:ext cx="29448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Here’s my certificate</a:t>
            </a:r>
            <a:endParaRPr b="0" i="0" sz="1400" u="none" cap="none" strike="noStrike">
              <a:solidFill>
                <a:srgbClr val="000000"/>
              </a:solidFill>
              <a:latin typeface="Arial"/>
              <a:ea typeface="Arial"/>
              <a:cs typeface="Arial"/>
              <a:sym typeface="Arial"/>
            </a:endParaRPr>
          </a:p>
        </p:txBody>
      </p:sp>
      <p:sp>
        <p:nvSpPr>
          <p:cNvPr id="209" name="Google Shape;209;p12"/>
          <p:cNvSpPr txBox="1"/>
          <p:nvPr/>
        </p:nvSpPr>
        <p:spPr>
          <a:xfrm>
            <a:off x="3729023" y="3124200"/>
            <a:ext cx="13899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{K</a:t>
            </a:r>
            <a:r>
              <a:rPr b="0" baseline="-25000" i="0" lang="en-US" sz="2400" u="none" cap="none" strike="noStrike">
                <a:solidFill>
                  <a:schemeClr val="dk1"/>
                </a:solidFill>
                <a:latin typeface="Times"/>
                <a:ea typeface="Times"/>
                <a:cs typeface="Times"/>
                <a:sym typeface="Times"/>
              </a:rPr>
              <a:t>AB</a:t>
            </a:r>
            <a:r>
              <a:rPr b="0" i="0" lang="en-US" sz="2400" u="none" cap="none" strike="noStrike">
                <a:solidFill>
                  <a:schemeClr val="dk1"/>
                </a:solidFill>
                <a:latin typeface="Times"/>
                <a:ea typeface="Times"/>
                <a:cs typeface="Times"/>
                <a:sym typeface="Times"/>
              </a:rPr>
              <a:t>}</a:t>
            </a:r>
            <a:r>
              <a:rPr b="0" baseline="-25000" i="0" lang="en-US" sz="2400" u="none" cap="none" strike="noStrike">
                <a:solidFill>
                  <a:schemeClr val="dk1"/>
                </a:solidFill>
                <a:latin typeface="Times"/>
                <a:ea typeface="Times"/>
                <a:cs typeface="Times"/>
                <a:sym typeface="Times"/>
              </a:rPr>
              <a:t>Bob</a:t>
            </a:r>
            <a:endParaRPr b="0" i="0" sz="1400" u="none" cap="none" strike="noStrike">
              <a:solidFill>
                <a:srgbClr val="000000"/>
              </a:solidFill>
              <a:latin typeface="Arial"/>
              <a:ea typeface="Arial"/>
              <a:cs typeface="Arial"/>
              <a:sym typeface="Arial"/>
            </a:endParaRPr>
          </a:p>
        </p:txBody>
      </p:sp>
      <p:sp>
        <p:nvSpPr>
          <p:cNvPr id="210" name="Google Shape;210;p12"/>
          <p:cNvSpPr txBox="1"/>
          <p:nvPr/>
        </p:nvSpPr>
        <p:spPr>
          <a:xfrm>
            <a:off x="3276600" y="3810000"/>
            <a:ext cx="23352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protected HTTP</a:t>
            </a:r>
            <a:endParaRPr b="0" i="0" sz="1400" u="none" cap="none" strike="noStrike">
              <a:solidFill>
                <a:srgbClr val="000000"/>
              </a:solidFill>
              <a:latin typeface="Arial"/>
              <a:ea typeface="Arial"/>
              <a:cs typeface="Arial"/>
              <a:sym typeface="Arial"/>
            </a:endParaRPr>
          </a:p>
        </p:txBody>
      </p:sp>
      <p:cxnSp>
        <p:nvCxnSpPr>
          <p:cNvPr id="211" name="Google Shape;211;p12"/>
          <p:cNvCxnSpPr/>
          <p:nvPr/>
        </p:nvCxnSpPr>
        <p:spPr>
          <a:xfrm>
            <a:off x="2209800" y="4267200"/>
            <a:ext cx="4724400" cy="0"/>
          </a:xfrm>
          <a:prstGeom prst="straightConnector1">
            <a:avLst/>
          </a:prstGeom>
          <a:noFill/>
          <a:ln cap="flat" cmpd="sng" w="50800">
            <a:solidFill>
              <a:schemeClr val="dk1"/>
            </a:solidFill>
            <a:prstDash val="solid"/>
            <a:miter lim="800000"/>
            <a:headEnd len="med" w="med" type="triangle"/>
            <a:tailEnd len="med" w="med" type="triangle"/>
          </a:ln>
        </p:spPr>
      </p:cxnSp>
      <p:pic>
        <p:nvPicPr>
          <p:cNvPr id="212" name="Google Shape;212;p12"/>
          <p:cNvPicPr preferRelativeResize="0"/>
          <p:nvPr/>
        </p:nvPicPr>
        <p:blipFill rotWithShape="1">
          <a:blip r:embed="rId3">
            <a:alphaModFix/>
          </a:blip>
          <a:srcRect b="0" l="0" r="0" t="0"/>
          <a:stretch/>
        </p:blipFill>
        <p:spPr>
          <a:xfrm>
            <a:off x="1066800" y="2286000"/>
            <a:ext cx="946150" cy="1624012"/>
          </a:xfrm>
          <a:prstGeom prst="rect">
            <a:avLst/>
          </a:prstGeom>
          <a:noFill/>
          <a:ln>
            <a:noFill/>
          </a:ln>
        </p:spPr>
      </p:pic>
      <p:pic>
        <p:nvPicPr>
          <p:cNvPr id="213" name="Google Shape;213;p12"/>
          <p:cNvPicPr preferRelativeResize="0"/>
          <p:nvPr/>
        </p:nvPicPr>
        <p:blipFill rotWithShape="1">
          <a:blip r:embed="rId4">
            <a:alphaModFix/>
          </a:blip>
          <a:srcRect b="0" l="0" r="0" t="0"/>
          <a:stretch/>
        </p:blipFill>
        <p:spPr>
          <a:xfrm>
            <a:off x="7162800" y="2209800"/>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2"/>
                                        </p:tgtEl>
                                        <p:attrNameLst>
                                          <p:attrName>style.visibility</p:attrName>
                                        </p:attrNameLst>
                                      </p:cBhvr>
                                      <p:to>
                                        <p:strVal val="visible"/>
                                      </p:to>
                                    </p:set>
                                    <p:anim calcmode="lin" valueType="num">
                                      <p:cBhvr additive="base">
                                        <p:cTn dur="500"/>
                                        <p:tgtEl>
                                          <p:spTgt spid="20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03"/>
                                        </p:tgtEl>
                                        <p:attrNameLst>
                                          <p:attrName>style.visibility</p:attrName>
                                        </p:attrNameLst>
                                      </p:cBhvr>
                                      <p:to>
                                        <p:strVal val="visible"/>
                                      </p:to>
                                    </p:set>
                                    <p:anim calcmode="lin" valueType="num">
                                      <p:cBhvr additive="base">
                                        <p:cTn dur="500"/>
                                        <p:tgtEl>
                                          <p:spTgt spid="203"/>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500"/>
                                        <p:tgtEl>
                                          <p:spTgt spid="206"/>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500"/>
                                        <p:tgtEl>
                                          <p:spTgt spid="211"/>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3"/>
          <p:cNvSpPr txBox="1"/>
          <p:nvPr>
            <p:ph type="title"/>
          </p:nvPr>
        </p:nvSpPr>
        <p:spPr>
          <a:xfrm>
            <a:off x="785812" y="428625"/>
            <a:ext cx="7286625" cy="9286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SIMPLIFIED SSL PROTOCOL</a:t>
            </a:r>
            <a:endParaRPr/>
          </a:p>
        </p:txBody>
      </p:sp>
      <p:sp>
        <p:nvSpPr>
          <p:cNvPr id="219" name="Google Shape;219;p13"/>
          <p:cNvSpPr txBox="1"/>
          <p:nvPr>
            <p:ph idx="1" type="body"/>
          </p:nvPr>
        </p:nvSpPr>
        <p:spPr>
          <a:xfrm>
            <a:off x="785812" y="4500562"/>
            <a:ext cx="7215187" cy="1785937"/>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90000"/>
              </a:lnSpc>
              <a:spcBef>
                <a:spcPts val="0"/>
              </a:spcBef>
              <a:spcAft>
                <a:spcPts val="0"/>
              </a:spcAft>
              <a:buClr>
                <a:schemeClr val="accent2"/>
              </a:buClr>
              <a:buSzPts val="2024"/>
              <a:buFont typeface="Noto Sans Symbols"/>
              <a:buChar char="◼"/>
            </a:pPr>
            <a:r>
              <a:rPr b="0" i="0" lang="en-US" sz="2200" u="none">
                <a:solidFill>
                  <a:schemeClr val="dk2"/>
                </a:solidFill>
                <a:latin typeface="Times"/>
                <a:ea typeface="Times"/>
                <a:cs typeface="Times"/>
                <a:sym typeface="Times"/>
              </a:rPr>
              <a:t>S</a:t>
            </a:r>
            <a:r>
              <a:rPr b="0" i="0" lang="en-US" sz="2200" u="none">
                <a:solidFill>
                  <a:schemeClr val="dk2"/>
                </a:solidFill>
                <a:latin typeface="Gill Sans"/>
                <a:ea typeface="Gill Sans"/>
                <a:cs typeface="Gill Sans"/>
                <a:sym typeface="Gill Sans"/>
              </a:rPr>
              <a:t> is </a:t>
            </a:r>
            <a:r>
              <a:rPr b="1" i="0" lang="en-US" sz="2200" u="none">
                <a:solidFill>
                  <a:srgbClr val="0000FF"/>
                </a:solidFill>
                <a:latin typeface="Gill Sans"/>
                <a:ea typeface="Gill Sans"/>
                <a:cs typeface="Gill Sans"/>
                <a:sym typeface="Gill Sans"/>
              </a:rPr>
              <a:t>pre-master secret</a:t>
            </a:r>
            <a:endParaRPr b="0" i="0" sz="2200" u="none">
              <a:solidFill>
                <a:srgbClr val="0000FF"/>
              </a:solidFill>
              <a:latin typeface="Gill Sans"/>
              <a:ea typeface="Gill Sans"/>
              <a:cs typeface="Gill Sans"/>
              <a:sym typeface="Gill Sans"/>
            </a:endParaRPr>
          </a:p>
          <a:p>
            <a:pPr indent="-304800" lvl="0" marL="304800" marR="0" rtl="0" algn="l">
              <a:lnSpc>
                <a:spcPct val="90000"/>
              </a:lnSpc>
              <a:spcBef>
                <a:spcPts val="1040"/>
              </a:spcBef>
              <a:spcAft>
                <a:spcPts val="0"/>
              </a:spcAft>
              <a:buClr>
                <a:schemeClr val="accent2"/>
              </a:buClr>
              <a:buSzPts val="2024"/>
              <a:buFont typeface="Noto Sans Symbols"/>
              <a:buChar char="◼"/>
            </a:pPr>
            <a:r>
              <a:rPr b="0" i="0" lang="en-US" sz="2200" u="none">
                <a:solidFill>
                  <a:schemeClr val="dk2"/>
                </a:solidFill>
                <a:latin typeface="Times"/>
                <a:ea typeface="Times"/>
                <a:cs typeface="Times"/>
                <a:sym typeface="Times"/>
              </a:rPr>
              <a:t>K = h(S,R</a:t>
            </a:r>
            <a:r>
              <a:rPr b="0" baseline="-25000" i="0" lang="en-US" sz="2200" u="none">
                <a:solidFill>
                  <a:schemeClr val="dk2"/>
                </a:solidFill>
                <a:latin typeface="Times"/>
                <a:ea typeface="Times"/>
                <a:cs typeface="Times"/>
                <a:sym typeface="Times"/>
              </a:rPr>
              <a:t>A</a:t>
            </a:r>
            <a:r>
              <a:rPr b="0" i="0" lang="en-US" sz="2200" u="none">
                <a:solidFill>
                  <a:schemeClr val="dk2"/>
                </a:solidFill>
                <a:latin typeface="Times"/>
                <a:ea typeface="Times"/>
                <a:cs typeface="Times"/>
                <a:sym typeface="Times"/>
              </a:rPr>
              <a:t>,R</a:t>
            </a:r>
            <a:r>
              <a:rPr b="0" baseline="-25000" i="0" lang="en-US" sz="2200" u="none">
                <a:solidFill>
                  <a:schemeClr val="dk2"/>
                </a:solidFill>
                <a:latin typeface="Times"/>
                <a:ea typeface="Times"/>
                <a:cs typeface="Times"/>
                <a:sym typeface="Times"/>
              </a:rPr>
              <a:t>B</a:t>
            </a:r>
            <a:r>
              <a:rPr b="0" i="0" lang="en-US" sz="2200" u="none">
                <a:solidFill>
                  <a:schemeClr val="dk2"/>
                </a:solidFill>
                <a:latin typeface="Times"/>
                <a:ea typeface="Times"/>
                <a:cs typeface="Times"/>
                <a:sym typeface="Times"/>
              </a:rPr>
              <a:t>)</a:t>
            </a:r>
            <a:endParaRPr b="0" i="0" sz="2200" u="none">
              <a:solidFill>
                <a:schemeClr val="dk2"/>
              </a:solidFill>
              <a:latin typeface="Gill Sans"/>
              <a:ea typeface="Gill Sans"/>
              <a:cs typeface="Gill Sans"/>
              <a:sym typeface="Gill Sans"/>
            </a:endParaRPr>
          </a:p>
          <a:p>
            <a:pPr indent="-304800" lvl="0" marL="304800" marR="0" rtl="0" algn="l">
              <a:lnSpc>
                <a:spcPct val="90000"/>
              </a:lnSpc>
              <a:spcBef>
                <a:spcPts val="1040"/>
              </a:spcBef>
              <a:spcAft>
                <a:spcPts val="0"/>
              </a:spcAft>
              <a:buClr>
                <a:schemeClr val="accent2"/>
              </a:buClr>
              <a:buSzPts val="2024"/>
              <a:buFont typeface="Noto Sans Symbols"/>
              <a:buChar char="◼"/>
            </a:pPr>
            <a:r>
              <a:rPr b="0" i="0" lang="en-US" sz="2200" u="none">
                <a:solidFill>
                  <a:schemeClr val="dk2"/>
                </a:solidFill>
                <a:latin typeface="Times"/>
                <a:ea typeface="Times"/>
                <a:cs typeface="Times"/>
                <a:sym typeface="Times"/>
              </a:rPr>
              <a:t>msgs</a:t>
            </a:r>
            <a:r>
              <a:rPr b="0" i="0" lang="en-US" sz="2200" u="none">
                <a:solidFill>
                  <a:schemeClr val="dk2"/>
                </a:solidFill>
                <a:latin typeface="Gill Sans"/>
                <a:ea typeface="Gill Sans"/>
                <a:cs typeface="Gill Sans"/>
                <a:sym typeface="Gill Sans"/>
              </a:rPr>
              <a:t> = all previous messages</a:t>
            </a:r>
            <a:endParaRPr/>
          </a:p>
          <a:p>
            <a:pPr indent="-304800" lvl="0" marL="304800" marR="0" rtl="0" algn="l">
              <a:lnSpc>
                <a:spcPct val="90000"/>
              </a:lnSpc>
              <a:spcBef>
                <a:spcPts val="1040"/>
              </a:spcBef>
              <a:spcAft>
                <a:spcPts val="0"/>
              </a:spcAft>
              <a:buClr>
                <a:schemeClr val="accent2"/>
              </a:buClr>
              <a:buSzPts val="2024"/>
              <a:buFont typeface="Noto Sans Symbols"/>
              <a:buChar char="◼"/>
            </a:pPr>
            <a:r>
              <a:rPr b="0" i="0" lang="en-US" sz="2200" u="none">
                <a:solidFill>
                  <a:schemeClr val="dk2"/>
                </a:solidFill>
                <a:latin typeface="Times"/>
                <a:ea typeface="Times"/>
                <a:cs typeface="Times"/>
                <a:sym typeface="Times"/>
              </a:rPr>
              <a:t>CLNT</a:t>
            </a:r>
            <a:r>
              <a:rPr b="0" i="0" lang="en-US" sz="2200" u="none">
                <a:solidFill>
                  <a:schemeClr val="dk2"/>
                </a:solidFill>
                <a:latin typeface="Gill Sans"/>
                <a:ea typeface="Gill Sans"/>
                <a:cs typeface="Gill Sans"/>
                <a:sym typeface="Gill Sans"/>
              </a:rPr>
              <a:t> and </a:t>
            </a:r>
            <a:r>
              <a:rPr b="0" i="0" lang="en-US" sz="2200" u="none">
                <a:solidFill>
                  <a:schemeClr val="dk2"/>
                </a:solidFill>
                <a:latin typeface="Times"/>
                <a:ea typeface="Times"/>
                <a:cs typeface="Times"/>
                <a:sym typeface="Times"/>
              </a:rPr>
              <a:t>SRVR</a:t>
            </a:r>
            <a:r>
              <a:rPr b="0" i="0" lang="en-US" sz="2200" u="none">
                <a:solidFill>
                  <a:schemeClr val="dk2"/>
                </a:solidFill>
                <a:latin typeface="Gill Sans"/>
                <a:ea typeface="Gill Sans"/>
                <a:cs typeface="Gill Sans"/>
                <a:sym typeface="Gill Sans"/>
              </a:rPr>
              <a:t> are constants</a:t>
            </a:r>
            <a:endParaRPr/>
          </a:p>
        </p:txBody>
      </p:sp>
      <p:sp>
        <p:nvSpPr>
          <p:cNvPr id="220" name="Google Shape;220;p13"/>
          <p:cNvSpPr txBox="1"/>
          <p:nvPr/>
        </p:nvSpPr>
        <p:spPr>
          <a:xfrm>
            <a:off x="450850" y="6427787"/>
            <a:ext cx="7269162"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221" name="Google Shape;221;p13"/>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cxnSp>
        <p:nvCxnSpPr>
          <p:cNvPr id="222" name="Google Shape;222;p13"/>
          <p:cNvCxnSpPr/>
          <p:nvPr/>
        </p:nvCxnSpPr>
        <p:spPr>
          <a:xfrm>
            <a:off x="1995487" y="2224087"/>
            <a:ext cx="46482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223" name="Google Shape;223;p13"/>
          <p:cNvCxnSpPr/>
          <p:nvPr/>
        </p:nvCxnSpPr>
        <p:spPr>
          <a:xfrm rot="10800000">
            <a:off x="1919287" y="2681287"/>
            <a:ext cx="4724400" cy="0"/>
          </a:xfrm>
          <a:prstGeom prst="straightConnector1">
            <a:avLst/>
          </a:prstGeom>
          <a:noFill/>
          <a:ln cap="flat" cmpd="sng" w="50800">
            <a:solidFill>
              <a:schemeClr val="dk1"/>
            </a:solidFill>
            <a:prstDash val="solid"/>
            <a:miter lim="800000"/>
            <a:headEnd len="sm" w="sm" type="none"/>
            <a:tailEnd len="med" w="med" type="triangle"/>
          </a:ln>
        </p:spPr>
      </p:cxnSp>
      <p:sp>
        <p:nvSpPr>
          <p:cNvPr id="224" name="Google Shape;224;p13"/>
          <p:cNvSpPr txBox="1"/>
          <p:nvPr/>
        </p:nvSpPr>
        <p:spPr>
          <a:xfrm>
            <a:off x="790575" y="3763962"/>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Alice</a:t>
            </a:r>
            <a:endParaRPr b="0" i="0" sz="1400" u="none" cap="none" strike="noStrike">
              <a:solidFill>
                <a:srgbClr val="000000"/>
              </a:solidFill>
              <a:latin typeface="Arial"/>
              <a:ea typeface="Arial"/>
              <a:cs typeface="Arial"/>
              <a:sym typeface="Arial"/>
            </a:endParaRPr>
          </a:p>
        </p:txBody>
      </p:sp>
      <p:sp>
        <p:nvSpPr>
          <p:cNvPr id="225" name="Google Shape;225;p13"/>
          <p:cNvSpPr txBox="1"/>
          <p:nvPr/>
        </p:nvSpPr>
        <p:spPr>
          <a:xfrm>
            <a:off x="7132637" y="3687762"/>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Bob</a:t>
            </a:r>
            <a:endParaRPr b="0" i="0" sz="1400" u="none" cap="none" strike="noStrike">
              <a:solidFill>
                <a:srgbClr val="000000"/>
              </a:solidFill>
              <a:latin typeface="Arial"/>
              <a:ea typeface="Arial"/>
              <a:cs typeface="Arial"/>
              <a:sym typeface="Arial"/>
            </a:endParaRPr>
          </a:p>
        </p:txBody>
      </p:sp>
      <p:cxnSp>
        <p:nvCxnSpPr>
          <p:cNvPr id="226" name="Google Shape;226;p13"/>
          <p:cNvCxnSpPr/>
          <p:nvPr/>
        </p:nvCxnSpPr>
        <p:spPr>
          <a:xfrm>
            <a:off x="1919287" y="3284537"/>
            <a:ext cx="4648200" cy="0"/>
          </a:xfrm>
          <a:prstGeom prst="straightConnector1">
            <a:avLst/>
          </a:prstGeom>
          <a:noFill/>
          <a:ln cap="flat" cmpd="sng" w="50800">
            <a:solidFill>
              <a:schemeClr val="dk1"/>
            </a:solidFill>
            <a:prstDash val="solid"/>
            <a:miter lim="800000"/>
            <a:headEnd len="sm" w="sm" type="none"/>
            <a:tailEnd len="med" w="med" type="triangle"/>
          </a:ln>
        </p:spPr>
      </p:cxnSp>
      <p:sp>
        <p:nvSpPr>
          <p:cNvPr id="227" name="Google Shape;227;p13"/>
          <p:cNvSpPr txBox="1"/>
          <p:nvPr/>
        </p:nvSpPr>
        <p:spPr>
          <a:xfrm>
            <a:off x="2122487" y="1766887"/>
            <a:ext cx="39274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Can we talk?, cipher list, R</a:t>
            </a:r>
            <a:r>
              <a:rPr b="0" baseline="-25000" i="0" lang="en-US" sz="2400" u="none" cap="none" strike="noStrike">
                <a:solidFill>
                  <a:schemeClr val="dk1"/>
                </a:solidFill>
                <a:latin typeface="Times"/>
                <a:ea typeface="Times"/>
                <a:cs typeface="Times"/>
                <a:sym typeface="Times"/>
              </a:rPr>
              <a:t>A</a:t>
            </a:r>
            <a:endParaRPr b="0" i="0" sz="1400" u="none" cap="none" strike="noStrike">
              <a:solidFill>
                <a:srgbClr val="000000"/>
              </a:solidFill>
              <a:latin typeface="Arial"/>
              <a:ea typeface="Arial"/>
              <a:cs typeface="Arial"/>
              <a:sym typeface="Arial"/>
            </a:endParaRPr>
          </a:p>
        </p:txBody>
      </p:sp>
      <p:sp>
        <p:nvSpPr>
          <p:cNvPr id="228" name="Google Shape;228;p13"/>
          <p:cNvSpPr txBox="1"/>
          <p:nvPr/>
        </p:nvSpPr>
        <p:spPr>
          <a:xfrm>
            <a:off x="2649537" y="2224087"/>
            <a:ext cx="30797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Certificate, cipher, R</a:t>
            </a:r>
            <a:r>
              <a:rPr b="0" baseline="-25000" i="0" lang="en-US" sz="2400" u="none" cap="none" strike="noStrike">
                <a:solidFill>
                  <a:schemeClr val="dk1"/>
                </a:solidFill>
                <a:latin typeface="Times"/>
                <a:ea typeface="Times"/>
                <a:cs typeface="Times"/>
                <a:sym typeface="Times"/>
              </a:rPr>
              <a:t>B</a:t>
            </a:r>
            <a:endParaRPr b="0" i="0" sz="1400" u="none" cap="none" strike="noStrike">
              <a:solidFill>
                <a:srgbClr val="000000"/>
              </a:solidFill>
              <a:latin typeface="Arial"/>
              <a:ea typeface="Arial"/>
              <a:cs typeface="Arial"/>
              <a:sym typeface="Arial"/>
            </a:endParaRPr>
          </a:p>
        </p:txBody>
      </p:sp>
      <p:sp>
        <p:nvSpPr>
          <p:cNvPr id="229" name="Google Shape;229;p13"/>
          <p:cNvSpPr txBox="1"/>
          <p:nvPr/>
        </p:nvSpPr>
        <p:spPr>
          <a:xfrm>
            <a:off x="2176462" y="2681287"/>
            <a:ext cx="40862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{S}</a:t>
            </a:r>
            <a:r>
              <a:rPr b="0" baseline="-25000" i="0" lang="en-US" sz="2400" u="none" cap="none" strike="noStrike">
                <a:solidFill>
                  <a:schemeClr val="dk1"/>
                </a:solidFill>
                <a:latin typeface="Times"/>
                <a:ea typeface="Times"/>
                <a:cs typeface="Times"/>
                <a:sym typeface="Times"/>
              </a:rPr>
              <a:t>Bob</a:t>
            </a:r>
            <a:r>
              <a:rPr b="0" i="0" lang="en-US" sz="2400" u="none" cap="none" strike="noStrike">
                <a:solidFill>
                  <a:schemeClr val="dk1"/>
                </a:solidFill>
                <a:latin typeface="Times"/>
                <a:ea typeface="Times"/>
                <a:cs typeface="Times"/>
                <a:sym typeface="Times"/>
              </a:rPr>
              <a:t>, E(h(msgs,CLNT,K),K)</a:t>
            </a:r>
            <a:endParaRPr b="0" i="0" sz="1400" u="none" cap="none" strike="noStrike">
              <a:solidFill>
                <a:srgbClr val="000000"/>
              </a:solidFill>
              <a:latin typeface="Arial"/>
              <a:ea typeface="Arial"/>
              <a:cs typeface="Arial"/>
              <a:sym typeface="Arial"/>
            </a:endParaRPr>
          </a:p>
        </p:txBody>
      </p:sp>
      <p:sp>
        <p:nvSpPr>
          <p:cNvPr id="230" name="Google Shape;230;p13"/>
          <p:cNvSpPr txBox="1"/>
          <p:nvPr/>
        </p:nvSpPr>
        <p:spPr>
          <a:xfrm>
            <a:off x="2528887" y="3671887"/>
            <a:ext cx="3657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Data protected with key K</a:t>
            </a:r>
            <a:endParaRPr b="0" i="0" sz="1400" u="none" cap="none" strike="noStrike">
              <a:solidFill>
                <a:srgbClr val="000000"/>
              </a:solidFill>
              <a:latin typeface="Arial"/>
              <a:ea typeface="Arial"/>
              <a:cs typeface="Arial"/>
              <a:sym typeface="Arial"/>
            </a:endParaRPr>
          </a:p>
        </p:txBody>
      </p:sp>
      <p:cxnSp>
        <p:nvCxnSpPr>
          <p:cNvPr id="231" name="Google Shape;231;p13"/>
          <p:cNvCxnSpPr/>
          <p:nvPr/>
        </p:nvCxnSpPr>
        <p:spPr>
          <a:xfrm>
            <a:off x="1919287" y="4129087"/>
            <a:ext cx="4724400" cy="0"/>
          </a:xfrm>
          <a:prstGeom prst="straightConnector1">
            <a:avLst/>
          </a:prstGeom>
          <a:noFill/>
          <a:ln cap="flat" cmpd="sng" w="50800">
            <a:solidFill>
              <a:schemeClr val="dk1"/>
            </a:solidFill>
            <a:prstDash val="solid"/>
            <a:miter lim="800000"/>
            <a:headEnd len="med" w="med" type="triangle"/>
            <a:tailEnd len="med" w="med" type="triangle"/>
          </a:ln>
        </p:spPr>
      </p:cxnSp>
      <p:cxnSp>
        <p:nvCxnSpPr>
          <p:cNvPr id="232" name="Google Shape;232;p13"/>
          <p:cNvCxnSpPr/>
          <p:nvPr/>
        </p:nvCxnSpPr>
        <p:spPr>
          <a:xfrm rot="10800000">
            <a:off x="1919287" y="3671887"/>
            <a:ext cx="4724400" cy="0"/>
          </a:xfrm>
          <a:prstGeom prst="straightConnector1">
            <a:avLst/>
          </a:prstGeom>
          <a:noFill/>
          <a:ln cap="flat" cmpd="sng" w="50800">
            <a:solidFill>
              <a:schemeClr val="dk1"/>
            </a:solidFill>
            <a:prstDash val="solid"/>
            <a:miter lim="800000"/>
            <a:headEnd len="sm" w="sm" type="none"/>
            <a:tailEnd len="med" w="med" type="triangle"/>
          </a:ln>
        </p:spPr>
      </p:cxnSp>
      <p:sp>
        <p:nvSpPr>
          <p:cNvPr id="233" name="Google Shape;233;p13"/>
          <p:cNvSpPr txBox="1"/>
          <p:nvPr/>
        </p:nvSpPr>
        <p:spPr>
          <a:xfrm>
            <a:off x="3071812" y="3214687"/>
            <a:ext cx="25050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h(msgs,SRVR,K)</a:t>
            </a:r>
            <a:endParaRPr b="0" i="0" sz="1400" u="none" cap="none" strike="noStrike">
              <a:solidFill>
                <a:srgbClr val="000000"/>
              </a:solidFill>
              <a:latin typeface="Arial"/>
              <a:ea typeface="Arial"/>
              <a:cs typeface="Arial"/>
              <a:sym typeface="Arial"/>
            </a:endParaRPr>
          </a:p>
        </p:txBody>
      </p:sp>
      <p:pic>
        <p:nvPicPr>
          <p:cNvPr id="234" name="Google Shape;234;p13"/>
          <p:cNvPicPr preferRelativeResize="0"/>
          <p:nvPr/>
        </p:nvPicPr>
        <p:blipFill rotWithShape="1">
          <a:blip r:embed="rId3">
            <a:alphaModFix/>
          </a:blip>
          <a:srcRect b="0" l="0" r="0" t="0"/>
          <a:stretch/>
        </p:blipFill>
        <p:spPr>
          <a:xfrm>
            <a:off x="682625" y="2147887"/>
            <a:ext cx="946150" cy="1624012"/>
          </a:xfrm>
          <a:prstGeom prst="rect">
            <a:avLst/>
          </a:prstGeom>
          <a:noFill/>
          <a:ln>
            <a:noFill/>
          </a:ln>
        </p:spPr>
      </p:pic>
      <p:pic>
        <p:nvPicPr>
          <p:cNvPr id="235" name="Google Shape;235;p13"/>
          <p:cNvPicPr preferRelativeResize="0"/>
          <p:nvPr/>
        </p:nvPicPr>
        <p:blipFill rotWithShape="1">
          <a:blip r:embed="rId4">
            <a:alphaModFix/>
          </a:blip>
          <a:srcRect b="0" l="0" r="0" t="0"/>
          <a:stretch/>
        </p:blipFill>
        <p:spPr>
          <a:xfrm>
            <a:off x="6948487" y="2071687"/>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500"/>
                                        <p:tgtEl>
                                          <p:spTgt spid="223"/>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26"/>
                                        </p:tgtEl>
                                        <p:attrNameLst>
                                          <p:attrName>style.visibility</p:attrName>
                                        </p:attrNameLst>
                                      </p:cBhvr>
                                      <p:to>
                                        <p:strVal val="visible"/>
                                      </p:to>
                                    </p:set>
                                    <p:anim calcmode="lin" valueType="num">
                                      <p:cBhvr additive="base">
                                        <p:cTn dur="500"/>
                                        <p:tgtEl>
                                          <p:spTgt spid="226"/>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4"/>
          <p:cNvSpPr txBox="1"/>
          <p:nvPr>
            <p:ph type="title"/>
          </p:nvPr>
        </p:nvSpPr>
        <p:spPr>
          <a:xfrm>
            <a:off x="785812" y="381000"/>
            <a:ext cx="7143750" cy="9763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SSL KEYS</a:t>
            </a:r>
            <a:endParaRPr/>
          </a:p>
        </p:txBody>
      </p:sp>
      <p:sp>
        <p:nvSpPr>
          <p:cNvPr id="241" name="Google Shape;241;p14"/>
          <p:cNvSpPr txBox="1"/>
          <p:nvPr>
            <p:ph idx="1" type="body"/>
          </p:nvPr>
        </p:nvSpPr>
        <p:spPr>
          <a:xfrm>
            <a:off x="785812" y="1714500"/>
            <a:ext cx="7600950" cy="442118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6 “keys” derived from </a:t>
            </a:r>
            <a:r>
              <a:rPr b="0" i="0" lang="en-US" sz="2400" u="none">
                <a:solidFill>
                  <a:schemeClr val="dk2"/>
                </a:solidFill>
                <a:latin typeface="Times"/>
                <a:ea typeface="Times"/>
                <a:cs typeface="Times"/>
                <a:sym typeface="Times"/>
              </a:rPr>
              <a:t>K = hash(S,R</a:t>
            </a:r>
            <a:r>
              <a:rPr b="0" baseline="-25000" i="0" lang="en-US" sz="2400" u="none">
                <a:solidFill>
                  <a:schemeClr val="dk2"/>
                </a:solidFill>
                <a:latin typeface="Times"/>
                <a:ea typeface="Times"/>
                <a:cs typeface="Times"/>
                <a:sym typeface="Times"/>
              </a:rPr>
              <a:t>A</a:t>
            </a:r>
            <a:r>
              <a:rPr b="0" i="0" lang="en-US" sz="2400" u="none">
                <a:solidFill>
                  <a:schemeClr val="dk2"/>
                </a:solidFill>
                <a:latin typeface="Times"/>
                <a:ea typeface="Times"/>
                <a:cs typeface="Times"/>
                <a:sym typeface="Times"/>
              </a:rPr>
              <a:t>,R</a:t>
            </a:r>
            <a:r>
              <a:rPr b="0" baseline="-25000" i="0" lang="en-US" sz="2400" u="none">
                <a:solidFill>
                  <a:schemeClr val="dk2"/>
                </a:solidFill>
                <a:latin typeface="Times"/>
                <a:ea typeface="Times"/>
                <a:cs typeface="Times"/>
                <a:sym typeface="Times"/>
              </a:rPr>
              <a:t>B</a:t>
            </a:r>
            <a:r>
              <a:rPr b="0" i="0" lang="en-US" sz="2400" u="none">
                <a:solidFill>
                  <a:schemeClr val="dk2"/>
                </a:solidFill>
                <a:latin typeface="Times"/>
                <a:ea typeface="Times"/>
                <a:cs typeface="Times"/>
                <a:sym typeface="Times"/>
              </a:rPr>
              <a:t>)</a:t>
            </a:r>
            <a:endParaRPr b="0" i="0" sz="2800" u="none">
              <a:solidFill>
                <a:schemeClr val="dk2"/>
              </a:solidFill>
              <a:latin typeface="Gill Sans"/>
              <a:ea typeface="Gill Sans"/>
              <a:cs typeface="Gill Sans"/>
              <a:sym typeface="Gill Sans"/>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2 encryption keys: send and receive</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2 integrity keys: send and receive</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2 IVs: send and receive</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Why different keys in each direction?</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1" i="0" lang="en-US" sz="2800" u="none">
                <a:solidFill>
                  <a:srgbClr val="0000FF"/>
                </a:solidFill>
                <a:latin typeface="Gill Sans"/>
                <a:ea typeface="Gill Sans"/>
                <a:cs typeface="Gill Sans"/>
                <a:sym typeface="Gill Sans"/>
              </a:rPr>
              <a:t>Q:</a:t>
            </a:r>
            <a:r>
              <a:rPr b="0" i="0" lang="en-US" sz="2800" u="none">
                <a:solidFill>
                  <a:srgbClr val="0000FF"/>
                </a:solidFill>
                <a:latin typeface="Gill Sans"/>
                <a:ea typeface="Gill Sans"/>
                <a:cs typeface="Gill Sans"/>
                <a:sym typeface="Gill Sans"/>
              </a:rPr>
              <a:t> </a:t>
            </a:r>
            <a:r>
              <a:rPr b="0" i="0" lang="en-US" sz="2800" u="none">
                <a:solidFill>
                  <a:schemeClr val="dk2"/>
                </a:solidFill>
                <a:latin typeface="Gill Sans"/>
                <a:ea typeface="Gill Sans"/>
                <a:cs typeface="Gill Sans"/>
                <a:sym typeface="Gill Sans"/>
              </a:rPr>
              <a:t>Why is </a:t>
            </a:r>
            <a:r>
              <a:rPr b="0" i="0" lang="en-US" sz="2400" u="none">
                <a:solidFill>
                  <a:schemeClr val="dk2"/>
                </a:solidFill>
                <a:latin typeface="Times"/>
                <a:ea typeface="Times"/>
                <a:cs typeface="Times"/>
                <a:sym typeface="Times"/>
              </a:rPr>
              <a:t>h(msgs,CLNT,K)</a:t>
            </a:r>
            <a:r>
              <a:rPr b="0" i="0" lang="en-US" sz="2800" u="none">
                <a:solidFill>
                  <a:schemeClr val="dk2"/>
                </a:solidFill>
                <a:latin typeface="Gill Sans"/>
                <a:ea typeface="Gill Sans"/>
                <a:cs typeface="Gill Sans"/>
                <a:sym typeface="Gill Sans"/>
              </a:rPr>
              <a:t> encrypted (and integrity protected)?</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1" i="0" lang="en-US" sz="2800" u="none">
                <a:solidFill>
                  <a:srgbClr val="FF0000"/>
                </a:solidFill>
                <a:latin typeface="Gill Sans"/>
                <a:ea typeface="Gill Sans"/>
                <a:cs typeface="Gill Sans"/>
                <a:sym typeface="Gill Sans"/>
              </a:rPr>
              <a:t>A:</a:t>
            </a:r>
            <a:r>
              <a:rPr b="0" i="0" lang="en-US" sz="2800" u="none">
                <a:solidFill>
                  <a:schemeClr val="dk2"/>
                </a:solidFill>
                <a:latin typeface="Gill Sans"/>
                <a:ea typeface="Gill Sans"/>
                <a:cs typeface="Gill Sans"/>
                <a:sym typeface="Gill Sans"/>
              </a:rPr>
              <a:t> Apparently, it adds no security…</a:t>
            </a:r>
            <a:endParaRPr/>
          </a:p>
        </p:txBody>
      </p:sp>
      <p:sp>
        <p:nvSpPr>
          <p:cNvPr id="242" name="Google Shape;242;p14"/>
          <p:cNvSpPr txBox="1"/>
          <p:nvPr/>
        </p:nvSpPr>
        <p:spPr>
          <a:xfrm>
            <a:off x="552450" y="6215062"/>
            <a:ext cx="6438900" cy="523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243" name="Google Shape;243;p14"/>
          <p:cNvSpPr txBox="1"/>
          <p:nvPr/>
        </p:nvSpPr>
        <p:spPr>
          <a:xfrm>
            <a:off x="7845425" y="6291262"/>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animEffect filter="fade" transition="in">
                                      <p:cBhvr>
                                        <p:cTn dur="500"/>
                                        <p:tgtEl>
                                          <p:spTgt spid="2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1" st="1"/>
                                            </p:txEl>
                                          </p:spTgt>
                                        </p:tgtEl>
                                        <p:attrNameLst>
                                          <p:attrName>style.visibility</p:attrName>
                                        </p:attrNameLst>
                                      </p:cBhvr>
                                      <p:to>
                                        <p:strVal val="visible"/>
                                      </p:to>
                                    </p:set>
                                    <p:animEffect filter="fade" transition="in">
                                      <p:cBhvr>
                                        <p:cTn dur="500"/>
                                        <p:tgtEl>
                                          <p:spTgt spid="2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2" st="2"/>
                                            </p:txEl>
                                          </p:spTgt>
                                        </p:tgtEl>
                                        <p:attrNameLst>
                                          <p:attrName>style.visibility</p:attrName>
                                        </p:attrNameLst>
                                      </p:cBhvr>
                                      <p:to>
                                        <p:strVal val="visible"/>
                                      </p:to>
                                    </p:set>
                                    <p:animEffect filter="fade" transition="in">
                                      <p:cBhvr>
                                        <p:cTn dur="500"/>
                                        <p:tgtEl>
                                          <p:spTgt spid="2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3" st="3"/>
                                            </p:txEl>
                                          </p:spTgt>
                                        </p:tgtEl>
                                        <p:attrNameLst>
                                          <p:attrName>style.visibility</p:attrName>
                                        </p:attrNameLst>
                                      </p:cBhvr>
                                      <p:to>
                                        <p:strVal val="visible"/>
                                      </p:to>
                                    </p:set>
                                    <p:animEffect filter="fade" transition="in">
                                      <p:cBhvr>
                                        <p:cTn dur="500"/>
                                        <p:tgtEl>
                                          <p:spTgt spid="2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4" st="4"/>
                                            </p:txEl>
                                          </p:spTgt>
                                        </p:tgtEl>
                                        <p:attrNameLst>
                                          <p:attrName>style.visibility</p:attrName>
                                        </p:attrNameLst>
                                      </p:cBhvr>
                                      <p:to>
                                        <p:strVal val="visible"/>
                                      </p:to>
                                    </p:set>
                                    <p:animEffect filter="fade" transition="in">
                                      <p:cBhvr>
                                        <p:cTn dur="500"/>
                                        <p:tgtEl>
                                          <p:spTgt spid="2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5" st="5"/>
                                            </p:txEl>
                                          </p:spTgt>
                                        </p:tgtEl>
                                        <p:attrNameLst>
                                          <p:attrName>style.visibility</p:attrName>
                                        </p:attrNameLst>
                                      </p:cBhvr>
                                      <p:to>
                                        <p:strVal val="visible"/>
                                      </p:to>
                                    </p:set>
                                    <p:animEffect filter="fade" transition="in">
                                      <p:cBhvr>
                                        <p:cTn dur="500"/>
                                        <p:tgtEl>
                                          <p:spTgt spid="2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6" st="6"/>
                                            </p:txEl>
                                          </p:spTgt>
                                        </p:tgtEl>
                                        <p:attrNameLst>
                                          <p:attrName>style.visibility</p:attrName>
                                        </p:attrNameLst>
                                      </p:cBhvr>
                                      <p:to>
                                        <p:strVal val="visible"/>
                                      </p:to>
                                    </p:set>
                                    <p:animEffect filter="fade" transition="in">
                                      <p:cBhvr>
                                        <p:cTn dur="500"/>
                                        <p:tgtEl>
                                          <p:spTgt spid="24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5"/>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SSL AUTHENTICATION</a:t>
            </a:r>
            <a:endParaRPr/>
          </a:p>
        </p:txBody>
      </p:sp>
      <p:sp>
        <p:nvSpPr>
          <p:cNvPr id="249" name="Google Shape;249;p15"/>
          <p:cNvSpPr txBox="1"/>
          <p:nvPr>
            <p:ph idx="1" type="body"/>
          </p:nvPr>
        </p:nvSpPr>
        <p:spPr>
          <a:xfrm>
            <a:off x="785812" y="1714500"/>
            <a:ext cx="7900987" cy="4416425"/>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rgbClr val="FF0000"/>
                </a:solidFill>
                <a:latin typeface="Gill Sans"/>
                <a:ea typeface="Gill Sans"/>
                <a:cs typeface="Gill Sans"/>
                <a:sym typeface="Gill Sans"/>
              </a:rPr>
              <a:t>Alice authenticates Bob, not vice-versa</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How does client authenticate server?</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Why does server not authenticate client?</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Mutual authentication is possible: Bob sends </a:t>
            </a:r>
            <a:r>
              <a:rPr b="1" i="0" lang="en-US" sz="2800" u="none">
                <a:solidFill>
                  <a:srgbClr val="0000FF"/>
                </a:solidFill>
                <a:latin typeface="Gill Sans"/>
                <a:ea typeface="Gill Sans"/>
                <a:cs typeface="Gill Sans"/>
                <a:sym typeface="Gill Sans"/>
              </a:rPr>
              <a:t>certificate request</a:t>
            </a:r>
            <a:r>
              <a:rPr b="0" i="0" lang="en-US" sz="2800" u="none">
                <a:solidFill>
                  <a:srgbClr val="0000FF"/>
                </a:solidFill>
                <a:latin typeface="Gill Sans"/>
                <a:ea typeface="Gill Sans"/>
                <a:cs typeface="Gill Sans"/>
                <a:sym typeface="Gill Sans"/>
              </a:rPr>
              <a:t> </a:t>
            </a:r>
            <a:r>
              <a:rPr b="0" i="0" lang="en-US" sz="2800" u="none">
                <a:solidFill>
                  <a:schemeClr val="dk2"/>
                </a:solidFill>
                <a:latin typeface="Gill Sans"/>
                <a:ea typeface="Gill Sans"/>
                <a:cs typeface="Gill Sans"/>
                <a:sym typeface="Gill Sans"/>
              </a:rPr>
              <a:t>in message 2</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This requires client to have certificate</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If server wants to authenticate client, server could instead require (encrypted) password</a:t>
            </a:r>
            <a:endParaRPr/>
          </a:p>
        </p:txBody>
      </p:sp>
      <p:sp>
        <p:nvSpPr>
          <p:cNvPr id="250" name="Google Shape;250;p15"/>
          <p:cNvSpPr txBox="1"/>
          <p:nvPr/>
        </p:nvSpPr>
        <p:spPr>
          <a:xfrm>
            <a:off x="581025" y="5951537"/>
            <a:ext cx="487045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251" name="Google Shape;251;p15"/>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6"/>
          <p:cNvSpPr txBox="1"/>
          <p:nvPr>
            <p:ph type="title"/>
          </p:nvPr>
        </p:nvSpPr>
        <p:spPr>
          <a:xfrm>
            <a:off x="785812" y="152400"/>
            <a:ext cx="7143750" cy="12049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SSL MIM ATTACK</a:t>
            </a:r>
            <a:endParaRPr/>
          </a:p>
        </p:txBody>
      </p:sp>
      <p:sp>
        <p:nvSpPr>
          <p:cNvPr id="257" name="Google Shape;257;p16"/>
          <p:cNvSpPr txBox="1"/>
          <p:nvPr>
            <p:ph idx="1" type="body"/>
          </p:nvPr>
        </p:nvSpPr>
        <p:spPr>
          <a:xfrm>
            <a:off x="785812" y="4214812"/>
            <a:ext cx="6929437" cy="22098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208"/>
              <a:buFont typeface="Noto Sans Symbols"/>
              <a:buChar char="◼"/>
            </a:pPr>
            <a:r>
              <a:rPr b="1" i="0" lang="en-US" sz="2400" u="none">
                <a:solidFill>
                  <a:srgbClr val="FF0000"/>
                </a:solidFill>
                <a:latin typeface="Gill Sans"/>
                <a:ea typeface="Gill Sans"/>
                <a:cs typeface="Gill Sans"/>
                <a:sym typeface="Gill Sans"/>
              </a:rPr>
              <a:t>Q:</a:t>
            </a:r>
            <a:r>
              <a:rPr b="0" i="0" lang="en-US" sz="2400" u="none">
                <a:solidFill>
                  <a:schemeClr val="dk2"/>
                </a:solidFill>
                <a:latin typeface="Gill Sans"/>
                <a:ea typeface="Gill Sans"/>
                <a:cs typeface="Gill Sans"/>
                <a:sym typeface="Gill Sans"/>
              </a:rPr>
              <a:t> What prevents this MiM attack?</a:t>
            </a:r>
            <a:endParaRPr/>
          </a:p>
          <a:p>
            <a:pPr indent="-304800" lvl="0" marL="304800" marR="0" rtl="0" algn="l">
              <a:lnSpc>
                <a:spcPct val="90000"/>
              </a:lnSpc>
              <a:spcBef>
                <a:spcPts val="1080"/>
              </a:spcBef>
              <a:spcAft>
                <a:spcPts val="0"/>
              </a:spcAft>
              <a:buClr>
                <a:schemeClr val="accent2"/>
              </a:buClr>
              <a:buSzPts val="2208"/>
              <a:buFont typeface="Noto Sans Symbols"/>
              <a:buChar char="◼"/>
            </a:pPr>
            <a:r>
              <a:rPr b="1" i="0" lang="en-US" sz="2400" u="none">
                <a:solidFill>
                  <a:srgbClr val="FF0000"/>
                </a:solidFill>
                <a:latin typeface="Gill Sans"/>
                <a:ea typeface="Gill Sans"/>
                <a:cs typeface="Gill Sans"/>
                <a:sym typeface="Gill Sans"/>
              </a:rPr>
              <a:t>A:</a:t>
            </a:r>
            <a:r>
              <a:rPr b="0" i="0" lang="en-US" sz="2400" u="none">
                <a:solidFill>
                  <a:schemeClr val="dk2"/>
                </a:solidFill>
                <a:latin typeface="Gill Sans"/>
                <a:ea typeface="Gill Sans"/>
                <a:cs typeface="Gill Sans"/>
                <a:sym typeface="Gill Sans"/>
              </a:rPr>
              <a:t> </a:t>
            </a:r>
            <a:r>
              <a:rPr b="0" i="0" lang="en-US" sz="2400" u="none">
                <a:solidFill>
                  <a:srgbClr val="FF0000"/>
                </a:solidFill>
                <a:latin typeface="Gill Sans"/>
                <a:ea typeface="Gill Sans"/>
                <a:cs typeface="Gill Sans"/>
                <a:sym typeface="Gill Sans"/>
              </a:rPr>
              <a:t>Bob’s certificate must be signed by a certificate authority (such as Verisign)</a:t>
            </a:r>
            <a:endParaRPr/>
          </a:p>
          <a:p>
            <a:pPr indent="-304800" lvl="0" marL="304800" marR="0" rtl="0" algn="l">
              <a:lnSpc>
                <a:spcPct val="9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What does Web browser do if sig. not valid?</a:t>
            </a:r>
            <a:endParaRPr/>
          </a:p>
          <a:p>
            <a:pPr indent="-304800" lvl="0" marL="304800" marR="0" rtl="0" algn="l">
              <a:lnSpc>
                <a:spcPct val="9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What does user do if signature is not valid?</a:t>
            </a:r>
            <a:endParaRPr/>
          </a:p>
        </p:txBody>
      </p:sp>
      <p:sp>
        <p:nvSpPr>
          <p:cNvPr id="258" name="Google Shape;258;p16"/>
          <p:cNvSpPr txBox="1"/>
          <p:nvPr/>
        </p:nvSpPr>
        <p:spPr>
          <a:xfrm>
            <a:off x="566575" y="6473825"/>
            <a:ext cx="71439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259" name="Google Shape;259;p16"/>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cxnSp>
        <p:nvCxnSpPr>
          <p:cNvPr id="260" name="Google Shape;260;p16"/>
          <p:cNvCxnSpPr/>
          <p:nvPr/>
        </p:nvCxnSpPr>
        <p:spPr>
          <a:xfrm>
            <a:off x="1295400" y="2209800"/>
            <a:ext cx="24384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261" name="Google Shape;261;p16"/>
          <p:cNvCxnSpPr/>
          <p:nvPr/>
        </p:nvCxnSpPr>
        <p:spPr>
          <a:xfrm rot="10800000">
            <a:off x="1219200" y="2667000"/>
            <a:ext cx="2438400" cy="0"/>
          </a:xfrm>
          <a:prstGeom prst="straightConnector1">
            <a:avLst/>
          </a:prstGeom>
          <a:noFill/>
          <a:ln cap="flat" cmpd="sng" w="50800">
            <a:solidFill>
              <a:schemeClr val="dk1"/>
            </a:solidFill>
            <a:prstDash val="solid"/>
            <a:miter lim="800000"/>
            <a:headEnd len="sm" w="sm" type="none"/>
            <a:tailEnd len="med" w="med" type="triangle"/>
          </a:ln>
        </p:spPr>
      </p:cxnSp>
      <p:sp>
        <p:nvSpPr>
          <p:cNvPr id="262" name="Google Shape;262;p16"/>
          <p:cNvSpPr txBox="1"/>
          <p:nvPr/>
        </p:nvSpPr>
        <p:spPr>
          <a:xfrm>
            <a:off x="152400" y="3657600"/>
            <a:ext cx="900000" cy="51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Alice</a:t>
            </a:r>
            <a:endParaRPr b="0" i="0" sz="1400" u="none" cap="none" strike="noStrike">
              <a:solidFill>
                <a:srgbClr val="000000"/>
              </a:solidFill>
              <a:latin typeface="Arial"/>
              <a:ea typeface="Arial"/>
              <a:cs typeface="Arial"/>
              <a:sym typeface="Arial"/>
            </a:endParaRPr>
          </a:p>
        </p:txBody>
      </p:sp>
      <p:sp>
        <p:nvSpPr>
          <p:cNvPr id="263" name="Google Shape;263;p16"/>
          <p:cNvSpPr txBox="1"/>
          <p:nvPr/>
        </p:nvSpPr>
        <p:spPr>
          <a:xfrm>
            <a:off x="8229600" y="3673475"/>
            <a:ext cx="717600" cy="51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Bob</a:t>
            </a:r>
            <a:endParaRPr b="0" i="0" sz="1400" u="none" cap="none" strike="noStrike">
              <a:solidFill>
                <a:srgbClr val="000000"/>
              </a:solidFill>
              <a:latin typeface="Arial"/>
              <a:ea typeface="Arial"/>
              <a:cs typeface="Arial"/>
              <a:sym typeface="Arial"/>
            </a:endParaRPr>
          </a:p>
        </p:txBody>
      </p:sp>
      <p:sp>
        <p:nvSpPr>
          <p:cNvPr id="264" name="Google Shape;264;p16"/>
          <p:cNvSpPr txBox="1"/>
          <p:nvPr/>
        </p:nvSpPr>
        <p:spPr>
          <a:xfrm>
            <a:off x="2203450" y="1752600"/>
            <a:ext cx="5397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R</a:t>
            </a:r>
            <a:r>
              <a:rPr b="0" baseline="-25000" i="0" lang="en-US" sz="2400" u="none" cap="none" strike="noStrike">
                <a:solidFill>
                  <a:schemeClr val="dk1"/>
                </a:solidFill>
                <a:latin typeface="Times"/>
                <a:ea typeface="Times"/>
                <a:cs typeface="Times"/>
                <a:sym typeface="Times"/>
              </a:rPr>
              <a:t>A</a:t>
            </a:r>
            <a:endParaRPr b="0" i="0" sz="1400" u="none" cap="none" strike="noStrike">
              <a:solidFill>
                <a:srgbClr val="000000"/>
              </a:solidFill>
              <a:latin typeface="Arial"/>
              <a:ea typeface="Arial"/>
              <a:cs typeface="Arial"/>
              <a:sym typeface="Arial"/>
            </a:endParaRPr>
          </a:p>
        </p:txBody>
      </p:sp>
      <p:sp>
        <p:nvSpPr>
          <p:cNvPr id="265" name="Google Shape;265;p16"/>
          <p:cNvSpPr txBox="1"/>
          <p:nvPr/>
        </p:nvSpPr>
        <p:spPr>
          <a:xfrm>
            <a:off x="1371600" y="2209800"/>
            <a:ext cx="21369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a:buNone/>
            </a:pPr>
            <a:r>
              <a:rPr b="0" i="0" lang="en-US" sz="2400" u="none" cap="none" strike="noStrike">
                <a:solidFill>
                  <a:srgbClr val="FF0000"/>
                </a:solidFill>
                <a:latin typeface="Times"/>
                <a:ea typeface="Times"/>
                <a:cs typeface="Times"/>
                <a:sym typeface="Times"/>
              </a:rPr>
              <a:t>certificate</a:t>
            </a:r>
            <a:r>
              <a:rPr b="0" baseline="-25000" i="0" lang="en-US" sz="2400" u="none" cap="none" strike="noStrike">
                <a:solidFill>
                  <a:srgbClr val="FF0000"/>
                </a:solidFill>
                <a:latin typeface="Times"/>
                <a:ea typeface="Times"/>
                <a:cs typeface="Times"/>
                <a:sym typeface="Times"/>
              </a:rPr>
              <a:t>T</a:t>
            </a:r>
            <a:r>
              <a:rPr b="0" i="0" lang="en-US" sz="2400" u="none" cap="none" strike="noStrike">
                <a:solidFill>
                  <a:schemeClr val="dk1"/>
                </a:solidFill>
                <a:latin typeface="Times"/>
                <a:ea typeface="Times"/>
                <a:cs typeface="Times"/>
                <a:sym typeface="Times"/>
              </a:rPr>
              <a:t>, R</a:t>
            </a:r>
            <a:r>
              <a:rPr b="0" baseline="-25000" i="0" lang="en-US" sz="2400" u="none" cap="none" strike="noStrike">
                <a:solidFill>
                  <a:schemeClr val="dk1"/>
                </a:solidFill>
                <a:latin typeface="Times"/>
                <a:ea typeface="Times"/>
                <a:cs typeface="Times"/>
                <a:sym typeface="Times"/>
              </a:rPr>
              <a:t>B</a:t>
            </a:r>
            <a:endParaRPr b="0" i="0" sz="1400" u="none" cap="none" strike="noStrike">
              <a:solidFill>
                <a:srgbClr val="000000"/>
              </a:solidFill>
              <a:latin typeface="Arial"/>
              <a:ea typeface="Arial"/>
              <a:cs typeface="Arial"/>
              <a:sym typeface="Arial"/>
            </a:endParaRPr>
          </a:p>
        </p:txBody>
      </p:sp>
      <p:sp>
        <p:nvSpPr>
          <p:cNvPr id="266" name="Google Shape;266;p16"/>
          <p:cNvSpPr txBox="1"/>
          <p:nvPr/>
        </p:nvSpPr>
        <p:spPr>
          <a:xfrm>
            <a:off x="1228725" y="2590800"/>
            <a:ext cx="2567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a:buNone/>
            </a:pPr>
            <a:r>
              <a:rPr b="0" i="0" lang="en-US" sz="2400" u="none" cap="none" strike="noStrike">
                <a:solidFill>
                  <a:srgbClr val="FF0000"/>
                </a:solidFill>
                <a:latin typeface="Times"/>
                <a:ea typeface="Times"/>
                <a:cs typeface="Times"/>
                <a:sym typeface="Times"/>
              </a:rPr>
              <a:t>{S</a:t>
            </a:r>
            <a:r>
              <a:rPr b="0" baseline="-25000" i="0" lang="en-US" sz="2400" u="none" cap="none" strike="noStrike">
                <a:solidFill>
                  <a:srgbClr val="FF0000"/>
                </a:solidFill>
                <a:latin typeface="Times"/>
                <a:ea typeface="Times"/>
                <a:cs typeface="Times"/>
                <a:sym typeface="Times"/>
              </a:rPr>
              <a:t>1</a:t>
            </a:r>
            <a:r>
              <a:rPr b="0" i="0" lang="en-US" sz="2400" u="none" cap="none" strike="noStrike">
                <a:solidFill>
                  <a:srgbClr val="FF0000"/>
                </a:solidFill>
                <a:latin typeface="Times"/>
                <a:ea typeface="Times"/>
                <a:cs typeface="Times"/>
                <a:sym typeface="Times"/>
              </a:rPr>
              <a:t>}</a:t>
            </a:r>
            <a:r>
              <a:rPr b="0" baseline="-25000" i="0" lang="en-US" sz="2400" u="none" cap="none" strike="noStrike">
                <a:solidFill>
                  <a:srgbClr val="FF0000"/>
                </a:solidFill>
                <a:latin typeface="Times"/>
                <a:ea typeface="Times"/>
                <a:cs typeface="Times"/>
                <a:sym typeface="Times"/>
              </a:rPr>
              <a:t>Trudy</a:t>
            </a:r>
            <a:r>
              <a:rPr b="0" i="0" lang="en-US" sz="2400" u="none" cap="none" strike="noStrike">
                <a:solidFill>
                  <a:srgbClr val="FF0000"/>
                </a:solidFill>
                <a:latin typeface="Times"/>
                <a:ea typeface="Times"/>
                <a:cs typeface="Times"/>
                <a:sym typeface="Times"/>
              </a:rPr>
              <a:t>, </a:t>
            </a:r>
            <a:r>
              <a:rPr b="0" i="0" lang="en-US" sz="2400" u="none" cap="none" strike="noStrike">
                <a:solidFill>
                  <a:schemeClr val="dk1"/>
                </a:solidFill>
                <a:latin typeface="Times"/>
                <a:ea typeface="Times"/>
                <a:cs typeface="Times"/>
                <a:sym typeface="Times"/>
              </a:rPr>
              <a:t>E(X</a:t>
            </a:r>
            <a:r>
              <a:rPr b="0" baseline="-25000" i="0" lang="en-US" sz="2400" u="none" cap="none" strike="noStrike">
                <a:solidFill>
                  <a:schemeClr val="dk1"/>
                </a:solidFill>
                <a:latin typeface="Times"/>
                <a:ea typeface="Times"/>
                <a:cs typeface="Times"/>
                <a:sym typeface="Times"/>
              </a:rPr>
              <a:t>1</a:t>
            </a:r>
            <a:r>
              <a:rPr b="0" i="0" lang="en-US" sz="2400" u="none" cap="none" strike="noStrike">
                <a:solidFill>
                  <a:schemeClr val="dk1"/>
                </a:solidFill>
                <a:latin typeface="Times"/>
                <a:ea typeface="Times"/>
                <a:cs typeface="Times"/>
                <a:sym typeface="Times"/>
              </a:rPr>
              <a:t>,K</a:t>
            </a:r>
            <a:r>
              <a:rPr b="0" baseline="-25000" i="0" lang="en-US" sz="2400" u="none" cap="none" strike="noStrike">
                <a:solidFill>
                  <a:schemeClr val="dk1"/>
                </a:solidFill>
                <a:latin typeface="Times"/>
                <a:ea typeface="Times"/>
                <a:cs typeface="Times"/>
                <a:sym typeface="Times"/>
              </a:rPr>
              <a:t>1</a:t>
            </a:r>
            <a:r>
              <a:rPr b="0" i="0" lang="en-US" sz="2400" u="none" cap="none" strike="noStrike">
                <a:solidFill>
                  <a:schemeClr val="dk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p:txBody>
      </p:sp>
      <p:sp>
        <p:nvSpPr>
          <p:cNvPr id="267" name="Google Shape;267;p16"/>
          <p:cNvSpPr txBox="1"/>
          <p:nvPr/>
        </p:nvSpPr>
        <p:spPr>
          <a:xfrm>
            <a:off x="1768475" y="3581400"/>
            <a:ext cx="15843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E(data,K</a:t>
            </a:r>
            <a:r>
              <a:rPr b="0" baseline="-25000" i="0" lang="en-US" sz="2400" u="none" cap="none" strike="noStrike">
                <a:solidFill>
                  <a:schemeClr val="dk1"/>
                </a:solidFill>
                <a:latin typeface="Times"/>
                <a:ea typeface="Times"/>
                <a:cs typeface="Times"/>
                <a:sym typeface="Times"/>
              </a:rPr>
              <a:t>1</a:t>
            </a:r>
            <a:r>
              <a:rPr b="0" i="0" lang="en-US" sz="2400" u="none" cap="none" strike="noStrike">
                <a:solidFill>
                  <a:schemeClr val="dk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p:txBody>
      </p:sp>
      <p:cxnSp>
        <p:nvCxnSpPr>
          <p:cNvPr id="268" name="Google Shape;268;p16"/>
          <p:cNvCxnSpPr/>
          <p:nvPr/>
        </p:nvCxnSpPr>
        <p:spPr>
          <a:xfrm>
            <a:off x="1219200" y="4038600"/>
            <a:ext cx="2514600" cy="0"/>
          </a:xfrm>
          <a:prstGeom prst="straightConnector1">
            <a:avLst/>
          </a:prstGeom>
          <a:noFill/>
          <a:ln cap="flat" cmpd="sng" w="50800">
            <a:solidFill>
              <a:schemeClr val="dk1"/>
            </a:solidFill>
            <a:prstDash val="solid"/>
            <a:miter lim="800000"/>
            <a:headEnd len="med" w="med" type="triangle"/>
            <a:tailEnd len="med" w="med" type="triangle"/>
          </a:ln>
        </p:spPr>
      </p:cxnSp>
      <p:cxnSp>
        <p:nvCxnSpPr>
          <p:cNvPr id="269" name="Google Shape;269;p16"/>
          <p:cNvCxnSpPr/>
          <p:nvPr/>
        </p:nvCxnSpPr>
        <p:spPr>
          <a:xfrm rot="10800000">
            <a:off x="1219200" y="3581400"/>
            <a:ext cx="2438400" cy="0"/>
          </a:xfrm>
          <a:prstGeom prst="straightConnector1">
            <a:avLst/>
          </a:prstGeom>
          <a:noFill/>
          <a:ln cap="flat" cmpd="sng" w="50800">
            <a:solidFill>
              <a:schemeClr val="dk1"/>
            </a:solidFill>
            <a:prstDash val="solid"/>
            <a:miter lim="800000"/>
            <a:headEnd len="sm" w="sm" type="none"/>
            <a:tailEnd len="med" w="med" type="triangle"/>
          </a:ln>
        </p:spPr>
      </p:cxnSp>
      <p:sp>
        <p:nvSpPr>
          <p:cNvPr id="270" name="Google Shape;270;p16"/>
          <p:cNvSpPr txBox="1"/>
          <p:nvPr/>
        </p:nvSpPr>
        <p:spPr>
          <a:xfrm>
            <a:off x="1828800" y="3124200"/>
            <a:ext cx="1273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h(Y</a:t>
            </a:r>
            <a:r>
              <a:rPr b="0" baseline="-25000" i="0" lang="en-US" sz="2400" u="none" cap="none" strike="noStrike">
                <a:solidFill>
                  <a:schemeClr val="dk1"/>
                </a:solidFill>
                <a:latin typeface="Times"/>
                <a:ea typeface="Times"/>
                <a:cs typeface="Times"/>
                <a:sym typeface="Times"/>
              </a:rPr>
              <a:t>1</a:t>
            </a:r>
            <a:r>
              <a:rPr b="0" i="0" lang="en-US" sz="2400" u="none" cap="none" strike="noStrike">
                <a:solidFill>
                  <a:schemeClr val="dk1"/>
                </a:solidFill>
                <a:latin typeface="Times"/>
                <a:ea typeface="Times"/>
                <a:cs typeface="Times"/>
                <a:sym typeface="Times"/>
              </a:rPr>
              <a:t>,K</a:t>
            </a:r>
            <a:r>
              <a:rPr b="0" baseline="-25000" i="0" lang="en-US" sz="2400" u="none" cap="none" strike="noStrike">
                <a:solidFill>
                  <a:schemeClr val="dk1"/>
                </a:solidFill>
                <a:latin typeface="Times"/>
                <a:ea typeface="Times"/>
                <a:cs typeface="Times"/>
                <a:sym typeface="Times"/>
              </a:rPr>
              <a:t>1</a:t>
            </a:r>
            <a:r>
              <a:rPr b="0" i="0" lang="en-US" sz="2400" u="none" cap="none" strike="noStrike">
                <a:solidFill>
                  <a:schemeClr val="dk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p:txBody>
      </p:sp>
      <p:sp>
        <p:nvSpPr>
          <p:cNvPr id="271" name="Google Shape;271;p16"/>
          <p:cNvSpPr txBox="1"/>
          <p:nvPr/>
        </p:nvSpPr>
        <p:spPr>
          <a:xfrm>
            <a:off x="4068850" y="3521075"/>
            <a:ext cx="1079450"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Trudy</a:t>
            </a:r>
            <a:endParaRPr b="0" i="0" sz="1400" u="none" cap="none" strike="noStrike">
              <a:solidFill>
                <a:srgbClr val="000000"/>
              </a:solidFill>
              <a:latin typeface="Arial"/>
              <a:ea typeface="Arial"/>
              <a:cs typeface="Arial"/>
              <a:sym typeface="Arial"/>
            </a:endParaRPr>
          </a:p>
        </p:txBody>
      </p:sp>
      <p:cxnSp>
        <p:nvCxnSpPr>
          <p:cNvPr id="272" name="Google Shape;272;p16"/>
          <p:cNvCxnSpPr/>
          <p:nvPr/>
        </p:nvCxnSpPr>
        <p:spPr>
          <a:xfrm>
            <a:off x="1295400" y="3124200"/>
            <a:ext cx="24384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273" name="Google Shape;273;p16"/>
          <p:cNvCxnSpPr/>
          <p:nvPr/>
        </p:nvCxnSpPr>
        <p:spPr>
          <a:xfrm>
            <a:off x="5486400" y="2209800"/>
            <a:ext cx="24384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274" name="Google Shape;274;p16"/>
          <p:cNvCxnSpPr/>
          <p:nvPr/>
        </p:nvCxnSpPr>
        <p:spPr>
          <a:xfrm rot="10800000">
            <a:off x="5429054" y="2667000"/>
            <a:ext cx="2438400" cy="0"/>
          </a:xfrm>
          <a:prstGeom prst="straightConnector1">
            <a:avLst/>
          </a:prstGeom>
          <a:noFill/>
          <a:ln cap="flat" cmpd="sng" w="50800">
            <a:solidFill>
              <a:schemeClr val="dk1"/>
            </a:solidFill>
            <a:prstDash val="solid"/>
            <a:miter lim="800000"/>
            <a:headEnd len="sm" w="sm" type="none"/>
            <a:tailEnd len="med" w="med" type="triangle"/>
          </a:ln>
        </p:spPr>
      </p:cxnSp>
      <p:sp>
        <p:nvSpPr>
          <p:cNvPr id="275" name="Google Shape;275;p16"/>
          <p:cNvSpPr txBox="1"/>
          <p:nvPr/>
        </p:nvSpPr>
        <p:spPr>
          <a:xfrm>
            <a:off x="6415087" y="1752600"/>
            <a:ext cx="5397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R</a:t>
            </a:r>
            <a:r>
              <a:rPr b="0" baseline="-25000" i="0" lang="en-US" sz="2400" u="none" cap="none" strike="noStrike">
                <a:solidFill>
                  <a:schemeClr val="dk1"/>
                </a:solidFill>
                <a:latin typeface="Times"/>
                <a:ea typeface="Times"/>
                <a:cs typeface="Times"/>
                <a:sym typeface="Times"/>
              </a:rPr>
              <a:t>A</a:t>
            </a:r>
            <a:endParaRPr b="0" i="0" sz="1400" u="none" cap="none" strike="noStrike">
              <a:solidFill>
                <a:srgbClr val="000000"/>
              </a:solidFill>
              <a:latin typeface="Arial"/>
              <a:ea typeface="Arial"/>
              <a:cs typeface="Arial"/>
              <a:sym typeface="Arial"/>
            </a:endParaRPr>
          </a:p>
        </p:txBody>
      </p:sp>
      <p:sp>
        <p:nvSpPr>
          <p:cNvPr id="276" name="Google Shape;276;p16"/>
          <p:cNvSpPr txBox="1"/>
          <p:nvPr/>
        </p:nvSpPr>
        <p:spPr>
          <a:xfrm>
            <a:off x="5562600" y="2209800"/>
            <a:ext cx="2148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certificate</a:t>
            </a:r>
            <a:r>
              <a:rPr b="0" baseline="-25000" i="0" lang="en-US" sz="2400" u="none" cap="none" strike="noStrike">
                <a:solidFill>
                  <a:schemeClr val="dk1"/>
                </a:solidFill>
                <a:latin typeface="Times"/>
                <a:ea typeface="Times"/>
                <a:cs typeface="Times"/>
                <a:sym typeface="Times"/>
              </a:rPr>
              <a:t>B</a:t>
            </a:r>
            <a:r>
              <a:rPr b="0" i="0" lang="en-US" sz="2400" u="none" cap="none" strike="noStrike">
                <a:solidFill>
                  <a:schemeClr val="dk1"/>
                </a:solidFill>
                <a:latin typeface="Times"/>
                <a:ea typeface="Times"/>
                <a:cs typeface="Times"/>
                <a:sym typeface="Times"/>
              </a:rPr>
              <a:t>, R</a:t>
            </a:r>
            <a:r>
              <a:rPr b="0" baseline="-25000" i="0" lang="en-US" sz="2400" u="none" cap="none" strike="noStrike">
                <a:solidFill>
                  <a:schemeClr val="dk1"/>
                </a:solidFill>
                <a:latin typeface="Times"/>
                <a:ea typeface="Times"/>
                <a:cs typeface="Times"/>
                <a:sym typeface="Times"/>
              </a:rPr>
              <a:t>B</a:t>
            </a:r>
            <a:endParaRPr b="0" i="0" sz="1400" u="none" cap="none" strike="noStrike">
              <a:solidFill>
                <a:srgbClr val="000000"/>
              </a:solidFill>
              <a:latin typeface="Arial"/>
              <a:ea typeface="Arial"/>
              <a:cs typeface="Arial"/>
              <a:sym typeface="Arial"/>
            </a:endParaRPr>
          </a:p>
        </p:txBody>
      </p:sp>
      <p:sp>
        <p:nvSpPr>
          <p:cNvPr id="277" name="Google Shape;277;p16"/>
          <p:cNvSpPr txBox="1"/>
          <p:nvPr/>
        </p:nvSpPr>
        <p:spPr>
          <a:xfrm>
            <a:off x="5506331" y="2590800"/>
            <a:ext cx="2424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{S</a:t>
            </a:r>
            <a:r>
              <a:rPr b="0" baseline="-25000" i="0" lang="en-US" sz="2400" u="none" cap="none" strike="noStrike">
                <a:solidFill>
                  <a:schemeClr val="dk1"/>
                </a:solidFill>
                <a:latin typeface="Times"/>
                <a:ea typeface="Times"/>
                <a:cs typeface="Times"/>
                <a:sym typeface="Times"/>
              </a:rPr>
              <a:t>2</a:t>
            </a:r>
            <a:r>
              <a:rPr b="0" i="0" lang="en-US" sz="2400" u="none" cap="none" strike="noStrike">
                <a:solidFill>
                  <a:schemeClr val="dk1"/>
                </a:solidFill>
                <a:latin typeface="Times"/>
                <a:ea typeface="Times"/>
                <a:cs typeface="Times"/>
                <a:sym typeface="Times"/>
              </a:rPr>
              <a:t>}</a:t>
            </a:r>
            <a:r>
              <a:rPr b="0" baseline="-25000" i="0" lang="en-US" sz="2400" u="none" cap="none" strike="noStrike">
                <a:solidFill>
                  <a:schemeClr val="dk1"/>
                </a:solidFill>
                <a:latin typeface="Times"/>
                <a:ea typeface="Times"/>
                <a:cs typeface="Times"/>
                <a:sym typeface="Times"/>
              </a:rPr>
              <a:t>Bob</a:t>
            </a:r>
            <a:r>
              <a:rPr b="0" i="0" lang="en-US" sz="2400" u="none" cap="none" strike="noStrike">
                <a:solidFill>
                  <a:schemeClr val="dk1"/>
                </a:solidFill>
                <a:latin typeface="Times"/>
                <a:ea typeface="Times"/>
                <a:cs typeface="Times"/>
                <a:sym typeface="Times"/>
              </a:rPr>
              <a:t>, E(X</a:t>
            </a:r>
            <a:r>
              <a:rPr b="0" baseline="-25000" i="0" lang="en-US" sz="2400" u="none" cap="none" strike="noStrike">
                <a:solidFill>
                  <a:schemeClr val="dk1"/>
                </a:solidFill>
                <a:latin typeface="Times"/>
                <a:ea typeface="Times"/>
                <a:cs typeface="Times"/>
                <a:sym typeface="Times"/>
              </a:rPr>
              <a:t>2</a:t>
            </a:r>
            <a:r>
              <a:rPr b="0" i="0" lang="en-US" sz="2400" u="none" cap="none" strike="noStrike">
                <a:solidFill>
                  <a:schemeClr val="dk1"/>
                </a:solidFill>
                <a:latin typeface="Times"/>
                <a:ea typeface="Times"/>
                <a:cs typeface="Times"/>
                <a:sym typeface="Times"/>
              </a:rPr>
              <a:t>,K</a:t>
            </a:r>
            <a:r>
              <a:rPr b="0" baseline="-25000" i="0" lang="en-US" sz="2400" u="none" cap="none" strike="noStrike">
                <a:solidFill>
                  <a:schemeClr val="dk1"/>
                </a:solidFill>
                <a:latin typeface="Times"/>
                <a:ea typeface="Times"/>
                <a:cs typeface="Times"/>
                <a:sym typeface="Times"/>
              </a:rPr>
              <a:t>2</a:t>
            </a:r>
            <a:r>
              <a:rPr b="0" i="0" lang="en-US" sz="2400" u="none" cap="none" strike="noStrike">
                <a:solidFill>
                  <a:schemeClr val="dk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p:txBody>
      </p:sp>
      <p:sp>
        <p:nvSpPr>
          <p:cNvPr id="278" name="Google Shape;278;p16"/>
          <p:cNvSpPr txBox="1"/>
          <p:nvPr/>
        </p:nvSpPr>
        <p:spPr>
          <a:xfrm>
            <a:off x="5957887" y="3581400"/>
            <a:ext cx="15843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E(data,K</a:t>
            </a:r>
            <a:r>
              <a:rPr b="0" baseline="-25000" i="0" lang="en-US" sz="2400" u="none" cap="none" strike="noStrike">
                <a:solidFill>
                  <a:schemeClr val="dk1"/>
                </a:solidFill>
                <a:latin typeface="Times"/>
                <a:ea typeface="Times"/>
                <a:cs typeface="Times"/>
                <a:sym typeface="Times"/>
              </a:rPr>
              <a:t>2</a:t>
            </a:r>
            <a:r>
              <a:rPr b="0" i="0" lang="en-US" sz="2400" u="none" cap="none" strike="noStrike">
                <a:solidFill>
                  <a:schemeClr val="dk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p:txBody>
      </p:sp>
      <p:cxnSp>
        <p:nvCxnSpPr>
          <p:cNvPr id="279" name="Google Shape;279;p16"/>
          <p:cNvCxnSpPr/>
          <p:nvPr/>
        </p:nvCxnSpPr>
        <p:spPr>
          <a:xfrm>
            <a:off x="5410200" y="4038600"/>
            <a:ext cx="2514600" cy="0"/>
          </a:xfrm>
          <a:prstGeom prst="straightConnector1">
            <a:avLst/>
          </a:prstGeom>
          <a:noFill/>
          <a:ln cap="flat" cmpd="sng" w="50800">
            <a:solidFill>
              <a:schemeClr val="dk1"/>
            </a:solidFill>
            <a:prstDash val="solid"/>
            <a:miter lim="800000"/>
            <a:headEnd len="med" w="med" type="triangle"/>
            <a:tailEnd len="med" w="med" type="triangle"/>
          </a:ln>
        </p:spPr>
      </p:cxnSp>
      <p:cxnSp>
        <p:nvCxnSpPr>
          <p:cNvPr id="280" name="Google Shape;280;p16"/>
          <p:cNvCxnSpPr/>
          <p:nvPr/>
        </p:nvCxnSpPr>
        <p:spPr>
          <a:xfrm rot="10800000">
            <a:off x="5424487" y="3581400"/>
            <a:ext cx="2438400" cy="0"/>
          </a:xfrm>
          <a:prstGeom prst="straightConnector1">
            <a:avLst/>
          </a:prstGeom>
          <a:noFill/>
          <a:ln cap="flat" cmpd="sng" w="50800">
            <a:solidFill>
              <a:schemeClr val="dk1"/>
            </a:solidFill>
            <a:prstDash val="solid"/>
            <a:miter lim="800000"/>
            <a:headEnd len="sm" w="sm" type="none"/>
            <a:tailEnd len="med" w="med" type="triangle"/>
          </a:ln>
        </p:spPr>
      </p:cxnSp>
      <p:sp>
        <p:nvSpPr>
          <p:cNvPr id="281" name="Google Shape;281;p16"/>
          <p:cNvSpPr txBox="1"/>
          <p:nvPr/>
        </p:nvSpPr>
        <p:spPr>
          <a:xfrm>
            <a:off x="6056312" y="3124200"/>
            <a:ext cx="1273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h(Y</a:t>
            </a:r>
            <a:r>
              <a:rPr b="0" baseline="-25000" i="0" lang="en-US" sz="2400" u="none" cap="none" strike="noStrike">
                <a:solidFill>
                  <a:schemeClr val="dk1"/>
                </a:solidFill>
                <a:latin typeface="Times"/>
                <a:ea typeface="Times"/>
                <a:cs typeface="Times"/>
                <a:sym typeface="Times"/>
              </a:rPr>
              <a:t>2</a:t>
            </a:r>
            <a:r>
              <a:rPr b="0" i="0" lang="en-US" sz="2400" u="none" cap="none" strike="noStrike">
                <a:solidFill>
                  <a:schemeClr val="dk1"/>
                </a:solidFill>
                <a:latin typeface="Times"/>
                <a:ea typeface="Times"/>
                <a:cs typeface="Times"/>
                <a:sym typeface="Times"/>
              </a:rPr>
              <a:t>,K</a:t>
            </a:r>
            <a:r>
              <a:rPr b="0" baseline="-25000" i="0" lang="en-US" sz="2400" u="none" cap="none" strike="noStrike">
                <a:solidFill>
                  <a:schemeClr val="dk1"/>
                </a:solidFill>
                <a:latin typeface="Times"/>
                <a:ea typeface="Times"/>
                <a:cs typeface="Times"/>
                <a:sym typeface="Times"/>
              </a:rPr>
              <a:t>2</a:t>
            </a:r>
            <a:r>
              <a:rPr b="0" i="0" lang="en-US" sz="2400" u="none" cap="none" strike="noStrike">
                <a:solidFill>
                  <a:schemeClr val="dk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p:txBody>
      </p:sp>
      <p:cxnSp>
        <p:nvCxnSpPr>
          <p:cNvPr id="282" name="Google Shape;282;p16"/>
          <p:cNvCxnSpPr/>
          <p:nvPr/>
        </p:nvCxnSpPr>
        <p:spPr>
          <a:xfrm>
            <a:off x="5500687" y="3124200"/>
            <a:ext cx="2438400" cy="0"/>
          </a:xfrm>
          <a:prstGeom prst="straightConnector1">
            <a:avLst/>
          </a:prstGeom>
          <a:noFill/>
          <a:ln cap="flat" cmpd="sng" w="50800">
            <a:solidFill>
              <a:schemeClr val="dk1"/>
            </a:solidFill>
            <a:prstDash val="solid"/>
            <a:miter lim="800000"/>
            <a:headEnd len="sm" w="sm" type="none"/>
            <a:tailEnd len="med" w="med" type="triangle"/>
          </a:ln>
        </p:spPr>
      </p:cxnSp>
      <p:pic>
        <p:nvPicPr>
          <p:cNvPr id="283" name="Google Shape;283;p16"/>
          <p:cNvPicPr preferRelativeResize="0"/>
          <p:nvPr/>
        </p:nvPicPr>
        <p:blipFill rotWithShape="1">
          <a:blip r:embed="rId3">
            <a:alphaModFix/>
          </a:blip>
          <a:srcRect b="0" l="0" r="0" t="0"/>
          <a:stretch/>
        </p:blipFill>
        <p:spPr>
          <a:xfrm>
            <a:off x="120650" y="2057400"/>
            <a:ext cx="946150" cy="1624012"/>
          </a:xfrm>
          <a:prstGeom prst="rect">
            <a:avLst/>
          </a:prstGeom>
          <a:noFill/>
          <a:ln>
            <a:noFill/>
          </a:ln>
        </p:spPr>
      </p:pic>
      <p:pic>
        <p:nvPicPr>
          <p:cNvPr id="284" name="Google Shape;284;p16"/>
          <p:cNvPicPr preferRelativeResize="0"/>
          <p:nvPr/>
        </p:nvPicPr>
        <p:blipFill rotWithShape="1">
          <a:blip r:embed="rId4">
            <a:alphaModFix/>
          </a:blip>
          <a:srcRect b="0" l="0" r="0" t="0"/>
          <a:stretch/>
        </p:blipFill>
        <p:spPr>
          <a:xfrm>
            <a:off x="8001000" y="2057400"/>
            <a:ext cx="1076325" cy="1665287"/>
          </a:xfrm>
          <a:prstGeom prst="rect">
            <a:avLst/>
          </a:prstGeom>
          <a:noFill/>
          <a:ln>
            <a:noFill/>
          </a:ln>
        </p:spPr>
      </p:pic>
      <p:pic>
        <p:nvPicPr>
          <p:cNvPr id="285" name="Google Shape;285;p16"/>
          <p:cNvPicPr preferRelativeResize="0"/>
          <p:nvPr/>
        </p:nvPicPr>
        <p:blipFill rotWithShape="1">
          <a:blip r:embed="rId5">
            <a:alphaModFix/>
          </a:blip>
          <a:srcRect b="0" l="0" r="0" t="0"/>
          <a:stretch/>
        </p:blipFill>
        <p:spPr>
          <a:xfrm>
            <a:off x="4114800" y="2286000"/>
            <a:ext cx="1039812" cy="1282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500"/>
                                        <p:tgtEl>
                                          <p:spTgt spid="26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61"/>
                                        </p:tgtEl>
                                        <p:attrNameLst>
                                          <p:attrName>style.visibility</p:attrName>
                                        </p:attrNameLst>
                                      </p:cBhvr>
                                      <p:to>
                                        <p:strVal val="visible"/>
                                      </p:to>
                                    </p:set>
                                    <p:anim calcmode="lin" valueType="num">
                                      <p:cBhvr additive="base">
                                        <p:cTn dur="500"/>
                                        <p:tgtEl>
                                          <p:spTgt spid="26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500"/>
                                        <p:tgtEl>
                                          <p:spTgt spid="27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69"/>
                                        </p:tgtEl>
                                        <p:attrNameLst>
                                          <p:attrName>style.visibility</p:attrName>
                                        </p:attrNameLst>
                                      </p:cBhvr>
                                      <p:to>
                                        <p:strVal val="visible"/>
                                      </p:to>
                                    </p:set>
                                    <p:anim calcmode="lin" valueType="num">
                                      <p:cBhvr additive="base">
                                        <p:cTn dur="500"/>
                                        <p:tgtEl>
                                          <p:spTgt spid="26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gtEl>
                                        <p:attrNameLst>
                                          <p:attrName>style.visibility</p:attrName>
                                        </p:attrNameLst>
                                      </p:cBhvr>
                                      <p:to>
                                        <p:strVal val="visible"/>
                                      </p:to>
                                    </p:set>
                                    <p:anim calcmode="lin" valueType="num">
                                      <p:cBhvr additive="base">
                                        <p:cTn dur="500"/>
                                        <p:tgtEl>
                                          <p:spTgt spid="268"/>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500"/>
                                        <p:tgtEl>
                                          <p:spTgt spid="273"/>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2"/>
                                        </p:tgtEl>
                                        <p:attrNameLst>
                                          <p:attrName>style.visibility</p:attrName>
                                        </p:attrNameLst>
                                      </p:cBhvr>
                                      <p:to>
                                        <p:strVal val="visible"/>
                                      </p:to>
                                    </p:set>
                                    <p:anim calcmode="lin" valueType="num">
                                      <p:cBhvr additive="base">
                                        <p:cTn dur="500"/>
                                        <p:tgtEl>
                                          <p:spTgt spid="28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500"/>
                                        <p:tgtEl>
                                          <p:spTgt spid="28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gtEl>
                                        <p:attrNameLst>
                                          <p:attrName>style.visibility</p:attrName>
                                        </p:attrNameLst>
                                      </p:cBhvr>
                                      <p:to>
                                        <p:strVal val="visible"/>
                                      </p:to>
                                    </p:set>
                                    <p:anim calcmode="lin" valueType="num">
                                      <p:cBhvr additive="base">
                                        <p:cTn dur="500"/>
                                        <p:tgtEl>
                                          <p:spTgt spid="279"/>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0" st="0"/>
                                            </p:txEl>
                                          </p:spTgt>
                                        </p:tgtEl>
                                        <p:attrNameLst>
                                          <p:attrName>style.visibility</p:attrName>
                                        </p:attrNameLst>
                                      </p:cBhvr>
                                      <p:to>
                                        <p:strVal val="visible"/>
                                      </p:to>
                                    </p:set>
                                    <p:animEffect filter="fade" transition="in">
                                      <p:cBhvr>
                                        <p:cTn dur="500"/>
                                        <p:tgtEl>
                                          <p:spTgt spid="2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1" st="1"/>
                                            </p:txEl>
                                          </p:spTgt>
                                        </p:tgtEl>
                                        <p:attrNameLst>
                                          <p:attrName>style.visibility</p:attrName>
                                        </p:attrNameLst>
                                      </p:cBhvr>
                                      <p:to>
                                        <p:strVal val="visible"/>
                                      </p:to>
                                    </p:set>
                                    <p:animEffect filter="fade" transition="in">
                                      <p:cBhvr>
                                        <p:cTn dur="500"/>
                                        <p:tgtEl>
                                          <p:spTgt spid="2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2" st="2"/>
                                            </p:txEl>
                                          </p:spTgt>
                                        </p:tgtEl>
                                        <p:attrNameLst>
                                          <p:attrName>style.visibility</p:attrName>
                                        </p:attrNameLst>
                                      </p:cBhvr>
                                      <p:to>
                                        <p:strVal val="visible"/>
                                      </p:to>
                                    </p:set>
                                    <p:animEffect filter="fade" transition="in">
                                      <p:cBhvr>
                                        <p:cTn dur="500"/>
                                        <p:tgtEl>
                                          <p:spTgt spid="2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3" st="3"/>
                                            </p:txEl>
                                          </p:spTgt>
                                        </p:tgtEl>
                                        <p:attrNameLst>
                                          <p:attrName>style.visibility</p:attrName>
                                        </p:attrNameLst>
                                      </p:cBhvr>
                                      <p:to>
                                        <p:strVal val="visible"/>
                                      </p:to>
                                    </p:set>
                                    <p:animEffect filter="fade" transition="in">
                                      <p:cBhvr>
                                        <p:cTn dur="500"/>
                                        <p:tgtEl>
                                          <p:spTgt spid="25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86"/>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91" name="Google Shape;291;p86"/>
          <p:cNvSpPr txBox="1"/>
          <p:nvPr>
            <p:ph idx="1" type="body"/>
          </p:nvPr>
        </p:nvSpPr>
        <p:spPr>
          <a:xfrm>
            <a:off x="581192" y="2228003"/>
            <a:ext cx="7989752" cy="3630795"/>
          </a:xfrm>
          <a:prstGeom prst="rect">
            <a:avLst/>
          </a:prstGeom>
          <a:noFill/>
          <a:ln>
            <a:noFill/>
          </a:ln>
        </p:spPr>
        <p:txBody>
          <a:bodyPr anchorCtr="0" anchor="ctr" bIns="45700" lIns="91425" spcFirstLastPara="1" rIns="91425" wrap="square" tIns="45700">
            <a:noAutofit/>
          </a:bodyPr>
          <a:lstStyle/>
          <a:p>
            <a:pPr indent="-333756" lvl="0" marL="457200" rtl="0" algn="l">
              <a:lnSpc>
                <a:spcPct val="100000"/>
              </a:lnSpc>
              <a:spcBef>
                <a:spcPts val="360"/>
              </a:spcBef>
              <a:spcAft>
                <a:spcPts val="0"/>
              </a:spcAft>
              <a:buSzPts val="1656"/>
              <a:buChar char="◼"/>
            </a:pPr>
            <a:r>
              <a:rPr lang="en-US"/>
              <a:t>https://blog.hubspot.com/website/fix-ssl-certificate-error</a:t>
            </a:r>
            <a:endParaRPr/>
          </a:p>
        </p:txBody>
      </p:sp>
      <p:sp>
        <p:nvSpPr>
          <p:cNvPr id="292" name="Google Shape;292;p86"/>
          <p:cNvSpPr txBox="1"/>
          <p:nvPr>
            <p:ph idx="12" type="sldNum"/>
          </p:nvPr>
        </p:nvSpPr>
        <p:spPr>
          <a:xfrm>
            <a:off x="7800975" y="6486525"/>
            <a:ext cx="769937"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70"/>
          <p:cNvSpPr txBox="1"/>
          <p:nvPr>
            <p:ph type="title"/>
          </p:nvPr>
        </p:nvSpPr>
        <p:spPr>
          <a:xfrm>
            <a:off x="581025" y="752792"/>
            <a:ext cx="8001000" cy="928687"/>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4800"/>
              <a:buFont typeface="Gill Sans"/>
              <a:buNone/>
            </a:pPr>
            <a:r>
              <a:rPr b="0" i="0" lang="en-US" sz="4800" u="none">
                <a:solidFill>
                  <a:schemeClr val="lt1"/>
                </a:solidFill>
                <a:latin typeface="Gill Sans"/>
                <a:ea typeface="Gill Sans"/>
                <a:cs typeface="Gill Sans"/>
                <a:sym typeface="Gill Sans"/>
              </a:rPr>
              <a:t>KERBEROS</a:t>
            </a:r>
            <a:endParaRPr/>
          </a:p>
        </p:txBody>
      </p:sp>
      <p:sp>
        <p:nvSpPr>
          <p:cNvPr id="298" name="Google Shape;298;p70"/>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pic>
        <p:nvPicPr>
          <p:cNvPr id="299" name="Google Shape;299;p70"/>
          <p:cNvPicPr preferRelativeResize="0"/>
          <p:nvPr/>
        </p:nvPicPr>
        <p:blipFill rotWithShape="1">
          <a:blip r:embed="rId3">
            <a:alphaModFix/>
          </a:blip>
          <a:srcRect b="0" l="0" r="0" t="0"/>
          <a:stretch/>
        </p:blipFill>
        <p:spPr>
          <a:xfrm>
            <a:off x="475469" y="1864677"/>
            <a:ext cx="3371850" cy="1954212"/>
          </a:xfrm>
          <a:prstGeom prst="rect">
            <a:avLst/>
          </a:prstGeom>
          <a:noFill/>
          <a:ln>
            <a:noFill/>
          </a:ln>
        </p:spPr>
      </p:pic>
      <p:pic>
        <p:nvPicPr>
          <p:cNvPr descr="http://upload.wikimedia.org/wikipedia/commons/7/71/Hades-et-Cerberus-III.jpg" id="300" name="Google Shape;300;p70"/>
          <p:cNvPicPr preferRelativeResize="0"/>
          <p:nvPr/>
        </p:nvPicPr>
        <p:blipFill rotWithShape="1">
          <a:blip r:embed="rId4">
            <a:alphaModFix/>
          </a:blip>
          <a:srcRect b="0" l="0" r="0" t="0"/>
          <a:stretch/>
        </p:blipFill>
        <p:spPr>
          <a:xfrm>
            <a:off x="6460319" y="1864677"/>
            <a:ext cx="2208212" cy="3506787"/>
          </a:xfrm>
          <a:prstGeom prst="rect">
            <a:avLst/>
          </a:prstGeom>
          <a:noFill/>
          <a:ln>
            <a:noFill/>
          </a:ln>
        </p:spPr>
      </p:pic>
      <p:pic>
        <p:nvPicPr>
          <p:cNvPr id="301" name="Google Shape;301;p70"/>
          <p:cNvPicPr preferRelativeResize="0"/>
          <p:nvPr/>
        </p:nvPicPr>
        <p:blipFill rotWithShape="1">
          <a:blip r:embed="rId5">
            <a:alphaModFix/>
          </a:blip>
          <a:srcRect b="7189" l="0" r="0" t="6147"/>
          <a:stretch/>
        </p:blipFill>
        <p:spPr>
          <a:xfrm>
            <a:off x="1823638" y="3818888"/>
            <a:ext cx="4670837" cy="303911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7"/>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1400"/>
              <a:buNone/>
            </a:pPr>
            <a:r>
              <a:rPr lang="en-US"/>
              <a:t>Usages of Kerberos</a:t>
            </a:r>
            <a:endParaRPr/>
          </a:p>
        </p:txBody>
      </p:sp>
      <p:sp>
        <p:nvSpPr>
          <p:cNvPr id="307" name="Google Shape;307;p17"/>
          <p:cNvSpPr txBox="1"/>
          <p:nvPr>
            <p:ph idx="1" type="body"/>
          </p:nvPr>
        </p:nvSpPr>
        <p:spPr>
          <a:xfrm>
            <a:off x="455068" y="2574845"/>
            <a:ext cx="8562808" cy="3630795"/>
          </a:xfrm>
          <a:prstGeom prst="rect">
            <a:avLst/>
          </a:prstGeom>
          <a:noFill/>
          <a:ln>
            <a:noFill/>
          </a:ln>
        </p:spPr>
        <p:txBody>
          <a:bodyPr anchorCtr="0" anchor="ctr" bIns="45700" lIns="91425" spcFirstLastPara="1" rIns="91425" wrap="square" tIns="45700">
            <a:noAutofit/>
          </a:bodyPr>
          <a:lstStyle/>
          <a:p>
            <a:pPr indent="-333756" lvl="0" marL="457200" rtl="0" algn="just">
              <a:lnSpc>
                <a:spcPct val="100000"/>
              </a:lnSpc>
              <a:spcBef>
                <a:spcPts val="360"/>
              </a:spcBef>
              <a:spcAft>
                <a:spcPts val="0"/>
              </a:spcAft>
              <a:buSzPts val="1656"/>
              <a:buChar char="◼"/>
            </a:pPr>
            <a:r>
              <a:rPr lang="en-US"/>
              <a:t>Kerberos is used to authenticate entities requesting access to network resources, especially in large networks to support SSO. The protocol is used by default in many widely used networking systems. Some systems in which Kerberos support is incorporated or available include the following:</a:t>
            </a:r>
            <a:endParaRPr/>
          </a:p>
          <a:p>
            <a:pPr indent="-333756" lvl="1" marL="914400" rtl="0" algn="just">
              <a:lnSpc>
                <a:spcPct val="100000"/>
              </a:lnSpc>
              <a:spcBef>
                <a:spcPts val="600"/>
              </a:spcBef>
              <a:spcAft>
                <a:spcPts val="0"/>
              </a:spcAft>
              <a:buSzPts val="1656"/>
              <a:buFont typeface="Arial"/>
              <a:buChar char="•"/>
            </a:pPr>
            <a:r>
              <a:rPr lang="en-US" sz="1400"/>
              <a:t>Amazon Web Services</a:t>
            </a:r>
            <a:endParaRPr/>
          </a:p>
          <a:p>
            <a:pPr indent="-333756" lvl="1" marL="914400" rtl="0" algn="just">
              <a:lnSpc>
                <a:spcPct val="100000"/>
              </a:lnSpc>
              <a:spcBef>
                <a:spcPts val="600"/>
              </a:spcBef>
              <a:spcAft>
                <a:spcPts val="0"/>
              </a:spcAft>
              <a:buSzPts val="1656"/>
              <a:buFont typeface="Arial"/>
              <a:buChar char="•"/>
            </a:pPr>
            <a:r>
              <a:rPr lang="en-US" sz="1400"/>
              <a:t>Apple macOS</a:t>
            </a:r>
            <a:endParaRPr sz="1400"/>
          </a:p>
          <a:p>
            <a:pPr indent="-333756" lvl="1" marL="914400" rtl="0" algn="just">
              <a:lnSpc>
                <a:spcPct val="100000"/>
              </a:lnSpc>
              <a:spcBef>
                <a:spcPts val="600"/>
              </a:spcBef>
              <a:spcAft>
                <a:spcPts val="0"/>
              </a:spcAft>
              <a:buSzPts val="1656"/>
              <a:buFont typeface="Arial"/>
              <a:buChar char="•"/>
            </a:pPr>
            <a:r>
              <a:rPr lang="en-US" sz="1400"/>
              <a:t>Google Cloud</a:t>
            </a:r>
            <a:endParaRPr/>
          </a:p>
          <a:p>
            <a:pPr indent="-333756" lvl="1" marL="914400" rtl="0" algn="just">
              <a:lnSpc>
                <a:spcPct val="100000"/>
              </a:lnSpc>
              <a:spcBef>
                <a:spcPts val="600"/>
              </a:spcBef>
              <a:spcAft>
                <a:spcPts val="0"/>
              </a:spcAft>
              <a:buSzPts val="1656"/>
              <a:buFont typeface="Arial"/>
              <a:buChar char="•"/>
            </a:pPr>
            <a:r>
              <a:rPr lang="en-US" sz="1400"/>
              <a:t>Hewlett Packard Unix</a:t>
            </a:r>
            <a:endParaRPr/>
          </a:p>
          <a:p>
            <a:pPr indent="-333756" lvl="1" marL="914400" rtl="0" algn="just">
              <a:lnSpc>
                <a:spcPct val="100000"/>
              </a:lnSpc>
              <a:spcBef>
                <a:spcPts val="600"/>
              </a:spcBef>
              <a:spcAft>
                <a:spcPts val="0"/>
              </a:spcAft>
              <a:buSzPts val="1656"/>
              <a:buFont typeface="Arial"/>
              <a:buChar char="•"/>
            </a:pPr>
            <a:r>
              <a:rPr lang="en-US" sz="1400"/>
              <a:t>IBM Advanced Interactive eXecutive</a:t>
            </a:r>
            <a:endParaRPr sz="1400"/>
          </a:p>
          <a:p>
            <a:pPr indent="-333756" lvl="1" marL="914400" rtl="0" algn="just">
              <a:lnSpc>
                <a:spcPct val="100000"/>
              </a:lnSpc>
              <a:spcBef>
                <a:spcPts val="600"/>
              </a:spcBef>
              <a:spcAft>
                <a:spcPts val="0"/>
              </a:spcAft>
              <a:buSzPts val="1656"/>
              <a:buFont typeface="Arial"/>
              <a:buChar char="•"/>
            </a:pPr>
            <a:r>
              <a:rPr lang="en-US" sz="1400"/>
              <a:t>Microsoft Azure</a:t>
            </a:r>
            <a:endParaRPr/>
          </a:p>
          <a:p>
            <a:pPr indent="-333756" lvl="1" marL="914400" rtl="0" algn="just">
              <a:lnSpc>
                <a:spcPct val="100000"/>
              </a:lnSpc>
              <a:spcBef>
                <a:spcPts val="600"/>
              </a:spcBef>
              <a:spcAft>
                <a:spcPts val="0"/>
              </a:spcAft>
              <a:buSzPts val="1656"/>
              <a:buFont typeface="Arial"/>
              <a:buChar char="•"/>
            </a:pPr>
            <a:r>
              <a:rPr lang="en-US" sz="1400"/>
              <a:t>Microsoft Windows Server and AD</a:t>
            </a:r>
            <a:endParaRPr/>
          </a:p>
          <a:p>
            <a:pPr indent="-333756" lvl="1" marL="914400" rtl="0" algn="just">
              <a:lnSpc>
                <a:spcPct val="100000"/>
              </a:lnSpc>
              <a:spcBef>
                <a:spcPts val="600"/>
              </a:spcBef>
              <a:spcAft>
                <a:spcPts val="0"/>
              </a:spcAft>
              <a:buSzPts val="1656"/>
              <a:buFont typeface="Arial"/>
              <a:buChar char="•"/>
            </a:pPr>
            <a:r>
              <a:rPr lang="en-US" sz="1400"/>
              <a:t>Oracle Solaris</a:t>
            </a:r>
            <a:endParaRPr/>
          </a:p>
          <a:p>
            <a:pPr indent="-333756" lvl="1" marL="914400" rtl="0" algn="just">
              <a:lnSpc>
                <a:spcPct val="100000"/>
              </a:lnSpc>
              <a:spcBef>
                <a:spcPts val="600"/>
              </a:spcBef>
              <a:spcAft>
                <a:spcPts val="0"/>
              </a:spcAft>
              <a:buSzPts val="1656"/>
              <a:buFont typeface="Arial"/>
              <a:buChar char="•"/>
            </a:pPr>
            <a:r>
              <a:rPr lang="en-US" sz="1400"/>
              <a:t>Red Hat Linux</a:t>
            </a:r>
            <a:endParaRPr/>
          </a:p>
          <a:p>
            <a:pPr indent="-333756" lvl="1" marL="914400" rtl="0" algn="just">
              <a:lnSpc>
                <a:spcPct val="100000"/>
              </a:lnSpc>
              <a:spcBef>
                <a:spcPts val="600"/>
              </a:spcBef>
              <a:spcAft>
                <a:spcPts val="0"/>
              </a:spcAft>
              <a:buSzPts val="1656"/>
              <a:buFont typeface="Arial"/>
              <a:buChar char="•"/>
            </a:pPr>
            <a:r>
              <a:rPr lang="en-US" sz="1400"/>
              <a:t>FreeBSD</a:t>
            </a:r>
            <a:endParaRPr/>
          </a:p>
          <a:p>
            <a:pPr indent="-333756" lvl="1" marL="914400" rtl="0" algn="just">
              <a:lnSpc>
                <a:spcPct val="100000"/>
              </a:lnSpc>
              <a:spcBef>
                <a:spcPts val="600"/>
              </a:spcBef>
              <a:spcAft>
                <a:spcPts val="0"/>
              </a:spcAft>
              <a:buSzPts val="1656"/>
              <a:buFont typeface="Arial"/>
              <a:buChar char="•"/>
            </a:pPr>
            <a:r>
              <a:rPr lang="en-US" sz="1400"/>
              <a:t>OpenBSD</a:t>
            </a:r>
            <a:endParaRPr sz="1400"/>
          </a:p>
          <a:p>
            <a:pPr indent="-228600" lvl="0" marL="457200" rtl="0" algn="just">
              <a:lnSpc>
                <a:spcPct val="100000"/>
              </a:lnSpc>
              <a:spcBef>
                <a:spcPts val="360"/>
              </a:spcBef>
              <a:spcAft>
                <a:spcPts val="0"/>
              </a:spcAft>
              <a:buSzPts val="1656"/>
              <a:buNone/>
            </a:pPr>
            <a:r>
              <a:t/>
            </a:r>
            <a:endParaRPr/>
          </a:p>
        </p:txBody>
      </p:sp>
      <p:sp>
        <p:nvSpPr>
          <p:cNvPr id="308" name="Google Shape;308;p17"/>
          <p:cNvSpPr txBox="1"/>
          <p:nvPr>
            <p:ph idx="12" type="sldNum"/>
          </p:nvPr>
        </p:nvSpPr>
        <p:spPr>
          <a:xfrm>
            <a:off x="7800975" y="6486525"/>
            <a:ext cx="769937"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71"/>
          <p:cNvSpPr txBox="1"/>
          <p:nvPr>
            <p:ph type="title"/>
          </p:nvPr>
        </p:nvSpPr>
        <p:spPr>
          <a:xfrm>
            <a:off x="785812" y="500062"/>
            <a:ext cx="7143750" cy="85725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KERBEROS</a:t>
            </a:r>
            <a:endParaRPr/>
          </a:p>
        </p:txBody>
      </p:sp>
      <p:sp>
        <p:nvSpPr>
          <p:cNvPr id="314" name="Google Shape;314;p71"/>
          <p:cNvSpPr txBox="1"/>
          <p:nvPr>
            <p:ph idx="1" type="body"/>
          </p:nvPr>
        </p:nvSpPr>
        <p:spPr>
          <a:xfrm>
            <a:off x="785812" y="1714500"/>
            <a:ext cx="7672387" cy="434498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In Greek mythology, Kerberos is 3-headed dog that guards entrance to Hades</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“Wouldn’t it make more sense to guard the exit?”</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In security, Kerberos is an authentication system based on </a:t>
            </a:r>
            <a:r>
              <a:rPr b="0" i="0" lang="en-US" sz="2800" u="none">
                <a:solidFill>
                  <a:srgbClr val="FF0000"/>
                </a:solidFill>
                <a:latin typeface="Gill Sans"/>
                <a:ea typeface="Gill Sans"/>
                <a:cs typeface="Gill Sans"/>
                <a:sym typeface="Gill Sans"/>
              </a:rPr>
              <a:t>symmetric key crypto</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Originated at MIT</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Based on work by Needham and Schroeder</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Relies on a </a:t>
            </a:r>
            <a:r>
              <a:rPr b="1" i="0" lang="en-US" sz="2400" u="none" cap="none" strike="noStrike">
                <a:solidFill>
                  <a:srgbClr val="0000FF"/>
                </a:solidFill>
                <a:latin typeface="Gill Sans"/>
                <a:ea typeface="Gill Sans"/>
                <a:cs typeface="Gill Sans"/>
                <a:sym typeface="Gill Sans"/>
              </a:rPr>
              <a:t>Trusted Third Party (TTP)</a:t>
            </a:r>
            <a:endParaRPr/>
          </a:p>
        </p:txBody>
      </p:sp>
      <p:sp>
        <p:nvSpPr>
          <p:cNvPr id="315" name="Google Shape;315;p71"/>
          <p:cNvSpPr txBox="1"/>
          <p:nvPr/>
        </p:nvSpPr>
        <p:spPr>
          <a:xfrm>
            <a:off x="573088" y="6138862"/>
            <a:ext cx="6790446"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316" name="Google Shape;316;p71"/>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72"/>
          <p:cNvSpPr txBox="1"/>
          <p:nvPr>
            <p:ph type="title"/>
          </p:nvPr>
        </p:nvSpPr>
        <p:spPr>
          <a:xfrm>
            <a:off x="785812" y="304800"/>
            <a:ext cx="7143750" cy="10525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MOTIVATION FOR KERBEROS</a:t>
            </a:r>
            <a:endParaRPr/>
          </a:p>
        </p:txBody>
      </p:sp>
      <p:sp>
        <p:nvSpPr>
          <p:cNvPr id="322" name="Google Shape;322;p72"/>
          <p:cNvSpPr txBox="1"/>
          <p:nvPr>
            <p:ph idx="1" type="body"/>
          </p:nvPr>
        </p:nvSpPr>
        <p:spPr>
          <a:xfrm>
            <a:off x="785812" y="1879092"/>
            <a:ext cx="7456487" cy="4421187"/>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Authentication using public keys</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FF0000"/>
                </a:solidFill>
                <a:latin typeface="Times"/>
                <a:ea typeface="Times"/>
                <a:cs typeface="Times"/>
                <a:sym typeface="Times"/>
              </a:rPr>
              <a:t>N</a:t>
            </a:r>
            <a:r>
              <a:rPr b="0" i="0" lang="en-US" sz="2400" u="none" cap="none" strike="noStrike">
                <a:solidFill>
                  <a:srgbClr val="FF0000"/>
                </a:solidFill>
                <a:latin typeface="Gill Sans"/>
                <a:ea typeface="Gill Sans"/>
                <a:cs typeface="Gill Sans"/>
                <a:sym typeface="Gill Sans"/>
              </a:rPr>
              <a:t> users ⇒ </a:t>
            </a:r>
            <a:r>
              <a:rPr b="0" i="0" lang="en-US" sz="2400" u="none" cap="none" strike="noStrike">
                <a:solidFill>
                  <a:srgbClr val="FF0000"/>
                </a:solidFill>
                <a:latin typeface="Times"/>
                <a:ea typeface="Times"/>
                <a:cs typeface="Times"/>
                <a:sym typeface="Times"/>
              </a:rPr>
              <a:t>N</a:t>
            </a:r>
            <a:r>
              <a:rPr b="0" i="0" lang="en-US" sz="2400" u="none" cap="none" strike="noStrike">
                <a:solidFill>
                  <a:srgbClr val="FF0000"/>
                </a:solidFill>
                <a:latin typeface="Gill Sans"/>
                <a:ea typeface="Gill Sans"/>
                <a:cs typeface="Gill Sans"/>
                <a:sym typeface="Gill Sans"/>
              </a:rPr>
              <a:t> key pairs</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Authentication using symmetric keys</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FF0000"/>
                </a:solidFill>
                <a:latin typeface="Times"/>
                <a:ea typeface="Times"/>
                <a:cs typeface="Times"/>
                <a:sym typeface="Times"/>
              </a:rPr>
              <a:t>N</a:t>
            </a:r>
            <a:r>
              <a:rPr b="0" i="0" lang="en-US" sz="2400" u="none" cap="none" strike="noStrike">
                <a:solidFill>
                  <a:srgbClr val="FF0000"/>
                </a:solidFill>
                <a:latin typeface="Gill Sans"/>
                <a:ea typeface="Gill Sans"/>
                <a:cs typeface="Gill Sans"/>
                <a:sym typeface="Gill Sans"/>
              </a:rPr>
              <a:t> users requires about </a:t>
            </a:r>
            <a:r>
              <a:rPr b="0" i="0" lang="en-US" sz="2400" u="none" cap="none" strike="noStrike">
                <a:solidFill>
                  <a:srgbClr val="FF0000"/>
                </a:solidFill>
                <a:latin typeface="Times"/>
                <a:ea typeface="Times"/>
                <a:cs typeface="Times"/>
                <a:sym typeface="Times"/>
              </a:rPr>
              <a:t>N</a:t>
            </a:r>
            <a:r>
              <a:rPr b="0" baseline="30000" i="0" lang="en-US" sz="2400" u="none" cap="none" strike="noStrike">
                <a:solidFill>
                  <a:srgbClr val="FF0000"/>
                </a:solidFill>
                <a:latin typeface="Times"/>
                <a:ea typeface="Times"/>
                <a:cs typeface="Times"/>
                <a:sym typeface="Times"/>
              </a:rPr>
              <a:t>2</a:t>
            </a:r>
            <a:r>
              <a:rPr b="0" i="0" lang="en-US" sz="2400" u="none" cap="none" strike="noStrike">
                <a:solidFill>
                  <a:srgbClr val="FF0000"/>
                </a:solidFill>
                <a:latin typeface="Gill Sans"/>
                <a:ea typeface="Gill Sans"/>
                <a:cs typeface="Gill Sans"/>
                <a:sym typeface="Gill Sans"/>
              </a:rPr>
              <a:t> keys</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Symmetric key case </a:t>
            </a:r>
            <a:r>
              <a:rPr b="1" i="0" lang="en-US" sz="2800" u="none">
                <a:solidFill>
                  <a:srgbClr val="0000FF"/>
                </a:solidFill>
                <a:latin typeface="Gill Sans"/>
                <a:ea typeface="Gill Sans"/>
                <a:cs typeface="Gill Sans"/>
                <a:sym typeface="Gill Sans"/>
              </a:rPr>
              <a:t>does not scale!</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rgbClr val="0000FF"/>
                </a:solidFill>
                <a:latin typeface="Gill Sans"/>
                <a:ea typeface="Gill Sans"/>
                <a:cs typeface="Gill Sans"/>
                <a:sym typeface="Gill Sans"/>
              </a:rPr>
              <a:t>Kerberos based on symmetric keys but only requires </a:t>
            </a:r>
            <a:r>
              <a:rPr b="0" i="0" lang="en-US" sz="2800" u="none">
                <a:solidFill>
                  <a:srgbClr val="FF0000"/>
                </a:solidFill>
                <a:latin typeface="Times"/>
                <a:ea typeface="Times"/>
                <a:cs typeface="Times"/>
                <a:sym typeface="Times"/>
              </a:rPr>
              <a:t>N</a:t>
            </a:r>
            <a:r>
              <a:rPr b="0" i="0" lang="en-US" sz="2800" u="none">
                <a:solidFill>
                  <a:srgbClr val="FF0000"/>
                </a:solidFill>
                <a:latin typeface="Gill Sans"/>
                <a:ea typeface="Gill Sans"/>
                <a:cs typeface="Gill Sans"/>
                <a:sym typeface="Gill Sans"/>
              </a:rPr>
              <a:t> keys for </a:t>
            </a:r>
            <a:r>
              <a:rPr b="0" i="0" lang="en-US" sz="2800" u="none">
                <a:solidFill>
                  <a:srgbClr val="FF0000"/>
                </a:solidFill>
                <a:latin typeface="Times"/>
                <a:ea typeface="Times"/>
                <a:cs typeface="Times"/>
                <a:sym typeface="Times"/>
              </a:rPr>
              <a:t>N</a:t>
            </a:r>
            <a:r>
              <a:rPr b="0" i="0" lang="en-US" sz="2800" u="none">
                <a:solidFill>
                  <a:srgbClr val="FF0000"/>
                </a:solidFill>
                <a:latin typeface="Gill Sans"/>
                <a:ea typeface="Gill Sans"/>
                <a:cs typeface="Gill Sans"/>
                <a:sym typeface="Gill Sans"/>
              </a:rPr>
              <a:t> users</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FF0000"/>
                </a:solidFill>
                <a:latin typeface="Gill Sans"/>
                <a:ea typeface="Gill Sans"/>
                <a:cs typeface="Gill Sans"/>
                <a:sym typeface="Gill Sans"/>
              </a:rPr>
              <a:t>But must rely on TTP</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Advantage is that no PKI is required</a:t>
            </a:r>
            <a:endParaRPr/>
          </a:p>
        </p:txBody>
      </p:sp>
      <p:sp>
        <p:nvSpPr>
          <p:cNvPr id="323" name="Google Shape;323;p72"/>
          <p:cNvSpPr txBox="1"/>
          <p:nvPr/>
        </p:nvSpPr>
        <p:spPr>
          <a:xfrm>
            <a:off x="581024" y="5951537"/>
            <a:ext cx="6891337" cy="10525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324" name="Google Shape;324;p72"/>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73"/>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KERBEROS KDC</a:t>
            </a:r>
            <a:endParaRPr/>
          </a:p>
        </p:txBody>
      </p:sp>
      <p:sp>
        <p:nvSpPr>
          <p:cNvPr id="330" name="Google Shape;330;p73"/>
          <p:cNvSpPr txBox="1"/>
          <p:nvPr>
            <p:ph idx="1" type="body"/>
          </p:nvPr>
        </p:nvSpPr>
        <p:spPr>
          <a:xfrm>
            <a:off x="785812" y="1714500"/>
            <a:ext cx="7456487" cy="464343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Kerberos </a:t>
            </a:r>
            <a:r>
              <a:rPr b="0" i="0" lang="en-US" sz="2800" u="none">
                <a:solidFill>
                  <a:srgbClr val="0000FF"/>
                </a:solidFill>
                <a:latin typeface="Gill Sans"/>
                <a:ea typeface="Gill Sans"/>
                <a:cs typeface="Gill Sans"/>
                <a:sym typeface="Gill Sans"/>
              </a:rPr>
              <a:t>Key Distribution Center </a:t>
            </a:r>
            <a:r>
              <a:rPr b="0" i="0" lang="en-US" sz="2800" u="none">
                <a:solidFill>
                  <a:schemeClr val="dk2"/>
                </a:solidFill>
                <a:latin typeface="Gill Sans"/>
                <a:ea typeface="Gill Sans"/>
                <a:cs typeface="Gill Sans"/>
                <a:sym typeface="Gill Sans"/>
              </a:rPr>
              <a:t>or </a:t>
            </a:r>
            <a:r>
              <a:rPr b="1" i="0" lang="en-US" sz="2800" u="none">
                <a:solidFill>
                  <a:srgbClr val="0000FF"/>
                </a:solidFill>
                <a:latin typeface="Gill Sans"/>
                <a:ea typeface="Gill Sans"/>
                <a:cs typeface="Gill Sans"/>
                <a:sym typeface="Gill Sans"/>
              </a:rPr>
              <a:t>KDC</a:t>
            </a:r>
            <a:endParaRPr b="0" i="0" sz="2800" u="none">
              <a:solidFill>
                <a:srgbClr val="0000FF"/>
              </a:solidFill>
              <a:latin typeface="Gill Sans"/>
              <a:ea typeface="Gill Sans"/>
              <a:cs typeface="Gill Sans"/>
              <a:sym typeface="Gill Sans"/>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Acts as a TTP</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TTP must not be compromised!</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KDC shares symmetric key </a:t>
            </a:r>
            <a:r>
              <a:rPr b="0" i="0" lang="en-US" sz="2400" u="none" cap="none" strike="noStrike">
                <a:solidFill>
                  <a:schemeClr val="dk2"/>
                </a:solidFill>
                <a:latin typeface="Times"/>
                <a:ea typeface="Times"/>
                <a:cs typeface="Times"/>
                <a:sym typeface="Times"/>
              </a:rPr>
              <a:t>K</a:t>
            </a:r>
            <a:r>
              <a:rPr b="0" baseline="-25000" i="0" lang="en-US" sz="2400" u="none" cap="none" strike="noStrike">
                <a:solidFill>
                  <a:schemeClr val="dk2"/>
                </a:solidFill>
                <a:latin typeface="Times"/>
                <a:ea typeface="Times"/>
                <a:cs typeface="Times"/>
                <a:sym typeface="Times"/>
              </a:rPr>
              <a:t>A</a:t>
            </a:r>
            <a:r>
              <a:rPr b="0" i="0" lang="en-US" sz="2400" u="none" cap="none" strike="noStrike">
                <a:solidFill>
                  <a:schemeClr val="dk2"/>
                </a:solidFill>
                <a:latin typeface="Gill Sans"/>
                <a:ea typeface="Gill Sans"/>
                <a:cs typeface="Gill Sans"/>
                <a:sym typeface="Gill Sans"/>
              </a:rPr>
              <a:t> with Alice, key </a:t>
            </a:r>
            <a:r>
              <a:rPr b="0" i="0" lang="en-US" sz="2400" u="none" cap="none" strike="noStrike">
                <a:solidFill>
                  <a:schemeClr val="dk2"/>
                </a:solidFill>
                <a:latin typeface="Times"/>
                <a:ea typeface="Times"/>
                <a:cs typeface="Times"/>
                <a:sym typeface="Times"/>
              </a:rPr>
              <a:t>K</a:t>
            </a:r>
            <a:r>
              <a:rPr b="0" baseline="-25000" i="0" lang="en-US" sz="2400" u="none" cap="none" strike="noStrike">
                <a:solidFill>
                  <a:schemeClr val="dk2"/>
                </a:solidFill>
                <a:latin typeface="Times"/>
                <a:ea typeface="Times"/>
                <a:cs typeface="Times"/>
                <a:sym typeface="Times"/>
              </a:rPr>
              <a:t>B</a:t>
            </a:r>
            <a:r>
              <a:rPr b="0" i="0" lang="en-US" sz="2400" u="none" cap="none" strike="noStrike">
                <a:solidFill>
                  <a:schemeClr val="dk2"/>
                </a:solidFill>
                <a:latin typeface="Gill Sans"/>
                <a:ea typeface="Gill Sans"/>
                <a:cs typeface="Gill Sans"/>
                <a:sym typeface="Gill Sans"/>
              </a:rPr>
              <a:t> with Bob, key </a:t>
            </a:r>
            <a:r>
              <a:rPr b="0" i="0" lang="en-US" sz="2400" u="none" cap="none" strike="noStrike">
                <a:solidFill>
                  <a:schemeClr val="dk2"/>
                </a:solidFill>
                <a:latin typeface="Times"/>
                <a:ea typeface="Times"/>
                <a:cs typeface="Times"/>
                <a:sym typeface="Times"/>
              </a:rPr>
              <a:t>K</a:t>
            </a:r>
            <a:r>
              <a:rPr b="0" baseline="-25000" i="0" lang="en-US" sz="2400" u="none" cap="none" strike="noStrike">
                <a:solidFill>
                  <a:schemeClr val="dk2"/>
                </a:solidFill>
                <a:latin typeface="Times"/>
                <a:ea typeface="Times"/>
                <a:cs typeface="Times"/>
                <a:sym typeface="Times"/>
              </a:rPr>
              <a:t>C</a:t>
            </a:r>
            <a:r>
              <a:rPr b="0" i="0" lang="en-US" sz="2400" u="none" cap="none" strike="noStrike">
                <a:solidFill>
                  <a:schemeClr val="dk2"/>
                </a:solidFill>
                <a:latin typeface="Gill Sans"/>
                <a:ea typeface="Gill Sans"/>
                <a:cs typeface="Gill Sans"/>
                <a:sym typeface="Gill Sans"/>
              </a:rPr>
              <a:t> with Carol, etc.</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Master key </a:t>
            </a:r>
            <a:r>
              <a:rPr b="0" i="0" lang="en-US" sz="2400" u="none" cap="none" strike="noStrike">
                <a:solidFill>
                  <a:srgbClr val="0000FF"/>
                </a:solidFill>
                <a:latin typeface="Times"/>
                <a:ea typeface="Times"/>
                <a:cs typeface="Times"/>
                <a:sym typeface="Times"/>
              </a:rPr>
              <a:t>K</a:t>
            </a:r>
            <a:r>
              <a:rPr b="0" baseline="-25000" i="0" lang="en-US" sz="2400" u="none" cap="none" strike="noStrike">
                <a:solidFill>
                  <a:srgbClr val="0000FF"/>
                </a:solidFill>
                <a:latin typeface="Times"/>
                <a:ea typeface="Times"/>
                <a:cs typeface="Times"/>
                <a:sym typeface="Times"/>
              </a:rPr>
              <a:t>KDC</a:t>
            </a:r>
            <a:r>
              <a:rPr b="0" i="0" lang="en-US" sz="2400" u="none" cap="none" strike="noStrike">
                <a:solidFill>
                  <a:srgbClr val="0000FF"/>
                </a:solidFill>
                <a:latin typeface="Gill Sans"/>
                <a:ea typeface="Gill Sans"/>
                <a:cs typeface="Gill Sans"/>
                <a:sym typeface="Gill Sans"/>
              </a:rPr>
              <a:t> known only to KDC</a:t>
            </a:r>
            <a:endParaRPr b="0" baseline="-25000" i="0" sz="2400" u="none" cap="none" strike="noStrike">
              <a:solidFill>
                <a:srgbClr val="0000FF"/>
              </a:solidFill>
              <a:latin typeface="Gill Sans"/>
              <a:ea typeface="Gill Sans"/>
              <a:cs typeface="Gill Sans"/>
              <a:sym typeface="Gill Sans"/>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KDC enables authentication and session keys</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Keys for confidentiality and integrity</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In practice, </a:t>
            </a:r>
            <a:r>
              <a:rPr b="0" i="0" lang="en-US" sz="2400" u="none" cap="none" strike="noStrike">
                <a:solidFill>
                  <a:srgbClr val="0000FF"/>
                </a:solidFill>
                <a:latin typeface="Gill Sans"/>
                <a:ea typeface="Gill Sans"/>
                <a:cs typeface="Gill Sans"/>
                <a:sym typeface="Gill Sans"/>
              </a:rPr>
              <a:t>the crypto algorithm used is DES</a:t>
            </a:r>
            <a:endParaRPr/>
          </a:p>
        </p:txBody>
      </p:sp>
      <p:sp>
        <p:nvSpPr>
          <p:cNvPr id="331" name="Google Shape;331;p73"/>
          <p:cNvSpPr txBox="1"/>
          <p:nvPr/>
        </p:nvSpPr>
        <p:spPr>
          <a:xfrm>
            <a:off x="581025" y="6127749"/>
            <a:ext cx="6891337" cy="90646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332" name="Google Shape;332;p73"/>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74"/>
          <p:cNvSpPr txBox="1"/>
          <p:nvPr>
            <p:ph type="title"/>
          </p:nvPr>
        </p:nvSpPr>
        <p:spPr>
          <a:xfrm>
            <a:off x="785812" y="381000"/>
            <a:ext cx="7143750" cy="9763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KERBEROS TICKETS</a:t>
            </a:r>
            <a:endParaRPr/>
          </a:p>
        </p:txBody>
      </p:sp>
      <p:sp>
        <p:nvSpPr>
          <p:cNvPr id="338" name="Google Shape;338;p74"/>
          <p:cNvSpPr txBox="1"/>
          <p:nvPr>
            <p:ph idx="1" type="body"/>
          </p:nvPr>
        </p:nvSpPr>
        <p:spPr>
          <a:xfrm>
            <a:off x="785812" y="1714500"/>
            <a:ext cx="7672387" cy="445770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75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KDC issues a </a:t>
            </a:r>
            <a:r>
              <a:rPr b="0" i="0" lang="en-US" sz="2800" u="none">
                <a:solidFill>
                  <a:srgbClr val="0000FF"/>
                </a:solidFill>
                <a:latin typeface="Gill Sans"/>
                <a:ea typeface="Gill Sans"/>
                <a:cs typeface="Gill Sans"/>
                <a:sym typeface="Gill Sans"/>
              </a:rPr>
              <a:t>ticket</a:t>
            </a:r>
            <a:r>
              <a:rPr b="0" i="0" lang="en-US" sz="2800" u="none">
                <a:solidFill>
                  <a:schemeClr val="dk2"/>
                </a:solidFill>
                <a:latin typeface="Gill Sans"/>
                <a:ea typeface="Gill Sans"/>
                <a:cs typeface="Gill Sans"/>
                <a:sym typeface="Gill Sans"/>
              </a:rPr>
              <a:t> containing info needed to access a network resource</a:t>
            </a:r>
            <a:endParaRPr/>
          </a:p>
          <a:p>
            <a:pPr indent="-304800" lvl="0" marL="304800" marR="0" rtl="0" algn="l">
              <a:lnSpc>
                <a:spcPct val="75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KDC also issues </a:t>
            </a:r>
            <a:r>
              <a:rPr b="0" i="0" lang="en-US" sz="2800" u="none">
                <a:solidFill>
                  <a:srgbClr val="0000FF"/>
                </a:solidFill>
                <a:latin typeface="Gill Sans"/>
                <a:ea typeface="Gill Sans"/>
                <a:cs typeface="Gill Sans"/>
                <a:sym typeface="Gill Sans"/>
              </a:rPr>
              <a:t>ticket-granting tickets </a:t>
            </a:r>
            <a:r>
              <a:rPr b="0" i="0" lang="en-US" sz="2800" u="none">
                <a:solidFill>
                  <a:schemeClr val="dk2"/>
                </a:solidFill>
                <a:latin typeface="Gill Sans"/>
                <a:ea typeface="Gill Sans"/>
                <a:cs typeface="Gill Sans"/>
                <a:sym typeface="Gill Sans"/>
              </a:rPr>
              <a:t>or </a:t>
            </a:r>
            <a:r>
              <a:rPr b="1" i="0" lang="en-US" sz="2800" u="none">
                <a:solidFill>
                  <a:srgbClr val="0000FF"/>
                </a:solidFill>
                <a:latin typeface="Times"/>
                <a:ea typeface="Times"/>
                <a:cs typeface="Times"/>
                <a:sym typeface="Times"/>
              </a:rPr>
              <a:t>TGT</a:t>
            </a:r>
            <a:r>
              <a:rPr b="1" i="0" lang="en-US" sz="2800" u="none">
                <a:solidFill>
                  <a:srgbClr val="0000FF"/>
                </a:solidFill>
                <a:latin typeface="Gill Sans"/>
                <a:ea typeface="Gill Sans"/>
                <a:cs typeface="Gill Sans"/>
                <a:sym typeface="Gill Sans"/>
              </a:rPr>
              <a:t>s</a:t>
            </a:r>
            <a:r>
              <a:rPr b="0" i="0" lang="en-US" sz="2800" u="none">
                <a:solidFill>
                  <a:schemeClr val="dk2"/>
                </a:solidFill>
                <a:latin typeface="Gill Sans"/>
                <a:ea typeface="Gill Sans"/>
                <a:cs typeface="Gill Sans"/>
                <a:sym typeface="Gill Sans"/>
              </a:rPr>
              <a:t> that are used to obtain tickets</a:t>
            </a:r>
            <a:endParaRPr/>
          </a:p>
          <a:p>
            <a:pPr indent="-304800" lvl="0" marL="304800" marR="0" rtl="0" algn="l">
              <a:lnSpc>
                <a:spcPct val="75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Each </a:t>
            </a:r>
            <a:r>
              <a:rPr b="0" i="0" lang="en-US" sz="2800" u="none">
                <a:solidFill>
                  <a:schemeClr val="dk2"/>
                </a:solidFill>
                <a:latin typeface="Times"/>
                <a:ea typeface="Times"/>
                <a:cs typeface="Times"/>
                <a:sym typeface="Times"/>
              </a:rPr>
              <a:t>TGT</a:t>
            </a:r>
            <a:r>
              <a:rPr b="0" i="0" lang="en-US" sz="2800" u="none">
                <a:solidFill>
                  <a:schemeClr val="dk2"/>
                </a:solidFill>
                <a:latin typeface="Gill Sans"/>
                <a:ea typeface="Gill Sans"/>
                <a:cs typeface="Gill Sans"/>
                <a:sym typeface="Gill Sans"/>
              </a:rPr>
              <a:t> contains</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Session key</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User’s ID</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Expiration time</a:t>
            </a:r>
            <a:endParaRPr/>
          </a:p>
          <a:p>
            <a:pPr indent="-304800" lvl="0" marL="304800" marR="0" rtl="0" algn="l">
              <a:lnSpc>
                <a:spcPct val="75000"/>
              </a:lnSpc>
              <a:spcBef>
                <a:spcPts val="1160"/>
              </a:spcBef>
              <a:spcAft>
                <a:spcPts val="0"/>
              </a:spcAft>
              <a:buClr>
                <a:schemeClr val="accent2"/>
              </a:buClr>
              <a:buSzPts val="2576"/>
              <a:buFont typeface="Noto Sans Symbols"/>
              <a:buChar char="◼"/>
            </a:pPr>
            <a:r>
              <a:rPr b="0" i="0" lang="en-US" sz="2800" u="none">
                <a:solidFill>
                  <a:srgbClr val="0000FF"/>
                </a:solidFill>
                <a:latin typeface="Gill Sans"/>
                <a:ea typeface="Gill Sans"/>
                <a:cs typeface="Gill Sans"/>
                <a:sym typeface="Gill Sans"/>
              </a:rPr>
              <a:t>Every </a:t>
            </a:r>
            <a:r>
              <a:rPr b="0" i="0" lang="en-US" sz="2800" u="none">
                <a:solidFill>
                  <a:srgbClr val="0000FF"/>
                </a:solidFill>
                <a:latin typeface="Times"/>
                <a:ea typeface="Times"/>
                <a:cs typeface="Times"/>
                <a:sym typeface="Times"/>
              </a:rPr>
              <a:t>TGT</a:t>
            </a:r>
            <a:r>
              <a:rPr b="0" i="0" lang="en-US" sz="2800" u="none">
                <a:solidFill>
                  <a:srgbClr val="0000FF"/>
                </a:solidFill>
                <a:latin typeface="Gill Sans"/>
                <a:ea typeface="Gill Sans"/>
                <a:cs typeface="Gill Sans"/>
                <a:sym typeface="Gill Sans"/>
              </a:rPr>
              <a:t> is encrypted with </a:t>
            </a:r>
            <a:r>
              <a:rPr b="0" i="0" lang="en-US" sz="2800" u="none">
                <a:solidFill>
                  <a:srgbClr val="0000FF"/>
                </a:solidFill>
                <a:latin typeface="Times"/>
                <a:ea typeface="Times"/>
                <a:cs typeface="Times"/>
                <a:sym typeface="Times"/>
              </a:rPr>
              <a:t>K</a:t>
            </a:r>
            <a:r>
              <a:rPr b="0" baseline="-25000" i="0" lang="en-US" sz="2800" u="none">
                <a:solidFill>
                  <a:srgbClr val="0000FF"/>
                </a:solidFill>
                <a:latin typeface="Times"/>
                <a:ea typeface="Times"/>
                <a:cs typeface="Times"/>
                <a:sym typeface="Times"/>
              </a:rPr>
              <a:t>KDC</a:t>
            </a:r>
            <a:endParaRPr b="0" i="0" sz="2800" u="none">
              <a:solidFill>
                <a:srgbClr val="0000FF"/>
              </a:solidFill>
              <a:latin typeface="Gill Sans"/>
              <a:ea typeface="Gill Sans"/>
              <a:cs typeface="Gill Sans"/>
              <a:sym typeface="Gill Sans"/>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Times"/>
                <a:ea typeface="Times"/>
                <a:cs typeface="Times"/>
                <a:sym typeface="Times"/>
              </a:rPr>
              <a:t>TGT</a:t>
            </a:r>
            <a:r>
              <a:rPr b="0" i="0" lang="en-US" sz="2400" u="none" cap="none" strike="noStrike">
                <a:solidFill>
                  <a:srgbClr val="0000FF"/>
                </a:solidFill>
                <a:latin typeface="Gill Sans"/>
                <a:ea typeface="Gill Sans"/>
                <a:cs typeface="Gill Sans"/>
                <a:sym typeface="Gill Sans"/>
              </a:rPr>
              <a:t> can only be read by the KDC</a:t>
            </a:r>
            <a:endParaRPr/>
          </a:p>
        </p:txBody>
      </p:sp>
      <p:sp>
        <p:nvSpPr>
          <p:cNvPr id="339" name="Google Shape;339;p74"/>
          <p:cNvSpPr txBox="1"/>
          <p:nvPr/>
        </p:nvSpPr>
        <p:spPr>
          <a:xfrm>
            <a:off x="581024" y="5951537"/>
            <a:ext cx="6971919" cy="9763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340" name="Google Shape;340;p74"/>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75"/>
          <p:cNvSpPr txBox="1"/>
          <p:nvPr>
            <p:ph type="title"/>
          </p:nvPr>
        </p:nvSpPr>
        <p:spPr>
          <a:xfrm>
            <a:off x="581025" y="687388"/>
            <a:ext cx="7989887" cy="841374"/>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KERBERIZED LOGIN</a:t>
            </a:r>
            <a:endParaRPr/>
          </a:p>
        </p:txBody>
      </p:sp>
      <p:sp>
        <p:nvSpPr>
          <p:cNvPr id="346" name="Google Shape;346;p75"/>
          <p:cNvSpPr txBox="1"/>
          <p:nvPr>
            <p:ph idx="1" type="body"/>
          </p:nvPr>
        </p:nvSpPr>
        <p:spPr>
          <a:xfrm>
            <a:off x="785812" y="1719262"/>
            <a:ext cx="7900987" cy="4411662"/>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Alice enters her password</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Alice’s workstation</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Derives </a:t>
            </a:r>
            <a:r>
              <a:rPr b="0" i="0" lang="en-US" sz="2400" u="none" cap="none" strike="noStrike">
                <a:solidFill>
                  <a:schemeClr val="dk2"/>
                </a:solidFill>
                <a:latin typeface="Times"/>
                <a:ea typeface="Times"/>
                <a:cs typeface="Times"/>
                <a:sym typeface="Times"/>
              </a:rPr>
              <a:t>K</a:t>
            </a:r>
            <a:r>
              <a:rPr b="0" baseline="-25000" i="0" lang="en-US" sz="2400" u="none" cap="none" strike="noStrike">
                <a:solidFill>
                  <a:schemeClr val="dk2"/>
                </a:solidFill>
                <a:latin typeface="Times"/>
                <a:ea typeface="Times"/>
                <a:cs typeface="Times"/>
                <a:sym typeface="Times"/>
              </a:rPr>
              <a:t>A</a:t>
            </a:r>
            <a:r>
              <a:rPr b="0" i="0" lang="en-US" sz="2400" u="none" cap="none" strike="noStrike">
                <a:solidFill>
                  <a:schemeClr val="dk2"/>
                </a:solidFill>
                <a:latin typeface="Gill Sans"/>
                <a:ea typeface="Gill Sans"/>
                <a:cs typeface="Gill Sans"/>
                <a:sym typeface="Gill Sans"/>
              </a:rPr>
              <a:t> from Alice’s password</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Uses </a:t>
            </a:r>
            <a:r>
              <a:rPr b="0" i="0" lang="en-US" sz="2400" u="none" cap="none" strike="noStrike">
                <a:solidFill>
                  <a:schemeClr val="dk2"/>
                </a:solidFill>
                <a:latin typeface="Times"/>
                <a:ea typeface="Times"/>
                <a:cs typeface="Times"/>
                <a:sym typeface="Times"/>
              </a:rPr>
              <a:t>K</a:t>
            </a:r>
            <a:r>
              <a:rPr b="0" baseline="-25000" i="0" lang="en-US" sz="2400" u="none" cap="none" strike="noStrike">
                <a:solidFill>
                  <a:schemeClr val="dk2"/>
                </a:solidFill>
                <a:latin typeface="Times"/>
                <a:ea typeface="Times"/>
                <a:cs typeface="Times"/>
                <a:sym typeface="Times"/>
              </a:rPr>
              <a:t>A</a:t>
            </a:r>
            <a:r>
              <a:rPr b="0" i="0" lang="en-US" sz="2400" u="none" cap="none" strike="noStrike">
                <a:solidFill>
                  <a:schemeClr val="dk2"/>
                </a:solidFill>
                <a:latin typeface="Gill Sans"/>
                <a:ea typeface="Gill Sans"/>
                <a:cs typeface="Gill Sans"/>
                <a:sym typeface="Gill Sans"/>
              </a:rPr>
              <a:t> to get </a:t>
            </a:r>
            <a:r>
              <a:rPr b="0" i="0" lang="en-US" sz="2400" u="none" cap="none" strike="noStrike">
                <a:solidFill>
                  <a:schemeClr val="dk2"/>
                </a:solidFill>
                <a:latin typeface="Times"/>
                <a:ea typeface="Times"/>
                <a:cs typeface="Times"/>
                <a:sym typeface="Times"/>
              </a:rPr>
              <a:t>TGT</a:t>
            </a:r>
            <a:r>
              <a:rPr b="0" i="0" lang="en-US" sz="2400" u="none" cap="none" strike="noStrike">
                <a:solidFill>
                  <a:schemeClr val="dk2"/>
                </a:solidFill>
                <a:latin typeface="Gill Sans"/>
                <a:ea typeface="Gill Sans"/>
                <a:cs typeface="Gill Sans"/>
                <a:sym typeface="Gill Sans"/>
              </a:rPr>
              <a:t> for Alice from the KDC</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Alice can then use her </a:t>
            </a:r>
            <a:r>
              <a:rPr b="0" i="0" lang="en-US" sz="2800" u="none">
                <a:solidFill>
                  <a:schemeClr val="dk2"/>
                </a:solidFill>
                <a:latin typeface="Times"/>
                <a:ea typeface="Times"/>
                <a:cs typeface="Times"/>
                <a:sym typeface="Times"/>
              </a:rPr>
              <a:t>TGT</a:t>
            </a:r>
            <a:r>
              <a:rPr b="0" i="0" lang="en-US" sz="2800" u="none">
                <a:solidFill>
                  <a:schemeClr val="dk2"/>
                </a:solidFill>
                <a:latin typeface="Gill Sans"/>
                <a:ea typeface="Gill Sans"/>
                <a:cs typeface="Gill Sans"/>
                <a:sym typeface="Gill Sans"/>
              </a:rPr>
              <a:t> (credentials) to securely access network resources</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1" i="0" lang="en-US" sz="2800" u="none">
                <a:solidFill>
                  <a:srgbClr val="0000FF"/>
                </a:solidFill>
                <a:latin typeface="Gill Sans"/>
                <a:ea typeface="Gill Sans"/>
                <a:cs typeface="Gill Sans"/>
                <a:sym typeface="Gill Sans"/>
              </a:rPr>
              <a:t>Plus:</a:t>
            </a:r>
            <a:r>
              <a:rPr b="0" i="0" lang="en-US" sz="2800" u="none">
                <a:solidFill>
                  <a:schemeClr val="dk2"/>
                </a:solidFill>
                <a:latin typeface="Gill Sans"/>
                <a:ea typeface="Gill Sans"/>
                <a:cs typeface="Gill Sans"/>
                <a:sym typeface="Gill Sans"/>
              </a:rPr>
              <a:t> Security is transparent to Alice</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1" i="0" lang="en-US" sz="2800" u="none">
                <a:solidFill>
                  <a:srgbClr val="0000FF"/>
                </a:solidFill>
                <a:latin typeface="Gill Sans"/>
                <a:ea typeface="Gill Sans"/>
                <a:cs typeface="Gill Sans"/>
                <a:sym typeface="Gill Sans"/>
              </a:rPr>
              <a:t>Minus:</a:t>
            </a:r>
            <a:r>
              <a:rPr b="0" i="0" lang="en-US" sz="2800" u="none">
                <a:solidFill>
                  <a:schemeClr val="dk2"/>
                </a:solidFill>
                <a:latin typeface="Gill Sans"/>
                <a:ea typeface="Gill Sans"/>
                <a:cs typeface="Gill Sans"/>
                <a:sym typeface="Gill Sans"/>
              </a:rPr>
              <a:t> KDC must be secure --- it’s trusted!</a:t>
            </a:r>
            <a:endParaRPr/>
          </a:p>
        </p:txBody>
      </p:sp>
      <p:sp>
        <p:nvSpPr>
          <p:cNvPr id="347" name="Google Shape;347;p75"/>
          <p:cNvSpPr txBox="1"/>
          <p:nvPr/>
        </p:nvSpPr>
        <p:spPr>
          <a:xfrm>
            <a:off x="581024" y="5951537"/>
            <a:ext cx="6642735" cy="90646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348" name="Google Shape;348;p75"/>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76"/>
          <p:cNvSpPr txBox="1"/>
          <p:nvPr>
            <p:ph type="title"/>
          </p:nvPr>
        </p:nvSpPr>
        <p:spPr>
          <a:xfrm>
            <a:off x="785812" y="304800"/>
            <a:ext cx="7143750" cy="10525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KERBERIZED LOGIN</a:t>
            </a:r>
            <a:endParaRPr/>
          </a:p>
        </p:txBody>
      </p:sp>
      <p:sp>
        <p:nvSpPr>
          <p:cNvPr id="354" name="Google Shape;354;p76"/>
          <p:cNvSpPr txBox="1"/>
          <p:nvPr>
            <p:ph idx="1" type="body"/>
          </p:nvPr>
        </p:nvSpPr>
        <p:spPr>
          <a:xfrm>
            <a:off x="785812" y="4000500"/>
            <a:ext cx="7229475" cy="217170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80000"/>
              </a:lnSpc>
              <a:spcBef>
                <a:spcPts val="0"/>
              </a:spcBef>
              <a:spcAft>
                <a:spcPts val="0"/>
              </a:spcAft>
              <a:buClr>
                <a:schemeClr val="accent2"/>
              </a:buClr>
              <a:buSzPts val="2392"/>
              <a:buFont typeface="Noto Sans Symbols"/>
              <a:buChar char="◼"/>
            </a:pPr>
            <a:r>
              <a:rPr b="0" i="0" lang="en-US" sz="2600" u="none">
                <a:solidFill>
                  <a:srgbClr val="0000FF"/>
                </a:solidFill>
                <a:latin typeface="Gill Sans"/>
                <a:ea typeface="Gill Sans"/>
                <a:cs typeface="Gill Sans"/>
                <a:sym typeface="Gill Sans"/>
              </a:rPr>
              <a:t>Kerberos used for authentication</a:t>
            </a:r>
            <a:endParaRPr/>
          </a:p>
          <a:p>
            <a:pPr indent="-304800" lvl="1" marL="628650" marR="0" rtl="0" algn="l">
              <a:lnSpc>
                <a:spcPct val="80000"/>
              </a:lnSpc>
              <a:spcBef>
                <a:spcPts val="1040"/>
              </a:spcBef>
              <a:spcAft>
                <a:spcPts val="0"/>
              </a:spcAft>
              <a:buClr>
                <a:schemeClr val="accent2"/>
              </a:buClr>
              <a:buSzPts val="2024"/>
              <a:buFont typeface="Noto Sans Symbols"/>
              <a:buChar char="◼"/>
            </a:pPr>
            <a:r>
              <a:rPr b="0" i="0" lang="en-US" sz="2200" u="none" cap="none" strike="noStrike">
                <a:solidFill>
                  <a:schemeClr val="dk2"/>
                </a:solidFill>
                <a:latin typeface="Gill Sans"/>
                <a:ea typeface="Gill Sans"/>
                <a:cs typeface="Gill Sans"/>
                <a:sym typeface="Gill Sans"/>
              </a:rPr>
              <a:t>Key </a:t>
            </a:r>
            <a:r>
              <a:rPr b="0" i="0" lang="en-US" sz="2200" u="none" cap="none" strike="noStrike">
                <a:solidFill>
                  <a:schemeClr val="dk2"/>
                </a:solidFill>
                <a:latin typeface="Times"/>
                <a:ea typeface="Times"/>
                <a:cs typeface="Times"/>
                <a:sym typeface="Times"/>
              </a:rPr>
              <a:t>K</a:t>
            </a:r>
            <a:r>
              <a:rPr b="0" baseline="-25000" i="0" lang="en-US" sz="2200" u="none" cap="none" strike="noStrike">
                <a:solidFill>
                  <a:schemeClr val="dk2"/>
                </a:solidFill>
                <a:latin typeface="Times"/>
                <a:ea typeface="Times"/>
                <a:cs typeface="Times"/>
                <a:sym typeface="Times"/>
              </a:rPr>
              <a:t>A</a:t>
            </a:r>
            <a:r>
              <a:rPr b="0" i="0" lang="en-US" sz="2200" u="none" cap="none" strike="noStrike">
                <a:solidFill>
                  <a:schemeClr val="dk2"/>
                </a:solidFill>
                <a:latin typeface="Gill Sans"/>
                <a:ea typeface="Gill Sans"/>
                <a:cs typeface="Gill Sans"/>
                <a:sym typeface="Gill Sans"/>
              </a:rPr>
              <a:t> derived from Alice’s password</a:t>
            </a:r>
            <a:endParaRPr/>
          </a:p>
          <a:p>
            <a:pPr indent="-304800" lvl="1" marL="628650" marR="0" rtl="0" algn="l">
              <a:lnSpc>
                <a:spcPct val="80000"/>
              </a:lnSpc>
              <a:spcBef>
                <a:spcPts val="1040"/>
              </a:spcBef>
              <a:spcAft>
                <a:spcPts val="0"/>
              </a:spcAft>
              <a:buClr>
                <a:schemeClr val="accent2"/>
              </a:buClr>
              <a:buSzPts val="2024"/>
              <a:buFont typeface="Noto Sans Symbols"/>
              <a:buChar char="◼"/>
            </a:pPr>
            <a:r>
              <a:rPr b="0" i="0" lang="en-US" sz="2200" u="none" cap="none" strike="noStrike">
                <a:solidFill>
                  <a:schemeClr val="dk2"/>
                </a:solidFill>
                <a:latin typeface="Gill Sans"/>
                <a:ea typeface="Gill Sans"/>
                <a:cs typeface="Gill Sans"/>
                <a:sym typeface="Gill Sans"/>
              </a:rPr>
              <a:t>KDC creates session key </a:t>
            </a:r>
            <a:r>
              <a:rPr b="0" i="0" lang="en-US" sz="2200" u="none" cap="none" strike="noStrike">
                <a:solidFill>
                  <a:schemeClr val="dk2"/>
                </a:solidFill>
                <a:latin typeface="Times"/>
                <a:ea typeface="Times"/>
                <a:cs typeface="Times"/>
                <a:sym typeface="Times"/>
              </a:rPr>
              <a:t>S</a:t>
            </a:r>
            <a:r>
              <a:rPr b="0" baseline="-25000" i="0" lang="en-US" sz="2200" u="none" cap="none" strike="noStrike">
                <a:solidFill>
                  <a:schemeClr val="dk2"/>
                </a:solidFill>
                <a:latin typeface="Times"/>
                <a:ea typeface="Times"/>
                <a:cs typeface="Times"/>
                <a:sym typeface="Times"/>
              </a:rPr>
              <a:t>A</a:t>
            </a:r>
            <a:endParaRPr/>
          </a:p>
          <a:p>
            <a:pPr indent="-304800" lvl="1" marL="628650" marR="0" rtl="0" algn="l">
              <a:lnSpc>
                <a:spcPct val="80000"/>
              </a:lnSpc>
              <a:spcBef>
                <a:spcPts val="1040"/>
              </a:spcBef>
              <a:spcAft>
                <a:spcPts val="0"/>
              </a:spcAft>
              <a:buClr>
                <a:schemeClr val="accent2"/>
              </a:buClr>
              <a:buSzPts val="2024"/>
              <a:buFont typeface="Noto Sans Symbols"/>
              <a:buChar char="◼"/>
            </a:pPr>
            <a:r>
              <a:rPr b="0" i="0" lang="en-US" sz="2200" u="none" cap="none" strike="noStrike">
                <a:solidFill>
                  <a:schemeClr val="dk2"/>
                </a:solidFill>
                <a:latin typeface="Gill Sans"/>
                <a:ea typeface="Gill Sans"/>
                <a:cs typeface="Gill Sans"/>
                <a:sym typeface="Gill Sans"/>
              </a:rPr>
              <a:t>Workstation decrypts </a:t>
            </a:r>
            <a:r>
              <a:rPr b="0" i="0" lang="en-US" sz="2200" u="none" cap="none" strike="noStrike">
                <a:solidFill>
                  <a:schemeClr val="dk2"/>
                </a:solidFill>
                <a:latin typeface="Times"/>
                <a:ea typeface="Times"/>
                <a:cs typeface="Times"/>
                <a:sym typeface="Times"/>
              </a:rPr>
              <a:t>S</a:t>
            </a:r>
            <a:r>
              <a:rPr b="0" baseline="-25000" i="0" lang="en-US" sz="2200" u="none" cap="none" strike="noStrike">
                <a:solidFill>
                  <a:schemeClr val="dk2"/>
                </a:solidFill>
                <a:latin typeface="Times"/>
                <a:ea typeface="Times"/>
                <a:cs typeface="Times"/>
                <a:sym typeface="Times"/>
              </a:rPr>
              <a:t>A</a:t>
            </a:r>
            <a:r>
              <a:rPr b="0" i="0" lang="en-US" sz="2200" u="none" cap="none" strike="noStrike">
                <a:solidFill>
                  <a:schemeClr val="dk2"/>
                </a:solidFill>
                <a:latin typeface="Gill Sans"/>
                <a:ea typeface="Gill Sans"/>
                <a:cs typeface="Gill Sans"/>
                <a:sym typeface="Gill Sans"/>
              </a:rPr>
              <a:t>, </a:t>
            </a:r>
            <a:r>
              <a:rPr b="0" i="0" lang="en-US" sz="2200" u="none" cap="none" strike="noStrike">
                <a:solidFill>
                  <a:schemeClr val="dk2"/>
                </a:solidFill>
                <a:latin typeface="Times"/>
                <a:ea typeface="Times"/>
                <a:cs typeface="Times"/>
                <a:sym typeface="Times"/>
              </a:rPr>
              <a:t>TGT</a:t>
            </a:r>
            <a:r>
              <a:rPr b="0" i="0" lang="en-US" sz="2200" u="none" cap="none" strike="noStrike">
                <a:solidFill>
                  <a:schemeClr val="dk2"/>
                </a:solidFill>
                <a:latin typeface="Gill Sans"/>
                <a:ea typeface="Gill Sans"/>
                <a:cs typeface="Gill Sans"/>
                <a:sym typeface="Gill Sans"/>
              </a:rPr>
              <a:t>, </a:t>
            </a:r>
            <a:r>
              <a:rPr b="0" i="0" lang="en-US" sz="2200" u="none" cap="none" strike="noStrike">
                <a:solidFill>
                  <a:srgbClr val="FF0000"/>
                </a:solidFill>
                <a:latin typeface="Gill Sans"/>
                <a:ea typeface="Gill Sans"/>
                <a:cs typeface="Gill Sans"/>
                <a:sym typeface="Gill Sans"/>
              </a:rPr>
              <a:t>forgets </a:t>
            </a:r>
            <a:r>
              <a:rPr b="0" i="0" lang="en-US" sz="2200" u="none" cap="none" strike="noStrike">
                <a:solidFill>
                  <a:srgbClr val="FF0000"/>
                </a:solidFill>
                <a:latin typeface="Times"/>
                <a:ea typeface="Times"/>
                <a:cs typeface="Times"/>
                <a:sym typeface="Times"/>
              </a:rPr>
              <a:t>K</a:t>
            </a:r>
            <a:r>
              <a:rPr b="0" baseline="-25000" i="0" lang="en-US" sz="2200" u="none" cap="none" strike="noStrike">
                <a:solidFill>
                  <a:srgbClr val="FF0000"/>
                </a:solidFill>
                <a:latin typeface="Times"/>
                <a:ea typeface="Times"/>
                <a:cs typeface="Times"/>
                <a:sym typeface="Times"/>
              </a:rPr>
              <a:t>A</a:t>
            </a:r>
            <a:endParaRPr b="0" i="0" sz="2200" u="none" cap="none" strike="noStrike">
              <a:solidFill>
                <a:srgbClr val="FF0000"/>
              </a:solidFill>
              <a:latin typeface="Gill Sans"/>
              <a:ea typeface="Gill Sans"/>
              <a:cs typeface="Gill Sans"/>
              <a:sym typeface="Gill Sans"/>
            </a:endParaRPr>
          </a:p>
          <a:p>
            <a:pPr indent="-304800" lvl="1" marL="628650" marR="0" rtl="0" algn="l">
              <a:lnSpc>
                <a:spcPct val="80000"/>
              </a:lnSpc>
              <a:spcBef>
                <a:spcPts val="1040"/>
              </a:spcBef>
              <a:spcAft>
                <a:spcPts val="0"/>
              </a:spcAft>
              <a:buClr>
                <a:schemeClr val="accent2"/>
              </a:buClr>
              <a:buSzPts val="2024"/>
              <a:buFont typeface="Noto Sans Symbols"/>
              <a:buChar char="◼"/>
            </a:pPr>
            <a:r>
              <a:rPr b="0" i="0" lang="en-US" sz="2200" u="none" cap="none" strike="noStrike">
                <a:solidFill>
                  <a:schemeClr val="dk2"/>
                </a:solidFill>
                <a:latin typeface="Times"/>
                <a:ea typeface="Times"/>
                <a:cs typeface="Times"/>
                <a:sym typeface="Times"/>
              </a:rPr>
              <a:t>TGT = E(“Alice”, S</a:t>
            </a:r>
            <a:r>
              <a:rPr b="0" baseline="-25000" i="0" lang="en-US" sz="2200" u="none" cap="none" strike="noStrike">
                <a:solidFill>
                  <a:schemeClr val="dk2"/>
                </a:solidFill>
                <a:latin typeface="Times"/>
                <a:ea typeface="Times"/>
                <a:cs typeface="Times"/>
                <a:sym typeface="Times"/>
              </a:rPr>
              <a:t>A</a:t>
            </a:r>
            <a:r>
              <a:rPr b="0" i="0" lang="en-US" sz="2200" u="none" cap="none" strike="noStrike">
                <a:solidFill>
                  <a:schemeClr val="dk2"/>
                </a:solidFill>
                <a:latin typeface="Times"/>
                <a:ea typeface="Times"/>
                <a:cs typeface="Times"/>
                <a:sym typeface="Times"/>
              </a:rPr>
              <a:t>, K</a:t>
            </a:r>
            <a:r>
              <a:rPr b="0" baseline="-25000" i="0" lang="en-US" sz="2200" u="none" cap="none" strike="noStrike">
                <a:solidFill>
                  <a:schemeClr val="dk2"/>
                </a:solidFill>
                <a:latin typeface="Times"/>
                <a:ea typeface="Times"/>
                <a:cs typeface="Times"/>
                <a:sym typeface="Times"/>
              </a:rPr>
              <a:t>KDC</a:t>
            </a:r>
            <a:r>
              <a:rPr b="0" i="0" lang="en-US" sz="2200" u="none" cap="none" strike="noStrike">
                <a:solidFill>
                  <a:schemeClr val="dk2"/>
                </a:solidFill>
                <a:latin typeface="Times"/>
                <a:ea typeface="Times"/>
                <a:cs typeface="Times"/>
                <a:sym typeface="Times"/>
              </a:rPr>
              <a:t>)</a:t>
            </a:r>
            <a:endParaRPr/>
          </a:p>
        </p:txBody>
      </p:sp>
      <p:sp>
        <p:nvSpPr>
          <p:cNvPr id="355" name="Google Shape;355;p76"/>
          <p:cNvSpPr txBox="1"/>
          <p:nvPr/>
        </p:nvSpPr>
        <p:spPr>
          <a:xfrm>
            <a:off x="571500" y="6297613"/>
            <a:ext cx="7229475" cy="41116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356" name="Google Shape;356;p76"/>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cxnSp>
        <p:nvCxnSpPr>
          <p:cNvPr id="357" name="Google Shape;357;p76"/>
          <p:cNvCxnSpPr/>
          <p:nvPr/>
        </p:nvCxnSpPr>
        <p:spPr>
          <a:xfrm>
            <a:off x="1638300" y="2701480"/>
            <a:ext cx="16002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358" name="Google Shape;358;p76"/>
          <p:cNvCxnSpPr/>
          <p:nvPr/>
        </p:nvCxnSpPr>
        <p:spPr>
          <a:xfrm rot="10800000">
            <a:off x="4559300" y="3425380"/>
            <a:ext cx="1905000" cy="0"/>
          </a:xfrm>
          <a:prstGeom prst="straightConnector1">
            <a:avLst/>
          </a:prstGeom>
          <a:noFill/>
          <a:ln cap="flat" cmpd="sng" w="50800">
            <a:solidFill>
              <a:schemeClr val="dk1"/>
            </a:solidFill>
            <a:prstDash val="solid"/>
            <a:miter lim="800000"/>
            <a:headEnd len="sm" w="sm" type="none"/>
            <a:tailEnd len="med" w="med" type="triangle"/>
          </a:ln>
        </p:spPr>
      </p:cxnSp>
      <p:sp>
        <p:nvSpPr>
          <p:cNvPr id="359" name="Google Shape;359;p76"/>
          <p:cNvSpPr txBox="1"/>
          <p:nvPr/>
        </p:nvSpPr>
        <p:spPr>
          <a:xfrm>
            <a:off x="646112" y="3506343"/>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Alice</a:t>
            </a:r>
            <a:endParaRPr b="0" i="0" sz="1400" u="none" cap="none" strike="noStrike">
              <a:solidFill>
                <a:srgbClr val="000000"/>
              </a:solidFill>
              <a:latin typeface="Arial"/>
              <a:ea typeface="Arial"/>
              <a:cs typeface="Arial"/>
              <a:sym typeface="Arial"/>
            </a:endParaRPr>
          </a:p>
        </p:txBody>
      </p:sp>
      <p:cxnSp>
        <p:nvCxnSpPr>
          <p:cNvPr id="360" name="Google Shape;360;p76"/>
          <p:cNvCxnSpPr/>
          <p:nvPr/>
        </p:nvCxnSpPr>
        <p:spPr>
          <a:xfrm flipH="1" rot="10800000">
            <a:off x="4559300" y="2358580"/>
            <a:ext cx="1828800" cy="23812"/>
          </a:xfrm>
          <a:prstGeom prst="straightConnector1">
            <a:avLst/>
          </a:prstGeom>
          <a:noFill/>
          <a:ln cap="flat" cmpd="sng" w="50800">
            <a:solidFill>
              <a:schemeClr val="dk1"/>
            </a:solidFill>
            <a:prstDash val="solid"/>
            <a:miter lim="800000"/>
            <a:headEnd len="sm" w="sm" type="none"/>
            <a:tailEnd len="med" w="med" type="triangle"/>
          </a:ln>
        </p:spPr>
      </p:cxnSp>
      <p:sp>
        <p:nvSpPr>
          <p:cNvPr id="361" name="Google Shape;361;p76"/>
          <p:cNvSpPr txBox="1"/>
          <p:nvPr/>
        </p:nvSpPr>
        <p:spPr>
          <a:xfrm>
            <a:off x="1792287" y="2244280"/>
            <a:ext cx="10652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Alice’s</a:t>
            </a:r>
            <a:endParaRPr b="0" i="0" sz="1400" u="none" cap="none" strike="noStrike">
              <a:solidFill>
                <a:srgbClr val="000000"/>
              </a:solidFill>
              <a:latin typeface="Arial"/>
              <a:ea typeface="Arial"/>
              <a:cs typeface="Arial"/>
              <a:sym typeface="Arial"/>
            </a:endParaRPr>
          </a:p>
        </p:txBody>
      </p:sp>
      <p:sp>
        <p:nvSpPr>
          <p:cNvPr id="362" name="Google Shape;362;p76"/>
          <p:cNvSpPr txBox="1"/>
          <p:nvPr/>
        </p:nvSpPr>
        <p:spPr>
          <a:xfrm>
            <a:off x="4510087" y="1901380"/>
            <a:ext cx="17256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Alice wants</a:t>
            </a:r>
            <a:endParaRPr b="0" i="0" sz="1400" u="none" cap="none" strike="noStrike">
              <a:solidFill>
                <a:srgbClr val="000000"/>
              </a:solidFill>
              <a:latin typeface="Arial"/>
              <a:ea typeface="Arial"/>
              <a:cs typeface="Arial"/>
              <a:sym typeface="Arial"/>
            </a:endParaRPr>
          </a:p>
        </p:txBody>
      </p:sp>
      <p:sp>
        <p:nvSpPr>
          <p:cNvPr id="363" name="Google Shape;363;p76"/>
          <p:cNvSpPr txBox="1"/>
          <p:nvPr/>
        </p:nvSpPr>
        <p:spPr>
          <a:xfrm>
            <a:off x="1562100" y="2701480"/>
            <a:ext cx="14890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password</a:t>
            </a:r>
            <a:endParaRPr b="0" i="0" sz="1400" u="none" cap="none" strike="noStrike">
              <a:solidFill>
                <a:srgbClr val="000000"/>
              </a:solidFill>
              <a:latin typeface="Arial"/>
              <a:ea typeface="Arial"/>
              <a:cs typeface="Arial"/>
              <a:sym typeface="Arial"/>
            </a:endParaRPr>
          </a:p>
        </p:txBody>
      </p:sp>
      <p:sp>
        <p:nvSpPr>
          <p:cNvPr id="364" name="Google Shape;364;p76"/>
          <p:cNvSpPr txBox="1"/>
          <p:nvPr/>
        </p:nvSpPr>
        <p:spPr>
          <a:xfrm>
            <a:off x="4787900" y="2358580"/>
            <a:ext cx="11318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 a TGT</a:t>
            </a:r>
            <a:endParaRPr b="0" i="0" sz="1400" u="none" cap="none" strike="noStrike">
              <a:solidFill>
                <a:srgbClr val="000000"/>
              </a:solidFill>
              <a:latin typeface="Arial"/>
              <a:ea typeface="Arial"/>
              <a:cs typeface="Arial"/>
              <a:sym typeface="Arial"/>
            </a:endParaRPr>
          </a:p>
        </p:txBody>
      </p:sp>
      <p:sp>
        <p:nvSpPr>
          <p:cNvPr id="365" name="Google Shape;365;p76"/>
          <p:cNvSpPr txBox="1"/>
          <p:nvPr/>
        </p:nvSpPr>
        <p:spPr>
          <a:xfrm>
            <a:off x="4733925" y="2968180"/>
            <a:ext cx="179228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cap="none" strike="noStrike">
                <a:solidFill>
                  <a:schemeClr val="dk1"/>
                </a:solidFill>
                <a:latin typeface="Times"/>
                <a:ea typeface="Times"/>
                <a:cs typeface="Times"/>
                <a:sym typeface="Times"/>
              </a:rPr>
              <a:t>E(S</a:t>
            </a:r>
            <a:r>
              <a:rPr b="0" baseline="-25000" i="0" lang="en-US" sz="2000" u="none" cap="none" strike="noStrike">
                <a:solidFill>
                  <a:schemeClr val="dk1"/>
                </a:solidFill>
                <a:latin typeface="Times"/>
                <a:ea typeface="Times"/>
                <a:cs typeface="Times"/>
                <a:sym typeface="Times"/>
              </a:rPr>
              <a:t>A</a:t>
            </a:r>
            <a:r>
              <a:rPr b="0" i="0" lang="en-US" sz="2000" u="none" cap="none" strike="noStrike">
                <a:solidFill>
                  <a:schemeClr val="dk1"/>
                </a:solidFill>
                <a:latin typeface="Times"/>
                <a:ea typeface="Times"/>
                <a:cs typeface="Times"/>
                <a:sym typeface="Times"/>
              </a:rPr>
              <a:t>,TGT, K</a:t>
            </a:r>
            <a:r>
              <a:rPr b="0" baseline="-25000" i="0" lang="en-US" sz="2000" u="none" cap="none" strike="noStrike">
                <a:solidFill>
                  <a:schemeClr val="dk1"/>
                </a:solidFill>
                <a:latin typeface="Times"/>
                <a:ea typeface="Times"/>
                <a:cs typeface="Times"/>
                <a:sym typeface="Times"/>
              </a:rPr>
              <a:t>A</a:t>
            </a:r>
            <a:r>
              <a:rPr b="0" i="0" lang="en-US" sz="2000" u="none" cap="none" strike="noStrike">
                <a:solidFill>
                  <a:schemeClr val="dk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p:txBody>
      </p:sp>
      <p:pic>
        <p:nvPicPr>
          <p:cNvPr id="366" name="Google Shape;366;p76"/>
          <p:cNvPicPr preferRelativeResize="0"/>
          <p:nvPr/>
        </p:nvPicPr>
        <p:blipFill rotWithShape="1">
          <a:blip r:embed="rId3">
            <a:alphaModFix/>
          </a:blip>
          <a:srcRect b="0" l="0" r="0" t="0"/>
          <a:stretch/>
        </p:blipFill>
        <p:spPr>
          <a:xfrm>
            <a:off x="6643687" y="2129980"/>
            <a:ext cx="1371600" cy="1371600"/>
          </a:xfrm>
          <a:prstGeom prst="rect">
            <a:avLst/>
          </a:prstGeom>
          <a:noFill/>
          <a:ln>
            <a:noFill/>
          </a:ln>
        </p:spPr>
      </p:pic>
      <p:sp>
        <p:nvSpPr>
          <p:cNvPr id="367" name="Google Shape;367;p76"/>
          <p:cNvSpPr txBox="1"/>
          <p:nvPr/>
        </p:nvSpPr>
        <p:spPr>
          <a:xfrm>
            <a:off x="7000875" y="3558730"/>
            <a:ext cx="77470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KDC</a:t>
            </a:r>
            <a:endParaRPr b="0" i="0" sz="1400" u="none" cap="none" strike="noStrike">
              <a:solidFill>
                <a:srgbClr val="000000"/>
              </a:solidFill>
              <a:latin typeface="Arial"/>
              <a:ea typeface="Arial"/>
              <a:cs typeface="Arial"/>
              <a:sym typeface="Arial"/>
            </a:endParaRPr>
          </a:p>
        </p:txBody>
      </p:sp>
      <p:sp>
        <p:nvSpPr>
          <p:cNvPr id="368" name="Google Shape;368;p76"/>
          <p:cNvSpPr txBox="1"/>
          <p:nvPr/>
        </p:nvSpPr>
        <p:spPr>
          <a:xfrm>
            <a:off x="3048000" y="3493643"/>
            <a:ext cx="15430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cap="none" strike="noStrike">
                <a:solidFill>
                  <a:schemeClr val="dk1"/>
                </a:solidFill>
                <a:latin typeface="Comic Sans MS"/>
                <a:ea typeface="Comic Sans MS"/>
                <a:cs typeface="Comic Sans MS"/>
                <a:sym typeface="Comic Sans MS"/>
              </a:rPr>
              <a:t>Computer</a:t>
            </a:r>
            <a:endParaRPr b="0" i="0" sz="1400" u="none" cap="none" strike="noStrike">
              <a:solidFill>
                <a:srgbClr val="000000"/>
              </a:solidFill>
              <a:latin typeface="Arial"/>
              <a:ea typeface="Arial"/>
              <a:cs typeface="Arial"/>
              <a:sym typeface="Arial"/>
            </a:endParaRPr>
          </a:p>
        </p:txBody>
      </p:sp>
      <p:pic>
        <p:nvPicPr>
          <p:cNvPr id="369" name="Google Shape;369;p76"/>
          <p:cNvPicPr preferRelativeResize="0"/>
          <p:nvPr/>
        </p:nvPicPr>
        <p:blipFill rotWithShape="1">
          <a:blip r:embed="rId4">
            <a:alphaModFix/>
          </a:blip>
          <a:srcRect b="0" l="0" r="0" t="0"/>
          <a:stretch/>
        </p:blipFill>
        <p:spPr>
          <a:xfrm>
            <a:off x="571500" y="1915668"/>
            <a:ext cx="946150" cy="1624012"/>
          </a:xfrm>
          <a:prstGeom prst="rect">
            <a:avLst/>
          </a:prstGeom>
          <a:noFill/>
          <a:ln>
            <a:noFill/>
          </a:ln>
        </p:spPr>
      </p:pic>
      <p:pic>
        <p:nvPicPr>
          <p:cNvPr id="370" name="Google Shape;370;p76"/>
          <p:cNvPicPr preferRelativeResize="0"/>
          <p:nvPr/>
        </p:nvPicPr>
        <p:blipFill rotWithShape="1">
          <a:blip r:embed="rId5">
            <a:alphaModFix/>
          </a:blip>
          <a:srcRect b="0" l="0" r="0" t="0"/>
          <a:stretch/>
        </p:blipFill>
        <p:spPr>
          <a:xfrm>
            <a:off x="3359150" y="2029968"/>
            <a:ext cx="984250" cy="137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7"/>
                                        </p:tgtEl>
                                        <p:attrNameLst>
                                          <p:attrName>style.visibility</p:attrName>
                                        </p:attrNameLst>
                                      </p:cBhvr>
                                      <p:to>
                                        <p:strVal val="visible"/>
                                      </p:to>
                                    </p:set>
                                    <p:anim calcmode="lin" valueType="num">
                                      <p:cBhvr additive="base">
                                        <p:cTn dur="500"/>
                                        <p:tgtEl>
                                          <p:spTgt spid="357"/>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0"/>
                                        </p:tgtEl>
                                        <p:attrNameLst>
                                          <p:attrName>style.visibility</p:attrName>
                                        </p:attrNameLst>
                                      </p:cBhvr>
                                      <p:to>
                                        <p:strVal val="visible"/>
                                      </p:to>
                                    </p:set>
                                    <p:anim calcmode="lin" valueType="num">
                                      <p:cBhvr additive="base">
                                        <p:cTn dur="500"/>
                                        <p:tgtEl>
                                          <p:spTgt spid="36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8"/>
                                        </p:tgtEl>
                                        <p:attrNameLst>
                                          <p:attrName>style.visibility</p:attrName>
                                        </p:attrNameLst>
                                      </p:cBhvr>
                                      <p:to>
                                        <p:strVal val="visible"/>
                                      </p:to>
                                    </p:set>
                                    <p:anim calcmode="lin" valueType="num">
                                      <p:cBhvr additive="base">
                                        <p:cTn dur="500"/>
                                        <p:tgtEl>
                                          <p:spTgt spid="35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78"/>
          <p:cNvSpPr txBox="1"/>
          <p:nvPr>
            <p:ph type="title"/>
          </p:nvPr>
        </p:nvSpPr>
        <p:spPr>
          <a:xfrm>
            <a:off x="785812" y="304800"/>
            <a:ext cx="7286625" cy="10525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ALICE REQUESTS TICKET TO BOB</a:t>
            </a:r>
            <a:endParaRPr/>
          </a:p>
        </p:txBody>
      </p:sp>
      <p:sp>
        <p:nvSpPr>
          <p:cNvPr id="376" name="Google Shape;376;p78"/>
          <p:cNvSpPr txBox="1"/>
          <p:nvPr>
            <p:ph idx="1" type="body"/>
          </p:nvPr>
        </p:nvSpPr>
        <p:spPr>
          <a:xfrm>
            <a:off x="785812" y="4143375"/>
            <a:ext cx="7824787" cy="2143125"/>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90000"/>
              </a:lnSpc>
              <a:spcBef>
                <a:spcPts val="0"/>
              </a:spcBef>
              <a:spcAft>
                <a:spcPts val="0"/>
              </a:spcAft>
              <a:buClr>
                <a:schemeClr val="accent2"/>
              </a:buClr>
              <a:buSzPts val="2208"/>
              <a:buFont typeface="Noto Sans Symbols"/>
              <a:buChar char="◼"/>
            </a:pPr>
            <a:r>
              <a:rPr b="0" i="0" lang="en-US" sz="2400" u="none">
                <a:solidFill>
                  <a:schemeClr val="dk2"/>
                </a:solidFill>
                <a:latin typeface="Times"/>
                <a:ea typeface="Times"/>
                <a:cs typeface="Times"/>
                <a:sym typeface="Times"/>
              </a:rPr>
              <a:t>REQUEST = (TGT, authenticator)</a:t>
            </a:r>
            <a:r>
              <a:rPr b="0" i="0" lang="en-US" sz="2400" u="none">
                <a:solidFill>
                  <a:schemeClr val="dk2"/>
                </a:solidFill>
                <a:latin typeface="Gill Sans"/>
                <a:ea typeface="Gill Sans"/>
                <a:cs typeface="Gill Sans"/>
                <a:sym typeface="Gill Sans"/>
              </a:rPr>
              <a:t> where</a:t>
            </a:r>
            <a:endParaRPr/>
          </a:p>
          <a:p>
            <a:pPr indent="-304800" lvl="0" marL="304800" marR="0" rtl="0" algn="l">
              <a:lnSpc>
                <a:spcPct val="90000"/>
              </a:lnSpc>
              <a:spcBef>
                <a:spcPts val="600"/>
              </a:spcBef>
              <a:spcAft>
                <a:spcPts val="0"/>
              </a:spcAft>
              <a:buClr>
                <a:schemeClr val="accent2"/>
              </a:buClr>
              <a:buSzPts val="2208"/>
              <a:buFont typeface="Noto Sans Symbols"/>
              <a:buNone/>
            </a:pPr>
            <a:r>
              <a:rPr b="0" i="0" lang="en-US" sz="2400" u="none">
                <a:solidFill>
                  <a:schemeClr val="dk2"/>
                </a:solidFill>
                <a:latin typeface="Times"/>
                <a:ea typeface="Times"/>
                <a:cs typeface="Times"/>
                <a:sym typeface="Times"/>
              </a:rPr>
              <a:t>		authenticator = E(timestamp, S</a:t>
            </a:r>
            <a:r>
              <a:rPr b="0" baseline="-25000" i="0" lang="en-US" sz="2400" u="none">
                <a:solidFill>
                  <a:schemeClr val="dk2"/>
                </a:solidFill>
                <a:latin typeface="Times"/>
                <a:ea typeface="Times"/>
                <a:cs typeface="Times"/>
                <a:sym typeface="Times"/>
              </a:rPr>
              <a:t>A</a:t>
            </a:r>
            <a:r>
              <a:rPr b="0" i="0" lang="en-US" sz="2400" u="none">
                <a:solidFill>
                  <a:schemeClr val="dk2"/>
                </a:solidFill>
                <a:latin typeface="Times"/>
                <a:ea typeface="Times"/>
                <a:cs typeface="Times"/>
                <a:sym typeface="Times"/>
              </a:rPr>
              <a:t>)</a:t>
            </a:r>
            <a:endParaRPr/>
          </a:p>
          <a:p>
            <a:pPr indent="-304800" lvl="0" marL="304800" marR="0" rtl="0" algn="l">
              <a:lnSpc>
                <a:spcPct val="90000"/>
              </a:lnSpc>
              <a:spcBef>
                <a:spcPts val="1080"/>
              </a:spcBef>
              <a:spcAft>
                <a:spcPts val="0"/>
              </a:spcAft>
              <a:buClr>
                <a:schemeClr val="accent2"/>
              </a:buClr>
              <a:buSzPts val="2208"/>
              <a:buFont typeface="Noto Sans Symbols"/>
              <a:buChar char="◼"/>
            </a:pPr>
            <a:r>
              <a:rPr b="0" i="0" lang="en-US" sz="2400" u="none">
                <a:solidFill>
                  <a:schemeClr val="dk2"/>
                </a:solidFill>
                <a:latin typeface="Times"/>
                <a:ea typeface="Times"/>
                <a:cs typeface="Times"/>
                <a:sym typeface="Times"/>
              </a:rPr>
              <a:t>REPLY = E(“Bob”, K</a:t>
            </a:r>
            <a:r>
              <a:rPr b="0" baseline="-25000" i="0" lang="en-US" sz="2400" u="none">
                <a:solidFill>
                  <a:schemeClr val="dk2"/>
                </a:solidFill>
                <a:latin typeface="Times"/>
                <a:ea typeface="Times"/>
                <a:cs typeface="Times"/>
                <a:sym typeface="Times"/>
              </a:rPr>
              <a:t>AB</a:t>
            </a:r>
            <a:r>
              <a:rPr b="0" i="0" lang="en-US" sz="2400" u="none">
                <a:solidFill>
                  <a:schemeClr val="dk2"/>
                </a:solidFill>
                <a:latin typeface="Times"/>
                <a:ea typeface="Times"/>
                <a:cs typeface="Times"/>
                <a:sym typeface="Times"/>
              </a:rPr>
              <a:t>, ticket to Bob, S</a:t>
            </a:r>
            <a:r>
              <a:rPr b="0" baseline="-25000" i="0" lang="en-US" sz="2400" u="none">
                <a:solidFill>
                  <a:schemeClr val="dk2"/>
                </a:solidFill>
                <a:latin typeface="Times"/>
                <a:ea typeface="Times"/>
                <a:cs typeface="Times"/>
                <a:sym typeface="Times"/>
              </a:rPr>
              <a:t>A</a:t>
            </a:r>
            <a:r>
              <a:rPr b="0" i="0" lang="en-US" sz="2400" u="none">
                <a:solidFill>
                  <a:schemeClr val="dk2"/>
                </a:solidFill>
                <a:latin typeface="Times"/>
                <a:ea typeface="Times"/>
                <a:cs typeface="Times"/>
                <a:sym typeface="Times"/>
              </a:rPr>
              <a:t>)</a:t>
            </a:r>
            <a:endParaRPr/>
          </a:p>
          <a:p>
            <a:pPr indent="-304800" lvl="0" marL="304800" marR="0" rtl="0" algn="l">
              <a:lnSpc>
                <a:spcPct val="90000"/>
              </a:lnSpc>
              <a:spcBef>
                <a:spcPts val="600"/>
              </a:spcBef>
              <a:spcAft>
                <a:spcPts val="0"/>
              </a:spcAft>
              <a:buClr>
                <a:schemeClr val="accent2"/>
              </a:buClr>
              <a:buSzPts val="2208"/>
              <a:buFont typeface="Noto Sans Symbols"/>
              <a:buChar char="◼"/>
            </a:pPr>
            <a:r>
              <a:rPr b="0" i="0" lang="en-US" sz="2400" u="none">
                <a:solidFill>
                  <a:schemeClr val="dk2"/>
                </a:solidFill>
                <a:latin typeface="Times"/>
                <a:ea typeface="Times"/>
                <a:cs typeface="Times"/>
                <a:sym typeface="Times"/>
              </a:rPr>
              <a:t>ticket to Bob = E(“Alice”, K</a:t>
            </a:r>
            <a:r>
              <a:rPr b="0" baseline="-25000" i="0" lang="en-US" sz="2400" u="none">
                <a:solidFill>
                  <a:schemeClr val="dk2"/>
                </a:solidFill>
                <a:latin typeface="Times"/>
                <a:ea typeface="Times"/>
                <a:cs typeface="Times"/>
                <a:sym typeface="Times"/>
              </a:rPr>
              <a:t>AB</a:t>
            </a:r>
            <a:r>
              <a:rPr b="0" i="0" lang="en-US" sz="2400" u="none">
                <a:solidFill>
                  <a:schemeClr val="dk2"/>
                </a:solidFill>
                <a:latin typeface="Times"/>
                <a:ea typeface="Times"/>
                <a:cs typeface="Times"/>
                <a:sym typeface="Times"/>
              </a:rPr>
              <a:t>, K</a:t>
            </a:r>
            <a:r>
              <a:rPr b="0" baseline="-25000" i="0" lang="en-US" sz="2400" u="none">
                <a:solidFill>
                  <a:schemeClr val="dk2"/>
                </a:solidFill>
                <a:latin typeface="Times"/>
                <a:ea typeface="Times"/>
                <a:cs typeface="Times"/>
                <a:sym typeface="Times"/>
              </a:rPr>
              <a:t>B</a:t>
            </a:r>
            <a:r>
              <a:rPr b="0" i="0" lang="en-US" sz="2400" u="none">
                <a:solidFill>
                  <a:schemeClr val="dk2"/>
                </a:solidFill>
                <a:latin typeface="Times"/>
                <a:ea typeface="Times"/>
                <a:cs typeface="Times"/>
                <a:sym typeface="Times"/>
              </a:rPr>
              <a:t>)</a:t>
            </a:r>
            <a:endParaRPr/>
          </a:p>
          <a:p>
            <a:pPr indent="-304800" lvl="0" marL="304800" marR="0" rtl="0" algn="l">
              <a:lnSpc>
                <a:spcPct val="90000"/>
              </a:lnSpc>
              <a:spcBef>
                <a:spcPts val="600"/>
              </a:spcBef>
              <a:spcAft>
                <a:spcPts val="0"/>
              </a:spcAft>
              <a:buClr>
                <a:schemeClr val="accent2"/>
              </a:buClr>
              <a:buSzPts val="2208"/>
              <a:buFont typeface="Noto Sans Symbols"/>
              <a:buChar char="◼"/>
            </a:pPr>
            <a:r>
              <a:rPr b="0" i="0" lang="en-US" sz="2400" u="none">
                <a:solidFill>
                  <a:srgbClr val="0000FF"/>
                </a:solidFill>
                <a:latin typeface="Gill Sans"/>
                <a:ea typeface="Gill Sans"/>
                <a:cs typeface="Gill Sans"/>
                <a:sym typeface="Gill Sans"/>
              </a:rPr>
              <a:t>KDC gets </a:t>
            </a:r>
            <a:r>
              <a:rPr b="0" i="0" lang="en-US" sz="2400" u="none">
                <a:solidFill>
                  <a:srgbClr val="0000FF"/>
                </a:solidFill>
                <a:latin typeface="Times"/>
                <a:ea typeface="Times"/>
                <a:cs typeface="Times"/>
                <a:sym typeface="Times"/>
              </a:rPr>
              <a:t>S</a:t>
            </a:r>
            <a:r>
              <a:rPr b="0" baseline="-25000" i="0" lang="en-US" sz="2400" u="none">
                <a:solidFill>
                  <a:srgbClr val="0000FF"/>
                </a:solidFill>
                <a:latin typeface="Times"/>
                <a:ea typeface="Times"/>
                <a:cs typeface="Times"/>
                <a:sym typeface="Times"/>
              </a:rPr>
              <a:t>A</a:t>
            </a:r>
            <a:r>
              <a:rPr b="0" i="0" lang="en-US" sz="2400" u="none">
                <a:solidFill>
                  <a:srgbClr val="0000FF"/>
                </a:solidFill>
                <a:latin typeface="Gill Sans"/>
                <a:ea typeface="Gill Sans"/>
                <a:cs typeface="Gill Sans"/>
                <a:sym typeface="Gill Sans"/>
              </a:rPr>
              <a:t> from </a:t>
            </a:r>
            <a:r>
              <a:rPr b="0" i="0" lang="en-US" sz="2400" u="none">
                <a:solidFill>
                  <a:srgbClr val="0000FF"/>
                </a:solidFill>
                <a:latin typeface="Times"/>
                <a:ea typeface="Times"/>
                <a:cs typeface="Times"/>
                <a:sym typeface="Times"/>
              </a:rPr>
              <a:t>TGT</a:t>
            </a:r>
            <a:r>
              <a:rPr b="0" i="0" lang="en-US" sz="2400" u="none">
                <a:solidFill>
                  <a:srgbClr val="0000FF"/>
                </a:solidFill>
                <a:latin typeface="Gill Sans"/>
                <a:ea typeface="Gill Sans"/>
                <a:cs typeface="Gill Sans"/>
                <a:sym typeface="Gill Sans"/>
              </a:rPr>
              <a:t> to verify timestamp</a:t>
            </a:r>
            <a:endParaRPr/>
          </a:p>
        </p:txBody>
      </p:sp>
      <p:sp>
        <p:nvSpPr>
          <p:cNvPr id="377" name="Google Shape;377;p78"/>
          <p:cNvSpPr txBox="1"/>
          <p:nvPr/>
        </p:nvSpPr>
        <p:spPr>
          <a:xfrm>
            <a:off x="544893" y="6427788"/>
            <a:ext cx="6752463" cy="26352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378" name="Google Shape;378;p78"/>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cxnSp>
        <p:nvCxnSpPr>
          <p:cNvPr id="379" name="Google Shape;379;p78"/>
          <p:cNvCxnSpPr/>
          <p:nvPr/>
        </p:nvCxnSpPr>
        <p:spPr>
          <a:xfrm>
            <a:off x="1817687" y="3009900"/>
            <a:ext cx="1600200" cy="0"/>
          </a:xfrm>
          <a:prstGeom prst="straightConnector1">
            <a:avLst/>
          </a:prstGeom>
          <a:noFill/>
          <a:ln cap="flat" cmpd="sng" w="50800">
            <a:solidFill>
              <a:schemeClr val="dk1"/>
            </a:solidFill>
            <a:prstDash val="solid"/>
            <a:miter lim="800000"/>
            <a:headEnd len="sm" w="sm" type="none"/>
            <a:tailEnd len="med" w="med" type="triangle"/>
          </a:ln>
        </p:spPr>
      </p:cxnSp>
      <p:cxnSp>
        <p:nvCxnSpPr>
          <p:cNvPr id="380" name="Google Shape;380;p78"/>
          <p:cNvCxnSpPr/>
          <p:nvPr/>
        </p:nvCxnSpPr>
        <p:spPr>
          <a:xfrm rot="10800000">
            <a:off x="4500562" y="3429000"/>
            <a:ext cx="1828800" cy="0"/>
          </a:xfrm>
          <a:prstGeom prst="straightConnector1">
            <a:avLst/>
          </a:prstGeom>
          <a:noFill/>
          <a:ln cap="flat" cmpd="sng" w="50800">
            <a:solidFill>
              <a:schemeClr val="dk1"/>
            </a:solidFill>
            <a:prstDash val="solid"/>
            <a:miter lim="800000"/>
            <a:headEnd len="sm" w="sm" type="none"/>
            <a:tailEnd len="med" w="med" type="triangle"/>
          </a:ln>
        </p:spPr>
      </p:cxnSp>
      <p:sp>
        <p:nvSpPr>
          <p:cNvPr id="381" name="Google Shape;381;p78"/>
          <p:cNvSpPr txBox="1"/>
          <p:nvPr/>
        </p:nvSpPr>
        <p:spPr>
          <a:xfrm>
            <a:off x="825500" y="3738562"/>
            <a:ext cx="7254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cap="none" strike="noStrike">
                <a:solidFill>
                  <a:schemeClr val="dk1"/>
                </a:solidFill>
                <a:latin typeface="Comic Sans MS"/>
                <a:ea typeface="Comic Sans MS"/>
                <a:cs typeface="Comic Sans MS"/>
                <a:sym typeface="Comic Sans MS"/>
              </a:rPr>
              <a:t>Alice</a:t>
            </a:r>
            <a:endParaRPr b="0" i="0" sz="1400" u="none" cap="none" strike="noStrike">
              <a:solidFill>
                <a:srgbClr val="000000"/>
              </a:solidFill>
              <a:latin typeface="Arial"/>
              <a:ea typeface="Arial"/>
              <a:cs typeface="Arial"/>
              <a:sym typeface="Arial"/>
            </a:endParaRPr>
          </a:p>
        </p:txBody>
      </p:sp>
      <p:cxnSp>
        <p:nvCxnSpPr>
          <p:cNvPr id="382" name="Google Shape;382;p78"/>
          <p:cNvCxnSpPr/>
          <p:nvPr/>
        </p:nvCxnSpPr>
        <p:spPr>
          <a:xfrm flipH="1" rot="10800000">
            <a:off x="4540250" y="2638425"/>
            <a:ext cx="1828800" cy="19050"/>
          </a:xfrm>
          <a:prstGeom prst="straightConnector1">
            <a:avLst/>
          </a:prstGeom>
          <a:noFill/>
          <a:ln cap="flat" cmpd="sng" w="50800">
            <a:solidFill>
              <a:schemeClr val="dk1"/>
            </a:solidFill>
            <a:prstDash val="solid"/>
            <a:miter lim="800000"/>
            <a:headEnd len="sm" w="sm" type="none"/>
            <a:tailEnd len="med" w="med" type="triangle"/>
          </a:ln>
        </p:spPr>
      </p:cxnSp>
      <p:sp>
        <p:nvSpPr>
          <p:cNvPr id="383" name="Google Shape;383;p78"/>
          <p:cNvSpPr txBox="1"/>
          <p:nvPr/>
        </p:nvSpPr>
        <p:spPr>
          <a:xfrm>
            <a:off x="1785937" y="2571750"/>
            <a:ext cx="13255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Talk to Bob</a:t>
            </a:r>
            <a:endParaRPr b="0" i="0" sz="1400" u="none" cap="none" strike="noStrike">
              <a:solidFill>
                <a:srgbClr val="000000"/>
              </a:solidFill>
              <a:latin typeface="Arial"/>
              <a:ea typeface="Arial"/>
              <a:cs typeface="Arial"/>
              <a:sym typeface="Arial"/>
            </a:endParaRPr>
          </a:p>
        </p:txBody>
      </p:sp>
      <p:sp>
        <p:nvSpPr>
          <p:cNvPr id="384" name="Google Shape;384;p78"/>
          <p:cNvSpPr txBox="1"/>
          <p:nvPr/>
        </p:nvSpPr>
        <p:spPr>
          <a:xfrm>
            <a:off x="4714875" y="1928812"/>
            <a:ext cx="1274762"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I want to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talk to Bob</a:t>
            </a:r>
            <a:endParaRPr b="0" i="0" sz="1400" u="none" cap="none" strike="noStrike">
              <a:solidFill>
                <a:srgbClr val="000000"/>
              </a:solidFill>
              <a:latin typeface="Arial"/>
              <a:ea typeface="Arial"/>
              <a:cs typeface="Arial"/>
              <a:sym typeface="Arial"/>
            </a:endParaRPr>
          </a:p>
        </p:txBody>
      </p:sp>
      <p:sp>
        <p:nvSpPr>
          <p:cNvPr id="385" name="Google Shape;385;p78"/>
          <p:cNvSpPr txBox="1"/>
          <p:nvPr/>
        </p:nvSpPr>
        <p:spPr>
          <a:xfrm>
            <a:off x="4697412" y="2679700"/>
            <a:ext cx="1300162"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REQUEST</a:t>
            </a:r>
            <a:endParaRPr b="0" i="0" sz="1400" u="none" cap="none" strike="noStrike">
              <a:solidFill>
                <a:srgbClr val="000000"/>
              </a:solidFill>
              <a:latin typeface="Arial"/>
              <a:ea typeface="Arial"/>
              <a:cs typeface="Arial"/>
              <a:sym typeface="Arial"/>
            </a:endParaRPr>
          </a:p>
        </p:txBody>
      </p:sp>
      <p:sp>
        <p:nvSpPr>
          <p:cNvPr id="386" name="Google Shape;386;p78"/>
          <p:cNvSpPr txBox="1"/>
          <p:nvPr/>
        </p:nvSpPr>
        <p:spPr>
          <a:xfrm>
            <a:off x="5072062" y="3500437"/>
            <a:ext cx="9239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REPLY</a:t>
            </a:r>
            <a:endParaRPr b="0" i="0" sz="1400" u="none" cap="none" strike="noStrike">
              <a:solidFill>
                <a:srgbClr val="000000"/>
              </a:solidFill>
              <a:latin typeface="Arial"/>
              <a:ea typeface="Arial"/>
              <a:cs typeface="Arial"/>
              <a:sym typeface="Arial"/>
            </a:endParaRPr>
          </a:p>
        </p:txBody>
      </p:sp>
      <p:pic>
        <p:nvPicPr>
          <p:cNvPr id="387" name="Google Shape;387;p78"/>
          <p:cNvPicPr preferRelativeResize="0"/>
          <p:nvPr/>
        </p:nvPicPr>
        <p:blipFill rotWithShape="1">
          <a:blip r:embed="rId3">
            <a:alphaModFix/>
          </a:blip>
          <a:srcRect b="0" l="0" r="0" t="0"/>
          <a:stretch/>
        </p:blipFill>
        <p:spPr>
          <a:xfrm>
            <a:off x="6675437" y="2486025"/>
            <a:ext cx="1371600" cy="1371600"/>
          </a:xfrm>
          <a:prstGeom prst="rect">
            <a:avLst/>
          </a:prstGeom>
          <a:noFill/>
          <a:ln>
            <a:noFill/>
          </a:ln>
        </p:spPr>
      </p:pic>
      <p:sp>
        <p:nvSpPr>
          <p:cNvPr id="388" name="Google Shape;388;p78"/>
          <p:cNvSpPr txBox="1"/>
          <p:nvPr/>
        </p:nvSpPr>
        <p:spPr>
          <a:xfrm>
            <a:off x="7056437" y="3933825"/>
            <a:ext cx="6318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cap="none" strike="noStrike">
                <a:solidFill>
                  <a:schemeClr val="dk1"/>
                </a:solidFill>
                <a:latin typeface="Comic Sans MS"/>
                <a:ea typeface="Comic Sans MS"/>
                <a:cs typeface="Comic Sans MS"/>
                <a:sym typeface="Comic Sans MS"/>
              </a:rPr>
              <a:t>KDC</a:t>
            </a:r>
            <a:endParaRPr b="0" i="0" sz="1400" u="none" cap="none" strike="noStrike">
              <a:solidFill>
                <a:srgbClr val="000000"/>
              </a:solidFill>
              <a:latin typeface="Arial"/>
              <a:ea typeface="Arial"/>
              <a:cs typeface="Arial"/>
              <a:sym typeface="Arial"/>
            </a:endParaRPr>
          </a:p>
        </p:txBody>
      </p:sp>
      <p:sp>
        <p:nvSpPr>
          <p:cNvPr id="389" name="Google Shape;389;p78"/>
          <p:cNvSpPr txBox="1"/>
          <p:nvPr/>
        </p:nvSpPr>
        <p:spPr>
          <a:xfrm>
            <a:off x="3357562" y="3714750"/>
            <a:ext cx="12160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cap="none" strike="noStrike">
                <a:solidFill>
                  <a:schemeClr val="dk1"/>
                </a:solidFill>
                <a:latin typeface="Comic Sans MS"/>
                <a:ea typeface="Comic Sans MS"/>
                <a:cs typeface="Comic Sans MS"/>
                <a:sym typeface="Comic Sans MS"/>
              </a:rPr>
              <a:t>Computer</a:t>
            </a:r>
            <a:endParaRPr b="0" i="0" sz="1400" u="none" cap="none" strike="noStrike">
              <a:solidFill>
                <a:srgbClr val="000000"/>
              </a:solidFill>
              <a:latin typeface="Arial"/>
              <a:ea typeface="Arial"/>
              <a:cs typeface="Arial"/>
              <a:sym typeface="Arial"/>
            </a:endParaRPr>
          </a:p>
        </p:txBody>
      </p:sp>
      <p:pic>
        <p:nvPicPr>
          <p:cNvPr id="390" name="Google Shape;390;p78"/>
          <p:cNvPicPr preferRelativeResize="0"/>
          <p:nvPr/>
        </p:nvPicPr>
        <p:blipFill rotWithShape="1">
          <a:blip r:embed="rId4">
            <a:alphaModFix/>
          </a:blip>
          <a:srcRect b="0" l="0" r="0" t="0"/>
          <a:stretch/>
        </p:blipFill>
        <p:spPr>
          <a:xfrm>
            <a:off x="719137" y="2095500"/>
            <a:ext cx="946150" cy="1624012"/>
          </a:xfrm>
          <a:prstGeom prst="rect">
            <a:avLst/>
          </a:prstGeom>
          <a:noFill/>
          <a:ln>
            <a:noFill/>
          </a:ln>
        </p:spPr>
      </p:pic>
      <p:pic>
        <p:nvPicPr>
          <p:cNvPr id="391" name="Google Shape;391;p78"/>
          <p:cNvPicPr preferRelativeResize="0"/>
          <p:nvPr/>
        </p:nvPicPr>
        <p:blipFill rotWithShape="1">
          <a:blip r:embed="rId5">
            <a:alphaModFix/>
          </a:blip>
          <a:srcRect b="0" l="0" r="0" t="0"/>
          <a:stretch/>
        </p:blipFill>
        <p:spPr>
          <a:xfrm>
            <a:off x="3429000" y="2357437"/>
            <a:ext cx="984250" cy="137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9"/>
                                        </p:tgtEl>
                                        <p:attrNameLst>
                                          <p:attrName>style.visibility</p:attrName>
                                        </p:attrNameLst>
                                      </p:cBhvr>
                                      <p:to>
                                        <p:strVal val="visible"/>
                                      </p:to>
                                    </p:set>
                                    <p:anim calcmode="lin" valueType="num">
                                      <p:cBhvr additive="base">
                                        <p:cTn dur="500"/>
                                        <p:tgtEl>
                                          <p:spTgt spid="37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2"/>
                                        </p:tgtEl>
                                        <p:attrNameLst>
                                          <p:attrName>style.visibility</p:attrName>
                                        </p:attrNameLst>
                                      </p:cBhvr>
                                      <p:to>
                                        <p:strVal val="visible"/>
                                      </p:to>
                                    </p:set>
                                    <p:anim calcmode="lin" valueType="num">
                                      <p:cBhvr additive="base">
                                        <p:cTn dur="500"/>
                                        <p:tgtEl>
                                          <p:spTgt spid="38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80"/>
                                        </p:tgtEl>
                                        <p:attrNameLst>
                                          <p:attrName>style.visibility</p:attrName>
                                        </p:attrNameLst>
                                      </p:cBhvr>
                                      <p:to>
                                        <p:strVal val="visible"/>
                                      </p:to>
                                    </p:set>
                                    <p:anim calcmode="lin" valueType="num">
                                      <p:cBhvr additive="base">
                                        <p:cTn dur="500"/>
                                        <p:tgtEl>
                                          <p:spTgt spid="38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79"/>
          <p:cNvSpPr txBox="1"/>
          <p:nvPr>
            <p:ph type="title"/>
          </p:nvPr>
        </p:nvSpPr>
        <p:spPr>
          <a:xfrm>
            <a:off x="785812" y="304800"/>
            <a:ext cx="7143750" cy="10525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ALICE USES TICKET TO BOB</a:t>
            </a:r>
            <a:endParaRPr/>
          </a:p>
        </p:txBody>
      </p:sp>
      <p:sp>
        <p:nvSpPr>
          <p:cNvPr id="397" name="Google Shape;397;p79"/>
          <p:cNvSpPr txBox="1"/>
          <p:nvPr>
            <p:ph idx="1" type="body"/>
          </p:nvPr>
        </p:nvSpPr>
        <p:spPr>
          <a:xfrm>
            <a:off x="785812" y="4214812"/>
            <a:ext cx="8053387" cy="200025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208"/>
              <a:buFont typeface="Noto Sans Symbols"/>
              <a:buChar char="◼"/>
            </a:pPr>
            <a:r>
              <a:rPr b="0" i="0" lang="en-US" sz="2400" u="none">
                <a:solidFill>
                  <a:schemeClr val="dk2"/>
                </a:solidFill>
                <a:latin typeface="Times"/>
                <a:ea typeface="Times"/>
                <a:cs typeface="Times"/>
                <a:sym typeface="Times"/>
              </a:rPr>
              <a:t>ticket to Bob = E(“Alice”, K</a:t>
            </a:r>
            <a:r>
              <a:rPr b="0" baseline="-25000" i="0" lang="en-US" sz="2400" u="none">
                <a:solidFill>
                  <a:schemeClr val="dk2"/>
                </a:solidFill>
                <a:latin typeface="Times"/>
                <a:ea typeface="Times"/>
                <a:cs typeface="Times"/>
                <a:sym typeface="Times"/>
              </a:rPr>
              <a:t>AB</a:t>
            </a:r>
            <a:r>
              <a:rPr b="0" i="0" lang="en-US" sz="2400" u="none">
                <a:solidFill>
                  <a:schemeClr val="dk2"/>
                </a:solidFill>
                <a:latin typeface="Times"/>
                <a:ea typeface="Times"/>
                <a:cs typeface="Times"/>
                <a:sym typeface="Times"/>
              </a:rPr>
              <a:t>, K</a:t>
            </a:r>
            <a:r>
              <a:rPr b="0" baseline="-25000" i="0" lang="en-US" sz="2400" u="none">
                <a:solidFill>
                  <a:schemeClr val="dk2"/>
                </a:solidFill>
                <a:latin typeface="Times"/>
                <a:ea typeface="Times"/>
                <a:cs typeface="Times"/>
                <a:sym typeface="Times"/>
              </a:rPr>
              <a:t>B</a:t>
            </a:r>
            <a:r>
              <a:rPr b="0" i="0" lang="en-US" sz="2400" u="none">
                <a:solidFill>
                  <a:schemeClr val="dk2"/>
                </a:solidFill>
                <a:latin typeface="Times"/>
                <a:ea typeface="Times"/>
                <a:cs typeface="Times"/>
                <a:sym typeface="Times"/>
              </a:rPr>
              <a:t>)</a:t>
            </a:r>
            <a:endParaRPr/>
          </a:p>
          <a:p>
            <a:pPr indent="-304800" lvl="0" marL="304800" marR="0" rtl="0" algn="l">
              <a:lnSpc>
                <a:spcPct val="100000"/>
              </a:lnSpc>
              <a:spcBef>
                <a:spcPts val="600"/>
              </a:spcBef>
              <a:spcAft>
                <a:spcPts val="0"/>
              </a:spcAft>
              <a:buClr>
                <a:schemeClr val="accent2"/>
              </a:buClr>
              <a:buSzPts val="2208"/>
              <a:buFont typeface="Noto Sans Symbols"/>
              <a:buChar char="◼"/>
            </a:pPr>
            <a:r>
              <a:rPr b="0" i="0" lang="en-US" sz="2400" u="none">
                <a:solidFill>
                  <a:schemeClr val="dk2"/>
                </a:solidFill>
                <a:latin typeface="Times"/>
                <a:ea typeface="Times"/>
                <a:cs typeface="Times"/>
                <a:sym typeface="Times"/>
              </a:rPr>
              <a:t>authenticator = E(timestamp, K</a:t>
            </a:r>
            <a:r>
              <a:rPr b="0" baseline="-25000" i="0" lang="en-US" sz="2400" u="none">
                <a:solidFill>
                  <a:schemeClr val="dk2"/>
                </a:solidFill>
                <a:latin typeface="Times"/>
                <a:ea typeface="Times"/>
                <a:cs typeface="Times"/>
                <a:sym typeface="Times"/>
              </a:rPr>
              <a:t>AB</a:t>
            </a:r>
            <a:r>
              <a:rPr b="0" i="0" lang="en-US" sz="2400" u="none">
                <a:solidFill>
                  <a:schemeClr val="dk2"/>
                </a:solidFill>
                <a:latin typeface="Times"/>
                <a:ea typeface="Times"/>
                <a:cs typeface="Times"/>
                <a:sym typeface="Times"/>
              </a:rPr>
              <a:t>)</a:t>
            </a:r>
            <a:endParaRPr b="0" i="0" sz="2400" u="none">
              <a:solidFill>
                <a:schemeClr val="dk2"/>
              </a:solidFill>
              <a:latin typeface="Gill Sans"/>
              <a:ea typeface="Gill Sans"/>
              <a:cs typeface="Gill Sans"/>
              <a:sym typeface="Gill Sans"/>
            </a:endParaRPr>
          </a:p>
          <a:p>
            <a:pPr indent="-304800" lvl="0" marL="304800" marR="0" rtl="0" algn="l">
              <a:lnSpc>
                <a:spcPct val="100000"/>
              </a:lnSpc>
              <a:spcBef>
                <a:spcPts val="600"/>
              </a:spcBef>
              <a:spcAft>
                <a:spcPts val="0"/>
              </a:spcAft>
              <a:buClr>
                <a:schemeClr val="accent2"/>
              </a:buClr>
              <a:buSzPts val="2208"/>
              <a:buFont typeface="Noto Sans Symbols"/>
              <a:buChar char="◼"/>
            </a:pPr>
            <a:r>
              <a:rPr b="0" i="0" lang="en-US" sz="2400" u="none">
                <a:solidFill>
                  <a:srgbClr val="0000FF"/>
                </a:solidFill>
                <a:latin typeface="Gill Sans"/>
                <a:ea typeface="Gill Sans"/>
                <a:cs typeface="Gill Sans"/>
                <a:sym typeface="Gill Sans"/>
              </a:rPr>
              <a:t>Bob decrypts </a:t>
            </a:r>
            <a:r>
              <a:rPr b="0" i="0" lang="en-US" sz="2400" u="none">
                <a:solidFill>
                  <a:srgbClr val="0000FF"/>
                </a:solidFill>
                <a:latin typeface="Times"/>
                <a:ea typeface="Times"/>
                <a:cs typeface="Times"/>
                <a:sym typeface="Times"/>
              </a:rPr>
              <a:t>“ticket to Bob”</a:t>
            </a:r>
            <a:r>
              <a:rPr b="0" i="0" lang="en-US" sz="2400" u="none">
                <a:solidFill>
                  <a:srgbClr val="0000FF"/>
                </a:solidFill>
                <a:latin typeface="Gill Sans"/>
                <a:ea typeface="Gill Sans"/>
                <a:cs typeface="Gill Sans"/>
                <a:sym typeface="Gill Sans"/>
              </a:rPr>
              <a:t> to get </a:t>
            </a:r>
            <a:r>
              <a:rPr b="0" i="0" lang="en-US" sz="2400" u="none">
                <a:solidFill>
                  <a:srgbClr val="0000FF"/>
                </a:solidFill>
                <a:latin typeface="Times"/>
                <a:ea typeface="Times"/>
                <a:cs typeface="Times"/>
                <a:sym typeface="Times"/>
              </a:rPr>
              <a:t>K</a:t>
            </a:r>
            <a:r>
              <a:rPr b="0" baseline="-25000" i="0" lang="en-US" sz="2400" u="none">
                <a:solidFill>
                  <a:srgbClr val="0000FF"/>
                </a:solidFill>
                <a:latin typeface="Times"/>
                <a:ea typeface="Times"/>
                <a:cs typeface="Times"/>
                <a:sym typeface="Times"/>
              </a:rPr>
              <a:t>AB</a:t>
            </a:r>
            <a:r>
              <a:rPr b="0" i="0" lang="en-US" sz="2400" u="none">
                <a:solidFill>
                  <a:srgbClr val="0000FF"/>
                </a:solidFill>
                <a:latin typeface="Gill Sans"/>
                <a:ea typeface="Gill Sans"/>
                <a:cs typeface="Gill Sans"/>
                <a:sym typeface="Gill Sans"/>
              </a:rPr>
              <a:t> which he then uses to verify </a:t>
            </a:r>
            <a:r>
              <a:rPr b="0" i="0" lang="en-US" sz="2400" u="none">
                <a:solidFill>
                  <a:srgbClr val="0000FF"/>
                </a:solidFill>
                <a:latin typeface="Times"/>
                <a:ea typeface="Times"/>
                <a:cs typeface="Times"/>
                <a:sym typeface="Times"/>
              </a:rPr>
              <a:t>timestamp</a:t>
            </a:r>
            <a:endParaRPr/>
          </a:p>
        </p:txBody>
      </p:sp>
      <p:sp>
        <p:nvSpPr>
          <p:cNvPr id="398" name="Google Shape;398;p79"/>
          <p:cNvSpPr txBox="1"/>
          <p:nvPr/>
        </p:nvSpPr>
        <p:spPr>
          <a:xfrm>
            <a:off x="581025" y="6169024"/>
            <a:ext cx="7348537" cy="60166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399" name="Google Shape;399;p79"/>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cxnSp>
        <p:nvCxnSpPr>
          <p:cNvPr id="400" name="Google Shape;400;p79"/>
          <p:cNvCxnSpPr/>
          <p:nvPr/>
        </p:nvCxnSpPr>
        <p:spPr>
          <a:xfrm flipH="1">
            <a:off x="2571750" y="3143250"/>
            <a:ext cx="4114800" cy="26987"/>
          </a:xfrm>
          <a:prstGeom prst="straightConnector1">
            <a:avLst/>
          </a:prstGeom>
          <a:noFill/>
          <a:ln cap="flat" cmpd="sng" w="50800">
            <a:solidFill>
              <a:schemeClr val="dk1"/>
            </a:solidFill>
            <a:prstDash val="solid"/>
            <a:miter lim="800000"/>
            <a:headEnd len="sm" w="sm" type="none"/>
            <a:tailEnd len="med" w="med" type="triangle"/>
          </a:ln>
        </p:spPr>
      </p:cxnSp>
      <p:cxnSp>
        <p:nvCxnSpPr>
          <p:cNvPr id="401" name="Google Shape;401;p79"/>
          <p:cNvCxnSpPr/>
          <p:nvPr/>
        </p:nvCxnSpPr>
        <p:spPr>
          <a:xfrm flipH="1" rot="10800000">
            <a:off x="2571750" y="2500312"/>
            <a:ext cx="4113212" cy="25400"/>
          </a:xfrm>
          <a:prstGeom prst="straightConnector1">
            <a:avLst/>
          </a:prstGeom>
          <a:noFill/>
          <a:ln cap="flat" cmpd="sng" w="50800">
            <a:solidFill>
              <a:schemeClr val="dk1"/>
            </a:solidFill>
            <a:prstDash val="solid"/>
            <a:miter lim="800000"/>
            <a:headEnd len="sm" w="sm" type="none"/>
            <a:tailEnd len="med" w="med" type="triangle"/>
          </a:ln>
        </p:spPr>
      </p:cxnSp>
      <p:sp>
        <p:nvSpPr>
          <p:cNvPr id="402" name="Google Shape;402;p79"/>
          <p:cNvSpPr txBox="1"/>
          <p:nvPr/>
        </p:nvSpPr>
        <p:spPr>
          <a:xfrm>
            <a:off x="3214687" y="2143125"/>
            <a:ext cx="2916237"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ticket to Bob, authenticator</a:t>
            </a:r>
            <a:endParaRPr b="0" i="0" sz="1400" u="none" cap="none" strike="noStrike">
              <a:solidFill>
                <a:srgbClr val="000000"/>
              </a:solidFill>
              <a:latin typeface="Arial"/>
              <a:ea typeface="Arial"/>
              <a:cs typeface="Arial"/>
              <a:sym typeface="Arial"/>
            </a:endParaRPr>
          </a:p>
        </p:txBody>
      </p:sp>
      <p:sp>
        <p:nvSpPr>
          <p:cNvPr id="403" name="Google Shape;403;p79"/>
          <p:cNvSpPr txBox="1"/>
          <p:nvPr/>
        </p:nvSpPr>
        <p:spPr>
          <a:xfrm>
            <a:off x="3571875" y="2786062"/>
            <a:ext cx="2371725"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a:buNone/>
            </a:pPr>
            <a:r>
              <a:rPr b="0" i="0" lang="en-US" sz="1800" u="none" cap="none" strike="noStrike">
                <a:solidFill>
                  <a:schemeClr val="dk1"/>
                </a:solidFill>
                <a:latin typeface="Times"/>
                <a:ea typeface="Times"/>
                <a:cs typeface="Times"/>
                <a:sym typeface="Times"/>
              </a:rPr>
              <a:t>E(timestamp + 1,K</a:t>
            </a:r>
            <a:r>
              <a:rPr b="0" baseline="-25000" i="0" lang="en-US" sz="1800" u="none" cap="none" strike="noStrike">
                <a:solidFill>
                  <a:schemeClr val="dk1"/>
                </a:solidFill>
                <a:latin typeface="Times"/>
                <a:ea typeface="Times"/>
                <a:cs typeface="Times"/>
                <a:sym typeface="Times"/>
              </a:rPr>
              <a:t>AB</a:t>
            </a:r>
            <a:r>
              <a:rPr b="0" i="0" lang="en-US" sz="1800" u="none" cap="none" strike="noStrike">
                <a:solidFill>
                  <a:schemeClr val="dk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p:txBody>
      </p:sp>
      <p:sp>
        <p:nvSpPr>
          <p:cNvPr id="404" name="Google Shape;404;p79"/>
          <p:cNvSpPr txBox="1"/>
          <p:nvPr/>
        </p:nvSpPr>
        <p:spPr>
          <a:xfrm>
            <a:off x="1143000" y="3500437"/>
            <a:ext cx="1327150" cy="5873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Alice’s </a:t>
            </a:r>
            <a:endParaRPr b="0" i="0" sz="140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Computer</a:t>
            </a:r>
            <a:endParaRPr b="0" i="0" sz="1400" u="none" cap="none" strike="noStrike">
              <a:solidFill>
                <a:srgbClr val="000000"/>
              </a:solidFill>
              <a:latin typeface="Arial"/>
              <a:ea typeface="Arial"/>
              <a:cs typeface="Arial"/>
              <a:sym typeface="Arial"/>
            </a:endParaRPr>
          </a:p>
        </p:txBody>
      </p:sp>
      <p:sp>
        <p:nvSpPr>
          <p:cNvPr id="405" name="Google Shape;405;p79"/>
          <p:cNvSpPr txBox="1"/>
          <p:nvPr/>
        </p:nvSpPr>
        <p:spPr>
          <a:xfrm>
            <a:off x="7215187" y="3500437"/>
            <a:ext cx="633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Bob</a:t>
            </a:r>
            <a:endParaRPr b="0" i="0" sz="1400" u="none" cap="none" strike="noStrike">
              <a:solidFill>
                <a:srgbClr val="000000"/>
              </a:solidFill>
              <a:latin typeface="Arial"/>
              <a:ea typeface="Arial"/>
              <a:cs typeface="Arial"/>
              <a:sym typeface="Arial"/>
            </a:endParaRPr>
          </a:p>
        </p:txBody>
      </p:sp>
      <p:pic>
        <p:nvPicPr>
          <p:cNvPr id="406" name="Google Shape;406;p79"/>
          <p:cNvPicPr preferRelativeResize="0"/>
          <p:nvPr/>
        </p:nvPicPr>
        <p:blipFill rotWithShape="1">
          <a:blip r:embed="rId3">
            <a:alphaModFix/>
          </a:blip>
          <a:srcRect b="0" l="0" r="0" t="0"/>
          <a:stretch/>
        </p:blipFill>
        <p:spPr>
          <a:xfrm>
            <a:off x="7010400" y="1752600"/>
            <a:ext cx="1076325" cy="1665287"/>
          </a:xfrm>
          <a:prstGeom prst="rect">
            <a:avLst/>
          </a:prstGeom>
          <a:noFill/>
          <a:ln>
            <a:noFill/>
          </a:ln>
        </p:spPr>
      </p:pic>
      <p:pic>
        <p:nvPicPr>
          <p:cNvPr id="407" name="Google Shape;407;p79"/>
          <p:cNvPicPr preferRelativeResize="0"/>
          <p:nvPr/>
        </p:nvPicPr>
        <p:blipFill rotWithShape="1">
          <a:blip r:embed="rId4">
            <a:alphaModFix/>
          </a:blip>
          <a:srcRect b="0" l="0" r="0" t="0"/>
          <a:stretch/>
        </p:blipFill>
        <p:spPr>
          <a:xfrm>
            <a:off x="1295400" y="2057400"/>
            <a:ext cx="984250" cy="137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500"/>
                                        <p:tgtEl>
                                          <p:spTgt spid="40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0"/>
                                        </p:tgtEl>
                                        <p:attrNameLst>
                                          <p:attrName>style.visibility</p:attrName>
                                        </p:attrNameLst>
                                      </p:cBhvr>
                                      <p:to>
                                        <p:strVal val="visible"/>
                                      </p:to>
                                    </p:set>
                                    <p:anim calcmode="lin" valueType="num">
                                      <p:cBhvr additive="base">
                                        <p:cTn dur="500"/>
                                        <p:tgtEl>
                                          <p:spTgt spid="40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p18"/>
          <p:cNvPicPr preferRelativeResize="0"/>
          <p:nvPr/>
        </p:nvPicPr>
        <p:blipFill rotWithShape="1">
          <a:blip r:embed="rId3">
            <a:alphaModFix/>
          </a:blip>
          <a:srcRect b="0" l="0" r="0" t="0"/>
          <a:stretch/>
        </p:blipFill>
        <p:spPr>
          <a:xfrm>
            <a:off x="0" y="22860"/>
            <a:ext cx="9144000" cy="681228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80"/>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KERBEROS</a:t>
            </a:r>
            <a:endParaRPr/>
          </a:p>
        </p:txBody>
      </p:sp>
      <p:sp>
        <p:nvSpPr>
          <p:cNvPr id="418" name="Google Shape;418;p80"/>
          <p:cNvSpPr txBox="1"/>
          <p:nvPr>
            <p:ph idx="1" type="body"/>
          </p:nvPr>
        </p:nvSpPr>
        <p:spPr>
          <a:xfrm>
            <a:off x="714375" y="1821052"/>
            <a:ext cx="7715250" cy="438150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rgbClr val="0000FF"/>
                </a:solidFill>
                <a:latin typeface="Gill Sans"/>
                <a:ea typeface="Gill Sans"/>
                <a:cs typeface="Gill Sans"/>
                <a:sym typeface="Gill Sans"/>
              </a:rPr>
              <a:t>Session key </a:t>
            </a:r>
            <a:r>
              <a:rPr b="0" i="0" lang="en-US" sz="2800" u="none">
                <a:solidFill>
                  <a:srgbClr val="0000FF"/>
                </a:solidFill>
                <a:latin typeface="Times"/>
                <a:ea typeface="Times"/>
                <a:cs typeface="Times"/>
                <a:sym typeface="Times"/>
              </a:rPr>
              <a:t>S</a:t>
            </a:r>
            <a:r>
              <a:rPr b="0" baseline="-25000" i="0" lang="en-US" sz="2800" u="none">
                <a:solidFill>
                  <a:srgbClr val="0000FF"/>
                </a:solidFill>
                <a:latin typeface="Times"/>
                <a:ea typeface="Times"/>
                <a:cs typeface="Times"/>
                <a:sym typeface="Times"/>
              </a:rPr>
              <a:t>A</a:t>
            </a:r>
            <a:r>
              <a:rPr b="0" i="0" lang="en-US" sz="2800" u="none">
                <a:solidFill>
                  <a:srgbClr val="0000FF"/>
                </a:solidFill>
                <a:latin typeface="Gill Sans"/>
                <a:ea typeface="Gill Sans"/>
                <a:cs typeface="Gill Sans"/>
                <a:sym typeface="Gill Sans"/>
              </a:rPr>
              <a:t> </a:t>
            </a:r>
            <a:r>
              <a:rPr b="0" i="0" lang="en-US" sz="2800" u="none">
                <a:solidFill>
                  <a:schemeClr val="dk2"/>
                </a:solidFill>
                <a:latin typeface="Gill Sans"/>
                <a:ea typeface="Gill Sans"/>
                <a:cs typeface="Gill Sans"/>
                <a:sym typeface="Gill Sans"/>
              </a:rPr>
              <a:t>used for </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FF0000"/>
                </a:solidFill>
                <a:latin typeface="Gill Sans"/>
                <a:ea typeface="Gill Sans"/>
                <a:cs typeface="Gill Sans"/>
                <a:sym typeface="Gill Sans"/>
              </a:rPr>
              <a:t>authentication</a:t>
            </a:r>
            <a:r>
              <a:rPr b="0" i="0" lang="en-US" sz="2400" u="none" cap="none" strike="noStrike">
                <a:solidFill>
                  <a:srgbClr val="0000FF"/>
                </a:solidFill>
                <a:latin typeface="Gill Sans"/>
                <a:ea typeface="Gill Sans"/>
                <a:cs typeface="Gill Sans"/>
                <a:sym typeface="Gill Sans"/>
              </a:rPr>
              <a:t> </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Can also be used for </a:t>
            </a:r>
            <a:r>
              <a:rPr b="0" i="0" lang="en-US" sz="2400" u="none" cap="none" strike="noStrike">
                <a:solidFill>
                  <a:srgbClr val="0000FF"/>
                </a:solidFill>
                <a:latin typeface="Gill Sans"/>
                <a:ea typeface="Gill Sans"/>
                <a:cs typeface="Gill Sans"/>
                <a:sym typeface="Gill Sans"/>
              </a:rPr>
              <a:t>confidentiality/integrity</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rgbClr val="0000FF"/>
                </a:solidFill>
                <a:latin typeface="Gill Sans"/>
                <a:ea typeface="Gill Sans"/>
                <a:cs typeface="Gill Sans"/>
                <a:sym typeface="Gill Sans"/>
              </a:rPr>
              <a:t>Timestamps</a:t>
            </a:r>
            <a:r>
              <a:rPr b="0" i="0" lang="en-US" sz="2800" u="none">
                <a:solidFill>
                  <a:schemeClr val="dk2"/>
                </a:solidFill>
                <a:latin typeface="Gill Sans"/>
                <a:ea typeface="Gill Sans"/>
                <a:cs typeface="Gill Sans"/>
                <a:sym typeface="Gill Sans"/>
              </a:rPr>
              <a:t> used for </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FF0000"/>
                </a:solidFill>
                <a:latin typeface="Gill Sans"/>
                <a:ea typeface="Gill Sans"/>
                <a:cs typeface="Gill Sans"/>
                <a:sym typeface="Gill Sans"/>
              </a:rPr>
              <a:t>mutual authentication</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Recall that timestamps reduce number of messages</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Acts like a nonce that is known to both sides</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Note:</a:t>
            </a:r>
            <a:r>
              <a:rPr b="1" i="0" lang="en-US" sz="2400" u="none" cap="none" strike="noStrike">
                <a:solidFill>
                  <a:schemeClr val="accent2"/>
                </a:solidFill>
                <a:latin typeface="Gill Sans"/>
                <a:ea typeface="Gill Sans"/>
                <a:cs typeface="Gill Sans"/>
                <a:sym typeface="Gill Sans"/>
              </a:rPr>
              <a:t> </a:t>
            </a:r>
            <a:r>
              <a:rPr b="1" i="0" lang="en-US" sz="2400" u="none" cap="none" strike="noStrike">
                <a:solidFill>
                  <a:srgbClr val="FF0000"/>
                </a:solidFill>
                <a:latin typeface="Gill Sans"/>
                <a:ea typeface="Gill Sans"/>
                <a:cs typeface="Gill Sans"/>
                <a:sym typeface="Gill Sans"/>
              </a:rPr>
              <a:t>time</a:t>
            </a:r>
            <a:r>
              <a:rPr b="0" i="0" lang="en-US" sz="2400" u="none" cap="none" strike="noStrike">
                <a:solidFill>
                  <a:srgbClr val="FF0000"/>
                </a:solidFill>
                <a:latin typeface="Gill Sans"/>
                <a:ea typeface="Gill Sans"/>
                <a:cs typeface="Gill Sans"/>
                <a:sym typeface="Gill Sans"/>
              </a:rPr>
              <a:t> </a:t>
            </a:r>
            <a:r>
              <a:rPr b="0" i="0" lang="en-US" sz="2400" u="none" cap="none" strike="noStrike">
                <a:solidFill>
                  <a:schemeClr val="dk2"/>
                </a:solidFill>
                <a:latin typeface="Gill Sans"/>
                <a:ea typeface="Gill Sans"/>
                <a:cs typeface="Gill Sans"/>
                <a:sym typeface="Gill Sans"/>
              </a:rPr>
              <a:t>is a security-critical parameter!</a:t>
            </a:r>
            <a:endParaRPr/>
          </a:p>
        </p:txBody>
      </p:sp>
      <p:sp>
        <p:nvSpPr>
          <p:cNvPr id="419" name="Google Shape;419;p80"/>
          <p:cNvSpPr txBox="1"/>
          <p:nvPr/>
        </p:nvSpPr>
        <p:spPr>
          <a:xfrm>
            <a:off x="573088" y="5956300"/>
            <a:ext cx="6642735" cy="77844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420" name="Google Shape;420;p80"/>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85"/>
          <p:cNvSpPr txBox="1"/>
          <p:nvPr>
            <p:ph type="title"/>
          </p:nvPr>
        </p:nvSpPr>
        <p:spPr>
          <a:xfrm>
            <a:off x="785812" y="457200"/>
            <a:ext cx="7143750" cy="9001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KERBEROS KEYS</a:t>
            </a:r>
            <a:endParaRPr/>
          </a:p>
        </p:txBody>
      </p:sp>
      <p:sp>
        <p:nvSpPr>
          <p:cNvPr id="426" name="Google Shape;426;p85"/>
          <p:cNvSpPr txBox="1"/>
          <p:nvPr>
            <p:ph idx="1" type="body"/>
          </p:nvPr>
        </p:nvSpPr>
        <p:spPr>
          <a:xfrm>
            <a:off x="785812" y="1714500"/>
            <a:ext cx="7672387" cy="4500562"/>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85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In Kerberos, </a:t>
            </a:r>
            <a:r>
              <a:rPr b="0" i="0" lang="en-US" sz="2800" u="none">
                <a:solidFill>
                  <a:srgbClr val="FF0000"/>
                </a:solidFill>
                <a:latin typeface="Times"/>
                <a:ea typeface="Times"/>
                <a:cs typeface="Times"/>
                <a:sym typeface="Times"/>
              </a:rPr>
              <a:t>K</a:t>
            </a:r>
            <a:r>
              <a:rPr b="0" baseline="-25000" i="0" lang="en-US" sz="2800" u="none">
                <a:solidFill>
                  <a:srgbClr val="FF0000"/>
                </a:solidFill>
                <a:latin typeface="Times"/>
                <a:ea typeface="Times"/>
                <a:cs typeface="Times"/>
                <a:sym typeface="Times"/>
              </a:rPr>
              <a:t>A</a:t>
            </a:r>
            <a:r>
              <a:rPr b="0" i="0" lang="en-US" sz="2800" u="none">
                <a:solidFill>
                  <a:srgbClr val="FF0000"/>
                </a:solidFill>
                <a:latin typeface="Times"/>
                <a:ea typeface="Times"/>
                <a:cs typeface="Times"/>
                <a:sym typeface="Times"/>
              </a:rPr>
              <a:t> = h(Alice’s password)</a:t>
            </a:r>
            <a:endParaRPr b="0" i="0" sz="2800" u="none">
              <a:solidFill>
                <a:srgbClr val="FF0000"/>
              </a:solidFill>
              <a:latin typeface="Gill Sans"/>
              <a:ea typeface="Gill Sans"/>
              <a:cs typeface="Gill Sans"/>
              <a:sym typeface="Gill Sans"/>
            </a:endParaRPr>
          </a:p>
          <a:p>
            <a:pPr indent="-304800" lvl="0" marL="304800" marR="0" rtl="0" algn="l">
              <a:lnSpc>
                <a:spcPct val="85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Could instead generate random </a:t>
            </a:r>
            <a:r>
              <a:rPr b="0" i="0" lang="en-US" sz="2800" u="none">
                <a:solidFill>
                  <a:schemeClr val="dk2"/>
                </a:solidFill>
                <a:latin typeface="Times"/>
                <a:ea typeface="Times"/>
                <a:cs typeface="Times"/>
                <a:sym typeface="Times"/>
              </a:rPr>
              <a:t>K</a:t>
            </a:r>
            <a:r>
              <a:rPr b="0" baseline="-25000" i="0" lang="en-US" sz="2800" u="none">
                <a:solidFill>
                  <a:schemeClr val="dk2"/>
                </a:solidFill>
                <a:latin typeface="Times"/>
                <a:ea typeface="Times"/>
                <a:cs typeface="Times"/>
                <a:sym typeface="Times"/>
              </a:rPr>
              <a:t>A</a:t>
            </a:r>
            <a:r>
              <a:rPr b="0" i="0" lang="en-US" sz="2800" u="none">
                <a:solidFill>
                  <a:schemeClr val="dk2"/>
                </a:solidFill>
                <a:latin typeface="Gill Sans"/>
                <a:ea typeface="Gill Sans"/>
                <a:cs typeface="Gill Sans"/>
                <a:sym typeface="Gill Sans"/>
              </a:rPr>
              <a:t> and</a:t>
            </a:r>
            <a:endParaRPr/>
          </a:p>
          <a:p>
            <a:pPr indent="-304800" lvl="1" marL="628650" marR="0" rtl="0" algn="l">
              <a:lnSpc>
                <a:spcPct val="8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Compute </a:t>
            </a:r>
            <a:r>
              <a:rPr b="0" i="0" lang="en-US" sz="2400" u="none" cap="none" strike="noStrike">
                <a:solidFill>
                  <a:srgbClr val="FF0000"/>
                </a:solidFill>
                <a:latin typeface="Times"/>
                <a:ea typeface="Times"/>
                <a:cs typeface="Times"/>
                <a:sym typeface="Times"/>
              </a:rPr>
              <a:t>K</a:t>
            </a:r>
            <a:r>
              <a:rPr b="0" baseline="-25000" i="0" lang="en-US" sz="2400" u="none" cap="none" strike="noStrike">
                <a:solidFill>
                  <a:srgbClr val="FF0000"/>
                </a:solidFill>
                <a:latin typeface="Times"/>
                <a:ea typeface="Times"/>
                <a:cs typeface="Times"/>
                <a:sym typeface="Times"/>
              </a:rPr>
              <a:t>h</a:t>
            </a:r>
            <a:r>
              <a:rPr b="0" i="0" lang="en-US" sz="2400" u="none" cap="none" strike="noStrike">
                <a:solidFill>
                  <a:srgbClr val="FF0000"/>
                </a:solidFill>
                <a:latin typeface="Times"/>
                <a:ea typeface="Times"/>
                <a:cs typeface="Times"/>
                <a:sym typeface="Times"/>
              </a:rPr>
              <a:t> = h(Alice’s password)</a:t>
            </a:r>
            <a:endParaRPr/>
          </a:p>
          <a:p>
            <a:pPr indent="-304800" lvl="1" marL="628650" marR="0" rtl="0" algn="l">
              <a:lnSpc>
                <a:spcPct val="8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And workstation stores </a:t>
            </a:r>
            <a:r>
              <a:rPr b="0" i="0" lang="en-US" sz="2400" u="none" cap="none" strike="noStrike">
                <a:solidFill>
                  <a:schemeClr val="dk2"/>
                </a:solidFill>
                <a:latin typeface="Times"/>
                <a:ea typeface="Times"/>
                <a:cs typeface="Times"/>
                <a:sym typeface="Times"/>
              </a:rPr>
              <a:t>E(K</a:t>
            </a:r>
            <a:r>
              <a:rPr b="0" baseline="-25000" i="0" lang="en-US" sz="2400" u="none" cap="none" strike="noStrike">
                <a:solidFill>
                  <a:schemeClr val="dk2"/>
                </a:solidFill>
                <a:latin typeface="Times"/>
                <a:ea typeface="Times"/>
                <a:cs typeface="Times"/>
                <a:sym typeface="Times"/>
              </a:rPr>
              <a:t>A</a:t>
            </a:r>
            <a:r>
              <a:rPr b="0" i="0" lang="en-US" sz="2400" u="none" cap="none" strike="noStrike">
                <a:solidFill>
                  <a:schemeClr val="dk2"/>
                </a:solidFill>
                <a:latin typeface="Times"/>
                <a:ea typeface="Times"/>
                <a:cs typeface="Times"/>
                <a:sym typeface="Times"/>
              </a:rPr>
              <a:t>, K</a:t>
            </a:r>
            <a:r>
              <a:rPr b="0" baseline="-25000" i="0" lang="en-US" sz="2400" u="none" cap="none" strike="noStrike">
                <a:solidFill>
                  <a:schemeClr val="dk2"/>
                </a:solidFill>
                <a:latin typeface="Times"/>
                <a:ea typeface="Times"/>
                <a:cs typeface="Times"/>
                <a:sym typeface="Times"/>
              </a:rPr>
              <a:t>h</a:t>
            </a:r>
            <a:r>
              <a:rPr b="0" i="0" lang="en-US" sz="2400" u="none" cap="none" strike="noStrike">
                <a:solidFill>
                  <a:schemeClr val="dk2"/>
                </a:solidFill>
                <a:latin typeface="Times"/>
                <a:ea typeface="Times"/>
                <a:cs typeface="Times"/>
                <a:sym typeface="Times"/>
              </a:rPr>
              <a:t>)</a:t>
            </a:r>
            <a:endParaRPr/>
          </a:p>
          <a:p>
            <a:pPr indent="-304800" lvl="0" marL="304800" marR="0" rtl="0" algn="l">
              <a:lnSpc>
                <a:spcPct val="85000"/>
              </a:lnSpc>
              <a:spcBef>
                <a:spcPts val="1160"/>
              </a:spcBef>
              <a:spcAft>
                <a:spcPts val="0"/>
              </a:spcAft>
              <a:buClr>
                <a:schemeClr val="accent2"/>
              </a:buClr>
              <a:buSzPts val="2576"/>
              <a:buFont typeface="Noto Sans Symbols"/>
              <a:buChar char="◼"/>
            </a:pPr>
            <a:r>
              <a:rPr b="0" i="0" lang="en-US" sz="2800" u="none">
                <a:solidFill>
                  <a:srgbClr val="FF0000"/>
                </a:solidFill>
                <a:latin typeface="Gill Sans"/>
                <a:ea typeface="Gill Sans"/>
                <a:cs typeface="Gill Sans"/>
                <a:sym typeface="Gill Sans"/>
              </a:rPr>
              <a:t>Then </a:t>
            </a:r>
            <a:r>
              <a:rPr b="0" i="0" lang="en-US" sz="2800" u="none">
                <a:solidFill>
                  <a:srgbClr val="FF0000"/>
                </a:solidFill>
                <a:latin typeface="Times"/>
                <a:ea typeface="Times"/>
                <a:cs typeface="Times"/>
                <a:sym typeface="Times"/>
              </a:rPr>
              <a:t>K</a:t>
            </a:r>
            <a:r>
              <a:rPr b="0" baseline="-25000" i="0" lang="en-US" sz="2800" u="none">
                <a:solidFill>
                  <a:srgbClr val="FF0000"/>
                </a:solidFill>
                <a:latin typeface="Times"/>
                <a:ea typeface="Times"/>
                <a:cs typeface="Times"/>
                <a:sym typeface="Times"/>
              </a:rPr>
              <a:t>A</a:t>
            </a:r>
            <a:r>
              <a:rPr b="0" i="0" lang="en-US" sz="2800" u="none">
                <a:solidFill>
                  <a:srgbClr val="FF0000"/>
                </a:solidFill>
                <a:latin typeface="Gill Sans"/>
                <a:ea typeface="Gill Sans"/>
                <a:cs typeface="Gill Sans"/>
                <a:sym typeface="Gill Sans"/>
              </a:rPr>
              <a:t> need not change (on  workstation or KDC) when Alice changes her password</a:t>
            </a:r>
            <a:endParaRPr/>
          </a:p>
          <a:p>
            <a:pPr indent="-304800" lvl="0" marL="304800" marR="0" rtl="0" algn="l">
              <a:lnSpc>
                <a:spcPct val="85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This alternative approach is often used in applications (but not in Kerberos)</a:t>
            </a:r>
            <a:endParaRPr/>
          </a:p>
        </p:txBody>
      </p:sp>
      <p:sp>
        <p:nvSpPr>
          <p:cNvPr id="427" name="Google Shape;427;p85"/>
          <p:cNvSpPr txBox="1"/>
          <p:nvPr/>
        </p:nvSpPr>
        <p:spPr>
          <a:xfrm>
            <a:off x="581024" y="5951537"/>
            <a:ext cx="9221343" cy="112591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cap="none" strike="noStrike">
                <a:solidFill>
                  <a:schemeClr val="dk1"/>
                </a:solidFill>
                <a:latin typeface="Comic Sans MS"/>
                <a:ea typeface="Comic Sans MS"/>
                <a:cs typeface="Comic Sans MS"/>
                <a:sym typeface="Comic Sans MS"/>
              </a:rPr>
              <a:t>CHAPTER 10  REAL WORLD SECURITY PROTOCOLS       PREPARED BY: DR. MUHAMMAD IQBAL HOSSAIN</a:t>
            </a:r>
            <a:endParaRPr b="0" i="0" sz="1400" u="none" cap="none" strike="noStrike">
              <a:solidFill>
                <a:srgbClr val="000000"/>
              </a:solidFill>
              <a:latin typeface="Arial"/>
              <a:ea typeface="Arial"/>
              <a:cs typeface="Arial"/>
              <a:sym typeface="Arial"/>
            </a:endParaRPr>
          </a:p>
        </p:txBody>
      </p:sp>
      <p:sp>
        <p:nvSpPr>
          <p:cNvPr id="428" name="Google Shape;428;p85"/>
          <p:cNvSpPr txBox="1"/>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cap="none" strike="noStrike">
                <a:solidFill>
                  <a:schemeClr val="dk1"/>
                </a:solidFill>
                <a:latin typeface="Gulim"/>
                <a:ea typeface="Gulim"/>
                <a:cs typeface="Gulim"/>
                <a:sym typeface="Gulim"/>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2006-02-20T14:50:44Z</dcterms:created>
  <dc:creator>MIH</dc:creator>
</cp:coreProperties>
</file>